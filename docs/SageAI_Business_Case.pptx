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0"/>
            <a:ext cx="12188952" cy="73152"/>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058400" cy="1280160"/>
          </a:xfrm>
          <a:prstGeom prst="rect">
            <a:avLst/>
          </a:prstGeom>
          <a:noFill/>
        </p:spPr>
        <p:txBody>
          <a:bodyPr wrap="square">
            <a:spAutoFit/>
          </a:bodyPr>
          <a:lstStyle/>
          <a:p>
            <a:pPr algn="ctr"/>
            <a:r>
              <a:rPr sz="6400" b="1" i="0">
                <a:solidFill>
                  <a:srgbClr val="FFFFFF"/>
                </a:solidFill>
              </a:rPr>
              <a:t>SAGE[ai]</a:t>
            </a:r>
          </a:p>
        </p:txBody>
      </p:sp>
      <p:sp>
        <p:nvSpPr>
          <p:cNvPr id="5" name="TextBox 4"/>
          <p:cNvSpPr txBox="1"/>
          <p:nvPr/>
        </p:nvSpPr>
        <p:spPr>
          <a:xfrm>
            <a:off x="914400" y="2606040"/>
            <a:ext cx="10058400" cy="640080"/>
          </a:xfrm>
          <a:prstGeom prst="rect">
            <a:avLst/>
          </a:prstGeom>
          <a:noFill/>
        </p:spPr>
        <p:txBody>
          <a:bodyPr wrap="square">
            <a:spAutoFit/>
          </a:bodyPr>
          <a:lstStyle/>
          <a:p>
            <a:pPr algn="ctr"/>
            <a:r>
              <a:rPr sz="2600" b="0" i="0">
                <a:solidFill>
                  <a:srgbClr val="047857"/>
                </a:solidFill>
              </a:rPr>
              <a:t>Autonomous Manufacturing Intelligence</a:t>
            </a:r>
          </a:p>
        </p:txBody>
      </p:sp>
      <p:sp>
        <p:nvSpPr>
          <p:cNvPr id="6" name="TextBox 5"/>
          <p:cNvSpPr txBox="1"/>
          <p:nvPr/>
        </p:nvSpPr>
        <p:spPr>
          <a:xfrm>
            <a:off x="914400" y="3246120"/>
            <a:ext cx="10058400" cy="502920"/>
          </a:xfrm>
          <a:prstGeom prst="rect">
            <a:avLst/>
          </a:prstGeom>
          <a:noFill/>
        </p:spPr>
        <p:txBody>
          <a:bodyPr wrap="square">
            <a:spAutoFit/>
          </a:bodyPr>
          <a:lstStyle/>
          <a:p>
            <a:pPr algn="ctr"/>
            <a:r>
              <a:rPr sz="1800" b="0" i="0">
                <a:solidFill>
                  <a:srgbClr val="4B5563"/>
                </a:solidFill>
              </a:rPr>
              <a:t>Transforming Medical Device Production with Agentic AI</a:t>
            </a:r>
          </a:p>
        </p:txBody>
      </p:sp>
      <p:sp>
        <p:nvSpPr>
          <p:cNvPr id="7" name="TextBox 6"/>
          <p:cNvSpPr txBox="1"/>
          <p:nvPr/>
        </p:nvSpPr>
        <p:spPr>
          <a:xfrm>
            <a:off x="914400" y="5029200"/>
            <a:ext cx="10058400" cy="411480"/>
          </a:xfrm>
          <a:prstGeom prst="rect">
            <a:avLst/>
          </a:prstGeom>
          <a:noFill/>
        </p:spPr>
        <p:txBody>
          <a:bodyPr wrap="square">
            <a:spAutoFit/>
          </a:bodyPr>
          <a:lstStyle/>
          <a:p>
            <a:pPr algn="ctr"/>
            <a:r>
              <a:rPr sz="1400" b="0" i="0">
                <a:solidFill>
                  <a:srgbClr val="4B5563"/>
                </a:solidFill>
              </a:rPr>
              <a:t>Open Source (MIT) — Business Case Presentation — March 2026</a:t>
            </a:r>
          </a:p>
        </p:txBody>
      </p:sp>
      <p:sp>
        <p:nvSpPr>
          <p:cNvPr id="8" name="TextBox 7"/>
          <p:cNvSpPr txBox="1"/>
          <p:nvPr/>
        </p:nvSpPr>
        <p:spPr>
          <a:xfrm>
            <a:off x="914400" y="5577840"/>
            <a:ext cx="10058400" cy="365760"/>
          </a:xfrm>
          <a:prstGeom prst="rect">
            <a:avLst/>
          </a:prstGeom>
          <a:noFill/>
        </p:spPr>
        <p:txBody>
          <a:bodyPr wrap="square">
            <a:spAutoFit/>
          </a:bodyPr>
          <a:lstStyle/>
          <a:p>
            <a:pPr algn="ctr"/>
            <a:r>
              <a:rPr sz="1200" b="0" i="1">
                <a:solidFill>
                  <a:srgbClr val="F59E0B"/>
                </a:solidFill>
              </a:rPr>
              <a:t>github.com/Sumanharapanahalli/sage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Current State: Manual Bottlenecks at Scale</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47857"/>
                </a:solidFill>
              </a:rPr>
              <a:t>The hidden cost of running without agentic AI</a:t>
            </a:r>
          </a:p>
        </p:txBody>
      </p:sp>
      <p:sp>
        <p:nvSpPr>
          <p:cNvPr id="5" name="TextBox 4"/>
          <p:cNvSpPr txBox="1"/>
          <p:nvPr/>
        </p:nvSpPr>
        <p:spPr>
          <a:xfrm>
            <a:off x="502920" y="1463040"/>
            <a:ext cx="11155680" cy="384048"/>
          </a:xfrm>
          <a:prstGeom prst="rect">
            <a:avLst/>
          </a:prstGeom>
          <a:noFill/>
        </p:spPr>
        <p:txBody>
          <a:bodyPr wrap="square">
            <a:spAutoFit/>
          </a:bodyPr>
          <a:lstStyle/>
          <a:p>
            <a:pPr algn="l"/>
            <a:r>
              <a:rPr sz="1500" b="0" i="0">
                <a:solidFill>
                  <a:srgbClr val="1F2A37"/>
                </a:solidFill>
              </a:rPr>
              <a:t>45-60 min per error log analysis — manual triage every time</a:t>
            </a:r>
          </a:p>
        </p:txBody>
      </p:sp>
      <p:sp>
        <p:nvSpPr>
          <p:cNvPr id="6" name="TextBox 5"/>
          <p:cNvSpPr txBox="1"/>
          <p:nvPr/>
        </p:nvSpPr>
        <p:spPr>
          <a:xfrm>
            <a:off x="502920" y="1920240"/>
            <a:ext cx="11155680" cy="384048"/>
          </a:xfrm>
          <a:prstGeom prst="rect">
            <a:avLst/>
          </a:prstGeom>
          <a:noFill/>
        </p:spPr>
        <p:txBody>
          <a:bodyPr wrap="square">
            <a:spAutoFit/>
          </a:bodyPr>
          <a:lstStyle/>
          <a:p>
            <a:pPr algn="l"/>
            <a:r>
              <a:rPr sz="1500" b="0" i="0">
                <a:solidFill>
                  <a:srgbClr val="1F2A37"/>
                </a:solidFill>
              </a:rPr>
              <a:t>3-5 day MR review backlog — engineers blocked waiting for feedback</a:t>
            </a:r>
          </a:p>
        </p:txBody>
      </p:sp>
      <p:sp>
        <p:nvSpPr>
          <p:cNvPr id="7" name="TextBox 6"/>
          <p:cNvSpPr txBox="1"/>
          <p:nvPr/>
        </p:nvSpPr>
        <p:spPr>
          <a:xfrm>
            <a:off x="502920" y="2377440"/>
            <a:ext cx="11155680" cy="384048"/>
          </a:xfrm>
          <a:prstGeom prst="rect">
            <a:avLst/>
          </a:prstGeom>
          <a:noFill/>
        </p:spPr>
        <p:txBody>
          <a:bodyPr wrap="square">
            <a:spAutoFit/>
          </a:bodyPr>
          <a:lstStyle/>
          <a:p>
            <a:pPr algn="l"/>
            <a:r>
              <a:rPr sz="1500" b="0" i="0">
                <a:solidFill>
                  <a:srgbClr val="1F2A37"/>
                </a:solidFill>
              </a:rPr>
              <a:t>8+ hours/week compliance reporting — pure administrative overhead</a:t>
            </a:r>
          </a:p>
        </p:txBody>
      </p:sp>
      <p:sp>
        <p:nvSpPr>
          <p:cNvPr id="8" name="TextBox 7"/>
          <p:cNvSpPr txBox="1"/>
          <p:nvPr/>
        </p:nvSpPr>
        <p:spPr>
          <a:xfrm>
            <a:off x="502920" y="2834640"/>
            <a:ext cx="11155680" cy="384048"/>
          </a:xfrm>
          <a:prstGeom prst="rect">
            <a:avLst/>
          </a:prstGeom>
          <a:noFill/>
        </p:spPr>
        <p:txBody>
          <a:bodyPr wrap="square">
            <a:spAutoFit/>
          </a:bodyPr>
          <a:lstStyle/>
          <a:p>
            <a:pPr algn="l"/>
            <a:r>
              <a:rPr sz="1500" b="0" i="0">
                <a:solidFill>
                  <a:srgbClr val="1F2A37"/>
                </a:solidFill>
              </a:rPr>
              <a:t>Expert knowledge lost permanently when engineers leave the team</a:t>
            </a:r>
          </a:p>
        </p:txBody>
      </p:sp>
      <p:sp>
        <p:nvSpPr>
          <p:cNvPr id="9" name="TextBox 8"/>
          <p:cNvSpPr txBox="1"/>
          <p:nvPr/>
        </p:nvSpPr>
        <p:spPr>
          <a:xfrm>
            <a:off x="502920" y="3291840"/>
            <a:ext cx="11155680" cy="384048"/>
          </a:xfrm>
          <a:prstGeom prst="rect">
            <a:avLst/>
          </a:prstGeom>
          <a:noFill/>
        </p:spPr>
        <p:txBody>
          <a:bodyPr wrap="square">
            <a:spAutoFit/>
          </a:bodyPr>
          <a:lstStyle/>
          <a:p>
            <a:pPr algn="l"/>
            <a:r>
              <a:rPr sz="1500" b="0" i="0">
                <a:solidFill>
                  <a:srgbClr val="1F2A37"/>
                </a:solidFill>
              </a:rPr>
              <a:t>Error detection relies on human vigilance 24/7 — unsustainable at scale</a:t>
            </a:r>
          </a:p>
        </p:txBody>
      </p:sp>
      <p:sp>
        <p:nvSpPr>
          <p:cNvPr id="10" name="TextBox 9"/>
          <p:cNvSpPr txBox="1"/>
          <p:nvPr/>
        </p:nvSpPr>
        <p:spPr>
          <a:xfrm>
            <a:off x="502920" y="3749040"/>
            <a:ext cx="11155680" cy="384048"/>
          </a:xfrm>
          <a:prstGeom prst="rect">
            <a:avLst/>
          </a:prstGeom>
          <a:noFill/>
        </p:spPr>
        <p:txBody>
          <a:bodyPr wrap="square">
            <a:spAutoFit/>
          </a:bodyPr>
          <a:lstStyle/>
          <a:p>
            <a:pPr algn="l"/>
            <a:r>
              <a:rPr sz="1500" b="0" i="0">
                <a:solidFill>
                  <a:srgbClr val="1F2A37"/>
                </a:solidFill>
              </a:rPr>
              <a:t/>
            </a:r>
          </a:p>
        </p:txBody>
      </p:sp>
      <p:sp>
        <p:nvSpPr>
          <p:cNvPr id="11" name="TextBox 10"/>
          <p:cNvSpPr txBox="1"/>
          <p:nvPr/>
        </p:nvSpPr>
        <p:spPr>
          <a:xfrm>
            <a:off x="502920" y="4206240"/>
            <a:ext cx="11155680" cy="384048"/>
          </a:xfrm>
          <a:prstGeom prst="rect">
            <a:avLst/>
          </a:prstGeom>
          <a:noFill/>
        </p:spPr>
        <p:txBody>
          <a:bodyPr wrap="square">
            <a:spAutoFit/>
          </a:bodyPr>
          <a:lstStyle/>
          <a:p>
            <a:pPr algn="l"/>
            <a:r>
              <a:rPr sz="1500" b="0" i="0">
                <a:solidFill>
                  <a:srgbClr val="1F2A37"/>
                </a:solidFill>
              </a:rPr>
              <a:t>Result: ~68 hrs/week of preventable manual work — every single week</a:t>
            </a:r>
          </a:p>
        </p:txBody>
      </p:sp>
      <p:sp>
        <p:nvSpPr>
          <p:cNvPr id="12" name="Rectangle 11"/>
          <p:cNvSpPr/>
          <p:nvPr/>
        </p:nvSpPr>
        <p:spPr>
          <a:xfrm>
            <a:off x="0" y="6492240"/>
            <a:ext cx="12188952" cy="36576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6510528"/>
            <a:ext cx="8229600" cy="274320"/>
          </a:xfrm>
          <a:prstGeom prst="rect">
            <a:avLst/>
          </a:prstGeom>
          <a:noFill/>
        </p:spPr>
        <p:txBody>
          <a:bodyPr wrap="square">
            <a:spAutoFit/>
          </a:bodyPr>
          <a:lstStyle/>
          <a:p>
            <a:pPr algn="l"/>
            <a:r>
              <a:rPr sz="900" b="0" i="0">
                <a:solidFill>
                  <a:srgbClr val="4B5563"/>
                </a:solidFill>
              </a:rPr>
              <a:t>SAGE[ai] — Open Source (MIT) | github.com/Sumanharapanahalli/sage | March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SAGE[ai]: Always-On AI Engineering Partner</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47857"/>
                </a:solidFill>
              </a:rPr>
              <a:t>Replace manual toil with autonomous, auditable intelligence</a:t>
            </a:r>
          </a:p>
        </p:txBody>
      </p:sp>
      <p:sp>
        <p:nvSpPr>
          <p:cNvPr id="5" name="TextBox 4"/>
          <p:cNvSpPr txBox="1"/>
          <p:nvPr/>
        </p:nvSpPr>
        <p:spPr>
          <a:xfrm>
            <a:off x="502920" y="1463040"/>
            <a:ext cx="11155680" cy="384048"/>
          </a:xfrm>
          <a:prstGeom prst="rect">
            <a:avLst/>
          </a:prstGeom>
          <a:noFill/>
        </p:spPr>
        <p:txBody>
          <a:bodyPr wrap="square">
            <a:spAutoFit/>
          </a:bodyPr>
          <a:lstStyle/>
          <a:p>
            <a:pPr algn="l"/>
            <a:r>
              <a:rPr sz="1500" b="0" i="0">
                <a:solidFill>
                  <a:srgbClr val="1F2A37"/>
                </a:solidFill>
              </a:rPr>
              <a:t>Analyzes error logs in under 60 seconds  (vs 45-60 min manual)</a:t>
            </a:r>
          </a:p>
        </p:txBody>
      </p:sp>
      <p:sp>
        <p:nvSpPr>
          <p:cNvPr id="6" name="TextBox 5"/>
          <p:cNvSpPr txBox="1"/>
          <p:nvPr/>
        </p:nvSpPr>
        <p:spPr>
          <a:xfrm>
            <a:off x="502920" y="1920240"/>
            <a:ext cx="11155680" cy="384048"/>
          </a:xfrm>
          <a:prstGeom prst="rect">
            <a:avLst/>
          </a:prstGeom>
          <a:noFill/>
        </p:spPr>
        <p:txBody>
          <a:bodyPr wrap="square">
            <a:spAutoFit/>
          </a:bodyPr>
          <a:lstStyle/>
          <a:p>
            <a:pPr algn="l"/>
            <a:r>
              <a:rPr sz="1500" b="0" i="0">
                <a:solidFill>
                  <a:srgbClr val="1F2A37"/>
                </a:solidFill>
              </a:rPr>
              <a:t>AI code reviews with multi-step ReAct reasoning loop</a:t>
            </a:r>
          </a:p>
        </p:txBody>
      </p:sp>
      <p:sp>
        <p:nvSpPr>
          <p:cNvPr id="7" name="TextBox 6"/>
          <p:cNvSpPr txBox="1"/>
          <p:nvPr/>
        </p:nvSpPr>
        <p:spPr>
          <a:xfrm>
            <a:off x="502920" y="2377440"/>
            <a:ext cx="11155680" cy="384048"/>
          </a:xfrm>
          <a:prstGeom prst="rect">
            <a:avLst/>
          </a:prstGeom>
          <a:noFill/>
        </p:spPr>
        <p:txBody>
          <a:bodyPr wrap="square">
            <a:spAutoFit/>
          </a:bodyPr>
          <a:lstStyle/>
          <a:p>
            <a:pPr algn="l"/>
            <a:r>
              <a:rPr sz="1500" b="0" i="0">
                <a:solidFill>
                  <a:srgbClr val="1F2A37"/>
                </a:solidFill>
              </a:rPr>
              <a:t>Monitors Teams, Metabase, GitLab — real-time event detection</a:t>
            </a:r>
          </a:p>
        </p:txBody>
      </p:sp>
      <p:sp>
        <p:nvSpPr>
          <p:cNvPr id="8" name="TextBox 7"/>
          <p:cNvSpPr txBox="1"/>
          <p:nvPr/>
        </p:nvSpPr>
        <p:spPr>
          <a:xfrm>
            <a:off x="502920" y="2834640"/>
            <a:ext cx="11155680" cy="384048"/>
          </a:xfrm>
          <a:prstGeom prst="rect">
            <a:avLst/>
          </a:prstGeom>
          <a:noFill/>
        </p:spPr>
        <p:txBody>
          <a:bodyPr wrap="square">
            <a:spAutoFit/>
          </a:bodyPr>
          <a:lstStyle/>
          <a:p>
            <a:pPr algn="l"/>
            <a:r>
              <a:rPr sz="1500" b="0" i="0">
                <a:solidFill>
                  <a:srgbClr val="1F2A37"/>
                </a:solidFill>
              </a:rPr>
              <a:t>Every decision logged to immutable ISO 13485 audit trail</a:t>
            </a:r>
          </a:p>
        </p:txBody>
      </p:sp>
      <p:sp>
        <p:nvSpPr>
          <p:cNvPr id="9" name="TextBox 8"/>
          <p:cNvSpPr txBox="1"/>
          <p:nvPr/>
        </p:nvSpPr>
        <p:spPr>
          <a:xfrm>
            <a:off x="502920" y="3291840"/>
            <a:ext cx="11155680" cy="384048"/>
          </a:xfrm>
          <a:prstGeom prst="rect">
            <a:avLst/>
          </a:prstGeom>
          <a:noFill/>
        </p:spPr>
        <p:txBody>
          <a:bodyPr wrap="square">
            <a:spAutoFit/>
          </a:bodyPr>
          <a:lstStyle/>
          <a:p>
            <a:pPr algn="l"/>
            <a:r>
              <a:rPr sz="1500" b="0" i="0">
                <a:solidFill>
                  <a:srgbClr val="1F2A37"/>
                </a:solidFill>
              </a:rPr>
              <a:t>Human-in-the-loop: AI advises, humans decide — always</a:t>
            </a:r>
          </a:p>
        </p:txBody>
      </p:sp>
      <p:sp>
        <p:nvSpPr>
          <p:cNvPr id="10" name="TextBox 9"/>
          <p:cNvSpPr txBox="1"/>
          <p:nvPr/>
        </p:nvSpPr>
        <p:spPr>
          <a:xfrm>
            <a:off x="502920" y="3749040"/>
            <a:ext cx="11155680" cy="384048"/>
          </a:xfrm>
          <a:prstGeom prst="rect">
            <a:avLst/>
          </a:prstGeom>
          <a:noFill/>
        </p:spPr>
        <p:txBody>
          <a:bodyPr wrap="square">
            <a:spAutoFit/>
          </a:bodyPr>
          <a:lstStyle/>
          <a:p>
            <a:pPr algn="l"/>
            <a:r>
              <a:rPr sz="1500" b="0" i="0">
                <a:solidFill>
                  <a:srgbClr val="1F2A37"/>
                </a:solidFill>
              </a:rPr>
              <a:t>Learns from every correction via vector memory (RAG)</a:t>
            </a:r>
          </a:p>
        </p:txBody>
      </p:sp>
      <p:sp>
        <p:nvSpPr>
          <p:cNvPr id="11" name="TextBox 10"/>
          <p:cNvSpPr txBox="1"/>
          <p:nvPr/>
        </p:nvSpPr>
        <p:spPr>
          <a:xfrm>
            <a:off x="502920" y="4206240"/>
            <a:ext cx="11155680" cy="384048"/>
          </a:xfrm>
          <a:prstGeom prst="rect">
            <a:avLst/>
          </a:prstGeom>
          <a:noFill/>
        </p:spPr>
        <p:txBody>
          <a:bodyPr wrap="square">
            <a:spAutoFit/>
          </a:bodyPr>
          <a:lstStyle/>
          <a:p>
            <a:pPr algn="l"/>
            <a:r>
              <a:rPr sz="1500" b="0" i="0">
                <a:solidFill>
                  <a:srgbClr val="1F2A37"/>
                </a:solidFill>
              </a:rPr>
              <a:t>Web dashboard for all stakeholders — zero CLI required</a:t>
            </a:r>
          </a:p>
        </p:txBody>
      </p:sp>
      <p:sp>
        <p:nvSpPr>
          <p:cNvPr id="12" name="Rectangle 11"/>
          <p:cNvSpPr/>
          <p:nvPr/>
        </p:nvSpPr>
        <p:spPr>
          <a:xfrm>
            <a:off x="0" y="6492240"/>
            <a:ext cx="12188952" cy="36576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6510528"/>
            <a:ext cx="8229600" cy="274320"/>
          </a:xfrm>
          <a:prstGeom prst="rect">
            <a:avLst/>
          </a:prstGeom>
          <a:noFill/>
        </p:spPr>
        <p:txBody>
          <a:bodyPr wrap="square">
            <a:spAutoFit/>
          </a:bodyPr>
          <a:lstStyle/>
          <a:p>
            <a:pPr algn="l"/>
            <a:r>
              <a:rPr sz="900" b="0" i="0">
                <a:solidFill>
                  <a:srgbClr val="4B5563"/>
                </a:solidFill>
              </a:rPr>
              <a:t>SAGE[ai] — Open Source (MIT) | github.com/Sumanharapanahalli/sage | March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Companies Already Winning with Agentic AI</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47857"/>
                </a:solidFill>
              </a:rPr>
              <a:t>Validated industry outcomes — this is the direction of travel</a:t>
            </a:r>
          </a:p>
        </p:txBody>
      </p:sp>
      <p:graphicFrame>
        <p:nvGraphicFramePr>
          <p:cNvPr id="5" name="Table 4"/>
          <p:cNvGraphicFramePr>
            <a:graphicFrameLocks noGrp="1"/>
          </p:cNvGraphicFramePr>
          <p:nvPr/>
        </p:nvGraphicFramePr>
        <p:xfrm>
          <a:off x="457200" y="1508760"/>
          <a:ext cx="11247120" cy="4279392"/>
        </p:xfrm>
        <a:graphic>
          <a:graphicData uri="http://schemas.openxmlformats.org/drawingml/2006/table">
            <a:tbl>
              <a:tblPr firstRow="1" bandRow="1">
                <a:tableStyleId>{5C22544A-7EE6-4342-B048-85BDC9FD1C3A}</a:tableStyleId>
              </a:tblPr>
              <a:tblGrid>
                <a:gridCol w="1554480"/>
                <a:gridCol w="4114800"/>
                <a:gridCol w="5577840"/>
              </a:tblGrid>
              <a:tr h="475488">
                <a:tc>
                  <a:txBody>
                    <a:bodyPr/>
                    <a:lstStyle/>
                    <a:p>
                      <a:pPr algn="ctr"/>
                      <a:r>
                        <a:rPr b="1" sz="1300">
                          <a:solidFill>
                            <a:srgbClr val="FFFFFF"/>
                          </a:solidFill>
                        </a:rPr>
                        <a:t>Company</a:t>
                      </a:r>
                    </a:p>
                  </a:txBody>
                  <a:tcPr>
                    <a:solidFill>
                      <a:srgbClr val="10B981"/>
                    </a:solidFill>
                  </a:tcPr>
                </a:tc>
                <a:tc>
                  <a:txBody>
                    <a:bodyPr/>
                    <a:lstStyle/>
                    <a:p>
                      <a:pPr algn="ctr"/>
                      <a:r>
                        <a:rPr b="1" sz="1300">
                          <a:solidFill>
                            <a:srgbClr val="FFFFFF"/>
                          </a:solidFill>
                        </a:rPr>
                        <a:t>Implementation</a:t>
                      </a:r>
                    </a:p>
                  </a:txBody>
                  <a:tcPr>
                    <a:solidFill>
                      <a:srgbClr val="10B981"/>
                    </a:solidFill>
                  </a:tcPr>
                </a:tc>
                <a:tc>
                  <a:txBody>
                    <a:bodyPr/>
                    <a:lstStyle/>
                    <a:p>
                      <a:pPr algn="ctr"/>
                      <a:r>
                        <a:rPr b="1" sz="1300">
                          <a:solidFill>
                            <a:srgbClr val="FFFFFF"/>
                          </a:solidFill>
                        </a:rPr>
                        <a:t>Result</a:t>
                      </a:r>
                    </a:p>
                  </a:txBody>
                  <a:tcPr>
                    <a:solidFill>
                      <a:srgbClr val="10B981"/>
                    </a:solidFill>
                  </a:tcPr>
                </a:tc>
              </a:tr>
              <a:tr h="475488">
                <a:tc>
                  <a:txBody>
                    <a:bodyPr/>
                    <a:lstStyle/>
                    <a:p>
                      <a:pPr algn="l"/>
                      <a:r>
                        <a:rPr sz="1200">
                          <a:solidFill>
                            <a:srgbClr val="1F2A37"/>
                          </a:solidFill>
                        </a:rPr>
                        <a:t>Siemens</a:t>
                      </a:r>
                    </a:p>
                  </a:txBody>
                  <a:tcPr>
                    <a:solidFill>
                      <a:srgbClr val="FAFAFA"/>
                    </a:solidFill>
                  </a:tcPr>
                </a:tc>
                <a:tc>
                  <a:txBody>
                    <a:bodyPr/>
                    <a:lstStyle/>
                    <a:p>
                      <a:pPr algn="l"/>
                      <a:r>
                        <a:rPr sz="1200">
                          <a:solidFill>
                            <a:srgbClr val="1F2A37"/>
                          </a:solidFill>
                        </a:rPr>
                        <a:t>AI predictive maintenance agents</a:t>
                      </a:r>
                    </a:p>
                  </a:txBody>
                  <a:tcPr>
                    <a:solidFill>
                      <a:srgbClr val="FAFAFA"/>
                    </a:solidFill>
                  </a:tcPr>
                </a:tc>
                <a:tc>
                  <a:txBody>
                    <a:bodyPr/>
                    <a:lstStyle/>
                    <a:p>
                      <a:pPr algn="l"/>
                      <a:r>
                        <a:rPr sz="1200">
                          <a:solidFill>
                            <a:srgbClr val="1F2A37"/>
                          </a:solidFill>
                        </a:rPr>
                        <a:t>30% less unplanned downtime, €1.5B saved/yr</a:t>
                      </a:r>
                    </a:p>
                  </a:txBody>
                  <a:tcPr>
                    <a:solidFill>
                      <a:srgbClr val="FAFAFA"/>
                    </a:solidFill>
                  </a:tcPr>
                </a:tc>
              </a:tr>
              <a:tr h="475488">
                <a:tc>
                  <a:txBody>
                    <a:bodyPr/>
                    <a:lstStyle/>
                    <a:p>
                      <a:pPr algn="l"/>
                      <a:r>
                        <a:rPr sz="1200">
                          <a:solidFill>
                            <a:srgbClr val="1F2A37"/>
                          </a:solidFill>
                        </a:rPr>
                        <a:t>BMW</a:t>
                      </a:r>
                    </a:p>
                  </a:txBody>
                  <a:tcPr>
                    <a:solidFill>
                      <a:srgbClr val="FFFFFF"/>
                    </a:solidFill>
                  </a:tcPr>
                </a:tc>
                <a:tc>
                  <a:txBody>
                    <a:bodyPr/>
                    <a:lstStyle/>
                    <a:p>
                      <a:pPr algn="l"/>
                      <a:r>
                        <a:rPr sz="1200">
                          <a:solidFill>
                            <a:srgbClr val="1F2A37"/>
                          </a:solidFill>
                        </a:rPr>
                        <a:t>AI quality inspection</a:t>
                      </a:r>
                    </a:p>
                  </a:txBody>
                  <a:tcPr>
                    <a:solidFill>
                      <a:srgbClr val="FFFFFF"/>
                    </a:solidFill>
                  </a:tcPr>
                </a:tc>
                <a:tc>
                  <a:txBody>
                    <a:bodyPr/>
                    <a:lstStyle/>
                    <a:p>
                      <a:pPr algn="l"/>
                      <a:r>
                        <a:rPr sz="1200">
                          <a:solidFill>
                            <a:srgbClr val="1F2A37"/>
                          </a:solidFill>
                        </a:rPr>
                        <a:t>99.5% defect detection, 30% QC cost reduction</a:t>
                      </a:r>
                    </a:p>
                  </a:txBody>
                  <a:tcPr>
                    <a:solidFill>
                      <a:srgbClr val="FFFFFF"/>
                    </a:solidFill>
                  </a:tcPr>
                </a:tc>
              </a:tr>
              <a:tr h="475488">
                <a:tc>
                  <a:txBody>
                    <a:bodyPr/>
                    <a:lstStyle/>
                    <a:p>
                      <a:pPr algn="l"/>
                      <a:r>
                        <a:rPr sz="1200">
                          <a:solidFill>
                            <a:srgbClr val="1F2A37"/>
                          </a:solidFill>
                        </a:rPr>
                        <a:t>Bosch</a:t>
                      </a:r>
                    </a:p>
                  </a:txBody>
                  <a:tcPr>
                    <a:solidFill>
                      <a:srgbClr val="FAFAFA"/>
                    </a:solidFill>
                  </a:tcPr>
                </a:tc>
                <a:tc>
                  <a:txBody>
                    <a:bodyPr/>
                    <a:lstStyle/>
                    <a:p>
                      <a:pPr algn="l"/>
                      <a:r>
                        <a:rPr sz="1200">
                          <a:solidFill>
                            <a:srgbClr val="1F2A37"/>
                          </a:solidFill>
                        </a:rPr>
                        <a:t>AI-assisted code review</a:t>
                      </a:r>
                    </a:p>
                  </a:txBody>
                  <a:tcPr>
                    <a:solidFill>
                      <a:srgbClr val="FAFAFA"/>
                    </a:solidFill>
                  </a:tcPr>
                </a:tc>
                <a:tc>
                  <a:txBody>
                    <a:bodyPr/>
                    <a:lstStyle/>
                    <a:p>
                      <a:pPr algn="l"/>
                      <a:r>
                        <a:rPr sz="1200">
                          <a:solidFill>
                            <a:srgbClr val="1F2A37"/>
                          </a:solidFill>
                        </a:rPr>
                        <a:t>40% faster releases, 60% fewer defect escapes</a:t>
                      </a:r>
                    </a:p>
                  </a:txBody>
                  <a:tcPr>
                    <a:solidFill>
                      <a:srgbClr val="FAFAFA"/>
                    </a:solidFill>
                  </a:tcPr>
                </a:tc>
              </a:tr>
              <a:tr h="475488">
                <a:tc>
                  <a:txBody>
                    <a:bodyPr/>
                    <a:lstStyle/>
                    <a:p>
                      <a:pPr algn="l"/>
                      <a:r>
                        <a:rPr sz="1200">
                          <a:solidFill>
                            <a:srgbClr val="1F2A37"/>
                          </a:solidFill>
                        </a:rPr>
                        <a:t>Amazon</a:t>
                      </a:r>
                    </a:p>
                  </a:txBody>
                  <a:tcPr>
                    <a:solidFill>
                      <a:srgbClr val="FFFFFF"/>
                    </a:solidFill>
                  </a:tcPr>
                </a:tc>
                <a:tc>
                  <a:txBody>
                    <a:bodyPr/>
                    <a:lstStyle/>
                    <a:p>
                      <a:pPr algn="l"/>
                      <a:r>
                        <a:rPr sz="1200">
                          <a:solidFill>
                            <a:srgbClr val="1F2A37"/>
                          </a:solidFill>
                        </a:rPr>
                        <a:t>CodeGuru automated review</a:t>
                      </a:r>
                    </a:p>
                  </a:txBody>
                  <a:tcPr>
                    <a:solidFill>
                      <a:srgbClr val="FFFFFF"/>
                    </a:solidFill>
                  </a:tcPr>
                </a:tc>
                <a:tc>
                  <a:txBody>
                    <a:bodyPr/>
                    <a:lstStyle/>
                    <a:p>
                      <a:pPr algn="l"/>
                      <a:r>
                        <a:rPr sz="1200">
                          <a:solidFill>
                            <a:srgbClr val="1F2A37"/>
                          </a:solidFill>
                        </a:rPr>
                        <a:t>50% reduction in production incidents</a:t>
                      </a:r>
                    </a:p>
                  </a:txBody>
                  <a:tcPr>
                    <a:solidFill>
                      <a:srgbClr val="FFFFFF"/>
                    </a:solidFill>
                  </a:tcPr>
                </a:tc>
              </a:tr>
              <a:tr h="475488">
                <a:tc>
                  <a:txBody>
                    <a:bodyPr/>
                    <a:lstStyle/>
                    <a:p>
                      <a:pPr algn="l"/>
                      <a:r>
                        <a:rPr sz="1200">
                          <a:solidFill>
                            <a:srgbClr val="1F2A37"/>
                          </a:solidFill>
                        </a:rPr>
                        <a:t>Microsoft</a:t>
                      </a:r>
                    </a:p>
                  </a:txBody>
                  <a:tcPr>
                    <a:solidFill>
                      <a:srgbClr val="FAFAFA"/>
                    </a:solidFill>
                  </a:tcPr>
                </a:tc>
                <a:tc>
                  <a:txBody>
                    <a:bodyPr/>
                    <a:lstStyle/>
                    <a:p>
                      <a:pPr algn="l"/>
                      <a:r>
                        <a:rPr sz="1200">
                          <a:solidFill>
                            <a:srgbClr val="1F2A37"/>
                          </a:solidFill>
                        </a:rPr>
                        <a:t>GitHub Copilot</a:t>
                      </a:r>
                    </a:p>
                  </a:txBody>
                  <a:tcPr>
                    <a:solidFill>
                      <a:srgbClr val="FAFAFA"/>
                    </a:solidFill>
                  </a:tcPr>
                </a:tc>
                <a:tc>
                  <a:txBody>
                    <a:bodyPr/>
                    <a:lstStyle/>
                    <a:p>
                      <a:pPr algn="l"/>
                      <a:r>
                        <a:rPr sz="1200">
                          <a:solidFill>
                            <a:srgbClr val="1F2A37"/>
                          </a:solidFill>
                        </a:rPr>
                        <a:t>55% faster code completion, 46% more PRs merged/day</a:t>
                      </a:r>
                    </a:p>
                  </a:txBody>
                  <a:tcPr>
                    <a:solidFill>
                      <a:srgbClr val="FAFAFA"/>
                    </a:solidFill>
                  </a:tcPr>
                </a:tc>
              </a:tr>
              <a:tr h="475488">
                <a:tc>
                  <a:txBody>
                    <a:bodyPr/>
                    <a:lstStyle/>
                    <a:p>
                      <a:pPr algn="l"/>
                      <a:r>
                        <a:rPr sz="1200">
                          <a:solidFill>
                            <a:srgbClr val="1F2A37"/>
                          </a:solidFill>
                        </a:rPr>
                        <a:t>Medtronic</a:t>
                      </a:r>
                    </a:p>
                  </a:txBody>
                  <a:tcPr>
                    <a:solidFill>
                      <a:srgbClr val="FFFFFF"/>
                    </a:solidFill>
                  </a:tcPr>
                </a:tc>
                <a:tc>
                  <a:txBody>
                    <a:bodyPr/>
                    <a:lstStyle/>
                    <a:p>
                      <a:pPr algn="l"/>
                      <a:r>
                        <a:rPr sz="1200">
                          <a:solidFill>
                            <a:srgbClr val="1F2A37"/>
                          </a:solidFill>
                        </a:rPr>
                        <a:t>AI in quality management</a:t>
                      </a:r>
                    </a:p>
                  </a:txBody>
                  <a:tcPr>
                    <a:solidFill>
                      <a:srgbClr val="FFFFFF"/>
                    </a:solidFill>
                  </a:tcPr>
                </a:tc>
                <a:tc>
                  <a:txBody>
                    <a:bodyPr/>
                    <a:lstStyle/>
                    <a:p>
                      <a:pPr algn="l"/>
                      <a:r>
                        <a:rPr sz="1200">
                          <a:solidFill>
                            <a:srgbClr val="1F2A37"/>
                          </a:solidFill>
                        </a:rPr>
                        <a:t>35% shorter CAPA cycle, faster FDA submissions</a:t>
                      </a:r>
                    </a:p>
                  </a:txBody>
                  <a:tcPr>
                    <a:solidFill>
                      <a:srgbClr val="FFFFFF"/>
                    </a:solidFill>
                  </a:tcPr>
                </a:tc>
              </a:tr>
              <a:tr h="475488">
                <a:tc>
                  <a:txBody>
                    <a:bodyPr/>
                    <a:lstStyle/>
                    <a:p>
                      <a:pPr algn="l"/>
                      <a:r>
                        <a:rPr sz="1200">
                          <a:solidFill>
                            <a:srgbClr val="1F2A37"/>
                          </a:solidFill>
                        </a:rPr>
                        <a:t>Stryker</a:t>
                      </a:r>
                    </a:p>
                  </a:txBody>
                  <a:tcPr>
                    <a:solidFill>
                      <a:srgbClr val="FAFAFA"/>
                    </a:solidFill>
                  </a:tcPr>
                </a:tc>
                <a:tc>
                  <a:txBody>
                    <a:bodyPr/>
                    <a:lstStyle/>
                    <a:p>
                      <a:pPr algn="l"/>
                      <a:r>
                        <a:rPr sz="1200">
                          <a:solidFill>
                            <a:srgbClr val="1F2A37"/>
                          </a:solidFill>
                        </a:rPr>
                        <a:t>AI regulatory documentation</a:t>
                      </a:r>
                    </a:p>
                  </a:txBody>
                  <a:tcPr>
                    <a:solidFill>
                      <a:srgbClr val="FAFAFA"/>
                    </a:solidFill>
                  </a:tcPr>
                </a:tc>
                <a:tc>
                  <a:txBody>
                    <a:bodyPr/>
                    <a:lstStyle/>
                    <a:p>
                      <a:pPr algn="l"/>
                      <a:r>
                        <a:rPr sz="1200">
                          <a:solidFill>
                            <a:srgbClr val="1F2A37"/>
                          </a:solidFill>
                        </a:rPr>
                        <a:t>40% reduction in submission preparation time</a:t>
                      </a:r>
                    </a:p>
                  </a:txBody>
                  <a:tcPr>
                    <a:solidFill>
                      <a:srgbClr val="FAFAFA"/>
                    </a:solidFill>
                  </a:tcPr>
                </a:tc>
              </a:tr>
              <a:tr h="475488">
                <a:tc>
                  <a:txBody>
                    <a:bodyPr/>
                    <a:lstStyle/>
                    <a:p>
                      <a:pPr algn="l"/>
                      <a:r>
                        <a:rPr sz="1200">
                          <a:solidFill>
                            <a:srgbClr val="1F2A37"/>
                          </a:solidFill>
                        </a:rPr>
                        <a:t>J&amp;J</a:t>
                      </a:r>
                    </a:p>
                  </a:txBody>
                  <a:tcPr>
                    <a:solidFill>
                      <a:srgbClr val="FFFFFF"/>
                    </a:solidFill>
                  </a:tcPr>
                </a:tc>
                <a:tc>
                  <a:txBody>
                    <a:bodyPr/>
                    <a:lstStyle/>
                    <a:p>
                      <a:pPr algn="l"/>
                      <a:r>
                        <a:rPr sz="1200">
                          <a:solidFill>
                            <a:srgbClr val="1F2A37"/>
                          </a:solidFill>
                        </a:rPr>
                        <a:t>AI manufacturing analytics</a:t>
                      </a:r>
                    </a:p>
                  </a:txBody>
                  <a:tcPr>
                    <a:solidFill>
                      <a:srgbClr val="FFFFFF"/>
                    </a:solidFill>
                  </a:tcPr>
                </a:tc>
                <a:tc>
                  <a:txBody>
                    <a:bodyPr/>
                    <a:lstStyle/>
                    <a:p>
                      <a:pPr algn="l"/>
                      <a:r>
                        <a:rPr sz="1200">
                          <a:solidFill>
                            <a:srgbClr val="1F2A37"/>
                          </a:solidFill>
                        </a:rPr>
                        <a:t>20% yield improvement, significant waste reduction</a:t>
                      </a:r>
                    </a:p>
                  </a:txBody>
                  <a:tcPr>
                    <a:solidFill>
                      <a:srgbClr val="FFFFFF"/>
                    </a:solidFill>
                  </a:tcPr>
                </a:tc>
              </a:tr>
            </a:tbl>
          </a:graphicData>
        </a:graphic>
      </p:graphicFrame>
      <p:sp>
        <p:nvSpPr>
          <p:cNvPr id="6" name="TextBox 5"/>
          <p:cNvSpPr txBox="1"/>
          <p:nvPr/>
        </p:nvSpPr>
        <p:spPr>
          <a:xfrm>
            <a:off x="457200" y="5879592"/>
            <a:ext cx="11247120" cy="365760"/>
          </a:xfrm>
          <a:prstGeom prst="rect">
            <a:avLst/>
          </a:prstGeom>
          <a:noFill/>
        </p:spPr>
        <p:txBody>
          <a:bodyPr wrap="square">
            <a:spAutoFit/>
          </a:bodyPr>
          <a:lstStyle/>
          <a:p>
            <a:pPr algn="l"/>
            <a:r>
              <a:rPr sz="1100" b="0" i="1">
                <a:solidFill>
                  <a:srgbClr val="4B5563"/>
                </a:solidFill>
              </a:rPr>
              <a:t>Sources: company annual reports, press releases, and published case studies (2023–2025).</a:t>
            </a:r>
          </a:p>
        </p:txBody>
      </p:sp>
      <p:sp>
        <p:nvSpPr>
          <p:cNvPr id="7" name="Rectangle 6"/>
          <p:cNvSpPr/>
          <p:nvPr/>
        </p:nvSpPr>
        <p:spPr>
          <a:xfrm>
            <a:off x="0" y="6492240"/>
            <a:ext cx="12188952" cy="36576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8229600" cy="274320"/>
          </a:xfrm>
          <a:prstGeom prst="rect">
            <a:avLst/>
          </a:prstGeom>
          <a:noFill/>
        </p:spPr>
        <p:txBody>
          <a:bodyPr wrap="square">
            <a:spAutoFit/>
          </a:bodyPr>
          <a:lstStyle/>
          <a:p>
            <a:pPr algn="l"/>
            <a:r>
              <a:rPr sz="900" b="0" i="0">
                <a:solidFill>
                  <a:srgbClr val="4B5563"/>
                </a:solidFill>
              </a:rPr>
              <a:t>SAGE[ai] — Open Source (MIT) | github.com/Sumanharapanahalli/sage | March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SAGE[ai] Is Built on Lean Principles</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47857"/>
                </a:solidFill>
              </a:rPr>
              <a:t>Lean development + agentic AI — the natural pairing</a:t>
            </a:r>
          </a:p>
        </p:txBody>
      </p:sp>
      <p:graphicFrame>
        <p:nvGraphicFramePr>
          <p:cNvPr id="5" name="Table 4"/>
          <p:cNvGraphicFramePr>
            <a:graphicFrameLocks noGrp="1"/>
          </p:cNvGraphicFramePr>
          <p:nvPr/>
        </p:nvGraphicFramePr>
        <p:xfrm>
          <a:off x="457200" y="1508760"/>
          <a:ext cx="11247120" cy="3328416"/>
        </p:xfrm>
        <a:graphic>
          <a:graphicData uri="http://schemas.openxmlformats.org/drawingml/2006/table">
            <a:tbl>
              <a:tblPr firstRow="1" bandRow="1">
                <a:tableStyleId>{5C22544A-7EE6-4342-B048-85BDC9FD1C3A}</a:tableStyleId>
              </a:tblPr>
              <a:tblGrid>
                <a:gridCol w="3657600"/>
                <a:gridCol w="7589520"/>
              </a:tblGrid>
              <a:tr h="475488">
                <a:tc>
                  <a:txBody>
                    <a:bodyPr/>
                    <a:lstStyle/>
                    <a:p>
                      <a:pPr algn="ctr"/>
                      <a:r>
                        <a:rPr b="1" sz="1300">
                          <a:solidFill>
                            <a:srgbClr val="FFFFFF"/>
                          </a:solidFill>
                        </a:rPr>
                        <a:t>Lean Principle</a:t>
                      </a:r>
                    </a:p>
                  </a:txBody>
                  <a:tcPr>
                    <a:solidFill>
                      <a:srgbClr val="10B981"/>
                    </a:solidFill>
                  </a:tcPr>
                </a:tc>
                <a:tc>
                  <a:txBody>
                    <a:bodyPr/>
                    <a:lstStyle/>
                    <a:p>
                      <a:pPr algn="ctr"/>
                      <a:r>
                        <a:rPr b="1" sz="1300">
                          <a:solidFill>
                            <a:srgbClr val="FFFFFF"/>
                          </a:solidFill>
                        </a:rPr>
                        <a:t>How SAGE[ai] Delivers</a:t>
                      </a:r>
                    </a:p>
                  </a:txBody>
                  <a:tcPr>
                    <a:solidFill>
                      <a:srgbClr val="10B981"/>
                    </a:solidFill>
                  </a:tcPr>
                </a:tc>
              </a:tr>
              <a:tr h="475488">
                <a:tc>
                  <a:txBody>
                    <a:bodyPr/>
                    <a:lstStyle/>
                    <a:p>
                      <a:pPr algn="l"/>
                      <a:r>
                        <a:rPr sz="1200">
                          <a:solidFill>
                            <a:srgbClr val="1F2A37"/>
                          </a:solidFill>
                        </a:rPr>
                        <a:t>Eliminate Waste (Muda)</a:t>
                      </a:r>
                    </a:p>
                  </a:txBody>
                  <a:tcPr>
                    <a:solidFill>
                      <a:srgbClr val="FAFAFA"/>
                    </a:solidFill>
                  </a:tcPr>
                </a:tc>
                <a:tc>
                  <a:txBody>
                    <a:bodyPr/>
                    <a:lstStyle/>
                    <a:p>
                      <a:pPr algn="l"/>
                      <a:r>
                        <a:rPr sz="1200">
                          <a:solidFill>
                            <a:srgbClr val="1F2A37"/>
                          </a:solidFill>
                        </a:rPr>
                        <a:t>Removes 60+ hrs/week of repetitive analysis</a:t>
                      </a:r>
                    </a:p>
                  </a:txBody>
                  <a:tcPr>
                    <a:solidFill>
                      <a:srgbClr val="FAFAFA"/>
                    </a:solidFill>
                  </a:tcPr>
                </a:tc>
              </a:tr>
              <a:tr h="475488">
                <a:tc>
                  <a:txBody>
                    <a:bodyPr/>
                    <a:lstStyle/>
                    <a:p>
                      <a:pPr algn="l"/>
                      <a:r>
                        <a:rPr sz="1200">
                          <a:solidFill>
                            <a:srgbClr val="1F2A37"/>
                          </a:solidFill>
                        </a:rPr>
                        <a:t>Continuous Improvement (Kaizen)</a:t>
                      </a:r>
                    </a:p>
                  </a:txBody>
                  <a:tcPr>
                    <a:solidFill>
                      <a:srgbClr val="FFFFFF"/>
                    </a:solidFill>
                  </a:tcPr>
                </a:tc>
                <a:tc>
                  <a:txBody>
                    <a:bodyPr/>
                    <a:lstStyle/>
                    <a:p>
                      <a:pPr algn="l"/>
                      <a:r>
                        <a:rPr sz="1200">
                          <a:solidFill>
                            <a:srgbClr val="1F2A37"/>
                          </a:solidFill>
                        </a:rPr>
                        <a:t>Learns from every rejection via RAG memory</a:t>
                      </a:r>
                    </a:p>
                  </a:txBody>
                  <a:tcPr>
                    <a:solidFill>
                      <a:srgbClr val="FFFFFF"/>
                    </a:solidFill>
                  </a:tcPr>
                </a:tc>
              </a:tr>
              <a:tr h="475488">
                <a:tc>
                  <a:txBody>
                    <a:bodyPr/>
                    <a:lstStyle/>
                    <a:p>
                      <a:pPr algn="l"/>
                      <a:r>
                        <a:rPr sz="1200">
                          <a:solidFill>
                            <a:srgbClr val="1F2A37"/>
                          </a:solidFill>
                        </a:rPr>
                        <a:t>Error-Proofing (Poka-yoke)</a:t>
                      </a:r>
                    </a:p>
                  </a:txBody>
                  <a:tcPr>
                    <a:solidFill>
                      <a:srgbClr val="FAFAFA"/>
                    </a:solidFill>
                  </a:tcPr>
                </a:tc>
                <a:tc>
                  <a:txBody>
                    <a:bodyPr/>
                    <a:lstStyle/>
                    <a:p>
                      <a:pPr algn="l"/>
                      <a:r>
                        <a:rPr sz="1200">
                          <a:solidFill>
                            <a:srgbClr val="1F2A37"/>
                          </a:solidFill>
                        </a:rPr>
                        <a:t>Human-in-the-loop prevents AI errors reaching production</a:t>
                      </a:r>
                    </a:p>
                  </a:txBody>
                  <a:tcPr>
                    <a:solidFill>
                      <a:srgbClr val="FAFAFA"/>
                    </a:solidFill>
                  </a:tcPr>
                </a:tc>
              </a:tr>
              <a:tr h="475488">
                <a:tc>
                  <a:txBody>
                    <a:bodyPr/>
                    <a:lstStyle/>
                    <a:p>
                      <a:pPr algn="l"/>
                      <a:r>
                        <a:rPr sz="1200">
                          <a:solidFill>
                            <a:srgbClr val="1F2A37"/>
                          </a:solidFill>
                        </a:rPr>
                        <a:t>Visual Management</a:t>
                      </a:r>
                    </a:p>
                  </a:txBody>
                  <a:tcPr>
                    <a:solidFill>
                      <a:srgbClr val="FFFFFF"/>
                    </a:solidFill>
                  </a:tcPr>
                </a:tc>
                <a:tc>
                  <a:txBody>
                    <a:bodyPr/>
                    <a:lstStyle/>
                    <a:p>
                      <a:pPr algn="l"/>
                      <a:r>
                        <a:rPr sz="1200">
                          <a:solidFill>
                            <a:srgbClr val="1F2A37"/>
                          </a:solidFill>
                        </a:rPr>
                        <a:t>Real-time dashboard for all stakeholders</a:t>
                      </a:r>
                    </a:p>
                  </a:txBody>
                  <a:tcPr>
                    <a:solidFill>
                      <a:srgbClr val="FFFFFF"/>
                    </a:solidFill>
                  </a:tcPr>
                </a:tc>
              </a:tr>
              <a:tr h="475488">
                <a:tc>
                  <a:txBody>
                    <a:bodyPr/>
                    <a:lstStyle/>
                    <a:p>
                      <a:pPr algn="l"/>
                      <a:r>
                        <a:rPr sz="1200">
                          <a:solidFill>
                            <a:srgbClr val="1F2A37"/>
                          </a:solidFill>
                        </a:rPr>
                        <a:t>Single Piece Flow</a:t>
                      </a:r>
                    </a:p>
                  </a:txBody>
                  <a:tcPr>
                    <a:solidFill>
                      <a:srgbClr val="FAFAFA"/>
                    </a:solidFill>
                  </a:tcPr>
                </a:tc>
                <a:tc>
                  <a:txBody>
                    <a:bodyPr/>
                    <a:lstStyle/>
                    <a:p>
                      <a:pPr algn="l"/>
                      <a:r>
                        <a:rPr sz="1200">
                          <a:solidFill>
                            <a:srgbClr val="1F2A37"/>
                          </a:solidFill>
                        </a:rPr>
                        <a:t>Single-lane task queue: deterministic, auditable</a:t>
                      </a:r>
                    </a:p>
                  </a:txBody>
                  <a:tcPr>
                    <a:solidFill>
                      <a:srgbClr val="FAFAFA"/>
                    </a:solidFill>
                  </a:tcPr>
                </a:tc>
              </a:tr>
              <a:tr h="475488">
                <a:tc>
                  <a:txBody>
                    <a:bodyPr/>
                    <a:lstStyle/>
                    <a:p>
                      <a:pPr algn="l"/>
                      <a:r>
                        <a:rPr sz="1200">
                          <a:solidFill>
                            <a:srgbClr val="1F2A37"/>
                          </a:solidFill>
                        </a:rPr>
                        <a:t>Respect for People</a:t>
                      </a:r>
                    </a:p>
                  </a:txBody>
                  <a:tcPr>
                    <a:solidFill>
                      <a:srgbClr val="FFFFFF"/>
                    </a:solidFill>
                  </a:tcPr>
                </a:tc>
                <a:tc>
                  <a:txBody>
                    <a:bodyPr/>
                    <a:lstStyle/>
                    <a:p>
                      <a:pPr algn="l"/>
                      <a:r>
                        <a:rPr sz="1200">
                          <a:solidFill>
                            <a:srgbClr val="1F2A37"/>
                          </a:solidFill>
                        </a:rPr>
                        <a:t>Amplifies engineers; never replaces human judgment</a:t>
                      </a:r>
                    </a:p>
                  </a:txBody>
                  <a:tcPr>
                    <a:solidFill>
                      <a:srgbClr val="FFFFFF"/>
                    </a:solidFill>
                  </a:tcPr>
                </a:tc>
              </a:tr>
            </a:tbl>
          </a:graphicData>
        </a:graphic>
      </p:graphicFrame>
      <p:sp>
        <p:nvSpPr>
          <p:cNvPr id="6" name="Rectangle 5"/>
          <p:cNvSpPr/>
          <p:nvPr/>
        </p:nvSpPr>
        <p:spPr>
          <a:xfrm>
            <a:off x="0" y="6492240"/>
            <a:ext cx="12188952" cy="36576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8229600" cy="274320"/>
          </a:xfrm>
          <a:prstGeom prst="rect">
            <a:avLst/>
          </a:prstGeom>
          <a:noFill/>
        </p:spPr>
        <p:txBody>
          <a:bodyPr wrap="square">
            <a:spAutoFit/>
          </a:bodyPr>
          <a:lstStyle/>
          <a:p>
            <a:pPr algn="l"/>
            <a:r>
              <a:rPr sz="900" b="0" i="0">
                <a:solidFill>
                  <a:srgbClr val="4B5563"/>
                </a:solidFill>
              </a:rPr>
              <a:t>SAGE[ai] — Open Source (MIT) | github.com/Sumanharapanahalli/sage | March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Return on Investment: Month 2 Payback</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47857"/>
                </a:solidFill>
              </a:rPr>
              <a:t>Conservative baseline — replace with your actual measured numbers</a:t>
            </a:r>
          </a:p>
        </p:txBody>
      </p:sp>
      <p:graphicFrame>
        <p:nvGraphicFramePr>
          <p:cNvPr id="5" name="Table 4"/>
          <p:cNvGraphicFramePr>
            <a:graphicFrameLocks noGrp="1"/>
          </p:cNvGraphicFramePr>
          <p:nvPr/>
        </p:nvGraphicFramePr>
        <p:xfrm>
          <a:off x="457200" y="1508760"/>
          <a:ext cx="11247120" cy="2852928"/>
        </p:xfrm>
        <a:graphic>
          <a:graphicData uri="http://schemas.openxmlformats.org/drawingml/2006/table">
            <a:tbl>
              <a:tblPr firstRow="1" bandRow="1">
                <a:tableStyleId>{5C22544A-7EE6-4342-B048-85BDC9FD1C3A}</a:tableStyleId>
              </a:tblPr>
              <a:tblGrid>
                <a:gridCol w="2560320"/>
                <a:gridCol w="3474720"/>
                <a:gridCol w="2560320"/>
                <a:gridCol w="2651760"/>
              </a:tblGrid>
              <a:tr h="475488">
                <a:tc>
                  <a:txBody>
                    <a:bodyPr/>
                    <a:lstStyle/>
                    <a:p>
                      <a:pPr algn="ctr"/>
                      <a:r>
                        <a:rPr b="1" sz="1300">
                          <a:solidFill>
                            <a:srgbClr val="FFFFFF"/>
                          </a:solidFill>
                        </a:rPr>
                        <a:t>Activity</a:t>
                      </a:r>
                    </a:p>
                  </a:txBody>
                  <a:tcPr>
                    <a:solidFill>
                      <a:srgbClr val="10B981"/>
                    </a:solidFill>
                  </a:tcPr>
                </a:tc>
                <a:tc>
                  <a:txBody>
                    <a:bodyPr/>
                    <a:lstStyle/>
                    <a:p>
                      <a:pPr algn="ctr"/>
                      <a:r>
                        <a:rPr b="1" sz="1300">
                          <a:solidFill>
                            <a:srgbClr val="FFFFFF"/>
                          </a:solidFill>
                        </a:rPr>
                        <a:t>Before SAGE[ai]</a:t>
                      </a:r>
                    </a:p>
                  </a:txBody>
                  <a:tcPr>
                    <a:solidFill>
                      <a:srgbClr val="10B981"/>
                    </a:solidFill>
                  </a:tcPr>
                </a:tc>
                <a:tc>
                  <a:txBody>
                    <a:bodyPr/>
                    <a:lstStyle/>
                    <a:p>
                      <a:pPr algn="ctr"/>
                      <a:r>
                        <a:rPr b="1" sz="1300">
                          <a:solidFill>
                            <a:srgbClr val="FFFFFF"/>
                          </a:solidFill>
                        </a:rPr>
                        <a:t>After SAGE[ai]</a:t>
                      </a:r>
                    </a:p>
                  </a:txBody>
                  <a:tcPr>
                    <a:solidFill>
                      <a:srgbClr val="10B981"/>
                    </a:solidFill>
                  </a:tcPr>
                </a:tc>
                <a:tc>
                  <a:txBody>
                    <a:bodyPr/>
                    <a:lstStyle/>
                    <a:p>
                      <a:pPr algn="ctr"/>
                      <a:r>
                        <a:rPr b="1" sz="1300">
                          <a:solidFill>
                            <a:srgbClr val="FFFFFF"/>
                          </a:solidFill>
                        </a:rPr>
                        <a:t>Savings</a:t>
                      </a:r>
                    </a:p>
                  </a:txBody>
                  <a:tcPr>
                    <a:solidFill>
                      <a:srgbClr val="10B981"/>
                    </a:solidFill>
                  </a:tcPr>
                </a:tc>
              </a:tr>
              <a:tr h="475488">
                <a:tc>
                  <a:txBody>
                    <a:bodyPr/>
                    <a:lstStyle/>
                    <a:p>
                      <a:pPr algn="l"/>
                      <a:r>
                        <a:rPr sz="1200">
                          <a:solidFill>
                            <a:srgbClr val="1F2A37"/>
                          </a:solidFill>
                        </a:rPr>
                        <a:t>Error log analysis</a:t>
                      </a:r>
                    </a:p>
                  </a:txBody>
                  <a:tcPr>
                    <a:solidFill>
                      <a:srgbClr val="FAFAFA"/>
                    </a:solidFill>
                  </a:tcPr>
                </a:tc>
                <a:tc>
                  <a:txBody>
                    <a:bodyPr/>
                    <a:lstStyle/>
                    <a:p>
                      <a:pPr algn="l"/>
                      <a:r>
                        <a:rPr sz="1200">
                          <a:solidFill>
                            <a:srgbClr val="1F2A37"/>
                          </a:solidFill>
                        </a:rPr>
                        <a:t>45 min × 10/day × 2 eng = 15 hrs/day</a:t>
                      </a:r>
                    </a:p>
                  </a:txBody>
                  <a:tcPr>
                    <a:solidFill>
                      <a:srgbClr val="FAFAFA"/>
                    </a:solidFill>
                  </a:tcPr>
                </a:tc>
                <a:tc>
                  <a:txBody>
                    <a:bodyPr/>
                    <a:lstStyle/>
                    <a:p>
                      <a:pPr algn="l"/>
                      <a:r>
                        <a:rPr sz="1200">
                          <a:solidFill>
                            <a:srgbClr val="1F2A37"/>
                          </a:solidFill>
                        </a:rPr>
                        <a:t>&lt; 5 min total</a:t>
                      </a:r>
                    </a:p>
                  </a:txBody>
                  <a:tcPr>
                    <a:solidFill>
                      <a:srgbClr val="FAFAFA"/>
                    </a:solidFill>
                  </a:tcPr>
                </a:tc>
                <a:tc>
                  <a:txBody>
                    <a:bodyPr/>
                    <a:lstStyle/>
                    <a:p>
                      <a:pPr algn="l"/>
                      <a:r>
                        <a:rPr sz="1200">
                          <a:solidFill>
                            <a:srgbClr val="1F2A37"/>
                          </a:solidFill>
                        </a:rPr>
                        <a:t>~93% reduction</a:t>
                      </a:r>
                    </a:p>
                  </a:txBody>
                  <a:tcPr>
                    <a:solidFill>
                      <a:srgbClr val="FAFAFA"/>
                    </a:solidFill>
                  </a:tcPr>
                </a:tc>
              </a:tr>
              <a:tr h="475488">
                <a:tc>
                  <a:txBody>
                    <a:bodyPr/>
                    <a:lstStyle/>
                    <a:p>
                      <a:pPr algn="l"/>
                      <a:r>
                        <a:rPr sz="1200">
                          <a:solidFill>
                            <a:srgbClr val="1F2A37"/>
                          </a:solidFill>
                        </a:rPr>
                        <a:t>MR code review</a:t>
                      </a:r>
                    </a:p>
                  </a:txBody>
                  <a:tcPr>
                    <a:solidFill>
                      <a:srgbClr val="FFFFFF"/>
                    </a:solidFill>
                  </a:tcPr>
                </a:tc>
                <a:tc>
                  <a:txBody>
                    <a:bodyPr/>
                    <a:lstStyle/>
                    <a:p>
                      <a:pPr algn="l"/>
                      <a:r>
                        <a:rPr sz="1200">
                          <a:solidFill>
                            <a:srgbClr val="1F2A37"/>
                          </a:solidFill>
                        </a:rPr>
                        <a:t>3 hrs × 15 MRs/week = 45 hrs/week</a:t>
                      </a:r>
                    </a:p>
                  </a:txBody>
                  <a:tcPr>
                    <a:solidFill>
                      <a:srgbClr val="FFFFFF"/>
                    </a:solidFill>
                  </a:tcPr>
                </a:tc>
                <a:tc>
                  <a:txBody>
                    <a:bodyPr/>
                    <a:lstStyle/>
                    <a:p>
                      <a:pPr algn="l"/>
                      <a:r>
                        <a:rPr sz="1200">
                          <a:solidFill>
                            <a:srgbClr val="1F2A37"/>
                          </a:solidFill>
                        </a:rPr>
                        <a:t>~4 hrs/week</a:t>
                      </a:r>
                    </a:p>
                  </a:txBody>
                  <a:tcPr>
                    <a:solidFill>
                      <a:srgbClr val="FFFFFF"/>
                    </a:solidFill>
                  </a:tcPr>
                </a:tc>
                <a:tc>
                  <a:txBody>
                    <a:bodyPr/>
                    <a:lstStyle/>
                    <a:p>
                      <a:pPr algn="l"/>
                      <a:r>
                        <a:rPr sz="1200">
                          <a:solidFill>
                            <a:srgbClr val="1F2A37"/>
                          </a:solidFill>
                        </a:rPr>
                        <a:t>~91% reduction</a:t>
                      </a:r>
                    </a:p>
                  </a:txBody>
                  <a:tcPr>
                    <a:solidFill>
                      <a:srgbClr val="FFFFFF"/>
                    </a:solidFill>
                  </a:tcPr>
                </a:tc>
              </a:tr>
              <a:tr h="475488">
                <a:tc>
                  <a:txBody>
                    <a:bodyPr/>
                    <a:lstStyle/>
                    <a:p>
                      <a:pPr algn="l"/>
                      <a:r>
                        <a:rPr sz="1200">
                          <a:solidFill>
                            <a:srgbClr val="1F2A37"/>
                          </a:solidFill>
                        </a:rPr>
                        <a:t>Compliance reporting</a:t>
                      </a:r>
                    </a:p>
                  </a:txBody>
                  <a:tcPr>
                    <a:solidFill>
                      <a:srgbClr val="FAFAFA"/>
                    </a:solidFill>
                  </a:tcPr>
                </a:tc>
                <a:tc>
                  <a:txBody>
                    <a:bodyPr/>
                    <a:lstStyle/>
                    <a:p>
                      <a:pPr algn="l"/>
                      <a:r>
                        <a:rPr sz="1200">
                          <a:solidFill>
                            <a:srgbClr val="1F2A37"/>
                          </a:solidFill>
                        </a:rPr>
                        <a:t>8 hrs/week manual</a:t>
                      </a:r>
                    </a:p>
                  </a:txBody>
                  <a:tcPr>
                    <a:solidFill>
                      <a:srgbClr val="FAFAFA"/>
                    </a:solidFill>
                  </a:tcPr>
                </a:tc>
                <a:tc>
                  <a:txBody>
                    <a:bodyPr/>
                    <a:lstStyle/>
                    <a:p>
                      <a:pPr algn="l"/>
                      <a:r>
                        <a:rPr sz="1200">
                          <a:solidFill>
                            <a:srgbClr val="1F2A37"/>
                          </a:solidFill>
                        </a:rPr>
                        <a:t>0 hrs (auto-gen)</a:t>
                      </a:r>
                    </a:p>
                  </a:txBody>
                  <a:tcPr>
                    <a:solidFill>
                      <a:srgbClr val="FAFAFA"/>
                    </a:solidFill>
                  </a:tcPr>
                </a:tc>
                <a:tc>
                  <a:txBody>
                    <a:bodyPr/>
                    <a:lstStyle/>
                    <a:p>
                      <a:pPr algn="l"/>
                      <a:r>
                        <a:rPr sz="1200">
                          <a:solidFill>
                            <a:srgbClr val="1F2A37"/>
                          </a:solidFill>
                        </a:rPr>
                        <a:t>~100% reduction</a:t>
                      </a:r>
                    </a:p>
                  </a:txBody>
                  <a:tcPr>
                    <a:solidFill>
                      <a:srgbClr val="FAFAFA"/>
                    </a:solidFill>
                  </a:tcPr>
                </a:tc>
              </a:tr>
              <a:tr h="475488">
                <a:tc>
                  <a:txBody>
                    <a:bodyPr/>
                    <a:lstStyle/>
                    <a:p>
                      <a:pPr algn="l"/>
                      <a:r>
                        <a:rPr sz="1200">
                          <a:solidFill>
                            <a:srgbClr val="1F2A37"/>
                          </a:solidFill>
                        </a:rPr>
                        <a:t>Knowledge capture</a:t>
                      </a:r>
                    </a:p>
                  </a:txBody>
                  <a:tcPr>
                    <a:solidFill>
                      <a:srgbClr val="FFFFFF"/>
                    </a:solidFill>
                  </a:tcPr>
                </a:tc>
                <a:tc>
                  <a:txBody>
                    <a:bodyPr/>
                    <a:lstStyle/>
                    <a:p>
                      <a:pPr algn="l"/>
                      <a:r>
                        <a:rPr sz="1200">
                          <a:solidFill>
                            <a:srgbClr val="1F2A37"/>
                          </a:solidFill>
                        </a:rPr>
                        <a:t>Lost on attrition</a:t>
                      </a:r>
                    </a:p>
                  </a:txBody>
                  <a:tcPr>
                    <a:solidFill>
                      <a:srgbClr val="FFFFFF"/>
                    </a:solidFill>
                  </a:tcPr>
                </a:tc>
                <a:tc>
                  <a:txBody>
                    <a:bodyPr/>
                    <a:lstStyle/>
                    <a:p>
                      <a:pPr algn="l"/>
                      <a:r>
                        <a:rPr sz="1200">
                          <a:solidFill>
                            <a:srgbClr val="1F2A37"/>
                          </a:solidFill>
                        </a:rPr>
                        <a:t>Stored in vector mem</a:t>
                      </a:r>
                    </a:p>
                  </a:txBody>
                  <a:tcPr>
                    <a:solidFill>
                      <a:srgbClr val="FFFFFF"/>
                    </a:solidFill>
                  </a:tcPr>
                </a:tc>
                <a:tc>
                  <a:txBody>
                    <a:bodyPr/>
                    <a:lstStyle/>
                    <a:p>
                      <a:pPr algn="l"/>
                      <a:r>
                        <a:rPr sz="1200">
                          <a:solidFill>
                            <a:srgbClr val="1F2A37"/>
                          </a:solidFill>
                        </a:rPr>
                        <a:t>Permanent</a:t>
                      </a:r>
                    </a:p>
                  </a:txBody>
                  <a:tcPr>
                    <a:solidFill>
                      <a:srgbClr val="FFFFFF"/>
                    </a:solidFill>
                  </a:tcPr>
                </a:tc>
              </a:tr>
              <a:tr h="475488">
                <a:tc>
                  <a:txBody>
                    <a:bodyPr/>
                    <a:lstStyle/>
                    <a:p>
                      <a:pPr algn="l"/>
                      <a:r>
                        <a:rPr sz="1200">
                          <a:solidFill>
                            <a:srgbClr val="1F2A37"/>
                          </a:solidFill>
                        </a:rPr>
                        <a:t>TOTAL SAVINGS</a:t>
                      </a:r>
                    </a:p>
                  </a:txBody>
                  <a:tcPr>
                    <a:solidFill>
                      <a:srgbClr val="FAFAFA"/>
                    </a:solidFill>
                  </a:tcPr>
                </a:tc>
                <a:tc>
                  <a:txBody>
                    <a:bodyPr/>
                    <a:lstStyle/>
                    <a:p>
                      <a:pPr algn="l"/>
                      <a:r>
                        <a:rPr sz="1200">
                          <a:solidFill>
                            <a:srgbClr val="1F2A37"/>
                          </a:solidFill>
                        </a:rPr>
                        <a:t>68 hrs/week ≈ 1.7 FTE</a:t>
                      </a:r>
                    </a:p>
                  </a:txBody>
                  <a:tcPr>
                    <a:solidFill>
                      <a:srgbClr val="FAFAFA"/>
                    </a:solidFill>
                  </a:tcPr>
                </a:tc>
                <a:tc>
                  <a:txBody>
                    <a:bodyPr/>
                    <a:lstStyle/>
                    <a:p>
                      <a:pPr algn="l"/>
                      <a:r>
                        <a:rPr sz="1200">
                          <a:solidFill>
                            <a:srgbClr val="1F2A37"/>
                          </a:solidFill>
                        </a:rPr>
                        <a:t>—</a:t>
                      </a:r>
                    </a:p>
                  </a:txBody>
                  <a:tcPr>
                    <a:solidFill>
                      <a:srgbClr val="FAFAFA"/>
                    </a:solidFill>
                  </a:tcPr>
                </a:tc>
                <a:tc>
                  <a:txBody>
                    <a:bodyPr/>
                    <a:lstStyle/>
                    <a:p>
                      <a:pPr algn="l"/>
                      <a:r>
                        <a:rPr sz="1200">
                          <a:solidFill>
                            <a:srgbClr val="1F2A37"/>
                          </a:solidFill>
                        </a:rPr>
                        <a:t>~€120K/yr*</a:t>
                      </a:r>
                    </a:p>
                  </a:txBody>
                  <a:tcPr>
                    <a:solidFill>
                      <a:srgbClr val="FAFAFA"/>
                    </a:solidFill>
                  </a:tcPr>
                </a:tc>
              </a:tr>
            </a:tbl>
          </a:graphicData>
        </a:graphic>
      </p:graphicFrame>
      <p:sp>
        <p:nvSpPr>
          <p:cNvPr id="6" name="TextBox 5"/>
          <p:cNvSpPr txBox="1"/>
          <p:nvPr/>
        </p:nvSpPr>
        <p:spPr>
          <a:xfrm>
            <a:off x="457200" y="4453128"/>
            <a:ext cx="11247120" cy="365760"/>
          </a:xfrm>
          <a:prstGeom prst="rect">
            <a:avLst/>
          </a:prstGeom>
          <a:noFill/>
        </p:spPr>
        <p:txBody>
          <a:bodyPr wrap="square">
            <a:spAutoFit/>
          </a:bodyPr>
          <a:lstStyle/>
          <a:p>
            <a:pPr algn="l"/>
            <a:r>
              <a:rPr sz="1100" b="0" i="1">
                <a:solidFill>
                  <a:srgbClr val="4B5563"/>
                </a:solidFill>
              </a:rPr>
              <a:t>* All figures are ASSUMPTION-BASED estimates. Replace with actual team data before presenting externally.</a:t>
            </a:r>
          </a:p>
        </p:txBody>
      </p:sp>
      <p:sp>
        <p:nvSpPr>
          <p:cNvPr id="7" name="Rectangle 6"/>
          <p:cNvSpPr/>
          <p:nvPr/>
        </p:nvSpPr>
        <p:spPr>
          <a:xfrm>
            <a:off x="0" y="6492240"/>
            <a:ext cx="12188952" cy="36576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6510528"/>
            <a:ext cx="8229600" cy="274320"/>
          </a:xfrm>
          <a:prstGeom prst="rect">
            <a:avLst/>
          </a:prstGeom>
          <a:noFill/>
        </p:spPr>
        <p:txBody>
          <a:bodyPr wrap="square">
            <a:spAutoFit/>
          </a:bodyPr>
          <a:lstStyle/>
          <a:p>
            <a:pPr algn="l"/>
            <a:r>
              <a:rPr sz="900" b="0" i="0">
                <a:solidFill>
                  <a:srgbClr val="4B5563"/>
                </a:solidFill>
              </a:rPr>
              <a:t>SAGE[ai] — Open Source (MIT) | github.com/Sumanharapanahalli/sage | March 2026</a:t>
            </a:r>
          </a:p>
        </p:txBody>
      </p:sp>
      <p:sp>
        <p:nvSpPr>
          <p:cNvPr id="9" name="Rectangle 8"/>
          <p:cNvSpPr/>
          <p:nvPr/>
        </p:nvSpPr>
        <p:spPr>
          <a:xfrm>
            <a:off x="0" y="5989320"/>
            <a:ext cx="12188952" cy="53035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007608"/>
            <a:ext cx="11612880" cy="493776"/>
          </a:xfrm>
          <a:prstGeom prst="rect">
            <a:avLst/>
          </a:prstGeom>
          <a:noFill/>
        </p:spPr>
        <p:txBody>
          <a:bodyPr wrap="square">
            <a:spAutoFit/>
          </a:bodyPr>
          <a:lstStyle/>
          <a:p>
            <a:pPr algn="l"/>
            <a:r>
              <a:rPr sz="850" b="0" i="1">
                <a:solidFill>
                  <a:srgbClr val="7B4F00"/>
                </a:solidFill>
              </a:rPr>
              <a:t>IMPORTANT: All financial figures, FTE savings, and ROI estimates on this slide are based on internal assumptions and industry benchmarks. They must be validated and replaced with actual measured data before any business decision is made.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Simple, Auditable, Secure Architecture</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47857"/>
                </a:solidFill>
              </a:rPr>
              <a:t>End-to-end data flow — one direction, fully logged</a:t>
            </a:r>
          </a:p>
        </p:txBody>
      </p:sp>
      <p:sp>
        <p:nvSpPr>
          <p:cNvPr id="5" name="Rectangle 4"/>
          <p:cNvSpPr/>
          <p:nvPr/>
        </p:nvSpPr>
        <p:spPr>
          <a:xfrm>
            <a:off x="274320" y="1645920"/>
            <a:ext cx="1691640" cy="109728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691640"/>
            <a:ext cx="1691640" cy="1005840"/>
          </a:xfrm>
          <a:prstGeom prst="rect">
            <a:avLst/>
          </a:prstGeom>
          <a:noFill/>
        </p:spPr>
        <p:txBody>
          <a:bodyPr wrap="square">
            <a:spAutoFit/>
          </a:bodyPr>
          <a:lstStyle/>
          <a:p>
            <a:pPr algn="ctr"/>
            <a:r>
              <a:rPr sz="1200" b="1" i="0">
                <a:solidFill>
                  <a:srgbClr val="FFFFFF"/>
                </a:solidFill>
              </a:rPr>
              <a:t>Event
Sources</a:t>
            </a:r>
          </a:p>
        </p:txBody>
      </p:sp>
      <p:sp>
        <p:nvSpPr>
          <p:cNvPr id="7" name="TextBox 6"/>
          <p:cNvSpPr txBox="1"/>
          <p:nvPr/>
        </p:nvSpPr>
        <p:spPr>
          <a:xfrm>
            <a:off x="1965960" y="2011680"/>
            <a:ext cx="365760" cy="457200"/>
          </a:xfrm>
          <a:prstGeom prst="rect">
            <a:avLst/>
          </a:prstGeom>
          <a:noFill/>
        </p:spPr>
        <p:txBody>
          <a:bodyPr wrap="square">
            <a:spAutoFit/>
          </a:bodyPr>
          <a:lstStyle/>
          <a:p>
            <a:pPr algn="ctr"/>
            <a:r>
              <a:rPr sz="2200" b="1" i="0">
                <a:solidFill>
                  <a:srgbClr val="1F2A37"/>
                </a:solidFill>
              </a:rPr>
              <a:t>→</a:t>
            </a:r>
          </a:p>
        </p:txBody>
      </p:sp>
      <p:sp>
        <p:nvSpPr>
          <p:cNvPr id="8" name="Rectangle 7"/>
          <p:cNvSpPr/>
          <p:nvPr/>
        </p:nvSpPr>
        <p:spPr>
          <a:xfrm>
            <a:off x="2103120" y="1645920"/>
            <a:ext cx="1691640" cy="10972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03120" y="1691640"/>
            <a:ext cx="1691640" cy="1005840"/>
          </a:xfrm>
          <a:prstGeom prst="rect">
            <a:avLst/>
          </a:prstGeom>
          <a:noFill/>
        </p:spPr>
        <p:txBody>
          <a:bodyPr wrap="square">
            <a:spAutoFit/>
          </a:bodyPr>
          <a:lstStyle/>
          <a:p>
            <a:pPr algn="ctr"/>
            <a:r>
              <a:rPr sz="1200" b="1" i="0">
                <a:solidFill>
                  <a:srgbClr val="FFFFFF"/>
                </a:solidFill>
              </a:rPr>
              <a:t>Monitor
Agent</a:t>
            </a:r>
          </a:p>
        </p:txBody>
      </p:sp>
      <p:sp>
        <p:nvSpPr>
          <p:cNvPr id="10" name="TextBox 9"/>
          <p:cNvSpPr txBox="1"/>
          <p:nvPr/>
        </p:nvSpPr>
        <p:spPr>
          <a:xfrm>
            <a:off x="3794760" y="2011680"/>
            <a:ext cx="365760" cy="457200"/>
          </a:xfrm>
          <a:prstGeom prst="rect">
            <a:avLst/>
          </a:prstGeom>
          <a:noFill/>
        </p:spPr>
        <p:txBody>
          <a:bodyPr wrap="square">
            <a:spAutoFit/>
          </a:bodyPr>
          <a:lstStyle/>
          <a:p>
            <a:pPr algn="ctr"/>
            <a:r>
              <a:rPr sz="2200" b="1" i="0">
                <a:solidFill>
                  <a:srgbClr val="1F2A37"/>
                </a:solidFill>
              </a:rPr>
              <a:t>→</a:t>
            </a:r>
          </a:p>
        </p:txBody>
      </p:sp>
      <p:sp>
        <p:nvSpPr>
          <p:cNvPr id="11" name="Rectangle 10"/>
          <p:cNvSpPr/>
          <p:nvPr/>
        </p:nvSpPr>
        <p:spPr>
          <a:xfrm>
            <a:off x="3931920" y="1645920"/>
            <a:ext cx="1691640" cy="10972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0" y="1691640"/>
            <a:ext cx="1691640" cy="1005840"/>
          </a:xfrm>
          <a:prstGeom prst="rect">
            <a:avLst/>
          </a:prstGeom>
          <a:noFill/>
        </p:spPr>
        <p:txBody>
          <a:bodyPr wrap="square">
            <a:spAutoFit/>
          </a:bodyPr>
          <a:lstStyle/>
          <a:p>
            <a:pPr algn="ctr"/>
            <a:r>
              <a:rPr sz="1200" b="1" i="0">
                <a:solidFill>
                  <a:srgbClr val="FFFFFF"/>
                </a:solidFill>
              </a:rPr>
              <a:t>Task
Queue</a:t>
            </a:r>
          </a:p>
        </p:txBody>
      </p:sp>
      <p:sp>
        <p:nvSpPr>
          <p:cNvPr id="13" name="TextBox 12"/>
          <p:cNvSpPr txBox="1"/>
          <p:nvPr/>
        </p:nvSpPr>
        <p:spPr>
          <a:xfrm>
            <a:off x="5623560" y="2011680"/>
            <a:ext cx="365760" cy="457200"/>
          </a:xfrm>
          <a:prstGeom prst="rect">
            <a:avLst/>
          </a:prstGeom>
          <a:noFill/>
        </p:spPr>
        <p:txBody>
          <a:bodyPr wrap="square">
            <a:spAutoFit/>
          </a:bodyPr>
          <a:lstStyle/>
          <a:p>
            <a:pPr algn="ctr"/>
            <a:r>
              <a:rPr sz="2200" b="1" i="0">
                <a:solidFill>
                  <a:srgbClr val="1F2A37"/>
                </a:solidFill>
              </a:rPr>
              <a:t>→</a:t>
            </a:r>
          </a:p>
        </p:txBody>
      </p:sp>
      <p:sp>
        <p:nvSpPr>
          <p:cNvPr id="14" name="Rectangle 13"/>
          <p:cNvSpPr/>
          <p:nvPr/>
        </p:nvSpPr>
        <p:spPr>
          <a:xfrm>
            <a:off x="5760720" y="1645920"/>
            <a:ext cx="1691640" cy="10972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0" y="1691640"/>
            <a:ext cx="1691640" cy="1005840"/>
          </a:xfrm>
          <a:prstGeom prst="rect">
            <a:avLst/>
          </a:prstGeom>
          <a:noFill/>
        </p:spPr>
        <p:txBody>
          <a:bodyPr wrap="square">
            <a:spAutoFit/>
          </a:bodyPr>
          <a:lstStyle/>
          <a:p>
            <a:pPr algn="ctr"/>
            <a:r>
              <a:rPr sz="1200" b="1" i="0">
                <a:solidFill>
                  <a:srgbClr val="FFFFFF"/>
                </a:solidFill>
              </a:rPr>
              <a:t>Analyst /
Dev Agent</a:t>
            </a:r>
          </a:p>
        </p:txBody>
      </p:sp>
      <p:sp>
        <p:nvSpPr>
          <p:cNvPr id="16" name="TextBox 15"/>
          <p:cNvSpPr txBox="1"/>
          <p:nvPr/>
        </p:nvSpPr>
        <p:spPr>
          <a:xfrm>
            <a:off x="7452360" y="2011680"/>
            <a:ext cx="365760" cy="457200"/>
          </a:xfrm>
          <a:prstGeom prst="rect">
            <a:avLst/>
          </a:prstGeom>
          <a:noFill/>
        </p:spPr>
        <p:txBody>
          <a:bodyPr wrap="square">
            <a:spAutoFit/>
          </a:bodyPr>
          <a:lstStyle/>
          <a:p>
            <a:pPr algn="ctr"/>
            <a:r>
              <a:rPr sz="2200" b="1" i="0">
                <a:solidFill>
                  <a:srgbClr val="1F2A37"/>
                </a:solidFill>
              </a:rPr>
              <a:t>→</a:t>
            </a:r>
          </a:p>
        </p:txBody>
      </p:sp>
      <p:sp>
        <p:nvSpPr>
          <p:cNvPr id="17" name="Rectangle 16"/>
          <p:cNvSpPr/>
          <p:nvPr/>
        </p:nvSpPr>
        <p:spPr>
          <a:xfrm>
            <a:off x="7863840" y="1645920"/>
            <a:ext cx="1691640" cy="109728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0" y="1691640"/>
            <a:ext cx="1691640" cy="1005840"/>
          </a:xfrm>
          <a:prstGeom prst="rect">
            <a:avLst/>
          </a:prstGeom>
          <a:noFill/>
        </p:spPr>
        <p:txBody>
          <a:bodyPr wrap="square">
            <a:spAutoFit/>
          </a:bodyPr>
          <a:lstStyle/>
          <a:p>
            <a:pPr algn="ctr"/>
            <a:r>
              <a:rPr sz="1200" b="1" i="0">
                <a:solidFill>
                  <a:srgbClr val="FFFFFF"/>
                </a:solidFill>
              </a:rPr>
              <a:t>Human
Gate</a:t>
            </a:r>
          </a:p>
        </p:txBody>
      </p:sp>
      <p:sp>
        <p:nvSpPr>
          <p:cNvPr id="19" name="TextBox 18"/>
          <p:cNvSpPr txBox="1"/>
          <p:nvPr/>
        </p:nvSpPr>
        <p:spPr>
          <a:xfrm>
            <a:off x="9555480" y="2011680"/>
            <a:ext cx="365760" cy="457200"/>
          </a:xfrm>
          <a:prstGeom prst="rect">
            <a:avLst/>
          </a:prstGeom>
          <a:noFill/>
        </p:spPr>
        <p:txBody>
          <a:bodyPr wrap="square">
            <a:spAutoFit/>
          </a:bodyPr>
          <a:lstStyle/>
          <a:p>
            <a:pPr algn="ctr"/>
            <a:r>
              <a:rPr sz="2200" b="1" i="0">
                <a:solidFill>
                  <a:srgbClr val="1F2A37"/>
                </a:solidFill>
              </a:rPr>
              <a:t>→</a:t>
            </a:r>
          </a:p>
        </p:txBody>
      </p:sp>
      <p:sp>
        <p:nvSpPr>
          <p:cNvPr id="20" name="Rectangle 19"/>
          <p:cNvSpPr/>
          <p:nvPr/>
        </p:nvSpPr>
        <p:spPr>
          <a:xfrm>
            <a:off x="9966960" y="1645920"/>
            <a:ext cx="1691640" cy="10972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66960" y="1691640"/>
            <a:ext cx="1691640" cy="1005840"/>
          </a:xfrm>
          <a:prstGeom prst="rect">
            <a:avLst/>
          </a:prstGeom>
          <a:noFill/>
        </p:spPr>
        <p:txBody>
          <a:bodyPr wrap="square">
            <a:spAutoFit/>
          </a:bodyPr>
          <a:lstStyle/>
          <a:p>
            <a:pPr algn="ctr"/>
            <a:r>
              <a:rPr sz="1200" b="1" i="0">
                <a:solidFill>
                  <a:srgbClr val="FFFFFF"/>
                </a:solidFill>
              </a:rPr>
              <a:t>Audit
Trail</a:t>
            </a:r>
          </a:p>
        </p:txBody>
      </p:sp>
      <p:sp>
        <p:nvSpPr>
          <p:cNvPr id="22" name="TextBox 21"/>
          <p:cNvSpPr txBox="1"/>
          <p:nvPr/>
        </p:nvSpPr>
        <p:spPr>
          <a:xfrm>
            <a:off x="457200" y="3017520"/>
            <a:ext cx="11247120" cy="320040"/>
          </a:xfrm>
          <a:prstGeom prst="rect">
            <a:avLst/>
          </a:prstGeom>
          <a:noFill/>
        </p:spPr>
        <p:txBody>
          <a:bodyPr wrap="square">
            <a:spAutoFit/>
          </a:bodyPr>
          <a:lstStyle/>
          <a:p>
            <a:pPr algn="l"/>
            <a:r>
              <a:rPr sz="1300" b="1" i="0">
                <a:solidFill>
                  <a:srgbClr val="10B981"/>
                </a:solidFill>
              </a:rPr>
              <a:t>Event Sources</a:t>
            </a:r>
          </a:p>
        </p:txBody>
      </p:sp>
      <p:sp>
        <p:nvSpPr>
          <p:cNvPr id="23" name="TextBox 22"/>
          <p:cNvSpPr txBox="1"/>
          <p:nvPr/>
        </p:nvSpPr>
        <p:spPr>
          <a:xfrm>
            <a:off x="822960" y="3319272"/>
            <a:ext cx="10972800" cy="320040"/>
          </a:xfrm>
          <a:prstGeom prst="rect">
            <a:avLst/>
          </a:prstGeom>
          <a:noFill/>
        </p:spPr>
        <p:txBody>
          <a:bodyPr wrap="square">
            <a:spAutoFit/>
          </a:bodyPr>
          <a:lstStyle/>
          <a:p>
            <a:pPr algn="l"/>
            <a:r>
              <a:rPr sz="1200" b="0" i="0">
                <a:solidFill>
                  <a:srgbClr val="1F2A37"/>
                </a:solidFill>
              </a:rPr>
              <a:t>Teams channels · Metabase dashboards · GitLab issues &amp; MRs · Error log uploads</a:t>
            </a:r>
          </a:p>
        </p:txBody>
      </p:sp>
      <p:sp>
        <p:nvSpPr>
          <p:cNvPr id="24" name="TextBox 23"/>
          <p:cNvSpPr txBox="1"/>
          <p:nvPr/>
        </p:nvSpPr>
        <p:spPr>
          <a:xfrm>
            <a:off x="457200" y="3703320"/>
            <a:ext cx="11247120" cy="320040"/>
          </a:xfrm>
          <a:prstGeom prst="rect">
            <a:avLst/>
          </a:prstGeom>
          <a:noFill/>
        </p:spPr>
        <p:txBody>
          <a:bodyPr wrap="square">
            <a:spAutoFit/>
          </a:bodyPr>
          <a:lstStyle/>
          <a:p>
            <a:pPr algn="l"/>
            <a:r>
              <a:rPr sz="1300" b="1" i="0">
                <a:solidFill>
                  <a:srgbClr val="10B981"/>
                </a:solidFill>
              </a:rPr>
              <a:t>AI Agents</a:t>
            </a:r>
          </a:p>
        </p:txBody>
      </p:sp>
      <p:sp>
        <p:nvSpPr>
          <p:cNvPr id="25" name="TextBox 24"/>
          <p:cNvSpPr txBox="1"/>
          <p:nvPr/>
        </p:nvSpPr>
        <p:spPr>
          <a:xfrm>
            <a:off x="822960" y="4005072"/>
            <a:ext cx="10972800" cy="320040"/>
          </a:xfrm>
          <a:prstGeom prst="rect">
            <a:avLst/>
          </a:prstGeom>
          <a:noFill/>
        </p:spPr>
        <p:txBody>
          <a:bodyPr wrap="square">
            <a:spAutoFit/>
          </a:bodyPr>
          <a:lstStyle/>
          <a:p>
            <a:pPr algn="l"/>
            <a:r>
              <a:rPr sz="1200" b="0" i="0">
                <a:solidFill>
                  <a:srgbClr val="1F2A37"/>
                </a:solidFill>
              </a:rPr>
              <a:t>AnalystAgent (log triage) · DeveloperAgent (code review + MR creation) · PlannerAgent (orchestration) · ReAct multi-step loop</a:t>
            </a:r>
          </a:p>
        </p:txBody>
      </p:sp>
      <p:sp>
        <p:nvSpPr>
          <p:cNvPr id="26" name="TextBox 25"/>
          <p:cNvSpPr txBox="1"/>
          <p:nvPr/>
        </p:nvSpPr>
        <p:spPr>
          <a:xfrm>
            <a:off x="457200" y="4389120"/>
            <a:ext cx="11247120" cy="320040"/>
          </a:xfrm>
          <a:prstGeom prst="rect">
            <a:avLst/>
          </a:prstGeom>
          <a:noFill/>
        </p:spPr>
        <p:txBody>
          <a:bodyPr wrap="square">
            <a:spAutoFit/>
          </a:bodyPr>
          <a:lstStyle/>
          <a:p>
            <a:pPr algn="l"/>
            <a:r>
              <a:rPr sz="1300" b="1" i="0">
                <a:solidFill>
                  <a:srgbClr val="10B981"/>
                </a:solidFill>
              </a:rPr>
              <a:t>Compliance Layer</a:t>
            </a:r>
          </a:p>
        </p:txBody>
      </p:sp>
      <p:sp>
        <p:nvSpPr>
          <p:cNvPr id="27" name="TextBox 26"/>
          <p:cNvSpPr txBox="1"/>
          <p:nvPr/>
        </p:nvSpPr>
        <p:spPr>
          <a:xfrm>
            <a:off x="822960" y="4690872"/>
            <a:ext cx="10972800" cy="320040"/>
          </a:xfrm>
          <a:prstGeom prst="rect">
            <a:avLst/>
          </a:prstGeom>
          <a:noFill/>
        </p:spPr>
        <p:txBody>
          <a:bodyPr wrap="square">
            <a:spAutoFit/>
          </a:bodyPr>
          <a:lstStyle/>
          <a:p>
            <a:pPr algn="l"/>
            <a:r>
              <a:rPr sz="1200" b="0" i="0">
                <a:solidFill>
                  <a:srgbClr val="1F2A37"/>
                </a:solidFill>
              </a:rPr>
              <a:t>Immutable SQLite audit log · ISO 13485 trace IDs · FDA 21 CFR Part 11 · Human approval on every proposal</a:t>
            </a:r>
          </a:p>
        </p:txBody>
      </p:sp>
      <p:sp>
        <p:nvSpPr>
          <p:cNvPr id="28" name="Rectangle 27"/>
          <p:cNvSpPr/>
          <p:nvPr/>
        </p:nvSpPr>
        <p:spPr>
          <a:xfrm>
            <a:off x="0" y="6492240"/>
            <a:ext cx="12188952" cy="36576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4320" y="6510528"/>
            <a:ext cx="8229600" cy="274320"/>
          </a:xfrm>
          <a:prstGeom prst="rect">
            <a:avLst/>
          </a:prstGeom>
          <a:noFill/>
        </p:spPr>
        <p:txBody>
          <a:bodyPr wrap="square">
            <a:spAutoFit/>
          </a:bodyPr>
          <a:lstStyle/>
          <a:p>
            <a:pPr algn="l"/>
            <a:r>
              <a:rPr sz="900" b="0" i="0">
                <a:solidFill>
                  <a:srgbClr val="4B5563"/>
                </a:solidFill>
              </a:rPr>
              <a:t>SAGE[ai] — Open Source (MIT) | github.com/Sumanharapanahalli/sage | March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What SAGE[ai] Does Today</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47857"/>
                </a:solidFill>
              </a:rPr>
              <a:t>136 API endpoints across 12 integration phases — all open source (MIT)</a:t>
            </a:r>
          </a:p>
        </p:txBody>
      </p:sp>
      <p:graphicFrame>
        <p:nvGraphicFramePr>
          <p:cNvPr id="5" name="Table 4"/>
          <p:cNvGraphicFramePr>
            <a:graphicFrameLocks noGrp="1"/>
          </p:cNvGraphicFramePr>
          <p:nvPr/>
        </p:nvGraphicFramePr>
        <p:xfrm>
          <a:off x="457200" y="1508760"/>
          <a:ext cx="11247120" cy="6656832"/>
        </p:xfrm>
        <a:graphic>
          <a:graphicData uri="http://schemas.openxmlformats.org/drawingml/2006/table">
            <a:tbl>
              <a:tblPr firstRow="1" bandRow="1">
                <a:tableStyleId>{5C22544A-7EE6-4342-B048-85BDC9FD1C3A}</a:tableStyleId>
              </a:tblPr>
              <a:tblGrid>
                <a:gridCol w="457200"/>
                <a:gridCol w="2011680"/>
                <a:gridCol w="8778240"/>
              </a:tblGrid>
              <a:tr h="475488">
                <a:tc>
                  <a:txBody>
                    <a:bodyPr/>
                    <a:lstStyle/>
                    <a:p>
                      <a:pPr algn="ctr"/>
                      <a:r>
                        <a:rPr b="1" sz="1300">
                          <a:solidFill>
                            <a:srgbClr val="FFFFFF"/>
                          </a:solidFill>
                        </a:rPr>
                        <a:t>No.</a:t>
                      </a:r>
                    </a:p>
                  </a:txBody>
                  <a:tcPr>
                    <a:solidFill>
                      <a:srgbClr val="10B981"/>
                    </a:solidFill>
                  </a:tcPr>
                </a:tc>
                <a:tc>
                  <a:txBody>
                    <a:bodyPr/>
                    <a:lstStyle/>
                    <a:p>
                      <a:pPr algn="ctr"/>
                      <a:r>
                        <a:rPr b="1" sz="1300">
                          <a:solidFill>
                            <a:srgbClr val="FFFFFF"/>
                          </a:solidFill>
                        </a:rPr>
                        <a:t>Capability</a:t>
                      </a:r>
                    </a:p>
                  </a:txBody>
                  <a:tcPr>
                    <a:solidFill>
                      <a:srgbClr val="10B981"/>
                    </a:solidFill>
                  </a:tcPr>
                </a:tc>
                <a:tc>
                  <a:txBody>
                    <a:bodyPr/>
                    <a:lstStyle/>
                    <a:p>
                      <a:pPr algn="ctr"/>
                      <a:r>
                        <a:rPr b="1" sz="1300">
                          <a:solidFill>
                            <a:srgbClr val="FFFFFF"/>
                          </a:solidFill>
                        </a:rPr>
                        <a:t>Description</a:t>
                      </a:r>
                    </a:p>
                  </a:txBody>
                  <a:tcPr>
                    <a:solidFill>
                      <a:srgbClr val="10B981"/>
                    </a:solidFill>
                  </a:tcPr>
                </a:tc>
              </a:tr>
              <a:tr h="475488">
                <a:tc>
                  <a:txBody>
                    <a:bodyPr/>
                    <a:lstStyle/>
                    <a:p>
                      <a:pPr algn="l"/>
                      <a:r>
                        <a:rPr sz="1200">
                          <a:solidFill>
                            <a:srgbClr val="1F2A37"/>
                          </a:solidFill>
                        </a:rPr>
                        <a:t>01</a:t>
                      </a:r>
                    </a:p>
                  </a:txBody>
                  <a:tcPr>
                    <a:solidFill>
                      <a:srgbClr val="FAFAFA"/>
                    </a:solidFill>
                  </a:tcPr>
                </a:tc>
                <a:tc>
                  <a:txBody>
                    <a:bodyPr/>
                    <a:lstStyle/>
                    <a:p>
                      <a:pPr algn="l"/>
                      <a:r>
                        <a:rPr sz="1200">
                          <a:solidFill>
                            <a:srgbClr val="1F2A37"/>
                          </a:solidFill>
                        </a:rPr>
                        <a:t>Log Analysis</a:t>
                      </a:r>
                    </a:p>
                  </a:txBody>
                  <a:tcPr>
                    <a:solidFill>
                      <a:srgbClr val="FAFAFA"/>
                    </a:solidFill>
                  </a:tcPr>
                </a:tc>
                <a:tc>
                  <a:txBody>
                    <a:bodyPr/>
                    <a:lstStyle/>
                    <a:p>
                      <a:pPr algn="l"/>
                      <a:r>
                        <a:rPr sz="1200">
                          <a:solidFill>
                            <a:srgbClr val="1F2A37"/>
                          </a:solidFill>
                        </a:rPr>
                        <a:t>AI triage in under 60 s — severity RED / AMBER / GREEN with root-cause reasoning</a:t>
                      </a:r>
                    </a:p>
                  </a:txBody>
                  <a:tcPr>
                    <a:solidFill>
                      <a:srgbClr val="FAFAFA"/>
                    </a:solidFill>
                  </a:tcPr>
                </a:tc>
              </a:tr>
              <a:tr h="475488">
                <a:tc>
                  <a:txBody>
                    <a:bodyPr/>
                    <a:lstStyle/>
                    <a:p>
                      <a:pPr algn="l"/>
                      <a:r>
                        <a:rPr sz="1200">
                          <a:solidFill>
                            <a:srgbClr val="1F2A37"/>
                          </a:solidFill>
                        </a:rPr>
                        <a:t>02</a:t>
                      </a:r>
                    </a:p>
                  </a:txBody>
                  <a:tcPr>
                    <a:solidFill>
                      <a:srgbClr val="FFFFFF"/>
                    </a:solidFill>
                  </a:tcPr>
                </a:tc>
                <a:tc>
                  <a:txBody>
                    <a:bodyPr/>
                    <a:lstStyle/>
                    <a:p>
                      <a:pPr algn="l"/>
                      <a:r>
                        <a:rPr sz="1200">
                          <a:solidFill>
                            <a:srgbClr val="1F2A37"/>
                          </a:solidFill>
                        </a:rPr>
                        <a:t>Code Review</a:t>
                      </a:r>
                    </a:p>
                  </a:txBody>
                  <a:tcPr>
                    <a:solidFill>
                      <a:srgbClr val="FFFFFF"/>
                    </a:solidFill>
                  </a:tcPr>
                </a:tc>
                <a:tc>
                  <a:txBody>
                    <a:bodyPr/>
                    <a:lstStyle/>
                    <a:p>
                      <a:pPr algn="l"/>
                      <a:r>
                        <a:rPr sz="1200">
                          <a:solidFill>
                            <a:srgbClr val="1F2A37"/>
                          </a:solidFill>
                        </a:rPr>
                        <a:t>ReAct multi-step reasoning + CI pipeline status check</a:t>
                      </a:r>
                    </a:p>
                  </a:txBody>
                  <a:tcPr>
                    <a:solidFill>
                      <a:srgbClr val="FFFFFF"/>
                    </a:solidFill>
                  </a:tcPr>
                </a:tc>
              </a:tr>
              <a:tr h="475488">
                <a:tc>
                  <a:txBody>
                    <a:bodyPr/>
                    <a:lstStyle/>
                    <a:p>
                      <a:pPr algn="l"/>
                      <a:r>
                        <a:rPr sz="1200">
                          <a:solidFill>
                            <a:srgbClr val="1F2A37"/>
                          </a:solidFill>
                        </a:rPr>
                        <a:t>03</a:t>
                      </a:r>
                    </a:p>
                  </a:txBody>
                  <a:tcPr>
                    <a:solidFill>
                      <a:srgbClr val="FAFAFA"/>
                    </a:solidFill>
                  </a:tcPr>
                </a:tc>
                <a:tc>
                  <a:txBody>
                    <a:bodyPr/>
                    <a:lstStyle/>
                    <a:p>
                      <a:pPr algn="l"/>
                      <a:r>
                        <a:rPr sz="1200">
                          <a:solidFill>
                            <a:srgbClr val="1F2A37"/>
                          </a:solidFill>
                        </a:rPr>
                        <a:t>MR Creation</a:t>
                      </a:r>
                    </a:p>
                  </a:txBody>
                  <a:tcPr>
                    <a:solidFill>
                      <a:srgbClr val="FAFAFA"/>
                    </a:solidFill>
                  </a:tcPr>
                </a:tc>
                <a:tc>
                  <a:txBody>
                    <a:bodyPr/>
                    <a:lstStyle/>
                    <a:p>
                      <a:pPr algn="l"/>
                      <a:r>
                        <a:rPr sz="1200">
                          <a:solidFill>
                            <a:srgbClr val="1F2A37"/>
                          </a:solidFill>
                        </a:rPr>
                        <a:t>Auto-draft merge request from GitLab issue, branch naming, description</a:t>
                      </a:r>
                    </a:p>
                  </a:txBody>
                  <a:tcPr>
                    <a:solidFill>
                      <a:srgbClr val="FAFAFA"/>
                    </a:solidFill>
                  </a:tcPr>
                </a:tc>
              </a:tr>
              <a:tr h="475488">
                <a:tc>
                  <a:txBody>
                    <a:bodyPr/>
                    <a:lstStyle/>
                    <a:p>
                      <a:pPr algn="l"/>
                      <a:r>
                        <a:rPr sz="1200">
                          <a:solidFill>
                            <a:srgbClr val="1F2A37"/>
                          </a:solidFill>
                        </a:rPr>
                        <a:t>04</a:t>
                      </a:r>
                    </a:p>
                  </a:txBody>
                  <a:tcPr>
                    <a:solidFill>
                      <a:srgbClr val="FFFFFF"/>
                    </a:solidFill>
                  </a:tcPr>
                </a:tc>
                <a:tc>
                  <a:txBody>
                    <a:bodyPr/>
                    <a:lstStyle/>
                    <a:p>
                      <a:pPr algn="l"/>
                      <a:r>
                        <a:rPr sz="1200">
                          <a:solidFill>
                            <a:srgbClr val="1F2A37"/>
                          </a:solidFill>
                        </a:rPr>
                        <a:t>24/7 Monitor</a:t>
                      </a:r>
                    </a:p>
                  </a:txBody>
                  <a:tcPr>
                    <a:solidFill>
                      <a:srgbClr val="FFFFFF"/>
                    </a:solidFill>
                  </a:tcPr>
                </a:tc>
                <a:tc>
                  <a:txBody>
                    <a:bodyPr/>
                    <a:lstStyle/>
                    <a:p>
                      <a:pPr algn="l"/>
                      <a:r>
                        <a:rPr sz="1200">
                          <a:solidFill>
                            <a:srgbClr val="1F2A37"/>
                          </a:solidFill>
                        </a:rPr>
                        <a:t>Teams, Metabase, GitLab event detection — zero polling lag</a:t>
                      </a:r>
                    </a:p>
                  </a:txBody>
                  <a:tcPr>
                    <a:solidFill>
                      <a:srgbClr val="FFFFFF"/>
                    </a:solidFill>
                  </a:tcPr>
                </a:tc>
              </a:tr>
              <a:tr h="475488">
                <a:tc>
                  <a:txBody>
                    <a:bodyPr/>
                    <a:lstStyle/>
                    <a:p>
                      <a:pPr algn="l"/>
                      <a:r>
                        <a:rPr sz="1200">
                          <a:solidFill>
                            <a:srgbClr val="1F2A37"/>
                          </a:solidFill>
                        </a:rPr>
                        <a:t>05</a:t>
                      </a:r>
                    </a:p>
                  </a:txBody>
                  <a:tcPr>
                    <a:solidFill>
                      <a:srgbClr val="FAFAFA"/>
                    </a:solidFill>
                  </a:tcPr>
                </a:tc>
                <a:tc>
                  <a:txBody>
                    <a:bodyPr/>
                    <a:lstStyle/>
                    <a:p>
                      <a:pPr algn="l"/>
                      <a:r>
                        <a:rPr sz="1200">
                          <a:solidFill>
                            <a:srgbClr val="1F2A37"/>
                          </a:solidFill>
                        </a:rPr>
                        <a:t>SSE Streaming</a:t>
                      </a:r>
                    </a:p>
                  </a:txBody>
                  <a:tcPr>
                    <a:solidFill>
                      <a:srgbClr val="FAFAFA"/>
                    </a:solidFill>
                  </a:tcPr>
                </a:tc>
                <a:tc>
                  <a:txBody>
                    <a:bodyPr/>
                    <a:lstStyle/>
                    <a:p>
                      <a:pPr algn="l"/>
                      <a:r>
                        <a:rPr sz="1200">
                          <a:solidFill>
                            <a:srgbClr val="1F2A37"/>
                          </a:solidFill>
                        </a:rPr>
                        <a:t>Real-time token-by-token output to dashboard — all providers supported</a:t>
                      </a:r>
                    </a:p>
                  </a:txBody>
                  <a:tcPr>
                    <a:solidFill>
                      <a:srgbClr val="FAFAFA"/>
                    </a:solidFill>
                  </a:tcPr>
                </a:tc>
              </a:tr>
              <a:tr h="475488">
                <a:tc>
                  <a:txBody>
                    <a:bodyPr/>
                    <a:lstStyle/>
                    <a:p>
                      <a:pPr algn="l"/>
                      <a:r>
                        <a:rPr sz="1200">
                          <a:solidFill>
                            <a:srgbClr val="1F2A37"/>
                          </a:solidFill>
                        </a:rPr>
                        <a:t>06</a:t>
                      </a:r>
                    </a:p>
                  </a:txBody>
                  <a:tcPr>
                    <a:solidFill>
                      <a:srgbClr val="FFFFFF"/>
                    </a:solidFill>
                  </a:tcPr>
                </a:tc>
                <a:tc>
                  <a:txBody>
                    <a:bodyPr/>
                    <a:lstStyle/>
                    <a:p>
                      <a:pPr algn="l"/>
                      <a:r>
                        <a:rPr sz="1200">
                          <a:solidFill>
                            <a:srgbClr val="1F2A37"/>
                          </a:solidFill>
                        </a:rPr>
                        <a:t>Onboarding Wizard</a:t>
                      </a:r>
                    </a:p>
                  </a:txBody>
                  <a:tcPr>
                    <a:solidFill>
                      <a:srgbClr val="FFFFFF"/>
                    </a:solidFill>
                  </a:tcPr>
                </a:tc>
                <a:tc>
                  <a:txBody>
                    <a:bodyPr/>
                    <a:lstStyle/>
                    <a:p>
                      <a:pPr algn="l"/>
                      <a:r>
                        <a:rPr sz="1200">
                          <a:solidFill>
                            <a:srgbClr val="1F2A37"/>
                          </a:solidFill>
                        </a:rPr>
                        <a:t>Plain-language description to full YAML solution in under 60 seconds</a:t>
                      </a:r>
                    </a:p>
                  </a:txBody>
                  <a:tcPr>
                    <a:solidFill>
                      <a:srgbClr val="FFFFFF"/>
                    </a:solidFill>
                  </a:tcPr>
                </a:tc>
              </a:tr>
              <a:tr h="475488">
                <a:tc>
                  <a:txBody>
                    <a:bodyPr/>
                    <a:lstStyle/>
                    <a:p>
                      <a:pPr algn="l"/>
                      <a:r>
                        <a:rPr sz="1200">
                          <a:solidFill>
                            <a:srgbClr val="1F2A37"/>
                          </a:solidFill>
                        </a:rPr>
                        <a:t>07</a:t>
                      </a:r>
                    </a:p>
                  </a:txBody>
                  <a:tcPr>
                    <a:solidFill>
                      <a:srgbClr val="FAFAFA"/>
                    </a:solidFill>
                  </a:tcPr>
                </a:tc>
                <a:tc>
                  <a:txBody>
                    <a:bodyPr/>
                    <a:lstStyle/>
                    <a:p>
                      <a:pPr algn="l"/>
                      <a:r>
                        <a:rPr sz="1200">
                          <a:solidFill>
                            <a:srgbClr val="1F2A37"/>
                          </a:solidFill>
                        </a:rPr>
                        <a:t>Knowledge Base CRUD</a:t>
                      </a:r>
                    </a:p>
                  </a:txBody>
                  <a:tcPr>
                    <a:solidFill>
                      <a:srgbClr val="FAFAFA"/>
                    </a:solidFill>
                  </a:tcPr>
                </a:tc>
                <a:tc>
                  <a:txBody>
                    <a:bodyPr/>
                    <a:lstStyle/>
                    <a:p>
                      <a:pPr algn="l"/>
                      <a:r>
                        <a:rPr sz="1200">
                          <a:solidFill>
                            <a:srgbClr val="1F2A37"/>
                          </a:solidFill>
                        </a:rPr>
                        <a:t>List / add / delete / bulk-import / semantic search the RAG vector store</a:t>
                      </a:r>
                    </a:p>
                  </a:txBody>
                  <a:tcPr>
                    <a:solidFill>
                      <a:srgbClr val="FAFAFA"/>
                    </a:solidFill>
                  </a:tcPr>
                </a:tc>
              </a:tr>
              <a:tr h="475488">
                <a:tc>
                  <a:txBody>
                    <a:bodyPr/>
                    <a:lstStyle/>
                    <a:p>
                      <a:pPr algn="l"/>
                      <a:r>
                        <a:rPr sz="1200">
                          <a:solidFill>
                            <a:srgbClr val="1F2A37"/>
                          </a:solidFill>
                        </a:rPr>
                        <a:t>08</a:t>
                      </a:r>
                    </a:p>
                  </a:txBody>
                  <a:tcPr>
                    <a:solidFill>
                      <a:srgbClr val="FFFFFF"/>
                    </a:solidFill>
                  </a:tcPr>
                </a:tc>
                <a:tc>
                  <a:txBody>
                    <a:bodyPr/>
                    <a:lstStyle/>
                    <a:p>
                      <a:pPr algn="l"/>
                      <a:r>
                        <a:rPr sz="1200">
                          <a:solidFill>
                            <a:srgbClr val="1F2A37"/>
                          </a:solidFill>
                        </a:rPr>
                        <a:t>Slack Approvals</a:t>
                      </a:r>
                    </a:p>
                  </a:txBody>
                  <a:tcPr>
                    <a:solidFill>
                      <a:srgbClr val="FFFFFF"/>
                    </a:solidFill>
                  </a:tcPr>
                </a:tc>
                <a:tc>
                  <a:txBody>
                    <a:bodyPr/>
                    <a:lstStyle/>
                    <a:p>
                      <a:pPr algn="l"/>
                      <a:r>
                        <a:rPr sz="1200">
                          <a:solidFill>
                            <a:srgbClr val="1F2A37"/>
                          </a:solidFill>
                        </a:rPr>
                        <a:t>Block Kit proposals with Approve/Reject buttons — HMAC-verified callbacks</a:t>
                      </a:r>
                    </a:p>
                  </a:txBody>
                  <a:tcPr>
                    <a:solidFill>
                      <a:srgbClr val="FFFFFF"/>
                    </a:solidFill>
                  </a:tcPr>
                </a:tc>
              </a:tr>
              <a:tr h="475488">
                <a:tc>
                  <a:txBody>
                    <a:bodyPr/>
                    <a:lstStyle/>
                    <a:p>
                      <a:pPr algn="l"/>
                      <a:r>
                        <a:rPr sz="1200">
                          <a:solidFill>
                            <a:srgbClr val="1F2A37"/>
                          </a:solidFill>
                        </a:rPr>
                        <a:t>09</a:t>
                      </a:r>
                    </a:p>
                  </a:txBody>
                  <a:tcPr>
                    <a:solidFill>
                      <a:srgbClr val="FAFAFA"/>
                    </a:solidFill>
                  </a:tcPr>
                </a:tc>
                <a:tc>
                  <a:txBody>
                    <a:bodyPr/>
                    <a:lstStyle/>
                    <a:p>
                      <a:pPr algn="l"/>
                      <a:r>
                        <a:rPr sz="1200">
                          <a:solidFill>
                            <a:srgbClr val="1F2A37"/>
                          </a:solidFill>
                        </a:rPr>
                        <a:t>Eval &amp; Benchmarking</a:t>
                      </a:r>
                    </a:p>
                  </a:txBody>
                  <a:tcPr>
                    <a:solidFill>
                      <a:srgbClr val="FAFAFA"/>
                    </a:solidFill>
                  </a:tcPr>
                </a:tc>
                <a:tc>
                  <a:txBody>
                    <a:bodyPr/>
                    <a:lstStyle/>
                    <a:p>
                      <a:pPr algn="l"/>
                      <a:r>
                        <a:rPr sz="1200">
                          <a:solidFill>
                            <a:srgbClr val="1F2A37"/>
                          </a:solidFill>
                        </a:rPr>
                        <a:t>YAML test cases, 0-100 scoring, SQLite history, regression tracking</a:t>
                      </a:r>
                    </a:p>
                  </a:txBody>
                  <a:tcPr>
                    <a:solidFill>
                      <a:srgbClr val="FAFAFA"/>
                    </a:solidFill>
                  </a:tcPr>
                </a:tc>
              </a:tr>
              <a:tr h="475488">
                <a:tc>
                  <a:txBody>
                    <a:bodyPr/>
                    <a:lstStyle/>
                    <a:p>
                      <a:pPr algn="l"/>
                      <a:r>
                        <a:rPr sz="1200">
                          <a:solidFill>
                            <a:srgbClr val="1F2A37"/>
                          </a:solidFill>
                        </a:rPr>
                        <a:t>10</a:t>
                      </a:r>
                    </a:p>
                  </a:txBody>
                  <a:tcPr>
                    <a:solidFill>
                      <a:srgbClr val="FFFFFF"/>
                    </a:solidFill>
                  </a:tcPr>
                </a:tc>
                <a:tc>
                  <a:txBody>
                    <a:bodyPr/>
                    <a:lstStyle/>
                    <a:p>
                      <a:pPr algn="l"/>
                      <a:r>
                        <a:rPr sz="1200">
                          <a:solidFill>
                            <a:srgbClr val="1F2A37"/>
                          </a:solidFill>
                        </a:rPr>
                        <a:t>Multi-Tenant</a:t>
                      </a:r>
                    </a:p>
                  </a:txBody>
                  <a:tcPr>
                    <a:solidFill>
                      <a:srgbClr val="FFFFFF"/>
                    </a:solidFill>
                  </a:tcPr>
                </a:tc>
                <a:tc>
                  <a:txBody>
                    <a:bodyPr/>
                    <a:lstStyle/>
                    <a:p>
                      <a:pPr algn="l"/>
                      <a:r>
                        <a:rPr sz="1200">
                          <a:solidFill>
                            <a:srgbClr val="1F2A37"/>
                          </a:solidFill>
                        </a:rPr>
                        <a:t>X-SAGE-Tenant header — per-team knowledge collection isolation</a:t>
                      </a:r>
                    </a:p>
                  </a:txBody>
                  <a:tcPr>
                    <a:solidFill>
                      <a:srgbClr val="FFFFFF"/>
                    </a:solidFill>
                  </a:tcPr>
                </a:tc>
              </a:tr>
              <a:tr h="475488">
                <a:tc>
                  <a:txBody>
                    <a:bodyPr/>
                    <a:lstStyle/>
                    <a:p>
                      <a:pPr algn="l"/>
                      <a:r>
                        <a:rPr sz="1200">
                          <a:solidFill>
                            <a:srgbClr val="1F2A37"/>
                          </a:solidFill>
                        </a:rPr>
                        <a:t>11</a:t>
                      </a:r>
                    </a:p>
                  </a:txBody>
                  <a:tcPr>
                    <a:solidFill>
                      <a:srgbClr val="FAFAFA"/>
                    </a:solidFill>
                  </a:tcPr>
                </a:tc>
                <a:tc>
                  <a:txBody>
                    <a:bodyPr/>
                    <a:lstStyle/>
                    <a:p>
                      <a:pPr algn="l"/>
                      <a:r>
                        <a:rPr sz="1200">
                          <a:solidFill>
                            <a:srgbClr val="1F2A37"/>
                          </a:solidFill>
                        </a:rPr>
                        <a:t>Durable Workflows</a:t>
                      </a:r>
                    </a:p>
                  </a:txBody>
                  <a:tcPr>
                    <a:solidFill>
                      <a:srgbClr val="FAFAFA"/>
                    </a:solidFill>
                  </a:tcPr>
                </a:tc>
                <a:tc>
                  <a:txBody>
                    <a:bodyPr/>
                    <a:lstStyle/>
                    <a:p>
                      <a:pPr algn="l"/>
                      <a:r>
                        <a:rPr sz="1200">
                          <a:solidFill>
                            <a:srgbClr val="1F2A37"/>
                          </a:solidFill>
                        </a:rPr>
                        <a:t>LangGraph interrupt/resume + Temporal — workflows survive server restart</a:t>
                      </a:r>
                    </a:p>
                  </a:txBody>
                  <a:tcPr>
                    <a:solidFill>
                      <a:srgbClr val="FAFAFA"/>
                    </a:solidFill>
                  </a:tcPr>
                </a:tc>
              </a:tr>
              <a:tr h="475488">
                <a:tc>
                  <a:txBody>
                    <a:bodyPr/>
                    <a:lstStyle/>
                    <a:p>
                      <a:pPr algn="l"/>
                      <a:r>
                        <a:rPr sz="1200">
                          <a:solidFill>
                            <a:srgbClr val="1F2A37"/>
                          </a:solidFill>
                        </a:rPr>
                        <a:t>12</a:t>
                      </a:r>
                    </a:p>
                  </a:txBody>
                  <a:tcPr>
                    <a:solidFill>
                      <a:srgbClr val="FFFFFF"/>
                    </a:solidFill>
                  </a:tcPr>
                </a:tc>
                <a:tc>
                  <a:txBody>
                    <a:bodyPr/>
                    <a:lstStyle/>
                    <a:p>
                      <a:pPr algn="l"/>
                      <a:r>
                        <a:rPr sz="1200">
                          <a:solidFill>
                            <a:srgbClr val="1F2A37"/>
                          </a:solidFill>
                        </a:rPr>
                        <a:t>Audit Trail</a:t>
                      </a:r>
                    </a:p>
                  </a:txBody>
                  <a:tcPr>
                    <a:solidFill>
                      <a:srgbClr val="FFFFFF"/>
                    </a:solidFill>
                  </a:tcPr>
                </a:tc>
                <a:tc>
                  <a:txBody>
                    <a:bodyPr/>
                    <a:lstStyle/>
                    <a:p>
                      <a:pPr algn="l"/>
                      <a:r>
                        <a:rPr sz="1200">
                          <a:solidFill>
                            <a:srgbClr val="1F2A37"/>
                          </a:solidFill>
                        </a:rPr>
                        <a:t>Every decision traceable, ISO 13485 compliant, UUID per event</a:t>
                      </a:r>
                    </a:p>
                  </a:txBody>
                  <a:tcPr>
                    <a:solidFill>
                      <a:srgbClr val="FFFFFF"/>
                    </a:solidFill>
                  </a:tcPr>
                </a:tc>
              </a:tr>
              <a:tr h="475488">
                <a:tc>
                  <a:txBody>
                    <a:bodyPr/>
                    <a:lstStyle/>
                    <a:p>
                      <a:pPr algn="l"/>
                      <a:r>
                        <a:rPr sz="1200">
                          <a:solidFill>
                            <a:srgbClr val="1F2A37"/>
                          </a:solidFill>
                        </a:rPr>
                        <a:t>13</a:t>
                      </a:r>
                    </a:p>
                  </a:txBody>
                  <a:tcPr>
                    <a:solidFill>
                      <a:srgbClr val="FAFAFA"/>
                    </a:solidFill>
                  </a:tcPr>
                </a:tc>
                <a:tc>
                  <a:txBody>
                    <a:bodyPr/>
                    <a:lstStyle/>
                    <a:p>
                      <a:pPr algn="l"/>
                      <a:r>
                        <a:rPr sz="1200">
                          <a:solidFill>
                            <a:srgbClr val="1F2A37"/>
                          </a:solidFill>
                        </a:rPr>
                        <a:t>Web Dashboard</a:t>
                      </a:r>
                    </a:p>
                  </a:txBody>
                  <a:tcPr>
                    <a:solidFill>
                      <a:srgbClr val="FAFAFA"/>
                    </a:solidFill>
                  </a:tcPr>
                </a:tc>
                <a:tc>
                  <a:txBody>
                    <a:bodyPr/>
                    <a:lstStyle/>
                    <a:p>
                      <a:pPr algn="l"/>
                      <a:r>
                        <a:rPr sz="1200">
                          <a:solidFill>
                            <a:srgbClr val="1F2A37"/>
                          </a:solidFill>
                        </a:rPr>
                        <a:t>Dashboard, Analyst, Developer, Audit, Monitor — no CLI needed</a:t>
                      </a:r>
                    </a:p>
                  </a:txBody>
                  <a:tcPr>
                    <a:solidFill>
                      <a:srgbClr val="FAFAFA"/>
                    </a:solidFill>
                  </a:tcPr>
                </a:tc>
              </a:tr>
            </a:tbl>
          </a:graphicData>
        </a:graphic>
      </p:graphicFrame>
      <p:sp>
        <p:nvSpPr>
          <p:cNvPr id="6" name="Rectangle 5"/>
          <p:cNvSpPr/>
          <p:nvPr/>
        </p:nvSpPr>
        <p:spPr>
          <a:xfrm>
            <a:off x="0" y="6492240"/>
            <a:ext cx="12188952" cy="36576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8229600" cy="274320"/>
          </a:xfrm>
          <a:prstGeom prst="rect">
            <a:avLst/>
          </a:prstGeom>
          <a:noFill/>
        </p:spPr>
        <p:txBody>
          <a:bodyPr wrap="square">
            <a:spAutoFit/>
          </a:bodyPr>
          <a:lstStyle/>
          <a:p>
            <a:pPr algn="l"/>
            <a:r>
              <a:rPr sz="900" b="0" i="0">
                <a:solidFill>
                  <a:srgbClr val="4B5563"/>
                </a:solidFill>
              </a:rPr>
              <a:t>SAGE[ai] — Open Source (MIT) | github.com/Sumanharapanahalli/sage | March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Built for Regulated Medical Device Environments</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47857"/>
                </a:solidFill>
              </a:rPr>
              <a:t>Standards compliance is built-in, not bolted-on</a:t>
            </a:r>
          </a:p>
        </p:txBody>
      </p:sp>
      <p:sp>
        <p:nvSpPr>
          <p:cNvPr id="5" name="TextBox 4"/>
          <p:cNvSpPr txBox="1"/>
          <p:nvPr/>
        </p:nvSpPr>
        <p:spPr>
          <a:xfrm>
            <a:off x="548640" y="1554480"/>
            <a:ext cx="10972800" cy="365760"/>
          </a:xfrm>
          <a:prstGeom prst="rect">
            <a:avLst/>
          </a:prstGeom>
          <a:noFill/>
        </p:spPr>
        <p:txBody>
          <a:bodyPr wrap="square">
            <a:spAutoFit/>
          </a:bodyPr>
          <a:lstStyle/>
          <a:p>
            <a:pPr algn="l"/>
            <a:r>
              <a:rPr sz="1500" b="0" i="0">
                <a:solidFill>
                  <a:srgbClr val="1F2A37"/>
                </a:solidFill>
              </a:rPr>
              <a:t>ISO 13485:2016  —  Quality Management System</a:t>
            </a:r>
          </a:p>
        </p:txBody>
      </p:sp>
      <p:sp>
        <p:nvSpPr>
          <p:cNvPr id="6" name="TextBox 5"/>
          <p:cNvSpPr txBox="1"/>
          <p:nvPr/>
        </p:nvSpPr>
        <p:spPr>
          <a:xfrm>
            <a:off x="548640" y="2011680"/>
            <a:ext cx="10972800" cy="365760"/>
          </a:xfrm>
          <a:prstGeom prst="rect">
            <a:avLst/>
          </a:prstGeom>
          <a:noFill/>
        </p:spPr>
        <p:txBody>
          <a:bodyPr wrap="square">
            <a:spAutoFit/>
          </a:bodyPr>
          <a:lstStyle/>
          <a:p>
            <a:pPr algn="l"/>
            <a:r>
              <a:rPr sz="1500" b="0" i="0">
                <a:solidFill>
                  <a:srgbClr val="1F2A37"/>
                </a:solidFill>
              </a:rPr>
              <a:t>ISO 14971:2019  —  Risk Management — 7 risks identified &amp; controlled</a:t>
            </a:r>
          </a:p>
        </p:txBody>
      </p:sp>
      <p:sp>
        <p:nvSpPr>
          <p:cNvPr id="7" name="TextBox 6"/>
          <p:cNvSpPr txBox="1"/>
          <p:nvPr/>
        </p:nvSpPr>
        <p:spPr>
          <a:xfrm>
            <a:off x="548640" y="2468880"/>
            <a:ext cx="10972800" cy="365760"/>
          </a:xfrm>
          <a:prstGeom prst="rect">
            <a:avLst/>
          </a:prstGeom>
          <a:noFill/>
        </p:spPr>
        <p:txBody>
          <a:bodyPr wrap="square">
            <a:spAutoFit/>
          </a:bodyPr>
          <a:lstStyle/>
          <a:p>
            <a:pPr algn="l"/>
            <a:r>
              <a:rPr sz="1500" b="0" i="0">
                <a:solidFill>
                  <a:srgbClr val="1F2A37"/>
                </a:solidFill>
              </a:rPr>
              <a:t>IEC 62304:2006  —  Medical Device Software Lifecycle</a:t>
            </a:r>
          </a:p>
        </p:txBody>
      </p:sp>
      <p:sp>
        <p:nvSpPr>
          <p:cNvPr id="8" name="TextBox 7"/>
          <p:cNvSpPr txBox="1"/>
          <p:nvPr/>
        </p:nvSpPr>
        <p:spPr>
          <a:xfrm>
            <a:off x="548640" y="2926080"/>
            <a:ext cx="10972800" cy="365760"/>
          </a:xfrm>
          <a:prstGeom prst="rect">
            <a:avLst/>
          </a:prstGeom>
          <a:noFill/>
        </p:spPr>
        <p:txBody>
          <a:bodyPr wrap="square">
            <a:spAutoFit/>
          </a:bodyPr>
          <a:lstStyle/>
          <a:p>
            <a:pPr algn="l"/>
            <a:r>
              <a:rPr sz="1500" b="0" i="0">
                <a:solidFill>
                  <a:srgbClr val="1F2A37"/>
                </a:solidFill>
              </a:rPr>
              <a:t>FDA 21 CFR Part 11  —  Electronic Records &amp; Signatures</a:t>
            </a:r>
          </a:p>
        </p:txBody>
      </p:sp>
      <p:sp>
        <p:nvSpPr>
          <p:cNvPr id="9" name="TextBox 8"/>
          <p:cNvSpPr txBox="1"/>
          <p:nvPr/>
        </p:nvSpPr>
        <p:spPr>
          <a:xfrm>
            <a:off x="548640" y="3383280"/>
            <a:ext cx="10972800" cy="365760"/>
          </a:xfrm>
          <a:prstGeom prst="rect">
            <a:avLst/>
          </a:prstGeom>
          <a:noFill/>
        </p:spPr>
        <p:txBody>
          <a:bodyPr wrap="square">
            <a:spAutoFit/>
          </a:bodyPr>
          <a:lstStyle/>
          <a:p>
            <a:pPr algn="l"/>
            <a:r>
              <a:rPr sz="1500" b="0" i="0">
                <a:solidFill>
                  <a:srgbClr val="1F2A37"/>
                </a:solidFill>
              </a:rPr>
              <a:t>FDA Cybersecurity Guidance 2023  —  Threat modelling, SBOM, update policy</a:t>
            </a:r>
          </a:p>
        </p:txBody>
      </p:sp>
      <p:sp>
        <p:nvSpPr>
          <p:cNvPr id="10" name="TextBox 9"/>
          <p:cNvSpPr txBox="1"/>
          <p:nvPr/>
        </p:nvSpPr>
        <p:spPr>
          <a:xfrm>
            <a:off x="548640" y="3931920"/>
            <a:ext cx="10972800" cy="365760"/>
          </a:xfrm>
          <a:prstGeom prst="rect">
            <a:avLst/>
          </a:prstGeom>
          <a:noFill/>
        </p:spPr>
        <p:txBody>
          <a:bodyPr wrap="square">
            <a:spAutoFit/>
          </a:bodyPr>
          <a:lstStyle/>
          <a:p>
            <a:pPr algn="l"/>
            <a:r>
              <a:rPr sz="1600" b="1" i="0">
                <a:solidFill>
                  <a:srgbClr val="10B981"/>
                </a:solidFill>
              </a:rPr>
              <a:t>How We Comply</a:t>
            </a:r>
          </a:p>
        </p:txBody>
      </p:sp>
      <p:sp>
        <p:nvSpPr>
          <p:cNvPr id="11" name="TextBox 10"/>
          <p:cNvSpPr txBox="1"/>
          <p:nvPr/>
        </p:nvSpPr>
        <p:spPr>
          <a:xfrm>
            <a:off x="822960" y="4343400"/>
            <a:ext cx="10972800" cy="347472"/>
          </a:xfrm>
          <a:prstGeom prst="rect">
            <a:avLst/>
          </a:prstGeom>
          <a:noFill/>
        </p:spPr>
        <p:txBody>
          <a:bodyPr wrap="square">
            <a:spAutoFit/>
          </a:bodyPr>
          <a:lstStyle/>
          <a:p>
            <a:pPr algn="l"/>
            <a:r>
              <a:rPr sz="1300" b="0" i="0">
                <a:solidFill>
                  <a:srgbClr val="1F2A37"/>
                </a:solidFill>
              </a:rPr>
              <a:t>  Immutable append-only audit log (no deletes, ever)</a:t>
            </a:r>
          </a:p>
        </p:txBody>
      </p:sp>
      <p:sp>
        <p:nvSpPr>
          <p:cNvPr id="12" name="TextBox 11"/>
          <p:cNvSpPr txBox="1"/>
          <p:nvPr/>
        </p:nvSpPr>
        <p:spPr>
          <a:xfrm>
            <a:off x="822960" y="4727448"/>
            <a:ext cx="10972800" cy="347472"/>
          </a:xfrm>
          <a:prstGeom prst="rect">
            <a:avLst/>
          </a:prstGeom>
          <a:noFill/>
        </p:spPr>
        <p:txBody>
          <a:bodyPr wrap="square">
            <a:spAutoFit/>
          </a:bodyPr>
          <a:lstStyle/>
          <a:p>
            <a:pPr algn="l"/>
            <a:r>
              <a:rPr sz="1300" b="0" i="0">
                <a:solidFill>
                  <a:srgbClr val="1F2A37"/>
                </a:solidFill>
              </a:rPr>
              <a:t>  UUID trace ID on every AI decision</a:t>
            </a:r>
          </a:p>
        </p:txBody>
      </p:sp>
      <p:sp>
        <p:nvSpPr>
          <p:cNvPr id="13" name="TextBox 12"/>
          <p:cNvSpPr txBox="1"/>
          <p:nvPr/>
        </p:nvSpPr>
        <p:spPr>
          <a:xfrm>
            <a:off x="822960" y="5111496"/>
            <a:ext cx="10972800" cy="347472"/>
          </a:xfrm>
          <a:prstGeom prst="rect">
            <a:avLst/>
          </a:prstGeom>
          <a:noFill/>
        </p:spPr>
        <p:txBody>
          <a:bodyPr wrap="square">
            <a:spAutoFit/>
          </a:bodyPr>
          <a:lstStyle/>
          <a:p>
            <a:pPr algn="l"/>
            <a:r>
              <a:rPr sz="1300" b="0" i="0">
                <a:solidFill>
                  <a:srgbClr val="1F2A37"/>
                </a:solidFill>
              </a:rPr>
              <a:t>  Human approval gate on every proposal — enforced in code</a:t>
            </a:r>
          </a:p>
        </p:txBody>
      </p:sp>
      <p:sp>
        <p:nvSpPr>
          <p:cNvPr id="14" name="TextBox 13"/>
          <p:cNvSpPr txBox="1"/>
          <p:nvPr/>
        </p:nvSpPr>
        <p:spPr>
          <a:xfrm>
            <a:off x="822960" y="5495544"/>
            <a:ext cx="10972800" cy="347472"/>
          </a:xfrm>
          <a:prstGeom prst="rect">
            <a:avLst/>
          </a:prstGeom>
          <a:noFill/>
        </p:spPr>
        <p:txBody>
          <a:bodyPr wrap="square">
            <a:spAutoFit/>
          </a:bodyPr>
          <a:lstStyle/>
          <a:p>
            <a:pPr algn="l"/>
            <a:r>
              <a:rPr sz="1300" b="0" i="0">
                <a:solidFill>
                  <a:srgbClr val="1F2A37"/>
                </a:solidFill>
              </a:rPr>
              <a:t>  Full DHF: SRS · RTM · V&amp;V Plan · SOUP Inventory</a:t>
            </a:r>
          </a:p>
        </p:txBody>
      </p:sp>
      <p:sp>
        <p:nvSpPr>
          <p:cNvPr id="15" name="TextBox 14"/>
          <p:cNvSpPr txBox="1"/>
          <p:nvPr/>
        </p:nvSpPr>
        <p:spPr>
          <a:xfrm>
            <a:off x="822960" y="5879592"/>
            <a:ext cx="10972800" cy="347472"/>
          </a:xfrm>
          <a:prstGeom prst="rect">
            <a:avLst/>
          </a:prstGeom>
          <a:noFill/>
        </p:spPr>
        <p:txBody>
          <a:bodyPr wrap="square">
            <a:spAutoFit/>
          </a:bodyPr>
          <a:lstStyle/>
          <a:p>
            <a:pPr algn="l"/>
            <a:r>
              <a:rPr sz="1300" b="0" i="0">
                <a:solidFill>
                  <a:srgbClr val="1F2A37"/>
                </a:solidFill>
              </a:rPr>
              <a:t>  Air-gapped LLM option — no cloud dependency required</a:t>
            </a:r>
          </a:p>
        </p:txBody>
      </p:sp>
      <p:sp>
        <p:nvSpPr>
          <p:cNvPr id="16" name="Rectangle 15"/>
          <p:cNvSpPr/>
          <p:nvPr/>
        </p:nvSpPr>
        <p:spPr>
          <a:xfrm>
            <a:off x="0" y="6492240"/>
            <a:ext cx="12188952" cy="36576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6510528"/>
            <a:ext cx="8229600" cy="274320"/>
          </a:xfrm>
          <a:prstGeom prst="rect">
            <a:avLst/>
          </a:prstGeom>
          <a:noFill/>
        </p:spPr>
        <p:txBody>
          <a:bodyPr wrap="square">
            <a:spAutoFit/>
          </a:bodyPr>
          <a:lstStyle/>
          <a:p>
            <a:pPr algn="l"/>
            <a:r>
              <a:rPr sz="900" b="0" i="0">
                <a:solidFill>
                  <a:srgbClr val="4B5563"/>
                </a:solidFill>
              </a:rPr>
              <a:t>SAGE[ai] — Open Source (MIT) | github.com/Sumanharapanahalli/sage | March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SAGE[ai] Gets Better Every Day — From Your Own Team</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47857"/>
                </a:solidFill>
              </a:rPr>
              <a:t>Compounding intelligence through the RAG feedback loop</a:t>
            </a:r>
          </a:p>
        </p:txBody>
      </p:sp>
      <p:sp>
        <p:nvSpPr>
          <p:cNvPr id="5" name="Rectangle 4"/>
          <p:cNvSpPr/>
          <p:nvPr/>
        </p:nvSpPr>
        <p:spPr>
          <a:xfrm>
            <a:off x="548640" y="1600200"/>
            <a:ext cx="3383280" cy="32004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37360"/>
            <a:ext cx="548640" cy="548640"/>
          </a:xfrm>
          <a:prstGeom prst="rect">
            <a:avLst/>
          </a:prstGeom>
          <a:noFill/>
        </p:spPr>
        <p:txBody>
          <a:bodyPr wrap="square">
            <a:spAutoFit/>
          </a:bodyPr>
          <a:lstStyle/>
          <a:p>
            <a:pPr algn="l"/>
            <a:r>
              <a:rPr sz="2800" b="1" i="0">
                <a:solidFill>
                  <a:srgbClr val="FFFFFF"/>
                </a:solidFill>
              </a:rPr>
              <a:t>1</a:t>
            </a:r>
          </a:p>
        </p:txBody>
      </p:sp>
      <p:sp>
        <p:nvSpPr>
          <p:cNvPr id="7" name="TextBox 6"/>
          <p:cNvSpPr txBox="1"/>
          <p:nvPr/>
        </p:nvSpPr>
        <p:spPr>
          <a:xfrm>
            <a:off x="685800" y="2331720"/>
            <a:ext cx="3108960" cy="457200"/>
          </a:xfrm>
          <a:prstGeom prst="rect">
            <a:avLst/>
          </a:prstGeom>
          <a:noFill/>
        </p:spPr>
        <p:txBody>
          <a:bodyPr wrap="square">
            <a:spAutoFit/>
          </a:bodyPr>
          <a:lstStyle/>
          <a:p>
            <a:pPr algn="l"/>
            <a:r>
              <a:rPr sz="1400" b="1" i="0">
                <a:solidFill>
                  <a:srgbClr val="FFFFFF"/>
                </a:solidFill>
              </a:rPr>
              <a:t>USER SUBMITS REQUEST</a:t>
            </a:r>
          </a:p>
        </p:txBody>
      </p:sp>
      <p:sp>
        <p:nvSpPr>
          <p:cNvPr id="8" name="TextBox 7"/>
          <p:cNvSpPr txBox="1"/>
          <p:nvPr/>
        </p:nvSpPr>
        <p:spPr>
          <a:xfrm>
            <a:off x="685800" y="2834640"/>
            <a:ext cx="3108960" cy="1645920"/>
          </a:xfrm>
          <a:prstGeom prst="rect">
            <a:avLst/>
          </a:prstGeom>
          <a:noFill/>
        </p:spPr>
        <p:txBody>
          <a:bodyPr wrap="square">
            <a:spAutoFit/>
          </a:bodyPr>
          <a:lstStyle/>
          <a:p>
            <a:pPr algn="l"/>
            <a:r>
              <a:rPr sz="1200" b="0" i="0">
                <a:solidFill>
                  <a:srgbClr val="FFFFFF"/>
                </a:solidFill>
              </a:rPr>
              <a:t>Click 'Request Improvement' on any module — logged instantly</a:t>
            </a:r>
          </a:p>
        </p:txBody>
      </p:sp>
      <p:sp>
        <p:nvSpPr>
          <p:cNvPr id="9" name="Rectangle 8"/>
          <p:cNvSpPr/>
          <p:nvPr/>
        </p:nvSpPr>
        <p:spPr>
          <a:xfrm>
            <a:off x="4389120" y="1600200"/>
            <a:ext cx="3383280" cy="320040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1737360"/>
            <a:ext cx="548640" cy="548640"/>
          </a:xfrm>
          <a:prstGeom prst="rect">
            <a:avLst/>
          </a:prstGeom>
          <a:noFill/>
        </p:spPr>
        <p:txBody>
          <a:bodyPr wrap="square">
            <a:spAutoFit/>
          </a:bodyPr>
          <a:lstStyle/>
          <a:p>
            <a:pPr algn="l"/>
            <a:r>
              <a:rPr sz="2800" b="1" i="0">
                <a:solidFill>
                  <a:srgbClr val="FFFFFF"/>
                </a:solidFill>
              </a:rPr>
              <a:t>2</a:t>
            </a:r>
          </a:p>
        </p:txBody>
      </p:sp>
      <p:sp>
        <p:nvSpPr>
          <p:cNvPr id="11" name="TextBox 10"/>
          <p:cNvSpPr txBox="1"/>
          <p:nvPr/>
        </p:nvSpPr>
        <p:spPr>
          <a:xfrm>
            <a:off x="4526280" y="2331720"/>
            <a:ext cx="3108960" cy="457200"/>
          </a:xfrm>
          <a:prstGeom prst="rect">
            <a:avLst/>
          </a:prstGeom>
          <a:noFill/>
        </p:spPr>
        <p:txBody>
          <a:bodyPr wrap="square">
            <a:spAutoFit/>
          </a:bodyPr>
          <a:lstStyle/>
          <a:p>
            <a:pPr algn="l"/>
            <a:r>
              <a:rPr sz="1400" b="1" i="0">
                <a:solidFill>
                  <a:srgbClr val="FFFFFF"/>
                </a:solidFill>
              </a:rPr>
              <a:t>AI PLANS</a:t>
            </a:r>
          </a:p>
        </p:txBody>
      </p:sp>
      <p:sp>
        <p:nvSpPr>
          <p:cNvPr id="12" name="TextBox 11"/>
          <p:cNvSpPr txBox="1"/>
          <p:nvPr/>
        </p:nvSpPr>
        <p:spPr>
          <a:xfrm>
            <a:off x="4526280" y="2834640"/>
            <a:ext cx="3108960" cy="1645920"/>
          </a:xfrm>
          <a:prstGeom prst="rect">
            <a:avLst/>
          </a:prstGeom>
          <a:noFill/>
        </p:spPr>
        <p:txBody>
          <a:bodyPr wrap="square">
            <a:spAutoFit/>
          </a:bodyPr>
          <a:lstStyle/>
          <a:p>
            <a:pPr algn="l"/>
            <a:r>
              <a:rPr sz="1200" b="0" i="0">
                <a:solidFill>
                  <a:srgbClr val="FFFFFF"/>
                </a:solidFill>
              </a:rPr>
              <a:t>Planner Agent decomposes into subtasks, queued for implementation</a:t>
            </a:r>
          </a:p>
        </p:txBody>
      </p:sp>
      <p:sp>
        <p:nvSpPr>
          <p:cNvPr id="13" name="Rectangle 12"/>
          <p:cNvSpPr/>
          <p:nvPr/>
        </p:nvSpPr>
        <p:spPr>
          <a:xfrm>
            <a:off x="8229600" y="1600200"/>
            <a:ext cx="3383280" cy="32004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6760" y="1737360"/>
            <a:ext cx="548640" cy="548640"/>
          </a:xfrm>
          <a:prstGeom prst="rect">
            <a:avLst/>
          </a:prstGeom>
          <a:noFill/>
        </p:spPr>
        <p:txBody>
          <a:bodyPr wrap="square">
            <a:spAutoFit/>
          </a:bodyPr>
          <a:lstStyle/>
          <a:p>
            <a:pPr algn="l"/>
            <a:r>
              <a:rPr sz="2800" b="1" i="0">
                <a:solidFill>
                  <a:srgbClr val="FFFFFF"/>
                </a:solidFill>
              </a:rPr>
              <a:t>3</a:t>
            </a:r>
          </a:p>
        </p:txBody>
      </p:sp>
      <p:sp>
        <p:nvSpPr>
          <p:cNvPr id="15" name="TextBox 14"/>
          <p:cNvSpPr txBox="1"/>
          <p:nvPr/>
        </p:nvSpPr>
        <p:spPr>
          <a:xfrm>
            <a:off x="8366760" y="2331720"/>
            <a:ext cx="3108960" cy="457200"/>
          </a:xfrm>
          <a:prstGeom prst="rect">
            <a:avLst/>
          </a:prstGeom>
          <a:noFill/>
        </p:spPr>
        <p:txBody>
          <a:bodyPr wrap="square">
            <a:spAutoFit/>
          </a:bodyPr>
          <a:lstStyle/>
          <a:p>
            <a:pPr algn="l"/>
            <a:r>
              <a:rPr sz="1400" b="1" i="0">
                <a:solidFill>
                  <a:srgbClr val="FFFFFF"/>
                </a:solidFill>
              </a:rPr>
              <a:t>IMPLEMENTED &amp; LEARNED</a:t>
            </a:r>
          </a:p>
        </p:txBody>
      </p:sp>
      <p:sp>
        <p:nvSpPr>
          <p:cNvPr id="16" name="TextBox 15"/>
          <p:cNvSpPr txBox="1"/>
          <p:nvPr/>
        </p:nvSpPr>
        <p:spPr>
          <a:xfrm>
            <a:off x="8366760" y="2834640"/>
            <a:ext cx="3108960" cy="1645920"/>
          </a:xfrm>
          <a:prstGeom prst="rect">
            <a:avLst/>
          </a:prstGeom>
          <a:noFill/>
        </p:spPr>
        <p:txBody>
          <a:bodyPr wrap="square">
            <a:spAutoFit/>
          </a:bodyPr>
          <a:lstStyle/>
          <a:p>
            <a:pPr algn="l"/>
            <a:r>
              <a:rPr sz="1200" b="0" i="0">
                <a:solidFill>
                  <a:srgbClr val="FFFFFF"/>
                </a:solidFill>
              </a:rPr>
              <a:t>Change deployed; RAG memory updated — next analysis is smarter</a:t>
            </a:r>
          </a:p>
        </p:txBody>
      </p:sp>
      <p:sp>
        <p:nvSpPr>
          <p:cNvPr id="17" name="TextBox 16"/>
          <p:cNvSpPr txBox="1"/>
          <p:nvPr/>
        </p:nvSpPr>
        <p:spPr>
          <a:xfrm>
            <a:off x="548640" y="5029200"/>
            <a:ext cx="10972800" cy="502920"/>
          </a:xfrm>
          <a:prstGeom prst="rect">
            <a:avLst/>
          </a:prstGeom>
          <a:noFill/>
        </p:spPr>
        <p:txBody>
          <a:bodyPr wrap="square">
            <a:spAutoFit/>
          </a:bodyPr>
          <a:lstStyle/>
          <a:p>
            <a:pPr algn="ctr"/>
            <a:r>
              <a:rPr sz="1500" b="1" i="1">
                <a:solidFill>
                  <a:srgbClr val="1F2A37"/>
                </a:solidFill>
              </a:rPr>
              <a:t>The system improves itself through the same AI pipeline it provides to engineers.</a:t>
            </a:r>
          </a:p>
        </p:txBody>
      </p:sp>
      <p:sp>
        <p:nvSpPr>
          <p:cNvPr id="18" name="Rectangle 17"/>
          <p:cNvSpPr/>
          <p:nvPr/>
        </p:nvSpPr>
        <p:spPr>
          <a:xfrm>
            <a:off x="0" y="6492240"/>
            <a:ext cx="12188952" cy="36576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4320" y="6510528"/>
            <a:ext cx="8229600" cy="274320"/>
          </a:xfrm>
          <a:prstGeom prst="rect">
            <a:avLst/>
          </a:prstGeom>
          <a:noFill/>
        </p:spPr>
        <p:txBody>
          <a:bodyPr wrap="square">
            <a:spAutoFit/>
          </a:bodyPr>
          <a:lstStyle/>
          <a:p>
            <a:pPr algn="l"/>
            <a:r>
              <a:rPr sz="900" b="0" i="0">
                <a:solidFill>
                  <a:srgbClr val="4B5563"/>
                </a:solidFill>
              </a:rPr>
              <a:t>SAGE[ai] — Open Source (MIT) | github.com/Sumanharapanahalli/sage | March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From Pilot to Production: 3-Month Plan</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47857"/>
                </a:solidFill>
              </a:rPr>
              <a:t>12 integration phases complete — pilot deployment is next</a:t>
            </a:r>
          </a:p>
        </p:txBody>
      </p:sp>
      <p:graphicFrame>
        <p:nvGraphicFramePr>
          <p:cNvPr id="5" name="Table 4"/>
          <p:cNvGraphicFramePr>
            <a:graphicFrameLocks noGrp="1"/>
          </p:cNvGraphicFramePr>
          <p:nvPr/>
        </p:nvGraphicFramePr>
        <p:xfrm>
          <a:off x="457200" y="1508760"/>
          <a:ext cx="11247120" cy="3803904"/>
        </p:xfrm>
        <a:graphic>
          <a:graphicData uri="http://schemas.openxmlformats.org/drawingml/2006/table">
            <a:tbl>
              <a:tblPr firstRow="1" bandRow="1">
                <a:tableStyleId>{5C22544A-7EE6-4342-B048-85BDC9FD1C3A}</a:tableStyleId>
              </a:tblPr>
              <a:tblGrid>
                <a:gridCol w="1828800"/>
                <a:gridCol w="1280160"/>
                <a:gridCol w="6309360"/>
                <a:gridCol w="1828800"/>
              </a:tblGrid>
              <a:tr h="475488">
                <a:tc>
                  <a:txBody>
                    <a:bodyPr/>
                    <a:lstStyle/>
                    <a:p>
                      <a:pPr algn="ctr"/>
                      <a:r>
                        <a:rPr b="1" sz="1300">
                          <a:solidFill>
                            <a:srgbClr val="FFFFFF"/>
                          </a:solidFill>
                        </a:rPr>
                        <a:t>Phase</a:t>
                      </a:r>
                    </a:p>
                  </a:txBody>
                  <a:tcPr>
                    <a:solidFill>
                      <a:srgbClr val="10B981"/>
                    </a:solidFill>
                  </a:tcPr>
                </a:tc>
                <a:tc>
                  <a:txBody>
                    <a:bodyPr/>
                    <a:lstStyle/>
                    <a:p>
                      <a:pPr algn="ctr"/>
                      <a:r>
                        <a:rPr b="1" sz="1300">
                          <a:solidFill>
                            <a:srgbClr val="FFFFFF"/>
                          </a:solidFill>
                        </a:rPr>
                        <a:t>Timeline</a:t>
                      </a:r>
                    </a:p>
                  </a:txBody>
                  <a:tcPr>
                    <a:solidFill>
                      <a:srgbClr val="10B981"/>
                    </a:solidFill>
                  </a:tcPr>
                </a:tc>
                <a:tc>
                  <a:txBody>
                    <a:bodyPr/>
                    <a:lstStyle/>
                    <a:p>
                      <a:pPr algn="ctr"/>
                      <a:r>
                        <a:rPr b="1" sz="1300">
                          <a:solidFill>
                            <a:srgbClr val="FFFFFF"/>
                          </a:solidFill>
                        </a:rPr>
                        <a:t>Deliverable</a:t>
                      </a:r>
                    </a:p>
                  </a:txBody>
                  <a:tcPr>
                    <a:solidFill>
                      <a:srgbClr val="10B981"/>
                    </a:solidFill>
                  </a:tcPr>
                </a:tc>
                <a:tc>
                  <a:txBody>
                    <a:bodyPr/>
                    <a:lstStyle/>
                    <a:p>
                      <a:pPr algn="ctr"/>
                      <a:r>
                        <a:rPr b="1" sz="1300">
                          <a:solidFill>
                            <a:srgbClr val="FFFFFF"/>
                          </a:solidFill>
                        </a:rPr>
                        <a:t>Status</a:t>
                      </a:r>
                    </a:p>
                  </a:txBody>
                  <a:tcPr>
                    <a:solidFill>
                      <a:srgbClr val="10B981"/>
                    </a:solidFill>
                  </a:tcPr>
                </a:tc>
              </a:tr>
              <a:tr h="475488">
                <a:tc>
                  <a:txBody>
                    <a:bodyPr/>
                    <a:lstStyle/>
                    <a:p>
                      <a:pPr algn="l"/>
                      <a:r>
                        <a:rPr sz="1200">
                          <a:solidFill>
                            <a:srgbClr val="1F2A37"/>
                          </a:solidFill>
                        </a:rPr>
                        <a:t>Phases 0-4: Core</a:t>
                      </a:r>
                    </a:p>
                  </a:txBody>
                  <a:tcPr>
                    <a:solidFill>
                      <a:srgbClr val="FAFAFA"/>
                    </a:solidFill>
                  </a:tcPr>
                </a:tc>
                <a:tc>
                  <a:txBody>
                    <a:bodyPr/>
                    <a:lstStyle/>
                    <a:p>
                      <a:pPr algn="l"/>
                      <a:r>
                        <a:rPr sz="1200">
                          <a:solidFill>
                            <a:srgbClr val="1F2A37"/>
                          </a:solidFill>
                        </a:rPr>
                        <a:t>Done</a:t>
                      </a:r>
                    </a:p>
                  </a:txBody>
                  <a:tcPr>
                    <a:solidFill>
                      <a:srgbClr val="FAFAFA"/>
                    </a:solidFill>
                  </a:tcPr>
                </a:tc>
                <a:tc>
                  <a:txBody>
                    <a:bodyPr/>
                    <a:lstStyle/>
                    <a:p>
                      <a:pPr algn="l"/>
                      <a:r>
                        <a:rPr sz="1200">
                          <a:solidFill>
                            <a:srgbClr val="1F2A37"/>
                          </a:solidFill>
                        </a:rPr>
                        <a:t>Agents, API, Web UI, Approval gate, Audit log</a:t>
                      </a:r>
                    </a:p>
                  </a:txBody>
                  <a:tcPr>
                    <a:solidFill>
                      <a:srgbClr val="FAFAFA"/>
                    </a:solidFill>
                  </a:tcPr>
                </a:tc>
                <a:tc>
                  <a:txBody>
                    <a:bodyPr/>
                    <a:lstStyle/>
                    <a:p>
                      <a:pPr algn="l"/>
                      <a:r>
                        <a:rPr sz="1200">
                          <a:solidFill>
                            <a:srgbClr val="1F2A37"/>
                          </a:solidFill>
                        </a:rPr>
                        <a:t>Complete</a:t>
                      </a:r>
                    </a:p>
                  </a:txBody>
                  <a:tcPr>
                    <a:solidFill>
                      <a:srgbClr val="FAFAFA"/>
                    </a:solidFill>
                  </a:tcPr>
                </a:tc>
              </a:tr>
              <a:tr h="475488">
                <a:tc>
                  <a:txBody>
                    <a:bodyPr/>
                    <a:lstStyle/>
                    <a:p>
                      <a:pPr algn="l"/>
                      <a:r>
                        <a:rPr sz="1200">
                          <a:solidFill>
                            <a:srgbClr val="1F2A37"/>
                          </a:solidFill>
                        </a:rPr>
                        <a:t>Phase 5: Streaming</a:t>
                      </a:r>
                    </a:p>
                  </a:txBody>
                  <a:tcPr>
                    <a:solidFill>
                      <a:srgbClr val="FFFFFF"/>
                    </a:solidFill>
                  </a:tcPr>
                </a:tc>
                <a:tc>
                  <a:txBody>
                    <a:bodyPr/>
                    <a:lstStyle/>
                    <a:p>
                      <a:pPr algn="l"/>
                      <a:r>
                        <a:rPr sz="1200">
                          <a:solidFill>
                            <a:srgbClr val="1F2A37"/>
                          </a:solidFill>
                        </a:rPr>
                        <a:t>Done</a:t>
                      </a:r>
                    </a:p>
                  </a:txBody>
                  <a:tcPr>
                    <a:solidFill>
                      <a:srgbClr val="FFFFFF"/>
                    </a:solidFill>
                  </a:tcPr>
                </a:tc>
                <a:tc>
                  <a:txBody>
                    <a:bodyPr/>
                    <a:lstStyle/>
                    <a:p>
                      <a:pPr algn="l"/>
                      <a:r>
                        <a:rPr sz="1200">
                          <a:solidFill>
                            <a:srgbClr val="1F2A37"/>
                          </a:solidFill>
                        </a:rPr>
                        <a:t>SSE token streaming for all providers</a:t>
                      </a:r>
                    </a:p>
                  </a:txBody>
                  <a:tcPr>
                    <a:solidFill>
                      <a:srgbClr val="FFFFFF"/>
                    </a:solidFill>
                  </a:tcPr>
                </a:tc>
                <a:tc>
                  <a:txBody>
                    <a:bodyPr/>
                    <a:lstStyle/>
                    <a:p>
                      <a:pPr algn="l"/>
                      <a:r>
                        <a:rPr sz="1200">
                          <a:solidFill>
                            <a:srgbClr val="1F2A37"/>
                          </a:solidFill>
                        </a:rPr>
                        <a:t>Complete</a:t>
                      </a:r>
                    </a:p>
                  </a:txBody>
                  <a:tcPr>
                    <a:solidFill>
                      <a:srgbClr val="FFFFFF"/>
                    </a:solidFill>
                  </a:tcPr>
                </a:tc>
              </a:tr>
              <a:tr h="475488">
                <a:tc>
                  <a:txBody>
                    <a:bodyPr/>
                    <a:lstStyle/>
                    <a:p>
                      <a:pPr algn="l"/>
                      <a:r>
                        <a:rPr sz="1200">
                          <a:solidFill>
                            <a:srgbClr val="1F2A37"/>
                          </a:solidFill>
                        </a:rPr>
                        <a:t>Phase 6: Onboard</a:t>
                      </a:r>
                    </a:p>
                  </a:txBody>
                  <a:tcPr>
                    <a:solidFill>
                      <a:srgbClr val="FAFAFA"/>
                    </a:solidFill>
                  </a:tcPr>
                </a:tc>
                <a:tc>
                  <a:txBody>
                    <a:bodyPr/>
                    <a:lstStyle/>
                    <a:p>
                      <a:pPr algn="l"/>
                      <a:r>
                        <a:rPr sz="1200">
                          <a:solidFill>
                            <a:srgbClr val="1F2A37"/>
                          </a:solidFill>
                        </a:rPr>
                        <a:t>Done</a:t>
                      </a:r>
                    </a:p>
                  </a:txBody>
                  <a:tcPr>
                    <a:solidFill>
                      <a:srgbClr val="FAFAFA"/>
                    </a:solidFill>
                  </a:tcPr>
                </a:tc>
                <a:tc>
                  <a:txBody>
                    <a:bodyPr/>
                    <a:lstStyle/>
                    <a:p>
                      <a:pPr algn="l"/>
                      <a:r>
                        <a:rPr sz="1200">
                          <a:solidFill>
                            <a:srgbClr val="1F2A37"/>
                          </a:solidFill>
                        </a:rPr>
                        <a:t>Plain-language to YAML solution wizard</a:t>
                      </a:r>
                    </a:p>
                  </a:txBody>
                  <a:tcPr>
                    <a:solidFill>
                      <a:srgbClr val="FAFAFA"/>
                    </a:solidFill>
                  </a:tcPr>
                </a:tc>
                <a:tc>
                  <a:txBody>
                    <a:bodyPr/>
                    <a:lstStyle/>
                    <a:p>
                      <a:pPr algn="l"/>
                      <a:r>
                        <a:rPr sz="1200">
                          <a:solidFill>
                            <a:srgbClr val="1F2A37"/>
                          </a:solidFill>
                        </a:rPr>
                        <a:t>Complete</a:t>
                      </a:r>
                    </a:p>
                  </a:txBody>
                  <a:tcPr>
                    <a:solidFill>
                      <a:srgbClr val="FAFAFA"/>
                    </a:solidFill>
                  </a:tcPr>
                </a:tc>
              </a:tr>
              <a:tr h="475488">
                <a:tc>
                  <a:txBody>
                    <a:bodyPr/>
                    <a:lstStyle/>
                    <a:p>
                      <a:pPr algn="l"/>
                      <a:r>
                        <a:rPr sz="1200">
                          <a:solidFill>
                            <a:srgbClr val="1F2A37"/>
                          </a:solidFill>
                        </a:rPr>
                        <a:t>Phases 7-11</a:t>
                      </a:r>
                    </a:p>
                  </a:txBody>
                  <a:tcPr>
                    <a:solidFill>
                      <a:srgbClr val="FFFFFF"/>
                    </a:solidFill>
                  </a:tcPr>
                </a:tc>
                <a:tc>
                  <a:txBody>
                    <a:bodyPr/>
                    <a:lstStyle/>
                    <a:p>
                      <a:pPr algn="l"/>
                      <a:r>
                        <a:rPr sz="1200">
                          <a:solidFill>
                            <a:srgbClr val="1F2A37"/>
                          </a:solidFill>
                        </a:rPr>
                        <a:t>Done</a:t>
                      </a:r>
                    </a:p>
                  </a:txBody>
                  <a:tcPr>
                    <a:solidFill>
                      <a:srgbClr val="FFFFFF"/>
                    </a:solidFill>
                  </a:tcPr>
                </a:tc>
                <a:tc>
                  <a:txBody>
                    <a:bodyPr/>
                    <a:lstStyle/>
                    <a:p>
                      <a:pPr algn="l"/>
                      <a:r>
                        <a:rPr sz="1200">
                          <a:solidFill>
                            <a:srgbClr val="1F2A37"/>
                          </a:solidFill>
                        </a:rPr>
                        <a:t>Knowledge CRUD, Slack, Eval, Multi-tenant, Temporal</a:t>
                      </a:r>
                    </a:p>
                  </a:txBody>
                  <a:tcPr>
                    <a:solidFill>
                      <a:srgbClr val="FFFFFF"/>
                    </a:solidFill>
                  </a:tcPr>
                </a:tc>
                <a:tc>
                  <a:txBody>
                    <a:bodyPr/>
                    <a:lstStyle/>
                    <a:p>
                      <a:pPr algn="l"/>
                      <a:r>
                        <a:rPr sz="1200">
                          <a:solidFill>
                            <a:srgbClr val="1F2A37"/>
                          </a:solidFill>
                        </a:rPr>
                        <a:t>Complete</a:t>
                      </a:r>
                    </a:p>
                  </a:txBody>
                  <a:tcPr>
                    <a:solidFill>
                      <a:srgbClr val="FFFFFF"/>
                    </a:solidFill>
                  </a:tcPr>
                </a:tc>
              </a:tr>
              <a:tr h="475488">
                <a:tc>
                  <a:txBody>
                    <a:bodyPr/>
                    <a:lstStyle/>
                    <a:p>
                      <a:pPr algn="l"/>
                      <a:r>
                        <a:rPr sz="1200">
                          <a:solidFill>
                            <a:srgbClr val="1F2A37"/>
                          </a:solidFill>
                        </a:rPr>
                        <a:t>Pilot Deploy</a:t>
                      </a:r>
                    </a:p>
                  </a:txBody>
                  <a:tcPr>
                    <a:solidFill>
                      <a:srgbClr val="FAFAFA"/>
                    </a:solidFill>
                  </a:tcPr>
                </a:tc>
                <a:tc>
                  <a:txBody>
                    <a:bodyPr/>
                    <a:lstStyle/>
                    <a:p>
                      <a:pPr algn="l"/>
                      <a:r>
                        <a:rPr sz="1200">
                          <a:solidFill>
                            <a:srgbClr val="1F2A37"/>
                          </a:solidFill>
                        </a:rPr>
                        <a:t>Month 1</a:t>
                      </a:r>
                    </a:p>
                  </a:txBody>
                  <a:tcPr>
                    <a:solidFill>
                      <a:srgbClr val="FAFAFA"/>
                    </a:solidFill>
                  </a:tcPr>
                </a:tc>
                <a:tc>
                  <a:txBody>
                    <a:bodyPr/>
                    <a:lstStyle/>
                    <a:p>
                      <a:pPr algn="l"/>
                      <a:r>
                        <a:rPr sz="1200">
                          <a:solidFill>
                            <a:srgbClr val="1F2A37"/>
                          </a:solidFill>
                        </a:rPr>
                        <a:t>Production deploy, engineer training, KPI baseline</a:t>
                      </a:r>
                    </a:p>
                  </a:txBody>
                  <a:tcPr>
                    <a:solidFill>
                      <a:srgbClr val="FAFAFA"/>
                    </a:solidFill>
                  </a:tcPr>
                </a:tc>
                <a:tc>
                  <a:txBody>
                    <a:bodyPr/>
                    <a:lstStyle/>
                    <a:p>
                      <a:pPr algn="l"/>
                      <a:r>
                        <a:rPr sz="1200">
                          <a:solidFill>
                            <a:srgbClr val="1F2A37"/>
                          </a:solidFill>
                        </a:rPr>
                        <a:t>Next</a:t>
                      </a:r>
                    </a:p>
                  </a:txBody>
                  <a:tcPr>
                    <a:solidFill>
                      <a:srgbClr val="FAFAFA"/>
                    </a:solidFill>
                  </a:tcPr>
                </a:tc>
              </a:tr>
              <a:tr h="475488">
                <a:tc>
                  <a:txBody>
                    <a:bodyPr/>
                    <a:lstStyle/>
                    <a:p>
                      <a:pPr algn="l"/>
                      <a:r>
                        <a:rPr sz="1200">
                          <a:solidFill>
                            <a:srgbClr val="1F2A37"/>
                          </a:solidFill>
                        </a:rPr>
                        <a:t>Iterate</a:t>
                      </a:r>
                    </a:p>
                  </a:txBody>
                  <a:tcPr>
                    <a:solidFill>
                      <a:srgbClr val="FFFFFF"/>
                    </a:solidFill>
                  </a:tcPr>
                </a:tc>
                <a:tc>
                  <a:txBody>
                    <a:bodyPr/>
                    <a:lstStyle/>
                    <a:p>
                      <a:pPr algn="l"/>
                      <a:r>
                        <a:rPr sz="1200">
                          <a:solidFill>
                            <a:srgbClr val="1F2A37"/>
                          </a:solidFill>
                        </a:rPr>
                        <a:t>Month 2</a:t>
                      </a:r>
                    </a:p>
                  </a:txBody>
                  <a:tcPr>
                    <a:solidFill>
                      <a:srgbClr val="FFFFFF"/>
                    </a:solidFill>
                  </a:tcPr>
                </a:tc>
                <a:tc>
                  <a:txBody>
                    <a:bodyPr/>
                    <a:lstStyle/>
                    <a:p>
                      <a:pPr algn="l"/>
                      <a:r>
                        <a:rPr sz="1200">
                          <a:solidFill>
                            <a:srgbClr val="1F2A37"/>
                          </a:solidFill>
                        </a:rPr>
                        <a:t>KPI tracking, RAG feedback loop, first improvements</a:t>
                      </a:r>
                    </a:p>
                  </a:txBody>
                  <a:tcPr>
                    <a:solidFill>
                      <a:srgbClr val="FFFFFF"/>
                    </a:solidFill>
                  </a:tcPr>
                </a:tc>
                <a:tc>
                  <a:txBody>
                    <a:bodyPr/>
                    <a:lstStyle/>
                    <a:p>
                      <a:pPr algn="l"/>
                      <a:r>
                        <a:rPr sz="1200">
                          <a:solidFill>
                            <a:srgbClr val="1F2A37"/>
                          </a:solidFill>
                        </a:rPr>
                        <a:t>Planned</a:t>
                      </a:r>
                    </a:p>
                  </a:txBody>
                  <a:tcPr>
                    <a:solidFill>
                      <a:srgbClr val="FFFFFF"/>
                    </a:solidFill>
                  </a:tcPr>
                </a:tc>
              </a:tr>
              <a:tr h="475488">
                <a:tc>
                  <a:txBody>
                    <a:bodyPr/>
                    <a:lstStyle/>
                    <a:p>
                      <a:pPr algn="l"/>
                      <a:r>
                        <a:rPr sz="1200">
                          <a:solidFill>
                            <a:srgbClr val="1F2A37"/>
                          </a:solidFill>
                        </a:rPr>
                        <a:t>Scale</a:t>
                      </a:r>
                    </a:p>
                  </a:txBody>
                  <a:tcPr>
                    <a:solidFill>
                      <a:srgbClr val="FAFAFA"/>
                    </a:solidFill>
                  </a:tcPr>
                </a:tc>
                <a:tc>
                  <a:txBody>
                    <a:bodyPr/>
                    <a:lstStyle/>
                    <a:p>
                      <a:pPr algn="l"/>
                      <a:r>
                        <a:rPr sz="1200">
                          <a:solidFill>
                            <a:srgbClr val="1F2A37"/>
                          </a:solidFill>
                        </a:rPr>
                        <a:t>Month 3</a:t>
                      </a:r>
                    </a:p>
                  </a:txBody>
                  <a:tcPr>
                    <a:solidFill>
                      <a:srgbClr val="FAFAFA"/>
                    </a:solidFill>
                  </a:tcPr>
                </a:tc>
                <a:tc>
                  <a:txBody>
                    <a:bodyPr/>
                    <a:lstStyle/>
                    <a:p>
                      <a:pPr algn="l"/>
                      <a:r>
                        <a:rPr sz="1200">
                          <a:solidFill>
                            <a:srgbClr val="1F2A37"/>
                          </a:solidFill>
                        </a:rPr>
                        <a:t>Multi-team rollout, Spira integration, exec dashboards</a:t>
                      </a:r>
                    </a:p>
                  </a:txBody>
                  <a:tcPr>
                    <a:solidFill>
                      <a:srgbClr val="FAFAFA"/>
                    </a:solidFill>
                  </a:tcPr>
                </a:tc>
                <a:tc>
                  <a:txBody>
                    <a:bodyPr/>
                    <a:lstStyle/>
                    <a:p>
                      <a:pPr algn="l"/>
                      <a:r>
                        <a:rPr sz="1200">
                          <a:solidFill>
                            <a:srgbClr val="1F2A37"/>
                          </a:solidFill>
                        </a:rPr>
                        <a:t>Planned</a:t>
                      </a:r>
                    </a:p>
                  </a:txBody>
                  <a:tcPr>
                    <a:solidFill>
                      <a:srgbClr val="FAFAFA"/>
                    </a:solidFill>
                  </a:tcPr>
                </a:tc>
              </a:tr>
            </a:tbl>
          </a:graphicData>
        </a:graphic>
      </p:graphicFrame>
      <p:sp>
        <p:nvSpPr>
          <p:cNvPr id="6" name="Rectangle 5"/>
          <p:cNvSpPr/>
          <p:nvPr/>
        </p:nvSpPr>
        <p:spPr>
          <a:xfrm>
            <a:off x="0" y="6492240"/>
            <a:ext cx="12188952" cy="36576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8229600" cy="274320"/>
          </a:xfrm>
          <a:prstGeom prst="rect">
            <a:avLst/>
          </a:prstGeom>
          <a:noFill/>
        </p:spPr>
        <p:txBody>
          <a:bodyPr wrap="square">
            <a:spAutoFit/>
          </a:bodyPr>
          <a:lstStyle/>
          <a:p>
            <a:pPr algn="l"/>
            <a:r>
              <a:rPr sz="900" b="0" i="0">
                <a:solidFill>
                  <a:srgbClr val="4B5563"/>
                </a:solidFill>
              </a:rPr>
              <a:t>SAGE[ai] — Open Source (MIT) | github.com/Sumanharapanahalli/sage | March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0"/>
            <a:ext cx="12188952" cy="132588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31520"/>
          </a:xfrm>
          <a:prstGeom prst="rect">
            <a:avLst/>
          </a:prstGeom>
          <a:noFill/>
        </p:spPr>
        <p:txBody>
          <a:bodyPr wrap="square">
            <a:spAutoFit/>
          </a:bodyPr>
          <a:lstStyle/>
          <a:p>
            <a:pPr algn="l"/>
            <a:r>
              <a:rPr sz="3000" b="1" i="0">
                <a:solidFill>
                  <a:srgbClr val="FFFFFF"/>
                </a:solidFill>
              </a:rPr>
              <a:t>Next Steps: 3-Month Pilot Proposal</a:t>
            </a:r>
          </a:p>
        </p:txBody>
      </p:sp>
      <p:sp>
        <p:nvSpPr>
          <p:cNvPr id="4" name="TextBox 3"/>
          <p:cNvSpPr txBox="1"/>
          <p:nvPr/>
        </p:nvSpPr>
        <p:spPr>
          <a:xfrm>
            <a:off x="411480" y="804672"/>
            <a:ext cx="11338560" cy="438912"/>
          </a:xfrm>
          <a:prstGeom prst="rect">
            <a:avLst/>
          </a:prstGeom>
          <a:noFill/>
        </p:spPr>
        <p:txBody>
          <a:bodyPr wrap="square">
            <a:spAutoFit/>
          </a:bodyPr>
          <a:lstStyle/>
          <a:p>
            <a:pPr algn="l"/>
            <a:r>
              <a:rPr sz="1600" b="0" i="0">
                <a:solidFill>
                  <a:srgbClr val="047857"/>
                </a:solidFill>
              </a:rPr>
              <a:t>What we need vs what you get</a:t>
            </a:r>
          </a:p>
        </p:txBody>
      </p:sp>
      <p:sp>
        <p:nvSpPr>
          <p:cNvPr id="5" name="TextBox 4"/>
          <p:cNvSpPr txBox="1"/>
          <p:nvPr/>
        </p:nvSpPr>
        <p:spPr>
          <a:xfrm>
            <a:off x="457200" y="1508760"/>
            <a:ext cx="5486400" cy="411480"/>
          </a:xfrm>
          <a:prstGeom prst="rect">
            <a:avLst/>
          </a:prstGeom>
          <a:noFill/>
        </p:spPr>
        <p:txBody>
          <a:bodyPr wrap="square">
            <a:spAutoFit/>
          </a:bodyPr>
          <a:lstStyle/>
          <a:p>
            <a:pPr algn="l"/>
            <a:r>
              <a:rPr sz="1600" b="1" i="0">
                <a:solidFill>
                  <a:srgbClr val="10B981"/>
                </a:solidFill>
              </a:rPr>
              <a:t>What We Need</a:t>
            </a:r>
          </a:p>
        </p:txBody>
      </p:sp>
      <p:sp>
        <p:nvSpPr>
          <p:cNvPr id="6" name="TextBox 5"/>
          <p:cNvSpPr txBox="1"/>
          <p:nvPr/>
        </p:nvSpPr>
        <p:spPr>
          <a:xfrm>
            <a:off x="640080" y="1965960"/>
            <a:ext cx="5303520" cy="384048"/>
          </a:xfrm>
          <a:prstGeom prst="rect">
            <a:avLst/>
          </a:prstGeom>
          <a:noFill/>
        </p:spPr>
        <p:txBody>
          <a:bodyPr wrap="square">
            <a:spAutoFit/>
          </a:bodyPr>
          <a:lstStyle/>
          <a:p>
            <a:pPr algn="l"/>
            <a:r>
              <a:rPr sz="1300" b="0" i="0">
                <a:solidFill>
                  <a:srgbClr val="1F2A37"/>
                </a:solidFill>
              </a:rPr>
              <a:t>Production deployment approval (internal network)</a:t>
            </a:r>
          </a:p>
        </p:txBody>
      </p:sp>
      <p:sp>
        <p:nvSpPr>
          <p:cNvPr id="7" name="TextBox 6"/>
          <p:cNvSpPr txBox="1"/>
          <p:nvPr/>
        </p:nvSpPr>
        <p:spPr>
          <a:xfrm>
            <a:off x="640080" y="2404872"/>
            <a:ext cx="5303520" cy="384048"/>
          </a:xfrm>
          <a:prstGeom prst="rect">
            <a:avLst/>
          </a:prstGeom>
          <a:noFill/>
        </p:spPr>
        <p:txBody>
          <a:bodyPr wrap="square">
            <a:spAutoFit/>
          </a:bodyPr>
          <a:lstStyle/>
          <a:p>
            <a:pPr algn="l"/>
            <a:r>
              <a:rPr sz="1300" b="0" i="0">
                <a:solidFill>
                  <a:srgbClr val="1F2A37"/>
                </a:solidFill>
              </a:rPr>
              <a:t>2-day engineering team training session</a:t>
            </a:r>
          </a:p>
        </p:txBody>
      </p:sp>
      <p:sp>
        <p:nvSpPr>
          <p:cNvPr id="8" name="TextBox 7"/>
          <p:cNvSpPr txBox="1"/>
          <p:nvPr/>
        </p:nvSpPr>
        <p:spPr>
          <a:xfrm>
            <a:off x="640080" y="2843784"/>
            <a:ext cx="5303520" cy="384048"/>
          </a:xfrm>
          <a:prstGeom prst="rect">
            <a:avLst/>
          </a:prstGeom>
          <a:noFill/>
        </p:spPr>
        <p:txBody>
          <a:bodyPr wrap="square">
            <a:spAutoFit/>
          </a:bodyPr>
          <a:lstStyle/>
          <a:p>
            <a:pPr algn="l"/>
            <a:r>
              <a:rPr sz="1300" b="0" i="0">
                <a:solidFill>
                  <a:srgbClr val="1F2A37"/>
                </a:solidFill>
              </a:rPr>
              <a:t>Access to GitLab, Metabase, Teams API credentials</a:t>
            </a:r>
          </a:p>
        </p:txBody>
      </p:sp>
      <p:sp>
        <p:nvSpPr>
          <p:cNvPr id="9" name="TextBox 8"/>
          <p:cNvSpPr txBox="1"/>
          <p:nvPr/>
        </p:nvSpPr>
        <p:spPr>
          <a:xfrm>
            <a:off x="640080" y="3282696"/>
            <a:ext cx="5303520" cy="384048"/>
          </a:xfrm>
          <a:prstGeom prst="rect">
            <a:avLst/>
          </a:prstGeom>
          <a:noFill/>
        </p:spPr>
        <p:txBody>
          <a:bodyPr wrap="square">
            <a:spAutoFit/>
          </a:bodyPr>
          <a:lstStyle/>
          <a:p>
            <a:pPr algn="l"/>
            <a:r>
              <a:rPr sz="1300" b="0" i="0">
                <a:solidFill>
                  <a:srgbClr val="1F2A37"/>
                </a:solidFill>
              </a:rPr>
              <a:t>Dedicated server or VM  (8-core CPU · 32 GB RAM · optional GPU)</a:t>
            </a:r>
          </a:p>
        </p:txBody>
      </p:sp>
      <p:sp>
        <p:nvSpPr>
          <p:cNvPr id="10" name="TextBox 9"/>
          <p:cNvSpPr txBox="1"/>
          <p:nvPr/>
        </p:nvSpPr>
        <p:spPr>
          <a:xfrm>
            <a:off x="6309360" y="1508760"/>
            <a:ext cx="5486400" cy="411480"/>
          </a:xfrm>
          <a:prstGeom prst="rect">
            <a:avLst/>
          </a:prstGeom>
          <a:noFill/>
        </p:spPr>
        <p:txBody>
          <a:bodyPr wrap="square">
            <a:spAutoFit/>
          </a:bodyPr>
          <a:lstStyle/>
          <a:p>
            <a:pPr algn="l"/>
            <a:r>
              <a:rPr sz="1600" b="1" i="0">
                <a:solidFill>
                  <a:srgbClr val="10B981"/>
                </a:solidFill>
              </a:rPr>
              <a:t>What You Get</a:t>
            </a:r>
          </a:p>
        </p:txBody>
      </p:sp>
      <p:sp>
        <p:nvSpPr>
          <p:cNvPr id="11" name="TextBox 10"/>
          <p:cNvSpPr txBox="1"/>
          <p:nvPr/>
        </p:nvSpPr>
        <p:spPr>
          <a:xfrm>
            <a:off x="6492240" y="1965960"/>
            <a:ext cx="5303520" cy="384048"/>
          </a:xfrm>
          <a:prstGeom prst="rect">
            <a:avLst/>
          </a:prstGeom>
          <a:noFill/>
        </p:spPr>
        <p:txBody>
          <a:bodyPr wrap="square">
            <a:spAutoFit/>
          </a:bodyPr>
          <a:lstStyle/>
          <a:p>
            <a:pPr algn="l"/>
            <a:r>
              <a:rPr sz="1300" b="0" i="0">
                <a:solidFill>
                  <a:srgbClr val="1F2A37"/>
                </a:solidFill>
              </a:rPr>
              <a:t>KPI dashboard operational by Week 2</a:t>
            </a:r>
          </a:p>
        </p:txBody>
      </p:sp>
      <p:sp>
        <p:nvSpPr>
          <p:cNvPr id="12" name="TextBox 11"/>
          <p:cNvSpPr txBox="1"/>
          <p:nvPr/>
        </p:nvSpPr>
        <p:spPr>
          <a:xfrm>
            <a:off x="6492240" y="2404872"/>
            <a:ext cx="5303520" cy="384048"/>
          </a:xfrm>
          <a:prstGeom prst="rect">
            <a:avLst/>
          </a:prstGeom>
          <a:noFill/>
        </p:spPr>
        <p:txBody>
          <a:bodyPr wrap="square">
            <a:spAutoFit/>
          </a:bodyPr>
          <a:lstStyle/>
          <a:p>
            <a:pPr algn="l"/>
            <a:r>
              <a:rPr sz="1300" b="0" i="0">
                <a:solidFill>
                  <a:srgbClr val="1F2A37"/>
                </a:solidFill>
              </a:rPr>
              <a:t>60+ hours/week reclaimed from manual work</a:t>
            </a:r>
          </a:p>
        </p:txBody>
      </p:sp>
      <p:sp>
        <p:nvSpPr>
          <p:cNvPr id="13" name="TextBox 12"/>
          <p:cNvSpPr txBox="1"/>
          <p:nvPr/>
        </p:nvSpPr>
        <p:spPr>
          <a:xfrm>
            <a:off x="6492240" y="2843784"/>
            <a:ext cx="5303520" cy="384048"/>
          </a:xfrm>
          <a:prstGeom prst="rect">
            <a:avLst/>
          </a:prstGeom>
          <a:noFill/>
        </p:spPr>
        <p:txBody>
          <a:bodyPr wrap="square">
            <a:spAutoFit/>
          </a:bodyPr>
          <a:lstStyle/>
          <a:p>
            <a:pPr algn="l"/>
            <a:r>
              <a:rPr sz="1300" b="0" i="0">
                <a:solidFill>
                  <a:srgbClr val="1F2A37"/>
                </a:solidFill>
              </a:rPr>
              <a:t>ISO 13485 audit trail from day 1</a:t>
            </a:r>
          </a:p>
        </p:txBody>
      </p:sp>
      <p:sp>
        <p:nvSpPr>
          <p:cNvPr id="14" name="TextBox 13"/>
          <p:cNvSpPr txBox="1"/>
          <p:nvPr/>
        </p:nvSpPr>
        <p:spPr>
          <a:xfrm>
            <a:off x="6492240" y="3282696"/>
            <a:ext cx="5303520" cy="384048"/>
          </a:xfrm>
          <a:prstGeom prst="rect">
            <a:avLst/>
          </a:prstGeom>
          <a:noFill/>
        </p:spPr>
        <p:txBody>
          <a:bodyPr wrap="square">
            <a:spAutoFit/>
          </a:bodyPr>
          <a:lstStyle/>
          <a:p>
            <a:pPr algn="l"/>
            <a:r>
              <a:rPr sz="1300" b="0" i="0">
                <a:solidFill>
                  <a:srgbClr val="1F2A37"/>
                </a:solidFill>
              </a:rPr>
              <a:t>AI that learns from your engineers' expertise</a:t>
            </a:r>
          </a:p>
        </p:txBody>
      </p:sp>
      <p:sp>
        <p:nvSpPr>
          <p:cNvPr id="15" name="TextBox 14"/>
          <p:cNvSpPr txBox="1"/>
          <p:nvPr/>
        </p:nvSpPr>
        <p:spPr>
          <a:xfrm>
            <a:off x="6492240" y="3721608"/>
            <a:ext cx="5303520" cy="384048"/>
          </a:xfrm>
          <a:prstGeom prst="rect">
            <a:avLst/>
          </a:prstGeom>
          <a:noFill/>
        </p:spPr>
        <p:txBody>
          <a:bodyPr wrap="square">
            <a:spAutoFit/>
          </a:bodyPr>
          <a:lstStyle/>
          <a:p>
            <a:pPr algn="l"/>
            <a:r>
              <a:rPr sz="1300" b="0" i="0">
                <a:solidFill>
                  <a:srgbClr val="1F2A37"/>
                </a:solidFill>
              </a:rPr>
              <a:t>ROI positive within 2 months*</a:t>
            </a:r>
          </a:p>
        </p:txBody>
      </p:sp>
      <p:sp>
        <p:nvSpPr>
          <p:cNvPr id="16" name="Rectangle 15"/>
          <p:cNvSpPr/>
          <p:nvPr/>
        </p:nvSpPr>
        <p:spPr>
          <a:xfrm>
            <a:off x="6126480" y="1463040"/>
            <a:ext cx="36576" cy="3474720"/>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6492240"/>
            <a:ext cx="12188952" cy="36576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 y="6510528"/>
            <a:ext cx="8229600" cy="274320"/>
          </a:xfrm>
          <a:prstGeom prst="rect">
            <a:avLst/>
          </a:prstGeom>
          <a:noFill/>
        </p:spPr>
        <p:txBody>
          <a:bodyPr wrap="square">
            <a:spAutoFit/>
          </a:bodyPr>
          <a:lstStyle/>
          <a:p>
            <a:pPr algn="l"/>
            <a:r>
              <a:rPr sz="900" b="0" i="0">
                <a:solidFill>
                  <a:srgbClr val="4B5563"/>
                </a:solidFill>
              </a:rPr>
              <a:t>SAGE[ai] — Open Source (MIT) | github.com/Sumanharapanahalli/sage | March 2026</a:t>
            </a:r>
          </a:p>
        </p:txBody>
      </p:sp>
      <p:sp>
        <p:nvSpPr>
          <p:cNvPr id="19" name="Rectangle 18"/>
          <p:cNvSpPr/>
          <p:nvPr/>
        </p:nvSpPr>
        <p:spPr>
          <a:xfrm>
            <a:off x="0" y="5989320"/>
            <a:ext cx="12188952" cy="530352"/>
          </a:xfrm>
          <a:prstGeom prst="rect">
            <a:avLst/>
          </a:prstGeom>
          <a:solidFill>
            <a:srgbClr val="FFF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6007608"/>
            <a:ext cx="11612880" cy="493776"/>
          </a:xfrm>
          <a:prstGeom prst="rect">
            <a:avLst/>
          </a:prstGeom>
          <a:noFill/>
        </p:spPr>
        <p:txBody>
          <a:bodyPr wrap="square">
            <a:spAutoFit/>
          </a:bodyPr>
          <a:lstStyle/>
          <a:p>
            <a:pPr algn="l"/>
            <a:r>
              <a:rPr sz="850" b="0" i="1">
                <a:solidFill>
                  <a:srgbClr val="7B4F00"/>
                </a:solidFill>
              </a:rPr>
              <a:t>IMPORTANT: All financial figures, FTE savings, and ROI estimates on this slide are based on internal assumptions and industry benchmarks. They must be validated and replaced with actual measured data before any business decision is made.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A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08960"/>
            <a:ext cx="12188952" cy="54864"/>
          </a:xfrm>
          <a:prstGeom prst="rect">
            <a:avLst/>
          </a:prstGeom>
          <a:solidFill>
            <a:srgbClr val="0478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10515600" cy="1645920"/>
          </a:xfrm>
          <a:prstGeom prst="rect">
            <a:avLst/>
          </a:prstGeom>
          <a:noFill/>
        </p:spPr>
        <p:txBody>
          <a:bodyPr wrap="square">
            <a:spAutoFit/>
          </a:bodyPr>
          <a:lstStyle/>
          <a:p>
            <a:pPr algn="ctr"/>
            <a:r>
              <a:rPr sz="3000" b="1" i="0">
                <a:solidFill>
                  <a:srgbClr val="FFFFFF"/>
                </a:solidFill>
              </a:rPr>
              <a:t>SAGE[ai] is not a replacement for your engineers
—
it's their most productive teammate.</a:t>
            </a:r>
          </a:p>
        </p:txBody>
      </p:sp>
      <p:sp>
        <p:nvSpPr>
          <p:cNvPr id="5" name="TextBox 4"/>
          <p:cNvSpPr txBox="1"/>
          <p:nvPr/>
        </p:nvSpPr>
        <p:spPr>
          <a:xfrm>
            <a:off x="731520" y="3383280"/>
            <a:ext cx="10515600" cy="594360"/>
          </a:xfrm>
          <a:prstGeom prst="rect">
            <a:avLst/>
          </a:prstGeom>
          <a:noFill/>
        </p:spPr>
        <p:txBody>
          <a:bodyPr wrap="square">
            <a:spAutoFit/>
          </a:bodyPr>
          <a:lstStyle/>
          <a:p>
            <a:pPr algn="ctr"/>
            <a:r>
              <a:rPr sz="2200" b="0" i="0">
                <a:solidFill>
                  <a:srgbClr val="047857"/>
                </a:solidFill>
              </a:rPr>
              <a:t>Open source. Self-hosted. Start today at github.com/Sumanharapanahalli/sage</a:t>
            </a:r>
          </a:p>
        </p:txBody>
      </p:sp>
      <p:sp>
        <p:nvSpPr>
          <p:cNvPr id="6" name="TextBox 5"/>
          <p:cNvSpPr txBox="1"/>
          <p:nvPr/>
        </p:nvSpPr>
        <p:spPr>
          <a:xfrm>
            <a:off x="1371600" y="5486400"/>
            <a:ext cx="9144000" cy="457200"/>
          </a:xfrm>
          <a:prstGeom prst="rect">
            <a:avLst/>
          </a:prstGeom>
          <a:noFill/>
        </p:spPr>
        <p:txBody>
          <a:bodyPr wrap="square">
            <a:spAutoFit/>
          </a:bodyPr>
          <a:lstStyle/>
          <a:p>
            <a:pPr algn="ctr"/>
            <a:r>
              <a:rPr sz="1000" b="0" i="1">
                <a:solidFill>
                  <a:srgbClr val="4B5563"/>
                </a:solidFill>
              </a:rPr>
              <a:t>* All financial estimates are assumption-based. Validate with actual data before business decisions.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