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3AA29-A70A-2997-9E0F-5BDD04C7AD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603" y="1122363"/>
            <a:ext cx="9141619" cy="2387600"/>
          </a:xfrm>
        </p:spPr>
        <p:txBody>
          <a:bodyPr anchor="b"/>
          <a:lstStyle>
            <a:lvl1pPr algn="ctr">
              <a:defRPr sz="5998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EB39A5-1F3A-D3F7-E79E-4DC6C8F036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603" y="3602038"/>
            <a:ext cx="9141619" cy="1655762"/>
          </a:xfrm>
        </p:spPr>
        <p:txBody>
          <a:bodyPr/>
          <a:lstStyle>
            <a:lvl1pPr marL="0" indent="0" algn="ctr">
              <a:buNone/>
              <a:defRPr sz="2399"/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1126BE-3A23-6C67-7983-2018D0821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311E9-4F80-6ECD-885D-280146B75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4B956D-F258-321A-4D11-30E4E3B7D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200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2666B-DA2B-9038-E02A-677ECA70A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2BD2E1-FDE9-D91F-9F26-5A6915E454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D8F47D-1C33-E921-E5AC-FD242F4FD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11968-25AD-90A9-A245-4A1FE5AD7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B67EF-1624-E361-6C34-C1CF0D767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533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2A8DD-CD5E-5985-9DDE-493EB6DA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633" y="1709739"/>
            <a:ext cx="10512862" cy="2852737"/>
          </a:xfrm>
        </p:spPr>
        <p:txBody>
          <a:bodyPr anchor="b"/>
          <a:lstStyle>
            <a:lvl1pPr>
              <a:defRPr sz="5998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56C6B2-56B0-25F0-B1B5-2AEBE54F94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633" y="4589464"/>
            <a:ext cx="10512862" cy="1500187"/>
          </a:xfrm>
        </p:spPr>
        <p:txBody>
          <a:bodyPr/>
          <a:lstStyle>
            <a:lvl1pPr marL="0" indent="0">
              <a:buNone/>
              <a:defRPr sz="2399">
                <a:solidFill>
                  <a:schemeClr val="tx1">
                    <a:tint val="82000"/>
                  </a:schemeClr>
                </a:solidFill>
              </a:defRPr>
            </a:lvl1pPr>
            <a:lvl2pPr marL="457063" indent="0">
              <a:buNone/>
              <a:defRPr sz="1999">
                <a:solidFill>
                  <a:schemeClr val="tx1">
                    <a:tint val="82000"/>
                  </a:schemeClr>
                </a:solidFill>
              </a:defRPr>
            </a:lvl2pPr>
            <a:lvl3pPr marL="914126" indent="0">
              <a:buNone/>
              <a:defRPr sz="1799">
                <a:solidFill>
                  <a:schemeClr val="tx1">
                    <a:tint val="82000"/>
                  </a:schemeClr>
                </a:solidFill>
              </a:defRPr>
            </a:lvl3pPr>
            <a:lvl4pPr marL="137118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2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31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237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199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65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282EFE-0145-5522-3006-648D3F3A9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7FC00-35F5-5FAB-6695-EA757BC87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8A6B1-C4F2-7476-4CCF-D335915F8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155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1F5B4-2E0F-A9EF-4E2A-E63DD6BD3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FF7C5-768E-4B60-B9D1-BDA1798B12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7982" y="1825625"/>
            <a:ext cx="518025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8E2DC4-3BB9-3BBF-CB49-B5A09BEF51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0592" y="1825625"/>
            <a:ext cx="518025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0B512F-367B-D56F-2D9F-C621D6E35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1FA5EA-CC7A-FBC3-1ABB-3A809946D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B35663-7D69-824A-005B-73C8DB3B3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08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61C81-3133-7505-414B-9EFCFC840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569" y="365126"/>
            <a:ext cx="105128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14F589-8ABB-59FA-7B6E-19F7D53409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570" y="1681163"/>
            <a:ext cx="5156444" cy="82391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F3AE70-1E27-C011-DB4D-A5751001F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570" y="2505075"/>
            <a:ext cx="5156444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0FE300-6C98-D390-0874-1014291D3C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593" y="1681163"/>
            <a:ext cx="5181838" cy="82391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95FD63-D6FB-3308-ECA5-7C1DA0E5C7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0593" y="2505075"/>
            <a:ext cx="518183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0AE11C-DD19-4AFE-E4B3-4FFC3D1D2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C53CD1-9C2C-DC5F-24BF-9585DC914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23A8D6-06B1-983B-EA99-F3E1BDC67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857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BB6A9-D076-03EB-FD47-83A9D8AF4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8AE0DE-E6B3-60F1-C280-7B6C0DAD6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2626B7-C346-0678-A64D-92702A1B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4C4190-2953-2414-EC65-22F0FE20E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138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824770-61C2-3874-5694-F6E4D067A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6B4BBE-CF0F-3542-02AB-3D1CDE71A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B8BCD-0789-007F-C523-84DB989A5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519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73DD0-B155-272A-D91F-904B754B4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570" y="457200"/>
            <a:ext cx="3931213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3EF49-E736-B142-5597-38DB3AE4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838" y="987426"/>
            <a:ext cx="6170593" cy="4873625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399"/>
            </a:lvl3pPr>
            <a:lvl4pPr>
              <a:defRPr sz="1999"/>
            </a:lvl4pPr>
            <a:lvl5pPr>
              <a:defRPr sz="1999"/>
            </a:lvl5pPr>
            <a:lvl6pPr>
              <a:defRPr sz="1999"/>
            </a:lvl6pPr>
            <a:lvl7pPr>
              <a:defRPr sz="1999"/>
            </a:lvl7pPr>
            <a:lvl8pPr>
              <a:defRPr sz="1999"/>
            </a:lvl8pPr>
            <a:lvl9pPr>
              <a:defRPr sz="19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DEE09D-931B-27F5-8E3D-A295931CA8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570" y="2057400"/>
            <a:ext cx="393121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BDE0AC-3D37-4916-4196-AFA424192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9A19A7-DBAD-AB1C-DDE5-6666BFE07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480253-C00B-7C8B-3004-A3FACA424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337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B6B89-B29B-AC21-E796-282E90590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570" y="457200"/>
            <a:ext cx="3931213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AF9D9B-3D7B-46B4-78ED-1AF23FD951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1838" y="987426"/>
            <a:ext cx="6170593" cy="4873625"/>
          </a:xfrm>
        </p:spPr>
        <p:txBody>
          <a:bodyPr/>
          <a:lstStyle>
            <a:lvl1pPr marL="0" indent="0">
              <a:buNone/>
              <a:defRPr sz="3199"/>
            </a:lvl1pPr>
            <a:lvl2pPr marL="457063" indent="0">
              <a:buNone/>
              <a:defRPr sz="2799"/>
            </a:lvl2pPr>
            <a:lvl3pPr marL="914126" indent="0">
              <a:buNone/>
              <a:defRPr sz="2399"/>
            </a:lvl3pPr>
            <a:lvl4pPr marL="1371189" indent="0">
              <a:buNone/>
              <a:defRPr sz="1999"/>
            </a:lvl4pPr>
            <a:lvl5pPr marL="1828251" indent="0">
              <a:buNone/>
              <a:defRPr sz="1999"/>
            </a:lvl5pPr>
            <a:lvl6pPr marL="2285314" indent="0">
              <a:buNone/>
              <a:defRPr sz="1999"/>
            </a:lvl6pPr>
            <a:lvl7pPr marL="2742377" indent="0">
              <a:buNone/>
              <a:defRPr sz="1999"/>
            </a:lvl7pPr>
            <a:lvl8pPr marL="3199440" indent="0">
              <a:buNone/>
              <a:defRPr sz="1999"/>
            </a:lvl8pPr>
            <a:lvl9pPr marL="3656503" indent="0">
              <a:buNone/>
              <a:defRPr sz="1999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2042EF-ECA8-A86A-4796-FDA3D98E9C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570" y="2057400"/>
            <a:ext cx="393121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CE3FED-0085-32AD-044F-98F8597E2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8B3AF9-1009-422B-80B2-6F21BE5F3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8A23AA-A015-4DDA-900F-BFDCF8963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44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B9CF0-045E-9C04-AEE8-F653B60EA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4A8FAC-F63F-FD4D-E563-DE33C866FD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DAFBD-51D8-D27C-3862-9B75E234E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DA9C2F-A885-7969-B4F1-D40D116E1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0A7A8C-B696-70E2-8D48-8C8FB4684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626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08737C-8C2B-FA81-6540-ABA30DAF82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2628" y="365125"/>
            <a:ext cx="262821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C2A6EE-03BC-72C4-6433-36D61BCA6C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7982" y="365125"/>
            <a:ext cx="7732286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FDF384-23FA-A6FC-84ED-4CE948587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96CC1-85D8-95BB-8816-F6AF5537A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491FF2-3DD5-533F-3A72-8D57A279E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802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5A4F20-3538-057F-9927-BA187ED37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982" y="365126"/>
            <a:ext cx="105128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E3827-543B-8C33-0D32-4063FECF5A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7982" y="1825625"/>
            <a:ext cx="105128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90C4E-AAAB-716F-A9D6-F5C43B2A3E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7982" y="6356351"/>
            <a:ext cx="274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3E0F6B-DF69-E0CD-9921-2767C3C8AD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7549" y="6356351"/>
            <a:ext cx="4113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10BB26-FD64-63BE-8CFC-101A1FDBD9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08357" y="6356351"/>
            <a:ext cx="274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417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126" rtl="0" eaLnBrk="1" latinLnBrk="0" hangingPunct="1">
        <a:lnSpc>
          <a:spcPct val="90000"/>
        </a:lnSpc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59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vidia.com/en-us/products/workstations/dgx-spark/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828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046720" y="182880"/>
            <a:ext cx="4142232" cy="6400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6574" y="303074"/>
            <a:ext cx="7808706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5200" b="1" dirty="0">
                <a:solidFill>
                  <a:srgbClr val="16A34A"/>
                </a:solidFill>
                <a:latin typeface="Calibri"/>
              </a:rPr>
              <a:t>Smart Agentic-Guided Empowerment</a:t>
            </a:r>
          </a:p>
          <a:p>
            <a:pPr algn="ctr"/>
            <a:r>
              <a:rPr lang="en-IE" sz="5200" b="1" dirty="0">
                <a:solidFill>
                  <a:srgbClr val="16A34A"/>
                </a:solidFill>
                <a:latin typeface="Calibri"/>
              </a:rPr>
              <a:t>[SAGE]</a:t>
            </a:r>
            <a:endParaRPr sz="5200" b="1" dirty="0">
              <a:solidFill>
                <a:srgbClr val="16A34A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7132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374151"/>
                </a:solidFill>
                <a:latin typeface="Calibri"/>
              </a:rPr>
              <a:t>Transforming Medical Device Production with Agentic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069080"/>
            <a:ext cx="3657600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0" y="128016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4532D"/>
                </a:solidFill>
                <a:latin typeface="Calibri"/>
              </a:rPr>
              <a:t>ISO 13485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64207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2937"/>
                </a:solidFill>
                <a:latin typeface="Calibri"/>
              </a:rPr>
              <a:t>Compliant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048255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0" y="243230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4532D"/>
                </a:solidFill>
                <a:latin typeface="Calibri"/>
              </a:rPr>
              <a:t>Agentic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8163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2937"/>
                </a:solidFill>
                <a:latin typeface="Calibri"/>
              </a:rPr>
              <a:t>for MedTech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2004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0" y="358444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4532D"/>
                </a:solidFill>
                <a:latin typeface="Calibri"/>
              </a:rPr>
              <a:t>Human-in-the-Loop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96849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F2937"/>
                </a:solidFill>
                <a:latin typeface="Calibri"/>
              </a:rPr>
              <a:t>Architecture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6492240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CONFIDENTIAL — Internal Business Case |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Current State: Manual Bottlenecks at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1274552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94944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800" dirty="0">
                <a:solidFill>
                  <a:srgbClr val="1F2937"/>
                </a:solidFill>
                <a:latin typeface="Calibri"/>
              </a:rPr>
              <a:t>45–60 min per error log analysis (manual)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800" dirty="0">
                <a:solidFill>
                  <a:srgbClr val="1F2937"/>
                </a:solidFill>
                <a:latin typeface="Calibri"/>
              </a:rPr>
              <a:t>3–5 day MR review backlog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800" dirty="0">
                <a:solidFill>
                  <a:srgbClr val="1F2937"/>
                </a:solidFill>
                <a:latin typeface="Calibri"/>
              </a:rPr>
              <a:t>8+ hours/week compliance reporting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800" dirty="0">
                <a:solidFill>
                  <a:srgbClr val="1F2937"/>
                </a:solidFill>
                <a:latin typeface="Calibri"/>
              </a:rPr>
              <a:t>Expert knowledge lost when engineers leave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800" dirty="0">
                <a:solidFill>
                  <a:srgbClr val="1F2937"/>
                </a:solidFill>
                <a:latin typeface="Calibri"/>
              </a:rPr>
              <a:t>Error detection relies on human vigilance 24/7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463040"/>
            <a:ext cx="3931920" cy="292608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182880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16A34A"/>
                </a:solidFill>
                <a:latin typeface="Calibri"/>
              </a:rPr>
              <a:t>68 hrs/week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8346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of preventable
manual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36118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9E0B"/>
                </a:solidFill>
                <a:latin typeface="Calibri"/>
              </a:rPr>
              <a:t>every single week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" y="658368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CONFIDENTIAL — Sage[ai] Business Case |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Sage[ai]: Always-On AI Engineering Partner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1274552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4552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800" dirty="0">
                <a:solidFill>
                  <a:srgbClr val="1F2937"/>
                </a:solidFill>
                <a:latin typeface="Calibri"/>
              </a:rPr>
              <a:t>  Analyzes error logs in &lt;60 seconds (vs 45–60 min manual)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800" dirty="0">
                <a:solidFill>
                  <a:srgbClr val="1F2937"/>
                </a:solidFill>
                <a:latin typeface="Calibri"/>
              </a:rPr>
              <a:t>  AI code reviews with multi-step reasoning (</a:t>
            </a:r>
            <a:r>
              <a:rPr sz="1800" dirty="0" err="1">
                <a:solidFill>
                  <a:srgbClr val="1F2937"/>
                </a:solidFill>
                <a:latin typeface="Calibri"/>
              </a:rPr>
              <a:t>ReAct</a:t>
            </a:r>
            <a:r>
              <a:rPr sz="1800" dirty="0">
                <a:solidFill>
                  <a:srgbClr val="1F2937"/>
                </a:solidFill>
                <a:latin typeface="Calibri"/>
              </a:rPr>
              <a:t> loop)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800" dirty="0">
                <a:solidFill>
                  <a:srgbClr val="1F2937"/>
                </a:solidFill>
                <a:latin typeface="Calibri"/>
              </a:rPr>
              <a:t>  Monitors Teams, </a:t>
            </a:r>
            <a:r>
              <a:rPr sz="1800" dirty="0" err="1">
                <a:solidFill>
                  <a:srgbClr val="1F2937"/>
                </a:solidFill>
                <a:latin typeface="Calibri"/>
              </a:rPr>
              <a:t>Metabase</a:t>
            </a:r>
            <a:r>
              <a:rPr sz="1800" dirty="0">
                <a:solidFill>
                  <a:srgbClr val="1F2937"/>
                </a:solidFill>
                <a:latin typeface="Calibri"/>
              </a:rPr>
              <a:t>, GitLab — detects events in real-time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800" dirty="0">
                <a:solidFill>
                  <a:srgbClr val="1F2937"/>
                </a:solidFill>
                <a:latin typeface="Calibri"/>
              </a:rPr>
              <a:t>  Every decision logged to immutable ISO 13485 audit trail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800" dirty="0">
                <a:solidFill>
                  <a:srgbClr val="1F2937"/>
                </a:solidFill>
                <a:latin typeface="Calibri"/>
              </a:rPr>
              <a:t>  Human-in-the-loop: AI advises, humans decide — always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800" dirty="0">
                <a:solidFill>
                  <a:srgbClr val="1F2937"/>
                </a:solidFill>
                <a:latin typeface="Calibri"/>
              </a:rPr>
              <a:t>  Learns from every correction via vector memory (RAG)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800" dirty="0">
                <a:solidFill>
                  <a:srgbClr val="1F2937"/>
                </a:solidFill>
                <a:latin typeface="Calibri"/>
              </a:rPr>
              <a:t>  Web dashboard for all stakeholders — no CLI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CONFIDENTIAL — Sage[ai] Business Case | March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Companies Already Winning with Agentic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1274552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836308"/>
              </p:ext>
            </p:extLst>
          </p:nvPr>
        </p:nvGraphicFramePr>
        <p:xfrm>
          <a:off x="457200" y="914400"/>
          <a:ext cx="11064240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94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Company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Implementation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94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Medtronic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AI in quality management system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2937"/>
                          </a:solidFill>
                          <a:latin typeface="Calibri"/>
                        </a:rPr>
                        <a:t>35% shorter CAPA cycle, faster FDA submissions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94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Stryker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AI regulatory documentation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40% reduction in submission preparation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994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J&amp;J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AI manufacturing analytics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F2937"/>
                          </a:solidFill>
                          <a:latin typeface="Calibri"/>
                        </a:rPr>
                        <a:t>20% yield improvement, significant waste reduction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CONFIDENTIAL — Sage[ai] Business Case | March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Sage[ai] Is Built on Lean Principles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1274552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14400"/>
          <a:ext cx="11274552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597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5764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Lean Principle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Sage[ai] Delivers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764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Eliminate Waste (Muda)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Removes 60+ hrs/week of repetitive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764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Continuous Improvement (Kaizen)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Learns from every rejection via RAG memory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764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Error-Proofing (Poka-yoke)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Human-in-the-loop prevents AI errors reaching 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764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Visual Management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Real-time dashboard for all stakeholders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764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Single Piece 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Single-lane task queue: deterministic, auditable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5765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Respect for People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Amplifies engineers; never replaces human judgment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CONFIDENTIAL — Sage[ai] Business Case | March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Return on Investment: Month 2 Payback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1274552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14400"/>
          <a:ext cx="1109167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877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Activity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Before Sage[ai]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After Sage[ai]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Savings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Error log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45 min × 10/day × 2 eng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= 15 hrs/day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&lt;5 min 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93% reduction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MR code review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3 hrs × 15 MRs/week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= 45 hrs/week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~4 hrs/week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91% reduction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Compliance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8 hrs/week manual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0 hrs (auto-generated)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100% reduction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Knowledge capture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Lost on attrition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Stored in vector memory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Permanent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TOTAL SAVINGS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68 hrs/week ≈ 1.7 FTE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~€120K/year (1 FTE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715000"/>
            <a:ext cx="11274552" cy="59436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5742432"/>
            <a:ext cx="110916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IE" sz="1800" b="1" i="0" dirty="0">
                <a:solidFill>
                  <a:srgbClr val="14532D"/>
                </a:solidFill>
                <a:latin typeface="Calibri"/>
              </a:rPr>
              <a:t>All data shared here based on assumptions only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IE" sz="1800" b="1" i="0" dirty="0">
                <a:solidFill>
                  <a:srgbClr val="14532D"/>
                </a:solidFill>
                <a:latin typeface="Calibri"/>
              </a:rPr>
              <a:t>Conservative estimate: break-even in under 2 months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58368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CONFIDENTIAL — Sage[ai] Business Case | March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Simple, Auditable, Secure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1274552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1645920" cy="109728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14300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Teams /
Metabase /
GitLab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143000"/>
            <a:ext cx="1645920" cy="109728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86000" y="114300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Monitor
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143000"/>
            <a:ext cx="1645920" cy="109728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0" y="114300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Task
Queue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43000"/>
            <a:ext cx="1645920" cy="109728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14300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Analyst /
Developer
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1143000"/>
            <a:ext cx="1645920" cy="109728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114300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Human
Gate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32720" y="1143000"/>
            <a:ext cx="1645920" cy="109728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332720" y="114300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Audit
Trail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14173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6A34A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14173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6A34A"/>
                </a:solidFill>
                <a:latin typeface="Calibr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14173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6A34A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14173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6A34A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14173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6A34A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468880"/>
            <a:ext cx="3657600" cy="356616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25420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A34A"/>
                </a:solidFill>
                <a:latin typeface="Calibri"/>
              </a:rPr>
              <a:t>Event Sources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44368"/>
            <a:ext cx="3474720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2999232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  <a:latin typeface="Calibri"/>
              </a:rPr>
              <a:t>• Teams channels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  <a:latin typeface="Calibri"/>
              </a:rPr>
              <a:t>• Metabase dashboards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  <a:latin typeface="Calibri"/>
              </a:rPr>
              <a:t>• GitLab issues &amp; MRs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  <a:latin typeface="Calibri"/>
              </a:rPr>
              <a:t>• Error log uploads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69080" y="2468880"/>
            <a:ext cx="3657600" cy="356616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60520" y="25420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A34A"/>
                </a:solidFill>
                <a:latin typeface="Calibri"/>
              </a:rPr>
              <a:t>AI Agents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2944368"/>
            <a:ext cx="3474720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60520" y="2999232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  <a:latin typeface="Calibri"/>
              </a:rPr>
              <a:t>• AnalystAgent (log analysis)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  <a:latin typeface="Calibri"/>
              </a:rPr>
              <a:t>• DeveloperAgent (code review + MR creation)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  <a:latin typeface="Calibri"/>
              </a:rPr>
              <a:t>• PlannerAgent (orchestration)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  <a:latin typeface="Calibri"/>
              </a:rPr>
              <a:t>• ReAct multi-step reasoning loop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468880"/>
            <a:ext cx="3657600" cy="356616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55280" y="25420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A34A"/>
                </a:solidFill>
                <a:latin typeface="Calibri"/>
              </a:rPr>
              <a:t>Compliance Layer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80" y="2944368"/>
            <a:ext cx="3474720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955280" y="2999232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  <a:latin typeface="Calibri"/>
              </a:rPr>
              <a:t>• Immutable SQLite audit log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  <a:latin typeface="Calibri"/>
              </a:rPr>
              <a:t>• ISO 13485 trace IDs on every decision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  <a:latin typeface="Calibri"/>
              </a:rPr>
              <a:t>• FDA 21 CFR Part 11 records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1F2937"/>
                </a:solidFill>
                <a:latin typeface="Calibri"/>
              </a:rPr>
              <a:t>• Human approval gate on every proposal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4320" y="658368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CONFIDENTIAL — Sage[ai] Business Case |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45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1F2937"/>
                </a:solidFill>
                <a:latin typeface="Calibri"/>
              </a:rPr>
              <a:t>What Sage[ai] </a:t>
            </a:r>
            <a:r>
              <a:rPr lang="en-IE" sz="2800" b="1" i="0" dirty="0">
                <a:solidFill>
                  <a:srgbClr val="1F2937"/>
                </a:solidFill>
                <a:latin typeface="Calibri"/>
              </a:rPr>
              <a:t>targeted to d</a:t>
            </a:r>
            <a:r>
              <a:rPr sz="2800" b="1" i="0" dirty="0">
                <a:solidFill>
                  <a:srgbClr val="1F2937"/>
                </a:solidFill>
                <a:latin typeface="Calibri"/>
              </a:rPr>
              <a:t>o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1274552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474720" cy="23774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3474720" cy="640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F2937"/>
                </a:solidFill>
                <a:latin typeface="Calibri"/>
              </a:rPr>
              <a:t>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143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6A34A"/>
                </a:solidFill>
                <a:latin typeface="Calibri"/>
              </a:rPr>
              <a:t>Log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AI triage in &lt;60s
Severity: RED / AMBER / 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005840"/>
            <a:ext cx="3474720" cy="23774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60520" y="1005840"/>
            <a:ext cx="3474720" cy="640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80" y="111556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F2937"/>
                </a:solidFill>
                <a:latin typeface="Calibri"/>
              </a:rPr>
              <a:t>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143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6A34A"/>
                </a:solidFill>
                <a:latin typeface="Calibri"/>
              </a:rPr>
              <a:t>Code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69164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ReAct multi-step reasoning
+ pipeline check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9" y="1005840"/>
            <a:ext cx="3474720" cy="23774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55279" y="1005840"/>
            <a:ext cx="3474720" cy="640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39" y="111556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F2937"/>
                </a:solidFill>
                <a:latin typeface="Calibri"/>
              </a:rPr>
              <a:t>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19" y="1143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6A34A"/>
                </a:solidFill>
                <a:latin typeface="Calibri"/>
              </a:rPr>
              <a:t>MR Creation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39" y="169164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Auto-draft from GitLab issue
Branch naming included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57600"/>
            <a:ext cx="3474720" cy="23774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3657600"/>
            <a:ext cx="3474720" cy="640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76732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F2937"/>
                </a:solidFill>
                <a:latin typeface="Calibri"/>
              </a:rPr>
              <a:t>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794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6A34A"/>
                </a:solidFill>
                <a:latin typeface="Calibri"/>
              </a:rPr>
              <a:t>24/7 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34340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Teams, Metabase, GitLab
event detection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3657600"/>
            <a:ext cx="3474720" cy="23774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160520" y="3657600"/>
            <a:ext cx="3474720" cy="640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297680" y="376732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F2937"/>
                </a:solidFill>
                <a:latin typeface="Calibri"/>
              </a:rP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3794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6A34A"/>
                </a:solidFill>
                <a:latin typeface="Calibri"/>
              </a:rPr>
              <a:t>Audit Trail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34340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Every decision traceable
ISO 13485 compliant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3657600"/>
            <a:ext cx="3474720" cy="23774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955279" y="3657600"/>
            <a:ext cx="3474720" cy="640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92439" y="376732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F2937"/>
                </a:solidFill>
                <a:latin typeface="Calibri"/>
              </a:rPr>
              <a:t>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19" y="3794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6A34A"/>
                </a:solidFill>
                <a:latin typeface="Calibri"/>
              </a:rPr>
              <a:t>Web Dashboard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39" y="434340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No CLI needed
Dashboard, Analyst, Developer, Audit, Monitor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4320" y="658368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CONFIDENTIAL — Sage[ai] Business Case |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Built for Regulated Medical Device Environments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1274552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394960" cy="539496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6A34A"/>
                </a:solidFill>
                <a:latin typeface="Calibri"/>
              </a:rPr>
              <a:t>Standards Met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212080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212080" cy="15773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1F2937"/>
                </a:solidFill>
                <a:latin typeface="Calibri"/>
              </a:rPr>
              <a:t>ISO 13485:2016 — Quality Management System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1F2937"/>
                </a:solidFill>
                <a:latin typeface="Calibri"/>
              </a:rPr>
              <a:t>ISO 14971:2019 — Risk Management(7 risks identified + controlled)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1F2937"/>
                </a:solidFill>
                <a:latin typeface="Calibri"/>
              </a:rPr>
              <a:t>IEC 62304:2006 — Medical Device Software Lifecycle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1F2937"/>
                </a:solidFill>
                <a:latin typeface="Calibri"/>
              </a:rPr>
              <a:t>FDA 21 CFR Part 11 — Electronic Records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1F2937"/>
                </a:solidFill>
                <a:latin typeface="Calibri"/>
              </a:rPr>
              <a:t>FDA Cybersecurity Guidance 2023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09360" y="10058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6A34A"/>
                </a:solidFill>
                <a:latin typeface="Calibri"/>
              </a:rPr>
              <a:t>How We Comply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63040"/>
            <a:ext cx="5394960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50876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 Immutable append-only audit log
   (no deletes, ever)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 UUID trace ID on every AI decision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 Human approval gate on every proposal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 Full DHF: SRS, RTM, V&amp;V Plan,
   SOUP Inventory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•  Air-gapped LLM option
   (no cloud dependency)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20" y="658368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CONFIDENTIAL — Sage[ai] Business Case | March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Sage[ai] Gets Better Every Day — From Your Own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1274552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3474720" cy="3291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USER SUBMITS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FFFFF"/>
                </a:solidFill>
                <a:latin typeface="Calibri"/>
              </a:rPr>
              <a:t>💡 Click 'Request Improvement'
on any module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051560"/>
            <a:ext cx="3474720" cy="329184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51960" y="109728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6A34A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7830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AI PLANS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42316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Planner Agent decomposes
into subtasks, queued
for implementation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1051560"/>
            <a:ext cx="3474720" cy="329184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0" y="109728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6A34A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17830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IMPLEMENTED &amp; LEARNED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42316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Change deployed;
RAG memory updated
with new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2286000"/>
            <a:ext cx="411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6A34A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2286000"/>
            <a:ext cx="411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6A34A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74552" cy="86868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61772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During development: open access for all engineers.
Post-release: role-based access control (admin approval required).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5321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6A34A"/>
                </a:solidFill>
                <a:latin typeface="Calibri"/>
              </a:rPr>
              <a:t>The system improves itself through the same AI pipeline it provides to engineers.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4320" y="658368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CONFIDENTIAL — Sage[ai] Business Case | March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45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1F2937"/>
                </a:solidFill>
                <a:latin typeface="Calibri"/>
              </a:rPr>
              <a:t>From Pilot to Production: </a:t>
            </a:r>
            <a:r>
              <a:rPr lang="en-IE" sz="2800" b="1" dirty="0">
                <a:solidFill>
                  <a:srgbClr val="1F2937"/>
                </a:solidFill>
                <a:latin typeface="Calibri"/>
              </a:rPr>
              <a:t>9</a:t>
            </a:r>
            <a:r>
              <a:rPr sz="2800" b="1" i="0" dirty="0">
                <a:solidFill>
                  <a:srgbClr val="1F2937"/>
                </a:solidFill>
                <a:latin typeface="Calibri"/>
              </a:rPr>
              <a:t>-Month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1274552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722356"/>
              </p:ext>
            </p:extLst>
          </p:nvPr>
        </p:nvGraphicFramePr>
        <p:xfrm>
          <a:off x="457200" y="914400"/>
          <a:ext cx="11000232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30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83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Timeline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Deliverable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Phase 1–3: Core System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E" sz="1300" b="0" dirty="0">
                          <a:solidFill>
                            <a:srgbClr val="1F2937"/>
                          </a:solidFill>
                          <a:latin typeface="Calibri"/>
                        </a:rPr>
                        <a:t>Month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CLI, Analyst, Developer, Monitor,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1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300" b="0" dirty="0">
                          <a:solidFill>
                            <a:srgbClr val="1F2937"/>
                          </a:solidFill>
                          <a:latin typeface="Calibri"/>
                        </a:rPr>
                        <a:t>Planned</a:t>
                      </a:r>
                    </a:p>
                    <a:p>
                      <a:pPr algn="l"/>
                      <a:endParaRPr sz="1300" b="0" dirty="0">
                        <a:solidFill>
                          <a:srgbClr val="1F293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Phase 4: Web UI + Agentic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E" sz="1300" b="0" dirty="0">
                          <a:solidFill>
                            <a:srgbClr val="1F2937"/>
                          </a:solidFill>
                          <a:latin typeface="Calibri"/>
                        </a:rPr>
                        <a:t>Month 3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Dashboard, ReAct loop, Planner, Regulatory docs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1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300" b="0" dirty="0">
                          <a:solidFill>
                            <a:srgbClr val="1F2937"/>
                          </a:solidFill>
                          <a:latin typeface="Calibri"/>
                        </a:rPr>
                        <a:t>Planned</a:t>
                      </a:r>
                    </a:p>
                    <a:p>
                      <a:pPr algn="l"/>
                      <a:endParaRPr sz="1300" b="0" dirty="0">
                        <a:solidFill>
                          <a:srgbClr val="1F293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Phase 5: Pilot Deployment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2937"/>
                          </a:solidFill>
                          <a:latin typeface="Calibri"/>
                        </a:rPr>
                        <a:t>Month </a:t>
                      </a:r>
                      <a:r>
                        <a:rPr lang="en-IE" sz="1300" b="0" dirty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  <a:endParaRPr sz="1300" b="0" dirty="0">
                        <a:solidFill>
                          <a:srgbClr val="1F293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Production deploy on internal network, engineer 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12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300" b="0" dirty="0">
                          <a:solidFill>
                            <a:srgbClr val="1F2937"/>
                          </a:solidFill>
                          <a:latin typeface="Calibri"/>
                        </a:rPr>
                        <a:t>Planned</a:t>
                      </a:r>
                    </a:p>
                    <a:p>
                      <a:pPr algn="l"/>
                      <a:endParaRPr sz="1300" b="0" dirty="0">
                        <a:solidFill>
                          <a:srgbClr val="1F293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Phase 6: Measure &amp; Iterate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2937"/>
                          </a:solidFill>
                          <a:latin typeface="Calibri"/>
                        </a:rPr>
                        <a:t>Month </a:t>
                      </a:r>
                      <a:r>
                        <a:rPr lang="en-IE" sz="1300" b="0" dirty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  <a:endParaRPr sz="1300" b="0" dirty="0">
                        <a:solidFill>
                          <a:srgbClr val="1F293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KPI tracking, RAG feedback loop, first improvements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2937"/>
                          </a:solidFill>
                          <a:latin typeface="Calibri"/>
                        </a:rPr>
                        <a:t> Planned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Phase 7: 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2937"/>
                          </a:solidFill>
                          <a:latin typeface="Calibri"/>
                        </a:rPr>
                        <a:t>Month </a:t>
                      </a:r>
                      <a:r>
                        <a:rPr lang="en-IE" sz="1300" b="0" dirty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  <a:endParaRPr sz="1300" b="0" dirty="0">
                        <a:solidFill>
                          <a:srgbClr val="1F2937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Multi-team rollout, Spira integration, executive dashboards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F2937"/>
                          </a:solidFill>
                          <a:latin typeface="Calibri"/>
                        </a:rPr>
                        <a:t> Planned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CONFIDENTIAL — Sage[ai] Business Case | March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45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1F2937"/>
                </a:solidFill>
                <a:latin typeface="Calibri"/>
              </a:rPr>
              <a:t>Next Steps: </a:t>
            </a:r>
            <a:r>
              <a:rPr lang="en-IE" sz="2800" b="1" i="0" dirty="0">
                <a:solidFill>
                  <a:srgbClr val="1F2937"/>
                </a:solidFill>
                <a:latin typeface="Calibri"/>
              </a:rPr>
              <a:t>3-Month </a:t>
            </a:r>
            <a:r>
              <a:rPr sz="2800" b="1" i="0" dirty="0">
                <a:solidFill>
                  <a:srgbClr val="1F2937"/>
                </a:solidFill>
                <a:latin typeface="Calibri"/>
              </a:rPr>
              <a:t>Pilot Proposal</a:t>
            </a:r>
            <a:r>
              <a:rPr lang="en-IE" sz="2800" b="1" i="0" dirty="0">
                <a:solidFill>
                  <a:srgbClr val="1F2937"/>
                </a:solidFill>
                <a:latin typeface="Calibri"/>
              </a:rPr>
              <a:t> at the end to overlap</a:t>
            </a:r>
            <a:endParaRPr sz="2800" b="1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1274552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5394960" cy="49377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6A34A"/>
                </a:solidFill>
                <a:latin typeface="Calibri"/>
              </a:rPr>
              <a:t>What We Need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5212080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21208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FFFFFF"/>
                </a:solidFill>
                <a:latin typeface="Calibri"/>
              </a:rPr>
              <a:t>Production deployment approval</a:t>
            </a:r>
            <a:r>
              <a:rPr lang="en-IE" sz="1400" dirty="0">
                <a:solidFill>
                  <a:srgbClr val="FFFFFF"/>
                </a:solidFill>
                <a:latin typeface="Calibri"/>
              </a:rPr>
              <a:t>  (internal network) </a:t>
            </a:r>
            <a:r>
              <a:rPr sz="1400" dirty="0">
                <a:solidFill>
                  <a:srgbClr val="FFFFFF"/>
                </a:solidFill>
                <a:latin typeface="Calibri"/>
              </a:rPr>
              <a:t>  </a:t>
            </a:r>
            <a:endParaRPr lang="en-IE" sz="1400" dirty="0">
              <a:solidFill>
                <a:srgbClr val="FFFFFF"/>
              </a:solidFill>
              <a:latin typeface="Calibri"/>
            </a:endParaRP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IE" sz="1400" dirty="0">
              <a:solidFill>
                <a:srgbClr val="FFFFFF"/>
              </a:solidFill>
              <a:latin typeface="Calibri"/>
            </a:endParaRP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IE" sz="1400" dirty="0">
                <a:solidFill>
                  <a:srgbClr val="FFFFFF"/>
                </a:solidFill>
                <a:latin typeface="Calibri"/>
              </a:rPr>
              <a:t>1</a:t>
            </a:r>
            <a:r>
              <a:rPr sz="1400" dirty="0">
                <a:solidFill>
                  <a:srgbClr val="FFFFFF"/>
                </a:solidFill>
                <a:latin typeface="Calibri"/>
              </a:rPr>
              <a:t>-day engineering team training session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IE" sz="1400" dirty="0">
              <a:solidFill>
                <a:srgbClr val="FFFFFF"/>
              </a:solidFill>
              <a:latin typeface="Calibri"/>
            </a:endParaRP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FFFFFF"/>
                </a:solidFill>
                <a:latin typeface="Calibri"/>
              </a:rPr>
              <a:t>Access to GitLab, </a:t>
            </a:r>
            <a:r>
              <a:rPr sz="1400" dirty="0" err="1">
                <a:solidFill>
                  <a:srgbClr val="FFFFFF"/>
                </a:solidFill>
                <a:latin typeface="Calibri"/>
              </a:rPr>
              <a:t>Metabase</a:t>
            </a:r>
            <a:r>
              <a:rPr sz="1400" dirty="0">
                <a:solidFill>
                  <a:srgbClr val="FFFFFF"/>
                </a:solidFill>
                <a:latin typeface="Calibri"/>
              </a:rPr>
              <a:t>, Teams API credentials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IE" sz="1400" dirty="0">
              <a:solidFill>
                <a:srgbClr val="FFFFFF"/>
              </a:solidFill>
              <a:latin typeface="Calibri"/>
            </a:endParaRP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FFFFFF"/>
                </a:solidFill>
                <a:latin typeface="Calibri"/>
              </a:rPr>
              <a:t>Dedicated server </a:t>
            </a:r>
            <a:r>
              <a:rPr lang="en-IE" sz="1400" dirty="0">
                <a:solidFill>
                  <a:srgbClr val="FFFFFF"/>
                </a:solidFill>
                <a:latin typeface="Calibri"/>
              </a:rPr>
              <a:t>like </a:t>
            </a:r>
            <a:r>
              <a:rPr lang="en-IE" sz="1400" dirty="0">
                <a:solidFill>
                  <a:srgbClr val="FFFFFF"/>
                </a:solidFill>
                <a:latin typeface="Calibri"/>
                <a:hlinkClick r:id="rId2"/>
              </a:rPr>
              <a:t>Spark</a:t>
            </a:r>
            <a:r>
              <a:rPr lang="en-IE" sz="140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dirty="0">
                <a:solidFill>
                  <a:srgbClr val="FFFFFF"/>
                </a:solidFill>
                <a:latin typeface="Calibri"/>
              </a:rPr>
              <a:t>or VM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960120"/>
            <a:ext cx="5577840" cy="493776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09360" y="105156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4532D"/>
                </a:solidFill>
                <a:latin typeface="Calibri"/>
              </a:rPr>
              <a:t>What You 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508760"/>
            <a:ext cx="5394960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554480"/>
            <a:ext cx="53949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1F2937"/>
                </a:solidFill>
                <a:latin typeface="Calibri"/>
              </a:rPr>
              <a:t>KPI dashboard by Week 2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1F2937"/>
                </a:solidFill>
                <a:latin typeface="Calibri"/>
              </a:rPr>
              <a:t>60+ hours/week reclaimed</a:t>
            </a:r>
            <a:r>
              <a:rPr lang="en-IE" sz="1400" dirty="0">
                <a:solidFill>
                  <a:srgbClr val="1F2937"/>
                </a:solidFill>
                <a:latin typeface="Calibri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/>
              </a:rPr>
              <a:t>from manual work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1F2937"/>
                </a:solidFill>
                <a:latin typeface="Calibri"/>
              </a:rPr>
              <a:t>ISO 13485 audit trail from day 1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1F2937"/>
                </a:solidFill>
                <a:latin typeface="Calibri"/>
              </a:rPr>
              <a:t>AI that learns from your engineers' expertise</a:t>
            </a:r>
          </a:p>
          <a:p>
            <a:pPr marL="285750" indent="-285750" algn="l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1F2937"/>
                </a:solidFill>
                <a:latin typeface="Calibri"/>
              </a:rPr>
              <a:t>ROI positive within 2 months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035040"/>
            <a:ext cx="12188952" cy="502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20" y="6053328"/>
            <a:ext cx="1164031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500" b="1" i="0" dirty="0">
                <a:solidFill>
                  <a:srgbClr val="FFFFFF"/>
                </a:solidFill>
                <a:latin typeface="Calibri"/>
              </a:rPr>
              <a:t>Sage[ai] is </a:t>
            </a:r>
            <a:r>
              <a:rPr lang="en-IE" sz="1500" b="1" dirty="0">
                <a:solidFill>
                  <a:srgbClr val="FFFFFF"/>
                </a:solidFill>
                <a:latin typeface="Calibri"/>
              </a:rPr>
              <a:t>to enable</a:t>
            </a:r>
            <a:r>
              <a:rPr lang="en-IE" sz="1500" b="1" i="0" dirty="0">
                <a:solidFill>
                  <a:srgbClr val="FFFFFF"/>
                </a:solidFill>
                <a:latin typeface="Calibri"/>
              </a:rPr>
              <a:t> engineers — it's their most productive teammate</a:t>
            </a:r>
            <a:endParaRPr sz="1500" b="1" i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</TotalTime>
  <Words>1115</Words>
  <Application>Microsoft Office PowerPoint</Application>
  <PresentationFormat>Custom</PresentationFormat>
  <Paragraphs>208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Suman Harapanahalli</cp:lastModifiedBy>
  <cp:revision>5</cp:revision>
  <dcterms:created xsi:type="dcterms:W3CDTF">2013-01-27T09:14:16Z</dcterms:created>
  <dcterms:modified xsi:type="dcterms:W3CDTF">2026-03-12T10:16:57Z</dcterms:modified>
  <cp:category/>
</cp:coreProperties>
</file>