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9" r:id="rId20"/>
    <p:sldId id="268" r:id="rId19"/>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4.xml"/><Relationship Id="rId20"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754880"/>
            <a:ext cx="12188952" cy="73152"/>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280160"/>
            <a:ext cx="10058400" cy="1280160"/>
          </a:xfrm>
          <a:prstGeom prst="rect">
            <a:avLst/>
          </a:prstGeom>
          <a:noFill/>
        </p:spPr>
        <p:txBody>
          <a:bodyPr wrap="square">
            <a:spAutoFit/>
          </a:bodyPr>
          <a:lstStyle/>
          <a:p>
            <a:pPr algn="ctr"/>
            <a:r>
              <a:rPr sz="6400" b="1" i="0">
                <a:solidFill>
                  <a:srgbClr val="FFFFFF"/>
                </a:solidFill>
              </a:rPr>
              <a:t>SAGE[ai]</a:t>
            </a:r>
          </a:p>
        </p:txBody>
      </p:sp>
      <p:sp>
        <p:nvSpPr>
          <p:cNvPr id="5" name="TextBox 4"/>
          <p:cNvSpPr txBox="1"/>
          <p:nvPr/>
        </p:nvSpPr>
        <p:spPr>
          <a:xfrm>
            <a:off x="914400" y="2606040"/>
            <a:ext cx="10058400" cy="640080"/>
          </a:xfrm>
          <a:prstGeom prst="rect">
            <a:avLst/>
          </a:prstGeom>
          <a:noFill/>
        </p:spPr>
        <p:txBody>
          <a:bodyPr wrap="square">
            <a:spAutoFit/>
          </a:bodyPr>
          <a:lstStyle/>
          <a:p>
            <a:pPr algn="ctr"/>
            <a:r>
              <a:rPr sz="2600" b="0" i="0">
                <a:solidFill>
                  <a:srgbClr val="00B4D8"/>
                </a:solidFill>
              </a:rPr>
              <a:t>Autonomous Manufacturing Intelligence</a:t>
            </a:r>
          </a:p>
        </p:txBody>
      </p:sp>
      <p:sp>
        <p:nvSpPr>
          <p:cNvPr id="6" name="TextBox 5"/>
          <p:cNvSpPr txBox="1"/>
          <p:nvPr/>
        </p:nvSpPr>
        <p:spPr>
          <a:xfrm>
            <a:off x="914400" y="3246120"/>
            <a:ext cx="10058400" cy="502920"/>
          </a:xfrm>
          <a:prstGeom prst="rect">
            <a:avLst/>
          </a:prstGeom>
          <a:noFill/>
        </p:spPr>
        <p:txBody>
          <a:bodyPr wrap="square">
            <a:spAutoFit/>
          </a:bodyPr>
          <a:lstStyle/>
          <a:p>
            <a:pPr algn="ctr"/>
            <a:r>
              <a:rPr sz="1800" b="0" i="0">
                <a:solidFill>
                  <a:srgbClr val="647487"/>
                </a:solidFill>
              </a:rPr>
              <a:t>Transforming Medical Device Production with Agentic AI</a:t>
            </a:r>
          </a:p>
        </p:txBody>
      </p:sp>
      <p:sp>
        <p:nvSpPr>
          <p:cNvPr id="7" name="TextBox 6"/>
          <p:cNvSpPr txBox="1"/>
          <p:nvPr/>
        </p:nvSpPr>
        <p:spPr>
          <a:xfrm>
            <a:off x="914400" y="5029200"/>
            <a:ext cx="10058400" cy="411480"/>
          </a:xfrm>
          <a:prstGeom prst="rect">
            <a:avLst/>
          </a:prstGeom>
          <a:noFill/>
        </p:spPr>
        <p:txBody>
          <a:bodyPr wrap="square">
            <a:spAutoFit/>
          </a:bodyPr>
          <a:lstStyle/>
          <a:p>
            <a:pPr algn="ctr"/>
            <a:r>
              <a:rPr sz="1400" b="0" i="0">
                <a:solidFill>
                  <a:srgbClr val="647487"/>
                </a:solidFill>
              </a:rPr>
              <a:t>Open Source (Apache 2.0) — Business Case Presentation — March 2026</a:t>
            </a:r>
          </a:p>
        </p:txBody>
      </p:sp>
      <p:sp>
        <p:nvSpPr>
          <p:cNvPr id="8" name="TextBox 7"/>
          <p:cNvSpPr txBox="1"/>
          <p:nvPr/>
        </p:nvSpPr>
        <p:spPr>
          <a:xfrm>
            <a:off x="914400" y="5577840"/>
            <a:ext cx="10058400" cy="365760"/>
          </a:xfrm>
          <a:prstGeom prst="rect">
            <a:avLst/>
          </a:prstGeom>
          <a:noFill/>
        </p:spPr>
        <p:txBody>
          <a:bodyPr wrap="square">
            <a:spAutoFit/>
          </a:bodyPr>
          <a:lstStyle/>
          <a:p>
            <a:pPr algn="ctr"/>
            <a:r>
              <a:rPr sz="1200" b="0" i="1">
                <a:solidFill>
                  <a:srgbClr val="FFB700"/>
                </a:solidFill>
              </a:rPr>
              <a:t>github.com/Sumanharapanahalli/sage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Current State: Manual Bottlenecks at Scale</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The hidden cost of running without agentic AI</a:t>
            </a:r>
          </a:p>
        </p:txBody>
      </p:sp>
      <p:sp>
        <p:nvSpPr>
          <p:cNvPr id="5" name="TextBox 4"/>
          <p:cNvSpPr txBox="1"/>
          <p:nvPr/>
        </p:nvSpPr>
        <p:spPr>
          <a:xfrm>
            <a:off x="502920" y="1463040"/>
            <a:ext cx="11155680" cy="384048"/>
          </a:xfrm>
          <a:prstGeom prst="rect">
            <a:avLst/>
          </a:prstGeom>
          <a:noFill/>
        </p:spPr>
        <p:txBody>
          <a:bodyPr wrap="square">
            <a:spAutoFit/>
          </a:bodyPr>
          <a:lstStyle/>
          <a:p>
            <a:pPr algn="l"/>
            <a:r>
              <a:rPr sz="1500" b="0" i="0">
                <a:solidFill>
                  <a:srgbClr val="0D1B2A"/>
                </a:solidFill>
              </a:rPr>
              <a:t>45-60 min per error log analysis — manual triage every time</a:t>
            </a:r>
          </a:p>
        </p:txBody>
      </p:sp>
      <p:sp>
        <p:nvSpPr>
          <p:cNvPr id="6" name="TextBox 5"/>
          <p:cNvSpPr txBox="1"/>
          <p:nvPr/>
        </p:nvSpPr>
        <p:spPr>
          <a:xfrm>
            <a:off x="502920" y="1920240"/>
            <a:ext cx="11155680" cy="384048"/>
          </a:xfrm>
          <a:prstGeom prst="rect">
            <a:avLst/>
          </a:prstGeom>
          <a:noFill/>
        </p:spPr>
        <p:txBody>
          <a:bodyPr wrap="square">
            <a:spAutoFit/>
          </a:bodyPr>
          <a:lstStyle/>
          <a:p>
            <a:pPr algn="l"/>
            <a:r>
              <a:rPr sz="1500" b="0" i="0">
                <a:solidFill>
                  <a:srgbClr val="0D1B2A"/>
                </a:solidFill>
              </a:rPr>
              <a:t>3-5 day MR review backlog — engineers blocked waiting for feedback</a:t>
            </a:r>
          </a:p>
        </p:txBody>
      </p:sp>
      <p:sp>
        <p:nvSpPr>
          <p:cNvPr id="7" name="TextBox 6"/>
          <p:cNvSpPr txBox="1"/>
          <p:nvPr/>
        </p:nvSpPr>
        <p:spPr>
          <a:xfrm>
            <a:off x="502920" y="2377440"/>
            <a:ext cx="11155680" cy="384048"/>
          </a:xfrm>
          <a:prstGeom prst="rect">
            <a:avLst/>
          </a:prstGeom>
          <a:noFill/>
        </p:spPr>
        <p:txBody>
          <a:bodyPr wrap="square">
            <a:spAutoFit/>
          </a:bodyPr>
          <a:lstStyle/>
          <a:p>
            <a:pPr algn="l"/>
            <a:r>
              <a:rPr sz="1500" b="0" i="0">
                <a:solidFill>
                  <a:srgbClr val="0D1B2A"/>
                </a:solidFill>
              </a:rPr>
              <a:t>8+ hours/week compliance reporting — pure administrative overhead</a:t>
            </a:r>
          </a:p>
        </p:txBody>
      </p:sp>
      <p:sp>
        <p:nvSpPr>
          <p:cNvPr id="8" name="TextBox 7"/>
          <p:cNvSpPr txBox="1"/>
          <p:nvPr/>
        </p:nvSpPr>
        <p:spPr>
          <a:xfrm>
            <a:off x="502920" y="2834640"/>
            <a:ext cx="11155680" cy="384048"/>
          </a:xfrm>
          <a:prstGeom prst="rect">
            <a:avLst/>
          </a:prstGeom>
          <a:noFill/>
        </p:spPr>
        <p:txBody>
          <a:bodyPr wrap="square">
            <a:spAutoFit/>
          </a:bodyPr>
          <a:lstStyle/>
          <a:p>
            <a:pPr algn="l"/>
            <a:r>
              <a:rPr sz="1500" b="0" i="0">
                <a:solidFill>
                  <a:srgbClr val="0D1B2A"/>
                </a:solidFill>
              </a:rPr>
              <a:t>Expert knowledge lost permanently when engineers leave the team</a:t>
            </a:r>
          </a:p>
        </p:txBody>
      </p:sp>
      <p:sp>
        <p:nvSpPr>
          <p:cNvPr id="9" name="TextBox 8"/>
          <p:cNvSpPr txBox="1"/>
          <p:nvPr/>
        </p:nvSpPr>
        <p:spPr>
          <a:xfrm>
            <a:off x="502920" y="3291840"/>
            <a:ext cx="11155680" cy="384048"/>
          </a:xfrm>
          <a:prstGeom prst="rect">
            <a:avLst/>
          </a:prstGeom>
          <a:noFill/>
        </p:spPr>
        <p:txBody>
          <a:bodyPr wrap="square">
            <a:spAutoFit/>
          </a:bodyPr>
          <a:lstStyle/>
          <a:p>
            <a:pPr algn="l"/>
            <a:r>
              <a:rPr sz="1500" b="0" i="0">
                <a:solidFill>
                  <a:srgbClr val="0D1B2A"/>
                </a:solidFill>
              </a:rPr>
              <a:t>Error detection relies on human vigilance 24/7 — unsustainable at scale</a:t>
            </a:r>
          </a:p>
        </p:txBody>
      </p:sp>
      <p:sp>
        <p:nvSpPr>
          <p:cNvPr id="10" name="TextBox 9"/>
          <p:cNvSpPr txBox="1"/>
          <p:nvPr/>
        </p:nvSpPr>
        <p:spPr>
          <a:xfrm>
            <a:off x="502920" y="3749040"/>
            <a:ext cx="11155680" cy="384048"/>
          </a:xfrm>
          <a:prstGeom prst="rect">
            <a:avLst/>
          </a:prstGeom>
          <a:noFill/>
        </p:spPr>
        <p:txBody>
          <a:bodyPr wrap="square">
            <a:spAutoFit/>
          </a:bodyPr>
          <a:lstStyle/>
          <a:p>
            <a:pPr algn="l"/>
            <a:r>
              <a:rPr sz="1500" b="0" i="0">
                <a:solidFill>
                  <a:srgbClr val="0D1B2A"/>
                </a:solidFill>
              </a:rPr>
              <a:t/>
            </a:r>
          </a:p>
        </p:txBody>
      </p:sp>
      <p:sp>
        <p:nvSpPr>
          <p:cNvPr id="11" name="TextBox 10"/>
          <p:cNvSpPr txBox="1"/>
          <p:nvPr/>
        </p:nvSpPr>
        <p:spPr>
          <a:xfrm>
            <a:off x="502920" y="4206240"/>
            <a:ext cx="11155680" cy="384048"/>
          </a:xfrm>
          <a:prstGeom prst="rect">
            <a:avLst/>
          </a:prstGeom>
          <a:noFill/>
        </p:spPr>
        <p:txBody>
          <a:bodyPr wrap="square">
            <a:spAutoFit/>
          </a:bodyPr>
          <a:lstStyle/>
          <a:p>
            <a:pPr algn="l"/>
            <a:r>
              <a:rPr sz="1500" b="0" i="0">
                <a:solidFill>
                  <a:srgbClr val="0D1B2A"/>
                </a:solidFill>
              </a:rPr>
              <a:t>Result: ~68 hrs/week of preventable manual work — every single week</a:t>
            </a:r>
          </a:p>
        </p:txBody>
      </p:sp>
      <p:sp>
        <p:nvSpPr>
          <p:cNvPr id="12" name="Rectangle 11"/>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Open Source (Apache 2.0) | github.com/Sumanharapanahalli/sage | March 2026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SAGE[ai]: Always-On AI Engineering Partner</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Replace manual toil with autonomous, auditable intelligence</a:t>
            </a:r>
          </a:p>
        </p:txBody>
      </p:sp>
      <p:sp>
        <p:nvSpPr>
          <p:cNvPr id="5" name="TextBox 4"/>
          <p:cNvSpPr txBox="1"/>
          <p:nvPr/>
        </p:nvSpPr>
        <p:spPr>
          <a:xfrm>
            <a:off x="502920" y="1463040"/>
            <a:ext cx="11155680" cy="384048"/>
          </a:xfrm>
          <a:prstGeom prst="rect">
            <a:avLst/>
          </a:prstGeom>
          <a:noFill/>
        </p:spPr>
        <p:txBody>
          <a:bodyPr wrap="square">
            <a:spAutoFit/>
          </a:bodyPr>
          <a:lstStyle/>
          <a:p>
            <a:pPr algn="l"/>
            <a:r>
              <a:rPr sz="1500" b="0" i="0">
                <a:solidFill>
                  <a:srgbClr val="0D1B2A"/>
                </a:solidFill>
              </a:rPr>
              <a:t>Analyzes error logs in under 60 seconds  (vs 45-60 min manual)</a:t>
            </a:r>
          </a:p>
        </p:txBody>
      </p:sp>
      <p:sp>
        <p:nvSpPr>
          <p:cNvPr id="6" name="TextBox 5"/>
          <p:cNvSpPr txBox="1"/>
          <p:nvPr/>
        </p:nvSpPr>
        <p:spPr>
          <a:xfrm>
            <a:off x="502920" y="1920240"/>
            <a:ext cx="11155680" cy="384048"/>
          </a:xfrm>
          <a:prstGeom prst="rect">
            <a:avLst/>
          </a:prstGeom>
          <a:noFill/>
        </p:spPr>
        <p:txBody>
          <a:bodyPr wrap="square">
            <a:spAutoFit/>
          </a:bodyPr>
          <a:lstStyle/>
          <a:p>
            <a:pPr algn="l"/>
            <a:r>
              <a:rPr sz="1500" b="0" i="0">
                <a:solidFill>
                  <a:srgbClr val="0D1B2A"/>
                </a:solidFill>
              </a:rPr>
              <a:t>AI code reviews with multi-step ReAct reasoning loop</a:t>
            </a:r>
          </a:p>
        </p:txBody>
      </p:sp>
      <p:sp>
        <p:nvSpPr>
          <p:cNvPr id="7" name="TextBox 6"/>
          <p:cNvSpPr txBox="1"/>
          <p:nvPr/>
        </p:nvSpPr>
        <p:spPr>
          <a:xfrm>
            <a:off x="502920" y="2377440"/>
            <a:ext cx="11155680" cy="384048"/>
          </a:xfrm>
          <a:prstGeom prst="rect">
            <a:avLst/>
          </a:prstGeom>
          <a:noFill/>
        </p:spPr>
        <p:txBody>
          <a:bodyPr wrap="square">
            <a:spAutoFit/>
          </a:bodyPr>
          <a:lstStyle/>
          <a:p>
            <a:pPr algn="l"/>
            <a:r>
              <a:rPr sz="1500" b="0" i="0">
                <a:solidFill>
                  <a:srgbClr val="0D1B2A"/>
                </a:solidFill>
              </a:rPr>
              <a:t>Monitors Teams, Metabase, GitLab — real-time event detection</a:t>
            </a:r>
          </a:p>
        </p:txBody>
      </p:sp>
      <p:sp>
        <p:nvSpPr>
          <p:cNvPr id="8" name="TextBox 7"/>
          <p:cNvSpPr txBox="1"/>
          <p:nvPr/>
        </p:nvSpPr>
        <p:spPr>
          <a:xfrm>
            <a:off x="502920" y="2834640"/>
            <a:ext cx="11155680" cy="384048"/>
          </a:xfrm>
          <a:prstGeom prst="rect">
            <a:avLst/>
          </a:prstGeom>
          <a:noFill/>
        </p:spPr>
        <p:txBody>
          <a:bodyPr wrap="square">
            <a:spAutoFit/>
          </a:bodyPr>
          <a:lstStyle/>
          <a:p>
            <a:pPr algn="l"/>
            <a:r>
              <a:rPr sz="1500" b="0" i="0">
                <a:solidFill>
                  <a:srgbClr val="0D1B2A"/>
                </a:solidFill>
              </a:rPr>
              <a:t>Every decision logged to immutable ISO 13485 audit trail</a:t>
            </a:r>
          </a:p>
        </p:txBody>
      </p:sp>
      <p:sp>
        <p:nvSpPr>
          <p:cNvPr id="9" name="TextBox 8"/>
          <p:cNvSpPr txBox="1"/>
          <p:nvPr/>
        </p:nvSpPr>
        <p:spPr>
          <a:xfrm>
            <a:off x="502920" y="3291840"/>
            <a:ext cx="11155680" cy="384048"/>
          </a:xfrm>
          <a:prstGeom prst="rect">
            <a:avLst/>
          </a:prstGeom>
          <a:noFill/>
        </p:spPr>
        <p:txBody>
          <a:bodyPr wrap="square">
            <a:spAutoFit/>
          </a:bodyPr>
          <a:lstStyle/>
          <a:p>
            <a:pPr algn="l"/>
            <a:r>
              <a:rPr sz="1500" b="0" i="0">
                <a:solidFill>
                  <a:srgbClr val="0D1B2A"/>
                </a:solidFill>
              </a:rPr>
              <a:t>Human-in-the-loop: AI advises, humans decide — always</a:t>
            </a:r>
          </a:p>
        </p:txBody>
      </p:sp>
      <p:sp>
        <p:nvSpPr>
          <p:cNvPr id="10" name="TextBox 9"/>
          <p:cNvSpPr txBox="1"/>
          <p:nvPr/>
        </p:nvSpPr>
        <p:spPr>
          <a:xfrm>
            <a:off x="502920" y="3749040"/>
            <a:ext cx="11155680" cy="384048"/>
          </a:xfrm>
          <a:prstGeom prst="rect">
            <a:avLst/>
          </a:prstGeom>
          <a:noFill/>
        </p:spPr>
        <p:txBody>
          <a:bodyPr wrap="square">
            <a:spAutoFit/>
          </a:bodyPr>
          <a:lstStyle/>
          <a:p>
            <a:pPr algn="l"/>
            <a:r>
              <a:rPr sz="1500" b="0" i="0">
                <a:solidFill>
                  <a:srgbClr val="0D1B2A"/>
                </a:solidFill>
              </a:rPr>
              <a:t>Learns from every correction via vector memory (RAG)</a:t>
            </a:r>
          </a:p>
        </p:txBody>
      </p:sp>
      <p:sp>
        <p:nvSpPr>
          <p:cNvPr id="11" name="TextBox 10"/>
          <p:cNvSpPr txBox="1"/>
          <p:nvPr/>
        </p:nvSpPr>
        <p:spPr>
          <a:xfrm>
            <a:off x="502920" y="4206240"/>
            <a:ext cx="11155680" cy="384048"/>
          </a:xfrm>
          <a:prstGeom prst="rect">
            <a:avLst/>
          </a:prstGeom>
          <a:noFill/>
        </p:spPr>
        <p:txBody>
          <a:bodyPr wrap="square">
            <a:spAutoFit/>
          </a:bodyPr>
          <a:lstStyle/>
          <a:p>
            <a:pPr algn="l"/>
            <a:r>
              <a:rPr sz="1500" b="0" i="0">
                <a:solidFill>
                  <a:srgbClr val="0D1B2A"/>
                </a:solidFill>
              </a:rPr>
              <a:t>Web dashboard for all stakeholders — zero CLI required</a:t>
            </a:r>
          </a:p>
        </p:txBody>
      </p:sp>
      <p:sp>
        <p:nvSpPr>
          <p:cNvPr id="12" name="Rectangle 11"/>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Open Source (Apache 2.0) | github.com/Sumanharapanahalli/sage | March 2026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Companies Already Winning with Agentic AI</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Validated industry outcomes — this is the direction of travel</a:t>
            </a:r>
          </a:p>
        </p:txBody>
      </p:sp>
      <p:graphicFrame>
        <p:nvGraphicFramePr>
          <p:cNvPr id="5" name="Table 4"/>
          <p:cNvGraphicFramePr>
            <a:graphicFrameLocks noGrp="1"/>
          </p:cNvGraphicFramePr>
          <p:nvPr/>
        </p:nvGraphicFramePr>
        <p:xfrm>
          <a:off x="457200" y="1508760"/>
          <a:ext cx="11247120" cy="4279392"/>
        </p:xfrm>
        <a:graphic>
          <a:graphicData uri="http://schemas.openxmlformats.org/drawingml/2006/table">
            <a:tbl>
              <a:tblPr firstRow="1" bandRow="1">
                <a:tableStyleId>{5C22544A-7EE6-4342-B048-85BDC9FD1C3A}</a:tableStyleId>
              </a:tblPr>
              <a:tblGrid>
                <a:gridCol w="1554480"/>
                <a:gridCol w="4114800"/>
                <a:gridCol w="5577840"/>
              </a:tblGrid>
              <a:tr h="475488">
                <a:tc>
                  <a:txBody>
                    <a:bodyPr/>
                    <a:lstStyle/>
                    <a:p>
                      <a:pPr algn="ctr"/>
                      <a:r>
                        <a:rPr b="1" sz="1300">
                          <a:solidFill>
                            <a:srgbClr val="FFFFFF"/>
                          </a:solidFill>
                        </a:rPr>
                        <a:t>Company</a:t>
                      </a:r>
                    </a:p>
                  </a:txBody>
                  <a:tcPr>
                    <a:solidFill>
                      <a:srgbClr val="0078D4"/>
                    </a:solidFill>
                  </a:tcPr>
                </a:tc>
                <a:tc>
                  <a:txBody>
                    <a:bodyPr/>
                    <a:lstStyle/>
                    <a:p>
                      <a:pPr algn="ctr"/>
                      <a:r>
                        <a:rPr b="1" sz="1300">
                          <a:solidFill>
                            <a:srgbClr val="FFFFFF"/>
                          </a:solidFill>
                        </a:rPr>
                        <a:t>Implementation</a:t>
                      </a:r>
                    </a:p>
                  </a:txBody>
                  <a:tcPr>
                    <a:solidFill>
                      <a:srgbClr val="0078D4"/>
                    </a:solidFill>
                  </a:tcPr>
                </a:tc>
                <a:tc>
                  <a:txBody>
                    <a:bodyPr/>
                    <a:lstStyle/>
                    <a:p>
                      <a:pPr algn="ctr"/>
                      <a:r>
                        <a:rPr b="1" sz="1300">
                          <a:solidFill>
                            <a:srgbClr val="FFFFFF"/>
                          </a:solidFill>
                        </a:rPr>
                        <a:t>Result</a:t>
                      </a:r>
                    </a:p>
                  </a:txBody>
                  <a:tcPr>
                    <a:solidFill>
                      <a:srgbClr val="0078D4"/>
                    </a:solidFill>
                  </a:tcPr>
                </a:tc>
              </a:tr>
              <a:tr h="475488">
                <a:tc>
                  <a:txBody>
                    <a:bodyPr/>
                    <a:lstStyle/>
                    <a:p>
                      <a:pPr algn="l"/>
                      <a:r>
                        <a:rPr sz="1200">
                          <a:solidFill>
                            <a:srgbClr val="0D1B2A"/>
                          </a:solidFill>
                        </a:rPr>
                        <a:t>Siemens</a:t>
                      </a:r>
                    </a:p>
                  </a:txBody>
                  <a:tcPr>
                    <a:solidFill>
                      <a:srgbClr val="F0F4F8"/>
                    </a:solidFill>
                  </a:tcPr>
                </a:tc>
                <a:tc>
                  <a:txBody>
                    <a:bodyPr/>
                    <a:lstStyle/>
                    <a:p>
                      <a:pPr algn="l"/>
                      <a:r>
                        <a:rPr sz="1200">
                          <a:solidFill>
                            <a:srgbClr val="0D1B2A"/>
                          </a:solidFill>
                        </a:rPr>
                        <a:t>AI predictive maintenance agents</a:t>
                      </a:r>
                    </a:p>
                  </a:txBody>
                  <a:tcPr>
                    <a:solidFill>
                      <a:srgbClr val="F0F4F8"/>
                    </a:solidFill>
                  </a:tcPr>
                </a:tc>
                <a:tc>
                  <a:txBody>
                    <a:bodyPr/>
                    <a:lstStyle/>
                    <a:p>
                      <a:pPr algn="l"/>
                      <a:r>
                        <a:rPr sz="1200">
                          <a:solidFill>
                            <a:srgbClr val="0D1B2A"/>
                          </a:solidFill>
                        </a:rPr>
                        <a:t>30% less unplanned downtime, €1.5B saved/yr</a:t>
                      </a:r>
                    </a:p>
                  </a:txBody>
                  <a:tcPr>
                    <a:solidFill>
                      <a:srgbClr val="F0F4F8"/>
                    </a:solidFill>
                  </a:tcPr>
                </a:tc>
              </a:tr>
              <a:tr h="475488">
                <a:tc>
                  <a:txBody>
                    <a:bodyPr/>
                    <a:lstStyle/>
                    <a:p>
                      <a:pPr algn="l"/>
                      <a:r>
                        <a:rPr sz="1200">
                          <a:solidFill>
                            <a:srgbClr val="0D1B2A"/>
                          </a:solidFill>
                        </a:rPr>
                        <a:t>BMW</a:t>
                      </a:r>
                    </a:p>
                  </a:txBody>
                  <a:tcPr>
                    <a:solidFill>
                      <a:srgbClr val="FFFFFF"/>
                    </a:solidFill>
                  </a:tcPr>
                </a:tc>
                <a:tc>
                  <a:txBody>
                    <a:bodyPr/>
                    <a:lstStyle/>
                    <a:p>
                      <a:pPr algn="l"/>
                      <a:r>
                        <a:rPr sz="1200">
                          <a:solidFill>
                            <a:srgbClr val="0D1B2A"/>
                          </a:solidFill>
                        </a:rPr>
                        <a:t>AI quality inspection</a:t>
                      </a:r>
                    </a:p>
                  </a:txBody>
                  <a:tcPr>
                    <a:solidFill>
                      <a:srgbClr val="FFFFFF"/>
                    </a:solidFill>
                  </a:tcPr>
                </a:tc>
                <a:tc>
                  <a:txBody>
                    <a:bodyPr/>
                    <a:lstStyle/>
                    <a:p>
                      <a:pPr algn="l"/>
                      <a:r>
                        <a:rPr sz="1200">
                          <a:solidFill>
                            <a:srgbClr val="0D1B2A"/>
                          </a:solidFill>
                        </a:rPr>
                        <a:t>99.5% defect detection, 30% QC cost reduction</a:t>
                      </a:r>
                    </a:p>
                  </a:txBody>
                  <a:tcPr>
                    <a:solidFill>
                      <a:srgbClr val="FFFFFF"/>
                    </a:solidFill>
                  </a:tcPr>
                </a:tc>
              </a:tr>
              <a:tr h="475488">
                <a:tc>
                  <a:txBody>
                    <a:bodyPr/>
                    <a:lstStyle/>
                    <a:p>
                      <a:pPr algn="l"/>
                      <a:r>
                        <a:rPr sz="1200">
                          <a:solidFill>
                            <a:srgbClr val="0D1B2A"/>
                          </a:solidFill>
                        </a:rPr>
                        <a:t>Bosch</a:t>
                      </a:r>
                    </a:p>
                  </a:txBody>
                  <a:tcPr>
                    <a:solidFill>
                      <a:srgbClr val="F0F4F8"/>
                    </a:solidFill>
                  </a:tcPr>
                </a:tc>
                <a:tc>
                  <a:txBody>
                    <a:bodyPr/>
                    <a:lstStyle/>
                    <a:p>
                      <a:pPr algn="l"/>
                      <a:r>
                        <a:rPr sz="1200">
                          <a:solidFill>
                            <a:srgbClr val="0D1B2A"/>
                          </a:solidFill>
                        </a:rPr>
                        <a:t>AI-assisted code review</a:t>
                      </a:r>
                    </a:p>
                  </a:txBody>
                  <a:tcPr>
                    <a:solidFill>
                      <a:srgbClr val="F0F4F8"/>
                    </a:solidFill>
                  </a:tcPr>
                </a:tc>
                <a:tc>
                  <a:txBody>
                    <a:bodyPr/>
                    <a:lstStyle/>
                    <a:p>
                      <a:pPr algn="l"/>
                      <a:r>
                        <a:rPr sz="1200">
                          <a:solidFill>
                            <a:srgbClr val="0D1B2A"/>
                          </a:solidFill>
                        </a:rPr>
                        <a:t>40% faster releases, 60% fewer defect escapes</a:t>
                      </a:r>
                    </a:p>
                  </a:txBody>
                  <a:tcPr>
                    <a:solidFill>
                      <a:srgbClr val="F0F4F8"/>
                    </a:solidFill>
                  </a:tcPr>
                </a:tc>
              </a:tr>
              <a:tr h="475488">
                <a:tc>
                  <a:txBody>
                    <a:bodyPr/>
                    <a:lstStyle/>
                    <a:p>
                      <a:pPr algn="l"/>
                      <a:r>
                        <a:rPr sz="1200">
                          <a:solidFill>
                            <a:srgbClr val="0D1B2A"/>
                          </a:solidFill>
                        </a:rPr>
                        <a:t>Amazon</a:t>
                      </a:r>
                    </a:p>
                  </a:txBody>
                  <a:tcPr>
                    <a:solidFill>
                      <a:srgbClr val="FFFFFF"/>
                    </a:solidFill>
                  </a:tcPr>
                </a:tc>
                <a:tc>
                  <a:txBody>
                    <a:bodyPr/>
                    <a:lstStyle/>
                    <a:p>
                      <a:pPr algn="l"/>
                      <a:r>
                        <a:rPr sz="1200">
                          <a:solidFill>
                            <a:srgbClr val="0D1B2A"/>
                          </a:solidFill>
                        </a:rPr>
                        <a:t>CodeGuru automated review</a:t>
                      </a:r>
                    </a:p>
                  </a:txBody>
                  <a:tcPr>
                    <a:solidFill>
                      <a:srgbClr val="FFFFFF"/>
                    </a:solidFill>
                  </a:tcPr>
                </a:tc>
                <a:tc>
                  <a:txBody>
                    <a:bodyPr/>
                    <a:lstStyle/>
                    <a:p>
                      <a:pPr algn="l"/>
                      <a:r>
                        <a:rPr sz="1200">
                          <a:solidFill>
                            <a:srgbClr val="0D1B2A"/>
                          </a:solidFill>
                        </a:rPr>
                        <a:t>50% reduction in production incidents</a:t>
                      </a:r>
                    </a:p>
                  </a:txBody>
                  <a:tcPr>
                    <a:solidFill>
                      <a:srgbClr val="FFFFFF"/>
                    </a:solidFill>
                  </a:tcPr>
                </a:tc>
              </a:tr>
              <a:tr h="475488">
                <a:tc>
                  <a:txBody>
                    <a:bodyPr/>
                    <a:lstStyle/>
                    <a:p>
                      <a:pPr algn="l"/>
                      <a:r>
                        <a:rPr sz="1200">
                          <a:solidFill>
                            <a:srgbClr val="0D1B2A"/>
                          </a:solidFill>
                        </a:rPr>
                        <a:t>Microsoft</a:t>
                      </a:r>
                    </a:p>
                  </a:txBody>
                  <a:tcPr>
                    <a:solidFill>
                      <a:srgbClr val="F0F4F8"/>
                    </a:solidFill>
                  </a:tcPr>
                </a:tc>
                <a:tc>
                  <a:txBody>
                    <a:bodyPr/>
                    <a:lstStyle/>
                    <a:p>
                      <a:pPr algn="l"/>
                      <a:r>
                        <a:rPr sz="1200">
                          <a:solidFill>
                            <a:srgbClr val="0D1B2A"/>
                          </a:solidFill>
                        </a:rPr>
                        <a:t>GitHub Copilot</a:t>
                      </a:r>
                    </a:p>
                  </a:txBody>
                  <a:tcPr>
                    <a:solidFill>
                      <a:srgbClr val="F0F4F8"/>
                    </a:solidFill>
                  </a:tcPr>
                </a:tc>
                <a:tc>
                  <a:txBody>
                    <a:bodyPr/>
                    <a:lstStyle/>
                    <a:p>
                      <a:pPr algn="l"/>
                      <a:r>
                        <a:rPr sz="1200">
                          <a:solidFill>
                            <a:srgbClr val="0D1B2A"/>
                          </a:solidFill>
                        </a:rPr>
                        <a:t>55% faster code completion, 46% more PRs merged/day</a:t>
                      </a:r>
                    </a:p>
                  </a:txBody>
                  <a:tcPr>
                    <a:solidFill>
                      <a:srgbClr val="F0F4F8"/>
                    </a:solidFill>
                  </a:tcPr>
                </a:tc>
              </a:tr>
              <a:tr h="475488">
                <a:tc>
                  <a:txBody>
                    <a:bodyPr/>
                    <a:lstStyle/>
                    <a:p>
                      <a:pPr algn="l"/>
                      <a:r>
                        <a:rPr sz="1200">
                          <a:solidFill>
                            <a:srgbClr val="0D1B2A"/>
                          </a:solidFill>
                        </a:rPr>
                        <a:t>Medtronic</a:t>
                      </a:r>
                    </a:p>
                  </a:txBody>
                  <a:tcPr>
                    <a:solidFill>
                      <a:srgbClr val="FFFFFF"/>
                    </a:solidFill>
                  </a:tcPr>
                </a:tc>
                <a:tc>
                  <a:txBody>
                    <a:bodyPr/>
                    <a:lstStyle/>
                    <a:p>
                      <a:pPr algn="l"/>
                      <a:r>
                        <a:rPr sz="1200">
                          <a:solidFill>
                            <a:srgbClr val="0D1B2A"/>
                          </a:solidFill>
                        </a:rPr>
                        <a:t>AI in quality management</a:t>
                      </a:r>
                    </a:p>
                  </a:txBody>
                  <a:tcPr>
                    <a:solidFill>
                      <a:srgbClr val="FFFFFF"/>
                    </a:solidFill>
                  </a:tcPr>
                </a:tc>
                <a:tc>
                  <a:txBody>
                    <a:bodyPr/>
                    <a:lstStyle/>
                    <a:p>
                      <a:pPr algn="l"/>
                      <a:r>
                        <a:rPr sz="1200">
                          <a:solidFill>
                            <a:srgbClr val="0D1B2A"/>
                          </a:solidFill>
                        </a:rPr>
                        <a:t>35% shorter CAPA cycle, faster FDA submissions</a:t>
                      </a:r>
                    </a:p>
                  </a:txBody>
                  <a:tcPr>
                    <a:solidFill>
                      <a:srgbClr val="FFFFFF"/>
                    </a:solidFill>
                  </a:tcPr>
                </a:tc>
              </a:tr>
              <a:tr h="475488">
                <a:tc>
                  <a:txBody>
                    <a:bodyPr/>
                    <a:lstStyle/>
                    <a:p>
                      <a:pPr algn="l"/>
                      <a:r>
                        <a:rPr sz="1200">
                          <a:solidFill>
                            <a:srgbClr val="0D1B2A"/>
                          </a:solidFill>
                        </a:rPr>
                        <a:t>Stryker</a:t>
                      </a:r>
                    </a:p>
                  </a:txBody>
                  <a:tcPr>
                    <a:solidFill>
                      <a:srgbClr val="F0F4F8"/>
                    </a:solidFill>
                  </a:tcPr>
                </a:tc>
                <a:tc>
                  <a:txBody>
                    <a:bodyPr/>
                    <a:lstStyle/>
                    <a:p>
                      <a:pPr algn="l"/>
                      <a:r>
                        <a:rPr sz="1200">
                          <a:solidFill>
                            <a:srgbClr val="0D1B2A"/>
                          </a:solidFill>
                        </a:rPr>
                        <a:t>AI regulatory documentation</a:t>
                      </a:r>
                    </a:p>
                  </a:txBody>
                  <a:tcPr>
                    <a:solidFill>
                      <a:srgbClr val="F0F4F8"/>
                    </a:solidFill>
                  </a:tcPr>
                </a:tc>
                <a:tc>
                  <a:txBody>
                    <a:bodyPr/>
                    <a:lstStyle/>
                    <a:p>
                      <a:pPr algn="l"/>
                      <a:r>
                        <a:rPr sz="1200">
                          <a:solidFill>
                            <a:srgbClr val="0D1B2A"/>
                          </a:solidFill>
                        </a:rPr>
                        <a:t>40% reduction in submission preparation time</a:t>
                      </a:r>
                    </a:p>
                  </a:txBody>
                  <a:tcPr>
                    <a:solidFill>
                      <a:srgbClr val="F0F4F8"/>
                    </a:solidFill>
                  </a:tcPr>
                </a:tc>
              </a:tr>
              <a:tr h="475488">
                <a:tc>
                  <a:txBody>
                    <a:bodyPr/>
                    <a:lstStyle/>
                    <a:p>
                      <a:pPr algn="l"/>
                      <a:r>
                        <a:rPr sz="1200">
                          <a:solidFill>
                            <a:srgbClr val="0D1B2A"/>
                          </a:solidFill>
                        </a:rPr>
                        <a:t>J&amp;J</a:t>
                      </a:r>
                    </a:p>
                  </a:txBody>
                  <a:tcPr>
                    <a:solidFill>
                      <a:srgbClr val="FFFFFF"/>
                    </a:solidFill>
                  </a:tcPr>
                </a:tc>
                <a:tc>
                  <a:txBody>
                    <a:bodyPr/>
                    <a:lstStyle/>
                    <a:p>
                      <a:pPr algn="l"/>
                      <a:r>
                        <a:rPr sz="1200">
                          <a:solidFill>
                            <a:srgbClr val="0D1B2A"/>
                          </a:solidFill>
                        </a:rPr>
                        <a:t>AI manufacturing analytics</a:t>
                      </a:r>
                    </a:p>
                  </a:txBody>
                  <a:tcPr>
                    <a:solidFill>
                      <a:srgbClr val="FFFFFF"/>
                    </a:solidFill>
                  </a:tcPr>
                </a:tc>
                <a:tc>
                  <a:txBody>
                    <a:bodyPr/>
                    <a:lstStyle/>
                    <a:p>
                      <a:pPr algn="l"/>
                      <a:r>
                        <a:rPr sz="1200">
                          <a:solidFill>
                            <a:srgbClr val="0D1B2A"/>
                          </a:solidFill>
                        </a:rPr>
                        <a:t>20% yield improvement, significant waste reduction</a:t>
                      </a:r>
                    </a:p>
                  </a:txBody>
                  <a:tcPr>
                    <a:solidFill>
                      <a:srgbClr val="FFFFFF"/>
                    </a:solidFill>
                  </a:tcPr>
                </a:tc>
              </a:tr>
            </a:tbl>
          </a:graphicData>
        </a:graphic>
      </p:graphicFrame>
      <p:sp>
        <p:nvSpPr>
          <p:cNvPr id="6" name="TextBox 5"/>
          <p:cNvSpPr txBox="1"/>
          <p:nvPr/>
        </p:nvSpPr>
        <p:spPr>
          <a:xfrm>
            <a:off x="457200" y="5879592"/>
            <a:ext cx="11247120" cy="365760"/>
          </a:xfrm>
          <a:prstGeom prst="rect">
            <a:avLst/>
          </a:prstGeom>
          <a:noFill/>
        </p:spPr>
        <p:txBody>
          <a:bodyPr wrap="square">
            <a:spAutoFit/>
          </a:bodyPr>
          <a:lstStyle/>
          <a:p>
            <a:pPr algn="l"/>
            <a:r>
              <a:rPr sz="1100" b="0" i="1">
                <a:solidFill>
                  <a:srgbClr val="647487"/>
                </a:solidFill>
              </a:rPr>
              <a:t>Sources: company annual reports, press releases, and published case studies (2023–2025).</a:t>
            </a:r>
          </a:p>
        </p:txBody>
      </p:sp>
      <p:sp>
        <p:nvSpPr>
          <p:cNvPr id="7" name="Rectangle 6"/>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Open Source (Apache 2.0) | github.com/Sumanharapanahalli/sage | March 2026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SAGE[ai] Is Built on Lean Principles</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Lean development + agentic AI — the natural pairing</a:t>
            </a:r>
          </a:p>
        </p:txBody>
      </p:sp>
      <p:graphicFrame>
        <p:nvGraphicFramePr>
          <p:cNvPr id="5" name="Table 4"/>
          <p:cNvGraphicFramePr>
            <a:graphicFrameLocks noGrp="1"/>
          </p:cNvGraphicFramePr>
          <p:nvPr/>
        </p:nvGraphicFramePr>
        <p:xfrm>
          <a:off x="457200" y="1508760"/>
          <a:ext cx="11247120" cy="3328416"/>
        </p:xfrm>
        <a:graphic>
          <a:graphicData uri="http://schemas.openxmlformats.org/drawingml/2006/table">
            <a:tbl>
              <a:tblPr firstRow="1" bandRow="1">
                <a:tableStyleId>{5C22544A-7EE6-4342-B048-85BDC9FD1C3A}</a:tableStyleId>
              </a:tblPr>
              <a:tblGrid>
                <a:gridCol w="3657600"/>
                <a:gridCol w="7589520"/>
              </a:tblGrid>
              <a:tr h="475488">
                <a:tc>
                  <a:txBody>
                    <a:bodyPr/>
                    <a:lstStyle/>
                    <a:p>
                      <a:pPr algn="ctr"/>
                      <a:r>
                        <a:rPr b="1" sz="1300">
                          <a:solidFill>
                            <a:srgbClr val="FFFFFF"/>
                          </a:solidFill>
                        </a:rPr>
                        <a:t>Lean Principle</a:t>
                      </a:r>
                    </a:p>
                  </a:txBody>
                  <a:tcPr>
                    <a:solidFill>
                      <a:srgbClr val="0078D4"/>
                    </a:solidFill>
                  </a:tcPr>
                </a:tc>
                <a:tc>
                  <a:txBody>
                    <a:bodyPr/>
                    <a:lstStyle/>
                    <a:p>
                      <a:pPr algn="ctr"/>
                      <a:r>
                        <a:rPr b="1" sz="1300">
                          <a:solidFill>
                            <a:srgbClr val="FFFFFF"/>
                          </a:solidFill>
                        </a:rPr>
                        <a:t>How SAGE[ai] Delivers</a:t>
                      </a:r>
                    </a:p>
                  </a:txBody>
                  <a:tcPr>
                    <a:solidFill>
                      <a:srgbClr val="0078D4"/>
                    </a:solidFill>
                  </a:tcPr>
                </a:tc>
              </a:tr>
              <a:tr h="475488">
                <a:tc>
                  <a:txBody>
                    <a:bodyPr/>
                    <a:lstStyle/>
                    <a:p>
                      <a:pPr algn="l"/>
                      <a:r>
                        <a:rPr sz="1200">
                          <a:solidFill>
                            <a:srgbClr val="0D1B2A"/>
                          </a:solidFill>
                        </a:rPr>
                        <a:t>Eliminate Waste (Muda)</a:t>
                      </a:r>
                    </a:p>
                  </a:txBody>
                  <a:tcPr>
                    <a:solidFill>
                      <a:srgbClr val="F0F4F8"/>
                    </a:solidFill>
                  </a:tcPr>
                </a:tc>
                <a:tc>
                  <a:txBody>
                    <a:bodyPr/>
                    <a:lstStyle/>
                    <a:p>
                      <a:pPr algn="l"/>
                      <a:r>
                        <a:rPr sz="1200">
                          <a:solidFill>
                            <a:srgbClr val="0D1B2A"/>
                          </a:solidFill>
                        </a:rPr>
                        <a:t>Removes 60+ hrs/week of repetitive analysis</a:t>
                      </a:r>
                    </a:p>
                  </a:txBody>
                  <a:tcPr>
                    <a:solidFill>
                      <a:srgbClr val="F0F4F8"/>
                    </a:solidFill>
                  </a:tcPr>
                </a:tc>
              </a:tr>
              <a:tr h="475488">
                <a:tc>
                  <a:txBody>
                    <a:bodyPr/>
                    <a:lstStyle/>
                    <a:p>
                      <a:pPr algn="l"/>
                      <a:r>
                        <a:rPr sz="1200">
                          <a:solidFill>
                            <a:srgbClr val="0D1B2A"/>
                          </a:solidFill>
                        </a:rPr>
                        <a:t>Continuous Improvement (Kaizen)</a:t>
                      </a:r>
                    </a:p>
                  </a:txBody>
                  <a:tcPr>
                    <a:solidFill>
                      <a:srgbClr val="FFFFFF"/>
                    </a:solidFill>
                  </a:tcPr>
                </a:tc>
                <a:tc>
                  <a:txBody>
                    <a:bodyPr/>
                    <a:lstStyle/>
                    <a:p>
                      <a:pPr algn="l"/>
                      <a:r>
                        <a:rPr sz="1200">
                          <a:solidFill>
                            <a:srgbClr val="0D1B2A"/>
                          </a:solidFill>
                        </a:rPr>
                        <a:t>Learns from every rejection via RAG memory</a:t>
                      </a:r>
                    </a:p>
                  </a:txBody>
                  <a:tcPr>
                    <a:solidFill>
                      <a:srgbClr val="FFFFFF"/>
                    </a:solidFill>
                  </a:tcPr>
                </a:tc>
              </a:tr>
              <a:tr h="475488">
                <a:tc>
                  <a:txBody>
                    <a:bodyPr/>
                    <a:lstStyle/>
                    <a:p>
                      <a:pPr algn="l"/>
                      <a:r>
                        <a:rPr sz="1200">
                          <a:solidFill>
                            <a:srgbClr val="0D1B2A"/>
                          </a:solidFill>
                        </a:rPr>
                        <a:t>Error-Proofing (Poka-yoke)</a:t>
                      </a:r>
                    </a:p>
                  </a:txBody>
                  <a:tcPr>
                    <a:solidFill>
                      <a:srgbClr val="F0F4F8"/>
                    </a:solidFill>
                  </a:tcPr>
                </a:tc>
                <a:tc>
                  <a:txBody>
                    <a:bodyPr/>
                    <a:lstStyle/>
                    <a:p>
                      <a:pPr algn="l"/>
                      <a:r>
                        <a:rPr sz="1200">
                          <a:solidFill>
                            <a:srgbClr val="0D1B2A"/>
                          </a:solidFill>
                        </a:rPr>
                        <a:t>Human-in-the-loop prevents AI errors reaching production</a:t>
                      </a:r>
                    </a:p>
                  </a:txBody>
                  <a:tcPr>
                    <a:solidFill>
                      <a:srgbClr val="F0F4F8"/>
                    </a:solidFill>
                  </a:tcPr>
                </a:tc>
              </a:tr>
              <a:tr h="475488">
                <a:tc>
                  <a:txBody>
                    <a:bodyPr/>
                    <a:lstStyle/>
                    <a:p>
                      <a:pPr algn="l"/>
                      <a:r>
                        <a:rPr sz="1200">
                          <a:solidFill>
                            <a:srgbClr val="0D1B2A"/>
                          </a:solidFill>
                        </a:rPr>
                        <a:t>Visual Management</a:t>
                      </a:r>
                    </a:p>
                  </a:txBody>
                  <a:tcPr>
                    <a:solidFill>
                      <a:srgbClr val="FFFFFF"/>
                    </a:solidFill>
                  </a:tcPr>
                </a:tc>
                <a:tc>
                  <a:txBody>
                    <a:bodyPr/>
                    <a:lstStyle/>
                    <a:p>
                      <a:pPr algn="l"/>
                      <a:r>
                        <a:rPr sz="1200">
                          <a:solidFill>
                            <a:srgbClr val="0D1B2A"/>
                          </a:solidFill>
                        </a:rPr>
                        <a:t>Real-time dashboard for all stakeholders</a:t>
                      </a:r>
                    </a:p>
                  </a:txBody>
                  <a:tcPr>
                    <a:solidFill>
                      <a:srgbClr val="FFFFFF"/>
                    </a:solidFill>
                  </a:tcPr>
                </a:tc>
              </a:tr>
              <a:tr h="475488">
                <a:tc>
                  <a:txBody>
                    <a:bodyPr/>
                    <a:lstStyle/>
                    <a:p>
                      <a:pPr algn="l"/>
                      <a:r>
                        <a:rPr sz="1200">
                          <a:solidFill>
                            <a:srgbClr val="0D1B2A"/>
                          </a:solidFill>
                        </a:rPr>
                        <a:t>Single Piece Flow</a:t>
                      </a:r>
                    </a:p>
                  </a:txBody>
                  <a:tcPr>
                    <a:solidFill>
                      <a:srgbClr val="F0F4F8"/>
                    </a:solidFill>
                  </a:tcPr>
                </a:tc>
                <a:tc>
                  <a:txBody>
                    <a:bodyPr/>
                    <a:lstStyle/>
                    <a:p>
                      <a:pPr algn="l"/>
                      <a:r>
                        <a:rPr sz="1200">
                          <a:solidFill>
                            <a:srgbClr val="0D1B2A"/>
                          </a:solidFill>
                        </a:rPr>
                        <a:t>Single-lane task queue: deterministic, auditable</a:t>
                      </a:r>
                    </a:p>
                  </a:txBody>
                  <a:tcPr>
                    <a:solidFill>
                      <a:srgbClr val="F0F4F8"/>
                    </a:solidFill>
                  </a:tcPr>
                </a:tc>
              </a:tr>
              <a:tr h="475488">
                <a:tc>
                  <a:txBody>
                    <a:bodyPr/>
                    <a:lstStyle/>
                    <a:p>
                      <a:pPr algn="l"/>
                      <a:r>
                        <a:rPr sz="1200">
                          <a:solidFill>
                            <a:srgbClr val="0D1B2A"/>
                          </a:solidFill>
                        </a:rPr>
                        <a:t>Respect for People</a:t>
                      </a:r>
                    </a:p>
                  </a:txBody>
                  <a:tcPr>
                    <a:solidFill>
                      <a:srgbClr val="FFFFFF"/>
                    </a:solidFill>
                  </a:tcPr>
                </a:tc>
                <a:tc>
                  <a:txBody>
                    <a:bodyPr/>
                    <a:lstStyle/>
                    <a:p>
                      <a:pPr algn="l"/>
                      <a:r>
                        <a:rPr sz="1200">
                          <a:solidFill>
                            <a:srgbClr val="0D1B2A"/>
                          </a:solidFill>
                        </a:rPr>
                        <a:t>Amplifies engineers; never replaces human judgment</a:t>
                      </a:r>
                    </a:p>
                  </a:txBody>
                  <a:tcPr>
                    <a:solidFill>
                      <a:srgbClr val="FFFFFF"/>
                    </a:solidFill>
                  </a:tcPr>
                </a:tc>
              </a:tr>
            </a:tbl>
          </a:graphicData>
        </a:graphic>
      </p:graphicFrame>
      <p:sp>
        <p:nvSpPr>
          <p:cNvPr id="6" name="Rectangle 5"/>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Open Source (Apache 2.0) | github.com/Sumanharapanahalli/sage | March 2026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Return on Investment: Month 2 Payback</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Conservative baseline — replace with your actual measured numbers</a:t>
            </a:r>
          </a:p>
        </p:txBody>
      </p:sp>
      <p:graphicFrame>
        <p:nvGraphicFramePr>
          <p:cNvPr id="5" name="Table 4"/>
          <p:cNvGraphicFramePr>
            <a:graphicFrameLocks noGrp="1"/>
          </p:cNvGraphicFramePr>
          <p:nvPr/>
        </p:nvGraphicFramePr>
        <p:xfrm>
          <a:off x="457200" y="1508760"/>
          <a:ext cx="11247120" cy="2852928"/>
        </p:xfrm>
        <a:graphic>
          <a:graphicData uri="http://schemas.openxmlformats.org/drawingml/2006/table">
            <a:tbl>
              <a:tblPr firstRow="1" bandRow="1">
                <a:tableStyleId>{5C22544A-7EE6-4342-B048-85BDC9FD1C3A}</a:tableStyleId>
              </a:tblPr>
              <a:tblGrid>
                <a:gridCol w="2560320"/>
                <a:gridCol w="3474720"/>
                <a:gridCol w="2560320"/>
                <a:gridCol w="2651760"/>
              </a:tblGrid>
              <a:tr h="475488">
                <a:tc>
                  <a:txBody>
                    <a:bodyPr/>
                    <a:lstStyle/>
                    <a:p>
                      <a:pPr algn="ctr"/>
                      <a:r>
                        <a:rPr b="1" sz="1300">
                          <a:solidFill>
                            <a:srgbClr val="FFFFFF"/>
                          </a:solidFill>
                        </a:rPr>
                        <a:t>Activity</a:t>
                      </a:r>
                    </a:p>
                  </a:txBody>
                  <a:tcPr>
                    <a:solidFill>
                      <a:srgbClr val="0078D4"/>
                    </a:solidFill>
                  </a:tcPr>
                </a:tc>
                <a:tc>
                  <a:txBody>
                    <a:bodyPr/>
                    <a:lstStyle/>
                    <a:p>
                      <a:pPr algn="ctr"/>
                      <a:r>
                        <a:rPr b="1" sz="1300">
                          <a:solidFill>
                            <a:srgbClr val="FFFFFF"/>
                          </a:solidFill>
                        </a:rPr>
                        <a:t>Before SAGE[ai]</a:t>
                      </a:r>
                    </a:p>
                  </a:txBody>
                  <a:tcPr>
                    <a:solidFill>
                      <a:srgbClr val="0078D4"/>
                    </a:solidFill>
                  </a:tcPr>
                </a:tc>
                <a:tc>
                  <a:txBody>
                    <a:bodyPr/>
                    <a:lstStyle/>
                    <a:p>
                      <a:pPr algn="ctr"/>
                      <a:r>
                        <a:rPr b="1" sz="1300">
                          <a:solidFill>
                            <a:srgbClr val="FFFFFF"/>
                          </a:solidFill>
                        </a:rPr>
                        <a:t>After SAGE[ai]</a:t>
                      </a:r>
                    </a:p>
                  </a:txBody>
                  <a:tcPr>
                    <a:solidFill>
                      <a:srgbClr val="0078D4"/>
                    </a:solidFill>
                  </a:tcPr>
                </a:tc>
                <a:tc>
                  <a:txBody>
                    <a:bodyPr/>
                    <a:lstStyle/>
                    <a:p>
                      <a:pPr algn="ctr"/>
                      <a:r>
                        <a:rPr b="1" sz="1300">
                          <a:solidFill>
                            <a:srgbClr val="FFFFFF"/>
                          </a:solidFill>
                        </a:rPr>
                        <a:t>Savings</a:t>
                      </a:r>
                    </a:p>
                  </a:txBody>
                  <a:tcPr>
                    <a:solidFill>
                      <a:srgbClr val="0078D4"/>
                    </a:solidFill>
                  </a:tcPr>
                </a:tc>
              </a:tr>
              <a:tr h="475488">
                <a:tc>
                  <a:txBody>
                    <a:bodyPr/>
                    <a:lstStyle/>
                    <a:p>
                      <a:pPr algn="l"/>
                      <a:r>
                        <a:rPr sz="1200">
                          <a:solidFill>
                            <a:srgbClr val="0D1B2A"/>
                          </a:solidFill>
                        </a:rPr>
                        <a:t>Error log analysis</a:t>
                      </a:r>
                    </a:p>
                  </a:txBody>
                  <a:tcPr>
                    <a:solidFill>
                      <a:srgbClr val="F0F4F8"/>
                    </a:solidFill>
                  </a:tcPr>
                </a:tc>
                <a:tc>
                  <a:txBody>
                    <a:bodyPr/>
                    <a:lstStyle/>
                    <a:p>
                      <a:pPr algn="l"/>
                      <a:r>
                        <a:rPr sz="1200">
                          <a:solidFill>
                            <a:srgbClr val="0D1B2A"/>
                          </a:solidFill>
                        </a:rPr>
                        <a:t>45 min × 10/day × 2 eng = 15 hrs/day</a:t>
                      </a:r>
                    </a:p>
                  </a:txBody>
                  <a:tcPr>
                    <a:solidFill>
                      <a:srgbClr val="F0F4F8"/>
                    </a:solidFill>
                  </a:tcPr>
                </a:tc>
                <a:tc>
                  <a:txBody>
                    <a:bodyPr/>
                    <a:lstStyle/>
                    <a:p>
                      <a:pPr algn="l"/>
                      <a:r>
                        <a:rPr sz="1200">
                          <a:solidFill>
                            <a:srgbClr val="0D1B2A"/>
                          </a:solidFill>
                        </a:rPr>
                        <a:t>&lt; 5 min total</a:t>
                      </a:r>
                    </a:p>
                  </a:txBody>
                  <a:tcPr>
                    <a:solidFill>
                      <a:srgbClr val="F0F4F8"/>
                    </a:solidFill>
                  </a:tcPr>
                </a:tc>
                <a:tc>
                  <a:txBody>
                    <a:bodyPr/>
                    <a:lstStyle/>
                    <a:p>
                      <a:pPr algn="l"/>
                      <a:r>
                        <a:rPr sz="1200">
                          <a:solidFill>
                            <a:srgbClr val="0D1B2A"/>
                          </a:solidFill>
                        </a:rPr>
                        <a:t>~93% reduction</a:t>
                      </a:r>
                    </a:p>
                  </a:txBody>
                  <a:tcPr>
                    <a:solidFill>
                      <a:srgbClr val="F0F4F8"/>
                    </a:solidFill>
                  </a:tcPr>
                </a:tc>
              </a:tr>
              <a:tr h="475488">
                <a:tc>
                  <a:txBody>
                    <a:bodyPr/>
                    <a:lstStyle/>
                    <a:p>
                      <a:pPr algn="l"/>
                      <a:r>
                        <a:rPr sz="1200">
                          <a:solidFill>
                            <a:srgbClr val="0D1B2A"/>
                          </a:solidFill>
                        </a:rPr>
                        <a:t>MR code review</a:t>
                      </a:r>
                    </a:p>
                  </a:txBody>
                  <a:tcPr>
                    <a:solidFill>
                      <a:srgbClr val="FFFFFF"/>
                    </a:solidFill>
                  </a:tcPr>
                </a:tc>
                <a:tc>
                  <a:txBody>
                    <a:bodyPr/>
                    <a:lstStyle/>
                    <a:p>
                      <a:pPr algn="l"/>
                      <a:r>
                        <a:rPr sz="1200">
                          <a:solidFill>
                            <a:srgbClr val="0D1B2A"/>
                          </a:solidFill>
                        </a:rPr>
                        <a:t>3 hrs × 15 MRs/week = 45 hrs/week</a:t>
                      </a:r>
                    </a:p>
                  </a:txBody>
                  <a:tcPr>
                    <a:solidFill>
                      <a:srgbClr val="FFFFFF"/>
                    </a:solidFill>
                  </a:tcPr>
                </a:tc>
                <a:tc>
                  <a:txBody>
                    <a:bodyPr/>
                    <a:lstStyle/>
                    <a:p>
                      <a:pPr algn="l"/>
                      <a:r>
                        <a:rPr sz="1200">
                          <a:solidFill>
                            <a:srgbClr val="0D1B2A"/>
                          </a:solidFill>
                        </a:rPr>
                        <a:t>~4 hrs/week</a:t>
                      </a:r>
                    </a:p>
                  </a:txBody>
                  <a:tcPr>
                    <a:solidFill>
                      <a:srgbClr val="FFFFFF"/>
                    </a:solidFill>
                  </a:tcPr>
                </a:tc>
                <a:tc>
                  <a:txBody>
                    <a:bodyPr/>
                    <a:lstStyle/>
                    <a:p>
                      <a:pPr algn="l"/>
                      <a:r>
                        <a:rPr sz="1200">
                          <a:solidFill>
                            <a:srgbClr val="0D1B2A"/>
                          </a:solidFill>
                        </a:rPr>
                        <a:t>~91% reduction</a:t>
                      </a:r>
                    </a:p>
                  </a:txBody>
                  <a:tcPr>
                    <a:solidFill>
                      <a:srgbClr val="FFFFFF"/>
                    </a:solidFill>
                  </a:tcPr>
                </a:tc>
              </a:tr>
              <a:tr h="475488">
                <a:tc>
                  <a:txBody>
                    <a:bodyPr/>
                    <a:lstStyle/>
                    <a:p>
                      <a:pPr algn="l"/>
                      <a:r>
                        <a:rPr sz="1200">
                          <a:solidFill>
                            <a:srgbClr val="0D1B2A"/>
                          </a:solidFill>
                        </a:rPr>
                        <a:t>Compliance reporting</a:t>
                      </a:r>
                    </a:p>
                  </a:txBody>
                  <a:tcPr>
                    <a:solidFill>
                      <a:srgbClr val="F0F4F8"/>
                    </a:solidFill>
                  </a:tcPr>
                </a:tc>
                <a:tc>
                  <a:txBody>
                    <a:bodyPr/>
                    <a:lstStyle/>
                    <a:p>
                      <a:pPr algn="l"/>
                      <a:r>
                        <a:rPr sz="1200">
                          <a:solidFill>
                            <a:srgbClr val="0D1B2A"/>
                          </a:solidFill>
                        </a:rPr>
                        <a:t>8 hrs/week manual</a:t>
                      </a:r>
                    </a:p>
                  </a:txBody>
                  <a:tcPr>
                    <a:solidFill>
                      <a:srgbClr val="F0F4F8"/>
                    </a:solidFill>
                  </a:tcPr>
                </a:tc>
                <a:tc>
                  <a:txBody>
                    <a:bodyPr/>
                    <a:lstStyle/>
                    <a:p>
                      <a:pPr algn="l"/>
                      <a:r>
                        <a:rPr sz="1200">
                          <a:solidFill>
                            <a:srgbClr val="0D1B2A"/>
                          </a:solidFill>
                        </a:rPr>
                        <a:t>0 hrs (auto-gen)</a:t>
                      </a:r>
                    </a:p>
                  </a:txBody>
                  <a:tcPr>
                    <a:solidFill>
                      <a:srgbClr val="F0F4F8"/>
                    </a:solidFill>
                  </a:tcPr>
                </a:tc>
                <a:tc>
                  <a:txBody>
                    <a:bodyPr/>
                    <a:lstStyle/>
                    <a:p>
                      <a:pPr algn="l"/>
                      <a:r>
                        <a:rPr sz="1200">
                          <a:solidFill>
                            <a:srgbClr val="0D1B2A"/>
                          </a:solidFill>
                        </a:rPr>
                        <a:t>~100% reduction</a:t>
                      </a:r>
                    </a:p>
                  </a:txBody>
                  <a:tcPr>
                    <a:solidFill>
                      <a:srgbClr val="F0F4F8"/>
                    </a:solidFill>
                  </a:tcPr>
                </a:tc>
              </a:tr>
              <a:tr h="475488">
                <a:tc>
                  <a:txBody>
                    <a:bodyPr/>
                    <a:lstStyle/>
                    <a:p>
                      <a:pPr algn="l"/>
                      <a:r>
                        <a:rPr sz="1200">
                          <a:solidFill>
                            <a:srgbClr val="0D1B2A"/>
                          </a:solidFill>
                        </a:rPr>
                        <a:t>Knowledge capture</a:t>
                      </a:r>
                    </a:p>
                  </a:txBody>
                  <a:tcPr>
                    <a:solidFill>
                      <a:srgbClr val="FFFFFF"/>
                    </a:solidFill>
                  </a:tcPr>
                </a:tc>
                <a:tc>
                  <a:txBody>
                    <a:bodyPr/>
                    <a:lstStyle/>
                    <a:p>
                      <a:pPr algn="l"/>
                      <a:r>
                        <a:rPr sz="1200">
                          <a:solidFill>
                            <a:srgbClr val="0D1B2A"/>
                          </a:solidFill>
                        </a:rPr>
                        <a:t>Lost on attrition</a:t>
                      </a:r>
                    </a:p>
                  </a:txBody>
                  <a:tcPr>
                    <a:solidFill>
                      <a:srgbClr val="FFFFFF"/>
                    </a:solidFill>
                  </a:tcPr>
                </a:tc>
                <a:tc>
                  <a:txBody>
                    <a:bodyPr/>
                    <a:lstStyle/>
                    <a:p>
                      <a:pPr algn="l"/>
                      <a:r>
                        <a:rPr sz="1200">
                          <a:solidFill>
                            <a:srgbClr val="0D1B2A"/>
                          </a:solidFill>
                        </a:rPr>
                        <a:t>Stored in vector mem</a:t>
                      </a:r>
                    </a:p>
                  </a:txBody>
                  <a:tcPr>
                    <a:solidFill>
                      <a:srgbClr val="FFFFFF"/>
                    </a:solidFill>
                  </a:tcPr>
                </a:tc>
                <a:tc>
                  <a:txBody>
                    <a:bodyPr/>
                    <a:lstStyle/>
                    <a:p>
                      <a:pPr algn="l"/>
                      <a:r>
                        <a:rPr sz="1200">
                          <a:solidFill>
                            <a:srgbClr val="0D1B2A"/>
                          </a:solidFill>
                        </a:rPr>
                        <a:t>Permanent</a:t>
                      </a:r>
                    </a:p>
                  </a:txBody>
                  <a:tcPr>
                    <a:solidFill>
                      <a:srgbClr val="FFFFFF"/>
                    </a:solidFill>
                  </a:tcPr>
                </a:tc>
              </a:tr>
              <a:tr h="475488">
                <a:tc>
                  <a:txBody>
                    <a:bodyPr/>
                    <a:lstStyle/>
                    <a:p>
                      <a:pPr algn="l"/>
                      <a:r>
                        <a:rPr sz="1200">
                          <a:solidFill>
                            <a:srgbClr val="0D1B2A"/>
                          </a:solidFill>
                        </a:rPr>
                        <a:t>TOTAL SAVINGS</a:t>
                      </a:r>
                    </a:p>
                  </a:txBody>
                  <a:tcPr>
                    <a:solidFill>
                      <a:srgbClr val="F0F4F8"/>
                    </a:solidFill>
                  </a:tcPr>
                </a:tc>
                <a:tc>
                  <a:txBody>
                    <a:bodyPr/>
                    <a:lstStyle/>
                    <a:p>
                      <a:pPr algn="l"/>
                      <a:r>
                        <a:rPr sz="1200">
                          <a:solidFill>
                            <a:srgbClr val="0D1B2A"/>
                          </a:solidFill>
                        </a:rPr>
                        <a:t>68 hrs/week ≈ 1.7 FTE</a:t>
                      </a:r>
                    </a:p>
                  </a:txBody>
                  <a:tcPr>
                    <a:solidFill>
                      <a:srgbClr val="F0F4F8"/>
                    </a:solidFill>
                  </a:tcPr>
                </a:tc>
                <a:tc>
                  <a:txBody>
                    <a:bodyPr/>
                    <a:lstStyle/>
                    <a:p>
                      <a:pPr algn="l"/>
                      <a:r>
                        <a:rPr sz="1200">
                          <a:solidFill>
                            <a:srgbClr val="0D1B2A"/>
                          </a:solidFill>
                        </a:rPr>
                        <a:t>—</a:t>
                      </a:r>
                    </a:p>
                  </a:txBody>
                  <a:tcPr>
                    <a:solidFill>
                      <a:srgbClr val="F0F4F8"/>
                    </a:solidFill>
                  </a:tcPr>
                </a:tc>
                <a:tc>
                  <a:txBody>
                    <a:bodyPr/>
                    <a:lstStyle/>
                    <a:p>
                      <a:pPr algn="l"/>
                      <a:r>
                        <a:rPr sz="1200">
                          <a:solidFill>
                            <a:srgbClr val="0D1B2A"/>
                          </a:solidFill>
                        </a:rPr>
                        <a:t>~€120K/yr*</a:t>
                      </a:r>
                    </a:p>
                  </a:txBody>
                  <a:tcPr>
                    <a:solidFill>
                      <a:srgbClr val="F0F4F8"/>
                    </a:solidFill>
                  </a:tcPr>
                </a:tc>
              </a:tr>
            </a:tbl>
          </a:graphicData>
        </a:graphic>
      </p:graphicFrame>
      <p:sp>
        <p:nvSpPr>
          <p:cNvPr id="6" name="TextBox 5"/>
          <p:cNvSpPr txBox="1"/>
          <p:nvPr/>
        </p:nvSpPr>
        <p:spPr>
          <a:xfrm>
            <a:off x="457200" y="4453128"/>
            <a:ext cx="11247120" cy="365760"/>
          </a:xfrm>
          <a:prstGeom prst="rect">
            <a:avLst/>
          </a:prstGeom>
          <a:noFill/>
        </p:spPr>
        <p:txBody>
          <a:bodyPr wrap="square">
            <a:spAutoFit/>
          </a:bodyPr>
          <a:lstStyle/>
          <a:p>
            <a:pPr algn="l"/>
            <a:r>
              <a:rPr sz="1100" b="0" i="1">
                <a:solidFill>
                  <a:srgbClr val="647487"/>
                </a:solidFill>
              </a:rPr>
              <a:t>* All figures are ASSUMPTION-BASED estimates. Replace with actual team data before presenting externally.</a:t>
            </a:r>
          </a:p>
        </p:txBody>
      </p:sp>
      <p:sp>
        <p:nvSpPr>
          <p:cNvPr id="7" name="Rectangle 6"/>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Open Source (Apache 2.0) | github.com/Sumanharapanahalli/sage | March 2026</a:t>
            </a:r>
          </a:p>
        </p:txBody>
      </p:sp>
      <p:sp>
        <p:nvSpPr>
          <p:cNvPr id="9" name="Rectangle 8"/>
          <p:cNvSpPr/>
          <p:nvPr/>
        </p:nvSpPr>
        <p:spPr>
          <a:xfrm>
            <a:off x="0" y="5989320"/>
            <a:ext cx="12188952" cy="530352"/>
          </a:xfrm>
          <a:prstGeom prst="rect">
            <a:avLst/>
          </a:prstGeom>
          <a:solidFill>
            <a:srgbClr val="FFF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007608"/>
            <a:ext cx="11612880" cy="493776"/>
          </a:xfrm>
          <a:prstGeom prst="rect">
            <a:avLst/>
          </a:prstGeom>
          <a:noFill/>
        </p:spPr>
        <p:txBody>
          <a:bodyPr wrap="square">
            <a:spAutoFit/>
          </a:bodyPr>
          <a:lstStyle/>
          <a:p>
            <a:pPr algn="l"/>
            <a:r>
              <a:rPr sz="850" b="0" i="1">
                <a:solidFill>
                  <a:srgbClr val="7B4F00"/>
                </a:solidFill>
              </a:rPr>
              <a:t>IMPORTANT: All financial figures, FTE savings, and ROI estimates on this slide are based on internal assumptions and industry benchmarks. They must be validated and replaced with actual measured data before any business decision is made.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Simple, Auditable, Secure Architecture</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End-to-end data flow — one direction, fully logged</a:t>
            </a:r>
          </a:p>
        </p:txBody>
      </p:sp>
      <p:sp>
        <p:nvSpPr>
          <p:cNvPr id="5" name="Rectangle 4"/>
          <p:cNvSpPr/>
          <p:nvPr/>
        </p:nvSpPr>
        <p:spPr>
          <a:xfrm>
            <a:off x="274320" y="1645920"/>
            <a:ext cx="1691640" cy="10972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1691640"/>
            <a:ext cx="1691640" cy="1005840"/>
          </a:xfrm>
          <a:prstGeom prst="rect">
            <a:avLst/>
          </a:prstGeom>
          <a:noFill/>
        </p:spPr>
        <p:txBody>
          <a:bodyPr wrap="square">
            <a:spAutoFit/>
          </a:bodyPr>
          <a:lstStyle/>
          <a:p>
            <a:pPr algn="ctr"/>
            <a:r>
              <a:rPr sz="1200" b="1" i="0">
                <a:solidFill>
                  <a:srgbClr val="FFFFFF"/>
                </a:solidFill>
              </a:rPr>
              <a:t>Event
Sources</a:t>
            </a:r>
          </a:p>
        </p:txBody>
      </p:sp>
      <p:sp>
        <p:nvSpPr>
          <p:cNvPr id="7" name="TextBox 6"/>
          <p:cNvSpPr txBox="1"/>
          <p:nvPr/>
        </p:nvSpPr>
        <p:spPr>
          <a:xfrm>
            <a:off x="1965960" y="2011680"/>
            <a:ext cx="365760" cy="457200"/>
          </a:xfrm>
          <a:prstGeom prst="rect">
            <a:avLst/>
          </a:prstGeom>
          <a:noFill/>
        </p:spPr>
        <p:txBody>
          <a:bodyPr wrap="square">
            <a:spAutoFit/>
          </a:bodyPr>
          <a:lstStyle/>
          <a:p>
            <a:pPr algn="ctr"/>
            <a:r>
              <a:rPr sz="2200" b="1" i="0">
                <a:solidFill>
                  <a:srgbClr val="0D1B2A"/>
                </a:solidFill>
              </a:rPr>
              <a:t>→</a:t>
            </a:r>
          </a:p>
        </p:txBody>
      </p:sp>
      <p:sp>
        <p:nvSpPr>
          <p:cNvPr id="8" name="Rectangle 7"/>
          <p:cNvSpPr/>
          <p:nvPr/>
        </p:nvSpPr>
        <p:spPr>
          <a:xfrm>
            <a:off x="2103120" y="1645920"/>
            <a:ext cx="1691640" cy="109728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103120" y="1691640"/>
            <a:ext cx="1691640" cy="1005840"/>
          </a:xfrm>
          <a:prstGeom prst="rect">
            <a:avLst/>
          </a:prstGeom>
          <a:noFill/>
        </p:spPr>
        <p:txBody>
          <a:bodyPr wrap="square">
            <a:spAutoFit/>
          </a:bodyPr>
          <a:lstStyle/>
          <a:p>
            <a:pPr algn="ctr"/>
            <a:r>
              <a:rPr sz="1200" b="1" i="0">
                <a:solidFill>
                  <a:srgbClr val="FFFFFF"/>
                </a:solidFill>
              </a:rPr>
              <a:t>Monitor
Agent</a:t>
            </a:r>
          </a:p>
        </p:txBody>
      </p:sp>
      <p:sp>
        <p:nvSpPr>
          <p:cNvPr id="10" name="TextBox 9"/>
          <p:cNvSpPr txBox="1"/>
          <p:nvPr/>
        </p:nvSpPr>
        <p:spPr>
          <a:xfrm>
            <a:off x="3794760" y="2011680"/>
            <a:ext cx="365760" cy="457200"/>
          </a:xfrm>
          <a:prstGeom prst="rect">
            <a:avLst/>
          </a:prstGeom>
          <a:noFill/>
        </p:spPr>
        <p:txBody>
          <a:bodyPr wrap="square">
            <a:spAutoFit/>
          </a:bodyPr>
          <a:lstStyle/>
          <a:p>
            <a:pPr algn="ctr"/>
            <a:r>
              <a:rPr sz="2200" b="1" i="0">
                <a:solidFill>
                  <a:srgbClr val="0D1B2A"/>
                </a:solidFill>
              </a:rPr>
              <a:t>→</a:t>
            </a:r>
          </a:p>
        </p:txBody>
      </p:sp>
      <p:sp>
        <p:nvSpPr>
          <p:cNvPr id="11" name="Rectangle 10"/>
          <p:cNvSpPr/>
          <p:nvPr/>
        </p:nvSpPr>
        <p:spPr>
          <a:xfrm>
            <a:off x="3931920" y="1645920"/>
            <a:ext cx="1691640" cy="109728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931920" y="1691640"/>
            <a:ext cx="1691640" cy="1005840"/>
          </a:xfrm>
          <a:prstGeom prst="rect">
            <a:avLst/>
          </a:prstGeom>
          <a:noFill/>
        </p:spPr>
        <p:txBody>
          <a:bodyPr wrap="square">
            <a:spAutoFit/>
          </a:bodyPr>
          <a:lstStyle/>
          <a:p>
            <a:pPr algn="ctr"/>
            <a:r>
              <a:rPr sz="1200" b="1" i="0">
                <a:solidFill>
                  <a:srgbClr val="FFFFFF"/>
                </a:solidFill>
              </a:rPr>
              <a:t>Task
Queue</a:t>
            </a:r>
          </a:p>
        </p:txBody>
      </p:sp>
      <p:sp>
        <p:nvSpPr>
          <p:cNvPr id="13" name="TextBox 12"/>
          <p:cNvSpPr txBox="1"/>
          <p:nvPr/>
        </p:nvSpPr>
        <p:spPr>
          <a:xfrm>
            <a:off x="5623560" y="2011680"/>
            <a:ext cx="365760" cy="457200"/>
          </a:xfrm>
          <a:prstGeom prst="rect">
            <a:avLst/>
          </a:prstGeom>
          <a:noFill/>
        </p:spPr>
        <p:txBody>
          <a:bodyPr wrap="square">
            <a:spAutoFit/>
          </a:bodyPr>
          <a:lstStyle/>
          <a:p>
            <a:pPr algn="ctr"/>
            <a:r>
              <a:rPr sz="2200" b="1" i="0">
                <a:solidFill>
                  <a:srgbClr val="0D1B2A"/>
                </a:solidFill>
              </a:rPr>
              <a:t>→</a:t>
            </a:r>
          </a:p>
        </p:txBody>
      </p:sp>
      <p:sp>
        <p:nvSpPr>
          <p:cNvPr id="14" name="Rectangle 13"/>
          <p:cNvSpPr/>
          <p:nvPr/>
        </p:nvSpPr>
        <p:spPr>
          <a:xfrm>
            <a:off x="5760720" y="1645920"/>
            <a:ext cx="1691640" cy="109728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0" y="1691640"/>
            <a:ext cx="1691640" cy="1005840"/>
          </a:xfrm>
          <a:prstGeom prst="rect">
            <a:avLst/>
          </a:prstGeom>
          <a:noFill/>
        </p:spPr>
        <p:txBody>
          <a:bodyPr wrap="square">
            <a:spAutoFit/>
          </a:bodyPr>
          <a:lstStyle/>
          <a:p>
            <a:pPr algn="ctr"/>
            <a:r>
              <a:rPr sz="1200" b="1" i="0">
                <a:solidFill>
                  <a:srgbClr val="FFFFFF"/>
                </a:solidFill>
              </a:rPr>
              <a:t>Analyst /
Dev Agent</a:t>
            </a:r>
          </a:p>
        </p:txBody>
      </p:sp>
      <p:sp>
        <p:nvSpPr>
          <p:cNvPr id="16" name="TextBox 15"/>
          <p:cNvSpPr txBox="1"/>
          <p:nvPr/>
        </p:nvSpPr>
        <p:spPr>
          <a:xfrm>
            <a:off x="7452360" y="2011680"/>
            <a:ext cx="365760" cy="457200"/>
          </a:xfrm>
          <a:prstGeom prst="rect">
            <a:avLst/>
          </a:prstGeom>
          <a:noFill/>
        </p:spPr>
        <p:txBody>
          <a:bodyPr wrap="square">
            <a:spAutoFit/>
          </a:bodyPr>
          <a:lstStyle/>
          <a:p>
            <a:pPr algn="ctr"/>
            <a:r>
              <a:rPr sz="2200" b="1" i="0">
                <a:solidFill>
                  <a:srgbClr val="0D1B2A"/>
                </a:solidFill>
              </a:rPr>
              <a:t>→</a:t>
            </a:r>
          </a:p>
        </p:txBody>
      </p:sp>
      <p:sp>
        <p:nvSpPr>
          <p:cNvPr id="17" name="Rectangle 16"/>
          <p:cNvSpPr/>
          <p:nvPr/>
        </p:nvSpPr>
        <p:spPr>
          <a:xfrm>
            <a:off x="7863840" y="1645920"/>
            <a:ext cx="1691640" cy="1097280"/>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0" y="1691640"/>
            <a:ext cx="1691640" cy="1005840"/>
          </a:xfrm>
          <a:prstGeom prst="rect">
            <a:avLst/>
          </a:prstGeom>
          <a:noFill/>
        </p:spPr>
        <p:txBody>
          <a:bodyPr wrap="square">
            <a:spAutoFit/>
          </a:bodyPr>
          <a:lstStyle/>
          <a:p>
            <a:pPr algn="ctr"/>
            <a:r>
              <a:rPr sz="1200" b="1" i="0">
                <a:solidFill>
                  <a:srgbClr val="FFFFFF"/>
                </a:solidFill>
              </a:rPr>
              <a:t>Human
Gate</a:t>
            </a:r>
          </a:p>
        </p:txBody>
      </p:sp>
      <p:sp>
        <p:nvSpPr>
          <p:cNvPr id="19" name="TextBox 18"/>
          <p:cNvSpPr txBox="1"/>
          <p:nvPr/>
        </p:nvSpPr>
        <p:spPr>
          <a:xfrm>
            <a:off x="9555480" y="2011680"/>
            <a:ext cx="365760" cy="457200"/>
          </a:xfrm>
          <a:prstGeom prst="rect">
            <a:avLst/>
          </a:prstGeom>
          <a:noFill/>
        </p:spPr>
        <p:txBody>
          <a:bodyPr wrap="square">
            <a:spAutoFit/>
          </a:bodyPr>
          <a:lstStyle/>
          <a:p>
            <a:pPr algn="ctr"/>
            <a:r>
              <a:rPr sz="2200" b="1" i="0">
                <a:solidFill>
                  <a:srgbClr val="0D1B2A"/>
                </a:solidFill>
              </a:rPr>
              <a:t>→</a:t>
            </a:r>
          </a:p>
        </p:txBody>
      </p:sp>
      <p:sp>
        <p:nvSpPr>
          <p:cNvPr id="20" name="Rectangle 19"/>
          <p:cNvSpPr/>
          <p:nvPr/>
        </p:nvSpPr>
        <p:spPr>
          <a:xfrm>
            <a:off x="9966960" y="1645920"/>
            <a:ext cx="1691640" cy="1097280"/>
          </a:xfrm>
          <a:prstGeom prst="rect">
            <a:avLst/>
          </a:prstGeom>
          <a:solidFill>
            <a:srgbClr val="21C5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966960" y="1691640"/>
            <a:ext cx="1691640" cy="1005840"/>
          </a:xfrm>
          <a:prstGeom prst="rect">
            <a:avLst/>
          </a:prstGeom>
          <a:noFill/>
        </p:spPr>
        <p:txBody>
          <a:bodyPr wrap="square">
            <a:spAutoFit/>
          </a:bodyPr>
          <a:lstStyle/>
          <a:p>
            <a:pPr algn="ctr"/>
            <a:r>
              <a:rPr sz="1200" b="1" i="0">
                <a:solidFill>
                  <a:srgbClr val="FFFFFF"/>
                </a:solidFill>
              </a:rPr>
              <a:t>Audit
Trail</a:t>
            </a:r>
          </a:p>
        </p:txBody>
      </p:sp>
      <p:sp>
        <p:nvSpPr>
          <p:cNvPr id="22" name="TextBox 21"/>
          <p:cNvSpPr txBox="1"/>
          <p:nvPr/>
        </p:nvSpPr>
        <p:spPr>
          <a:xfrm>
            <a:off x="457200" y="3017520"/>
            <a:ext cx="11247120" cy="320040"/>
          </a:xfrm>
          <a:prstGeom prst="rect">
            <a:avLst/>
          </a:prstGeom>
          <a:noFill/>
        </p:spPr>
        <p:txBody>
          <a:bodyPr wrap="square">
            <a:spAutoFit/>
          </a:bodyPr>
          <a:lstStyle/>
          <a:p>
            <a:pPr algn="l"/>
            <a:r>
              <a:rPr sz="1300" b="1" i="0">
                <a:solidFill>
                  <a:srgbClr val="0078D4"/>
                </a:solidFill>
              </a:rPr>
              <a:t>Event Sources</a:t>
            </a:r>
          </a:p>
        </p:txBody>
      </p:sp>
      <p:sp>
        <p:nvSpPr>
          <p:cNvPr id="23" name="TextBox 22"/>
          <p:cNvSpPr txBox="1"/>
          <p:nvPr/>
        </p:nvSpPr>
        <p:spPr>
          <a:xfrm>
            <a:off x="822960" y="3319272"/>
            <a:ext cx="10972800" cy="320040"/>
          </a:xfrm>
          <a:prstGeom prst="rect">
            <a:avLst/>
          </a:prstGeom>
          <a:noFill/>
        </p:spPr>
        <p:txBody>
          <a:bodyPr wrap="square">
            <a:spAutoFit/>
          </a:bodyPr>
          <a:lstStyle/>
          <a:p>
            <a:pPr algn="l"/>
            <a:r>
              <a:rPr sz="1200" b="0" i="0">
                <a:solidFill>
                  <a:srgbClr val="0D1B2A"/>
                </a:solidFill>
              </a:rPr>
              <a:t>Teams channels · Metabase dashboards · GitLab issues &amp; MRs · Error log uploads</a:t>
            </a:r>
          </a:p>
        </p:txBody>
      </p:sp>
      <p:sp>
        <p:nvSpPr>
          <p:cNvPr id="24" name="TextBox 23"/>
          <p:cNvSpPr txBox="1"/>
          <p:nvPr/>
        </p:nvSpPr>
        <p:spPr>
          <a:xfrm>
            <a:off x="457200" y="3703320"/>
            <a:ext cx="11247120" cy="320040"/>
          </a:xfrm>
          <a:prstGeom prst="rect">
            <a:avLst/>
          </a:prstGeom>
          <a:noFill/>
        </p:spPr>
        <p:txBody>
          <a:bodyPr wrap="square">
            <a:spAutoFit/>
          </a:bodyPr>
          <a:lstStyle/>
          <a:p>
            <a:pPr algn="l"/>
            <a:r>
              <a:rPr sz="1300" b="1" i="0">
                <a:solidFill>
                  <a:srgbClr val="0078D4"/>
                </a:solidFill>
              </a:rPr>
              <a:t>AI Agents</a:t>
            </a:r>
          </a:p>
        </p:txBody>
      </p:sp>
      <p:sp>
        <p:nvSpPr>
          <p:cNvPr id="25" name="TextBox 24"/>
          <p:cNvSpPr txBox="1"/>
          <p:nvPr/>
        </p:nvSpPr>
        <p:spPr>
          <a:xfrm>
            <a:off x="822960" y="4005072"/>
            <a:ext cx="10972800" cy="320040"/>
          </a:xfrm>
          <a:prstGeom prst="rect">
            <a:avLst/>
          </a:prstGeom>
          <a:noFill/>
        </p:spPr>
        <p:txBody>
          <a:bodyPr wrap="square">
            <a:spAutoFit/>
          </a:bodyPr>
          <a:lstStyle/>
          <a:p>
            <a:pPr algn="l"/>
            <a:r>
              <a:rPr sz="1200" b="0" i="0">
                <a:solidFill>
                  <a:srgbClr val="0D1B2A"/>
                </a:solidFill>
              </a:rPr>
              <a:t>AnalystAgent (log triage) · DeveloperAgent (code review + MR creation) · PlannerAgent (orchestration) · ReAct multi-step loop</a:t>
            </a:r>
          </a:p>
        </p:txBody>
      </p:sp>
      <p:sp>
        <p:nvSpPr>
          <p:cNvPr id="26" name="TextBox 25"/>
          <p:cNvSpPr txBox="1"/>
          <p:nvPr/>
        </p:nvSpPr>
        <p:spPr>
          <a:xfrm>
            <a:off x="457200" y="4389120"/>
            <a:ext cx="11247120" cy="320040"/>
          </a:xfrm>
          <a:prstGeom prst="rect">
            <a:avLst/>
          </a:prstGeom>
          <a:noFill/>
        </p:spPr>
        <p:txBody>
          <a:bodyPr wrap="square">
            <a:spAutoFit/>
          </a:bodyPr>
          <a:lstStyle/>
          <a:p>
            <a:pPr algn="l"/>
            <a:r>
              <a:rPr sz="1300" b="1" i="0">
                <a:solidFill>
                  <a:srgbClr val="0078D4"/>
                </a:solidFill>
              </a:rPr>
              <a:t>Compliance Layer</a:t>
            </a:r>
          </a:p>
        </p:txBody>
      </p:sp>
      <p:sp>
        <p:nvSpPr>
          <p:cNvPr id="27" name="TextBox 26"/>
          <p:cNvSpPr txBox="1"/>
          <p:nvPr/>
        </p:nvSpPr>
        <p:spPr>
          <a:xfrm>
            <a:off x="822960" y="4690872"/>
            <a:ext cx="10972800" cy="320040"/>
          </a:xfrm>
          <a:prstGeom prst="rect">
            <a:avLst/>
          </a:prstGeom>
          <a:noFill/>
        </p:spPr>
        <p:txBody>
          <a:bodyPr wrap="square">
            <a:spAutoFit/>
          </a:bodyPr>
          <a:lstStyle/>
          <a:p>
            <a:pPr algn="l"/>
            <a:r>
              <a:rPr sz="1200" b="0" i="0">
                <a:solidFill>
                  <a:srgbClr val="0D1B2A"/>
                </a:solidFill>
              </a:rPr>
              <a:t>Immutable SQLite audit log · ISO 13485 trace IDs · FDA 21 CFR Part 11 · Human approval on every proposal</a:t>
            </a:r>
          </a:p>
        </p:txBody>
      </p:sp>
      <p:sp>
        <p:nvSpPr>
          <p:cNvPr id="28" name="Rectangle 27"/>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Open Source (Apache 2.0) | github.com/Sumanharapanahalli/sage | March 2026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What SAGE[ai] Does Today</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136 API endpoints across 12 integration phases — all open source (Apache 2.0)</a:t>
            </a:r>
          </a:p>
        </p:txBody>
      </p:sp>
      <p:graphicFrame>
        <p:nvGraphicFramePr>
          <p:cNvPr id="5" name="Table 4"/>
          <p:cNvGraphicFramePr>
            <a:graphicFrameLocks noGrp="1"/>
          </p:cNvGraphicFramePr>
          <p:nvPr/>
        </p:nvGraphicFramePr>
        <p:xfrm>
          <a:off x="457200" y="1508760"/>
          <a:ext cx="11247120" cy="6656832"/>
        </p:xfrm>
        <a:graphic>
          <a:graphicData uri="http://schemas.openxmlformats.org/drawingml/2006/table">
            <a:tbl>
              <a:tblPr firstRow="1" bandRow="1">
                <a:tableStyleId>{5C22544A-7EE6-4342-B048-85BDC9FD1C3A}</a:tableStyleId>
              </a:tblPr>
              <a:tblGrid>
                <a:gridCol w="457200"/>
                <a:gridCol w="2011680"/>
                <a:gridCol w="8778240"/>
              </a:tblGrid>
              <a:tr h="475488">
                <a:tc>
                  <a:txBody>
                    <a:bodyPr/>
                    <a:lstStyle/>
                    <a:p>
                      <a:pPr algn="ctr"/>
                      <a:r>
                        <a:rPr b="1" sz="1300">
                          <a:solidFill>
                            <a:srgbClr val="FFFFFF"/>
                          </a:solidFill>
                        </a:rPr>
                        <a:t>No.</a:t>
                      </a:r>
                    </a:p>
                  </a:txBody>
                  <a:tcPr>
                    <a:solidFill>
                      <a:srgbClr val="0078D4"/>
                    </a:solidFill>
                  </a:tcPr>
                </a:tc>
                <a:tc>
                  <a:txBody>
                    <a:bodyPr/>
                    <a:lstStyle/>
                    <a:p>
                      <a:pPr algn="ctr"/>
                      <a:r>
                        <a:rPr b="1" sz="1300">
                          <a:solidFill>
                            <a:srgbClr val="FFFFFF"/>
                          </a:solidFill>
                        </a:rPr>
                        <a:t>Capability</a:t>
                      </a:r>
                    </a:p>
                  </a:txBody>
                  <a:tcPr>
                    <a:solidFill>
                      <a:srgbClr val="0078D4"/>
                    </a:solidFill>
                  </a:tcPr>
                </a:tc>
                <a:tc>
                  <a:txBody>
                    <a:bodyPr/>
                    <a:lstStyle/>
                    <a:p>
                      <a:pPr algn="ctr"/>
                      <a:r>
                        <a:rPr b="1" sz="1300">
                          <a:solidFill>
                            <a:srgbClr val="FFFFFF"/>
                          </a:solidFill>
                        </a:rPr>
                        <a:t>Description</a:t>
                      </a:r>
                    </a:p>
                  </a:txBody>
                  <a:tcPr>
                    <a:solidFill>
                      <a:srgbClr val="0078D4"/>
                    </a:solidFill>
                  </a:tcPr>
                </a:tc>
              </a:tr>
              <a:tr h="475488">
                <a:tc>
                  <a:txBody>
                    <a:bodyPr/>
                    <a:lstStyle/>
                    <a:p>
                      <a:pPr algn="l"/>
                      <a:r>
                        <a:rPr sz="1200">
                          <a:solidFill>
                            <a:srgbClr val="0D1B2A"/>
                          </a:solidFill>
                        </a:rPr>
                        <a:t>01</a:t>
                      </a:r>
                    </a:p>
                  </a:txBody>
                  <a:tcPr>
                    <a:solidFill>
                      <a:srgbClr val="F0F4F8"/>
                    </a:solidFill>
                  </a:tcPr>
                </a:tc>
                <a:tc>
                  <a:txBody>
                    <a:bodyPr/>
                    <a:lstStyle/>
                    <a:p>
                      <a:pPr algn="l"/>
                      <a:r>
                        <a:rPr sz="1200">
                          <a:solidFill>
                            <a:srgbClr val="0D1B2A"/>
                          </a:solidFill>
                        </a:rPr>
                        <a:t>Log Analysis</a:t>
                      </a:r>
                    </a:p>
                  </a:txBody>
                  <a:tcPr>
                    <a:solidFill>
                      <a:srgbClr val="F0F4F8"/>
                    </a:solidFill>
                  </a:tcPr>
                </a:tc>
                <a:tc>
                  <a:txBody>
                    <a:bodyPr/>
                    <a:lstStyle/>
                    <a:p>
                      <a:pPr algn="l"/>
                      <a:r>
                        <a:rPr sz="1200">
                          <a:solidFill>
                            <a:srgbClr val="0D1B2A"/>
                          </a:solidFill>
                        </a:rPr>
                        <a:t>AI triage in under 60 s — severity RED / AMBER / GREEN with root-cause reasoning</a:t>
                      </a:r>
                    </a:p>
                  </a:txBody>
                  <a:tcPr>
                    <a:solidFill>
                      <a:srgbClr val="F0F4F8"/>
                    </a:solidFill>
                  </a:tcPr>
                </a:tc>
              </a:tr>
              <a:tr h="475488">
                <a:tc>
                  <a:txBody>
                    <a:bodyPr/>
                    <a:lstStyle/>
                    <a:p>
                      <a:pPr algn="l"/>
                      <a:r>
                        <a:rPr sz="1200">
                          <a:solidFill>
                            <a:srgbClr val="0D1B2A"/>
                          </a:solidFill>
                        </a:rPr>
                        <a:t>02</a:t>
                      </a:r>
                    </a:p>
                  </a:txBody>
                  <a:tcPr>
                    <a:solidFill>
                      <a:srgbClr val="FFFFFF"/>
                    </a:solidFill>
                  </a:tcPr>
                </a:tc>
                <a:tc>
                  <a:txBody>
                    <a:bodyPr/>
                    <a:lstStyle/>
                    <a:p>
                      <a:pPr algn="l"/>
                      <a:r>
                        <a:rPr sz="1200">
                          <a:solidFill>
                            <a:srgbClr val="0D1B2A"/>
                          </a:solidFill>
                        </a:rPr>
                        <a:t>Code Review</a:t>
                      </a:r>
                    </a:p>
                  </a:txBody>
                  <a:tcPr>
                    <a:solidFill>
                      <a:srgbClr val="FFFFFF"/>
                    </a:solidFill>
                  </a:tcPr>
                </a:tc>
                <a:tc>
                  <a:txBody>
                    <a:bodyPr/>
                    <a:lstStyle/>
                    <a:p>
                      <a:pPr algn="l"/>
                      <a:r>
                        <a:rPr sz="1200">
                          <a:solidFill>
                            <a:srgbClr val="0D1B2A"/>
                          </a:solidFill>
                        </a:rPr>
                        <a:t>ReAct multi-step reasoning + CI pipeline status check</a:t>
                      </a:r>
                    </a:p>
                  </a:txBody>
                  <a:tcPr>
                    <a:solidFill>
                      <a:srgbClr val="FFFFFF"/>
                    </a:solidFill>
                  </a:tcPr>
                </a:tc>
              </a:tr>
              <a:tr h="475488">
                <a:tc>
                  <a:txBody>
                    <a:bodyPr/>
                    <a:lstStyle/>
                    <a:p>
                      <a:pPr algn="l"/>
                      <a:r>
                        <a:rPr sz="1200">
                          <a:solidFill>
                            <a:srgbClr val="0D1B2A"/>
                          </a:solidFill>
                        </a:rPr>
                        <a:t>03</a:t>
                      </a:r>
                    </a:p>
                  </a:txBody>
                  <a:tcPr>
                    <a:solidFill>
                      <a:srgbClr val="F0F4F8"/>
                    </a:solidFill>
                  </a:tcPr>
                </a:tc>
                <a:tc>
                  <a:txBody>
                    <a:bodyPr/>
                    <a:lstStyle/>
                    <a:p>
                      <a:pPr algn="l"/>
                      <a:r>
                        <a:rPr sz="1200">
                          <a:solidFill>
                            <a:srgbClr val="0D1B2A"/>
                          </a:solidFill>
                        </a:rPr>
                        <a:t>MR Creation</a:t>
                      </a:r>
                    </a:p>
                  </a:txBody>
                  <a:tcPr>
                    <a:solidFill>
                      <a:srgbClr val="F0F4F8"/>
                    </a:solidFill>
                  </a:tcPr>
                </a:tc>
                <a:tc>
                  <a:txBody>
                    <a:bodyPr/>
                    <a:lstStyle/>
                    <a:p>
                      <a:pPr algn="l"/>
                      <a:r>
                        <a:rPr sz="1200">
                          <a:solidFill>
                            <a:srgbClr val="0D1B2A"/>
                          </a:solidFill>
                        </a:rPr>
                        <a:t>Auto-draft merge request from GitLab issue, branch naming, description</a:t>
                      </a:r>
                    </a:p>
                  </a:txBody>
                  <a:tcPr>
                    <a:solidFill>
                      <a:srgbClr val="F0F4F8"/>
                    </a:solidFill>
                  </a:tcPr>
                </a:tc>
              </a:tr>
              <a:tr h="475488">
                <a:tc>
                  <a:txBody>
                    <a:bodyPr/>
                    <a:lstStyle/>
                    <a:p>
                      <a:pPr algn="l"/>
                      <a:r>
                        <a:rPr sz="1200">
                          <a:solidFill>
                            <a:srgbClr val="0D1B2A"/>
                          </a:solidFill>
                        </a:rPr>
                        <a:t>04</a:t>
                      </a:r>
                    </a:p>
                  </a:txBody>
                  <a:tcPr>
                    <a:solidFill>
                      <a:srgbClr val="FFFFFF"/>
                    </a:solidFill>
                  </a:tcPr>
                </a:tc>
                <a:tc>
                  <a:txBody>
                    <a:bodyPr/>
                    <a:lstStyle/>
                    <a:p>
                      <a:pPr algn="l"/>
                      <a:r>
                        <a:rPr sz="1200">
                          <a:solidFill>
                            <a:srgbClr val="0D1B2A"/>
                          </a:solidFill>
                        </a:rPr>
                        <a:t>24/7 Monitor</a:t>
                      </a:r>
                    </a:p>
                  </a:txBody>
                  <a:tcPr>
                    <a:solidFill>
                      <a:srgbClr val="FFFFFF"/>
                    </a:solidFill>
                  </a:tcPr>
                </a:tc>
                <a:tc>
                  <a:txBody>
                    <a:bodyPr/>
                    <a:lstStyle/>
                    <a:p>
                      <a:pPr algn="l"/>
                      <a:r>
                        <a:rPr sz="1200">
                          <a:solidFill>
                            <a:srgbClr val="0D1B2A"/>
                          </a:solidFill>
                        </a:rPr>
                        <a:t>Teams, Metabase, GitLab event detection — zero polling lag</a:t>
                      </a:r>
                    </a:p>
                  </a:txBody>
                  <a:tcPr>
                    <a:solidFill>
                      <a:srgbClr val="FFFFFF"/>
                    </a:solidFill>
                  </a:tcPr>
                </a:tc>
              </a:tr>
              <a:tr h="475488">
                <a:tc>
                  <a:txBody>
                    <a:bodyPr/>
                    <a:lstStyle/>
                    <a:p>
                      <a:pPr algn="l"/>
                      <a:r>
                        <a:rPr sz="1200">
                          <a:solidFill>
                            <a:srgbClr val="0D1B2A"/>
                          </a:solidFill>
                        </a:rPr>
                        <a:t>05</a:t>
                      </a:r>
                    </a:p>
                  </a:txBody>
                  <a:tcPr>
                    <a:solidFill>
                      <a:srgbClr val="F0F4F8"/>
                    </a:solidFill>
                  </a:tcPr>
                </a:tc>
                <a:tc>
                  <a:txBody>
                    <a:bodyPr/>
                    <a:lstStyle/>
                    <a:p>
                      <a:pPr algn="l"/>
                      <a:r>
                        <a:rPr sz="1200">
                          <a:solidFill>
                            <a:srgbClr val="0D1B2A"/>
                          </a:solidFill>
                        </a:rPr>
                        <a:t>SSE Streaming</a:t>
                      </a:r>
                    </a:p>
                  </a:txBody>
                  <a:tcPr>
                    <a:solidFill>
                      <a:srgbClr val="F0F4F8"/>
                    </a:solidFill>
                  </a:tcPr>
                </a:tc>
                <a:tc>
                  <a:txBody>
                    <a:bodyPr/>
                    <a:lstStyle/>
                    <a:p>
                      <a:pPr algn="l"/>
                      <a:r>
                        <a:rPr sz="1200">
                          <a:solidFill>
                            <a:srgbClr val="0D1B2A"/>
                          </a:solidFill>
                        </a:rPr>
                        <a:t>Real-time token-by-token output to dashboard — all providers supported</a:t>
                      </a:r>
                    </a:p>
                  </a:txBody>
                  <a:tcPr>
                    <a:solidFill>
                      <a:srgbClr val="F0F4F8"/>
                    </a:solidFill>
                  </a:tcPr>
                </a:tc>
              </a:tr>
              <a:tr h="475488">
                <a:tc>
                  <a:txBody>
                    <a:bodyPr/>
                    <a:lstStyle/>
                    <a:p>
                      <a:pPr algn="l"/>
                      <a:r>
                        <a:rPr sz="1200">
                          <a:solidFill>
                            <a:srgbClr val="0D1B2A"/>
                          </a:solidFill>
                        </a:rPr>
                        <a:t>06</a:t>
                      </a:r>
                    </a:p>
                  </a:txBody>
                  <a:tcPr>
                    <a:solidFill>
                      <a:srgbClr val="FFFFFF"/>
                    </a:solidFill>
                  </a:tcPr>
                </a:tc>
                <a:tc>
                  <a:txBody>
                    <a:bodyPr/>
                    <a:lstStyle/>
                    <a:p>
                      <a:pPr algn="l"/>
                      <a:r>
                        <a:rPr sz="1200">
                          <a:solidFill>
                            <a:srgbClr val="0D1B2A"/>
                          </a:solidFill>
                        </a:rPr>
                        <a:t>Onboarding Wizard</a:t>
                      </a:r>
                    </a:p>
                  </a:txBody>
                  <a:tcPr>
                    <a:solidFill>
                      <a:srgbClr val="FFFFFF"/>
                    </a:solidFill>
                  </a:tcPr>
                </a:tc>
                <a:tc>
                  <a:txBody>
                    <a:bodyPr/>
                    <a:lstStyle/>
                    <a:p>
                      <a:pPr algn="l"/>
                      <a:r>
                        <a:rPr sz="1200">
                          <a:solidFill>
                            <a:srgbClr val="0D1B2A"/>
                          </a:solidFill>
                        </a:rPr>
                        <a:t>Plain-language description to full YAML solution in under 60 seconds</a:t>
                      </a:r>
                    </a:p>
                  </a:txBody>
                  <a:tcPr>
                    <a:solidFill>
                      <a:srgbClr val="FFFFFF"/>
                    </a:solidFill>
                  </a:tcPr>
                </a:tc>
              </a:tr>
              <a:tr h="475488">
                <a:tc>
                  <a:txBody>
                    <a:bodyPr/>
                    <a:lstStyle/>
                    <a:p>
                      <a:pPr algn="l"/>
                      <a:r>
                        <a:rPr sz="1200">
                          <a:solidFill>
                            <a:srgbClr val="0D1B2A"/>
                          </a:solidFill>
                        </a:rPr>
                        <a:t>07</a:t>
                      </a:r>
                    </a:p>
                  </a:txBody>
                  <a:tcPr>
                    <a:solidFill>
                      <a:srgbClr val="F0F4F8"/>
                    </a:solidFill>
                  </a:tcPr>
                </a:tc>
                <a:tc>
                  <a:txBody>
                    <a:bodyPr/>
                    <a:lstStyle/>
                    <a:p>
                      <a:pPr algn="l"/>
                      <a:r>
                        <a:rPr sz="1200">
                          <a:solidFill>
                            <a:srgbClr val="0D1B2A"/>
                          </a:solidFill>
                        </a:rPr>
                        <a:t>Knowledge Base CRUD</a:t>
                      </a:r>
                    </a:p>
                  </a:txBody>
                  <a:tcPr>
                    <a:solidFill>
                      <a:srgbClr val="F0F4F8"/>
                    </a:solidFill>
                  </a:tcPr>
                </a:tc>
                <a:tc>
                  <a:txBody>
                    <a:bodyPr/>
                    <a:lstStyle/>
                    <a:p>
                      <a:pPr algn="l"/>
                      <a:r>
                        <a:rPr sz="1200">
                          <a:solidFill>
                            <a:srgbClr val="0D1B2A"/>
                          </a:solidFill>
                        </a:rPr>
                        <a:t>List / add / delete / bulk-import / semantic search the RAG vector store</a:t>
                      </a:r>
                    </a:p>
                  </a:txBody>
                  <a:tcPr>
                    <a:solidFill>
                      <a:srgbClr val="F0F4F8"/>
                    </a:solidFill>
                  </a:tcPr>
                </a:tc>
              </a:tr>
              <a:tr h="475488">
                <a:tc>
                  <a:txBody>
                    <a:bodyPr/>
                    <a:lstStyle/>
                    <a:p>
                      <a:pPr algn="l"/>
                      <a:r>
                        <a:rPr sz="1200">
                          <a:solidFill>
                            <a:srgbClr val="0D1B2A"/>
                          </a:solidFill>
                        </a:rPr>
                        <a:t>08</a:t>
                      </a:r>
                    </a:p>
                  </a:txBody>
                  <a:tcPr>
                    <a:solidFill>
                      <a:srgbClr val="FFFFFF"/>
                    </a:solidFill>
                  </a:tcPr>
                </a:tc>
                <a:tc>
                  <a:txBody>
                    <a:bodyPr/>
                    <a:lstStyle/>
                    <a:p>
                      <a:pPr algn="l"/>
                      <a:r>
                        <a:rPr sz="1200">
                          <a:solidFill>
                            <a:srgbClr val="0D1B2A"/>
                          </a:solidFill>
                        </a:rPr>
                        <a:t>Slack Approvals</a:t>
                      </a:r>
                    </a:p>
                  </a:txBody>
                  <a:tcPr>
                    <a:solidFill>
                      <a:srgbClr val="FFFFFF"/>
                    </a:solidFill>
                  </a:tcPr>
                </a:tc>
                <a:tc>
                  <a:txBody>
                    <a:bodyPr/>
                    <a:lstStyle/>
                    <a:p>
                      <a:pPr algn="l"/>
                      <a:r>
                        <a:rPr sz="1200">
                          <a:solidFill>
                            <a:srgbClr val="0D1B2A"/>
                          </a:solidFill>
                        </a:rPr>
                        <a:t>Block Kit proposals with Approve/Reject buttons — HMAC-verified callbacks</a:t>
                      </a:r>
                    </a:p>
                  </a:txBody>
                  <a:tcPr>
                    <a:solidFill>
                      <a:srgbClr val="FFFFFF"/>
                    </a:solidFill>
                  </a:tcPr>
                </a:tc>
              </a:tr>
              <a:tr h="475488">
                <a:tc>
                  <a:txBody>
                    <a:bodyPr/>
                    <a:lstStyle/>
                    <a:p>
                      <a:pPr algn="l"/>
                      <a:r>
                        <a:rPr sz="1200">
                          <a:solidFill>
                            <a:srgbClr val="0D1B2A"/>
                          </a:solidFill>
                        </a:rPr>
                        <a:t>09</a:t>
                      </a:r>
                    </a:p>
                  </a:txBody>
                  <a:tcPr>
                    <a:solidFill>
                      <a:srgbClr val="F0F4F8"/>
                    </a:solidFill>
                  </a:tcPr>
                </a:tc>
                <a:tc>
                  <a:txBody>
                    <a:bodyPr/>
                    <a:lstStyle/>
                    <a:p>
                      <a:pPr algn="l"/>
                      <a:r>
                        <a:rPr sz="1200">
                          <a:solidFill>
                            <a:srgbClr val="0D1B2A"/>
                          </a:solidFill>
                        </a:rPr>
                        <a:t>Eval &amp; Benchmarking</a:t>
                      </a:r>
                    </a:p>
                  </a:txBody>
                  <a:tcPr>
                    <a:solidFill>
                      <a:srgbClr val="F0F4F8"/>
                    </a:solidFill>
                  </a:tcPr>
                </a:tc>
                <a:tc>
                  <a:txBody>
                    <a:bodyPr/>
                    <a:lstStyle/>
                    <a:p>
                      <a:pPr algn="l"/>
                      <a:r>
                        <a:rPr sz="1200">
                          <a:solidFill>
                            <a:srgbClr val="0D1B2A"/>
                          </a:solidFill>
                        </a:rPr>
                        <a:t>YAML test cases, 0-100 scoring, SQLite history, regression tracking</a:t>
                      </a:r>
                    </a:p>
                  </a:txBody>
                  <a:tcPr>
                    <a:solidFill>
                      <a:srgbClr val="F0F4F8"/>
                    </a:solidFill>
                  </a:tcPr>
                </a:tc>
              </a:tr>
              <a:tr h="475488">
                <a:tc>
                  <a:txBody>
                    <a:bodyPr/>
                    <a:lstStyle/>
                    <a:p>
                      <a:pPr algn="l"/>
                      <a:r>
                        <a:rPr sz="1200">
                          <a:solidFill>
                            <a:srgbClr val="0D1B2A"/>
                          </a:solidFill>
                        </a:rPr>
                        <a:t>10</a:t>
                      </a:r>
                    </a:p>
                  </a:txBody>
                  <a:tcPr>
                    <a:solidFill>
                      <a:srgbClr val="FFFFFF"/>
                    </a:solidFill>
                  </a:tcPr>
                </a:tc>
                <a:tc>
                  <a:txBody>
                    <a:bodyPr/>
                    <a:lstStyle/>
                    <a:p>
                      <a:pPr algn="l"/>
                      <a:r>
                        <a:rPr sz="1200">
                          <a:solidFill>
                            <a:srgbClr val="0D1B2A"/>
                          </a:solidFill>
                        </a:rPr>
                        <a:t>Multi-Tenant</a:t>
                      </a:r>
                    </a:p>
                  </a:txBody>
                  <a:tcPr>
                    <a:solidFill>
                      <a:srgbClr val="FFFFFF"/>
                    </a:solidFill>
                  </a:tcPr>
                </a:tc>
                <a:tc>
                  <a:txBody>
                    <a:bodyPr/>
                    <a:lstStyle/>
                    <a:p>
                      <a:pPr algn="l"/>
                      <a:r>
                        <a:rPr sz="1200">
                          <a:solidFill>
                            <a:srgbClr val="0D1B2A"/>
                          </a:solidFill>
                        </a:rPr>
                        <a:t>X-SAGE-Tenant header — per-team knowledge collection isolation</a:t>
                      </a:r>
                    </a:p>
                  </a:txBody>
                  <a:tcPr>
                    <a:solidFill>
                      <a:srgbClr val="FFFFFF"/>
                    </a:solidFill>
                  </a:tcPr>
                </a:tc>
              </a:tr>
              <a:tr h="475488">
                <a:tc>
                  <a:txBody>
                    <a:bodyPr/>
                    <a:lstStyle/>
                    <a:p>
                      <a:pPr algn="l"/>
                      <a:r>
                        <a:rPr sz="1200">
                          <a:solidFill>
                            <a:srgbClr val="0D1B2A"/>
                          </a:solidFill>
                        </a:rPr>
                        <a:t>11</a:t>
                      </a:r>
                    </a:p>
                  </a:txBody>
                  <a:tcPr>
                    <a:solidFill>
                      <a:srgbClr val="F0F4F8"/>
                    </a:solidFill>
                  </a:tcPr>
                </a:tc>
                <a:tc>
                  <a:txBody>
                    <a:bodyPr/>
                    <a:lstStyle/>
                    <a:p>
                      <a:pPr algn="l"/>
                      <a:r>
                        <a:rPr sz="1200">
                          <a:solidFill>
                            <a:srgbClr val="0D1B2A"/>
                          </a:solidFill>
                        </a:rPr>
                        <a:t>Durable Workflows</a:t>
                      </a:r>
                    </a:p>
                  </a:txBody>
                  <a:tcPr>
                    <a:solidFill>
                      <a:srgbClr val="F0F4F8"/>
                    </a:solidFill>
                  </a:tcPr>
                </a:tc>
                <a:tc>
                  <a:txBody>
                    <a:bodyPr/>
                    <a:lstStyle/>
                    <a:p>
                      <a:pPr algn="l"/>
                      <a:r>
                        <a:rPr sz="1200">
                          <a:solidFill>
                            <a:srgbClr val="0D1B2A"/>
                          </a:solidFill>
                        </a:rPr>
                        <a:t>LangGraph interrupt/resume + Temporal — workflows survive server restart</a:t>
                      </a:r>
                    </a:p>
                  </a:txBody>
                  <a:tcPr>
                    <a:solidFill>
                      <a:srgbClr val="F0F4F8"/>
                    </a:solidFill>
                  </a:tcPr>
                </a:tc>
              </a:tr>
              <a:tr h="475488">
                <a:tc>
                  <a:txBody>
                    <a:bodyPr/>
                    <a:lstStyle/>
                    <a:p>
                      <a:pPr algn="l"/>
                      <a:r>
                        <a:rPr sz="1200">
                          <a:solidFill>
                            <a:srgbClr val="0D1B2A"/>
                          </a:solidFill>
                        </a:rPr>
                        <a:t>12</a:t>
                      </a:r>
                    </a:p>
                  </a:txBody>
                  <a:tcPr>
                    <a:solidFill>
                      <a:srgbClr val="FFFFFF"/>
                    </a:solidFill>
                  </a:tcPr>
                </a:tc>
                <a:tc>
                  <a:txBody>
                    <a:bodyPr/>
                    <a:lstStyle/>
                    <a:p>
                      <a:pPr algn="l"/>
                      <a:r>
                        <a:rPr sz="1200">
                          <a:solidFill>
                            <a:srgbClr val="0D1B2A"/>
                          </a:solidFill>
                        </a:rPr>
                        <a:t>Audit Trail</a:t>
                      </a:r>
                    </a:p>
                  </a:txBody>
                  <a:tcPr>
                    <a:solidFill>
                      <a:srgbClr val="FFFFFF"/>
                    </a:solidFill>
                  </a:tcPr>
                </a:tc>
                <a:tc>
                  <a:txBody>
                    <a:bodyPr/>
                    <a:lstStyle/>
                    <a:p>
                      <a:pPr algn="l"/>
                      <a:r>
                        <a:rPr sz="1200">
                          <a:solidFill>
                            <a:srgbClr val="0D1B2A"/>
                          </a:solidFill>
                        </a:rPr>
                        <a:t>Every decision traceable, ISO 13485 compliant, UUID per event</a:t>
                      </a:r>
                    </a:p>
                  </a:txBody>
                  <a:tcPr>
                    <a:solidFill>
                      <a:srgbClr val="FFFFFF"/>
                    </a:solidFill>
                  </a:tcPr>
                </a:tc>
              </a:tr>
              <a:tr h="475488">
                <a:tc>
                  <a:txBody>
                    <a:bodyPr/>
                    <a:lstStyle/>
                    <a:p>
                      <a:pPr algn="l"/>
                      <a:r>
                        <a:rPr sz="1200">
                          <a:solidFill>
                            <a:srgbClr val="0D1B2A"/>
                          </a:solidFill>
                        </a:rPr>
                        <a:t>13</a:t>
                      </a:r>
                    </a:p>
                  </a:txBody>
                  <a:tcPr>
                    <a:solidFill>
                      <a:srgbClr val="F0F4F8"/>
                    </a:solidFill>
                  </a:tcPr>
                </a:tc>
                <a:tc>
                  <a:txBody>
                    <a:bodyPr/>
                    <a:lstStyle/>
                    <a:p>
                      <a:pPr algn="l"/>
                      <a:r>
                        <a:rPr sz="1200">
                          <a:solidFill>
                            <a:srgbClr val="0D1B2A"/>
                          </a:solidFill>
                        </a:rPr>
                        <a:t>Web Dashboard</a:t>
                      </a:r>
                    </a:p>
                  </a:txBody>
                  <a:tcPr>
                    <a:solidFill>
                      <a:srgbClr val="F0F4F8"/>
                    </a:solidFill>
                  </a:tcPr>
                </a:tc>
                <a:tc>
                  <a:txBody>
                    <a:bodyPr/>
                    <a:lstStyle/>
                    <a:p>
                      <a:pPr algn="l"/>
                      <a:r>
                        <a:rPr sz="1200">
                          <a:solidFill>
                            <a:srgbClr val="0D1B2A"/>
                          </a:solidFill>
                        </a:rPr>
                        <a:t>Dashboard, Analyst, Developer, Audit, Monitor — no CLI needed</a:t>
                      </a:r>
                    </a:p>
                  </a:txBody>
                  <a:tcPr>
                    <a:solidFill>
                      <a:srgbClr val="F0F4F8"/>
                    </a:solidFill>
                  </a:tcPr>
                </a:tc>
              </a:tr>
            </a:tbl>
          </a:graphicData>
        </a:graphic>
      </p:graphicFrame>
      <p:sp>
        <p:nvSpPr>
          <p:cNvPr id="6" name="Rectangle 5"/>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Open Source (Apache 2.0) | github.com/Sumanharapanahalli/sage | March 2026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Built for Regulated Medical Device Environments</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Standards compliance is built-in, not bolted-on</a:t>
            </a:r>
          </a:p>
        </p:txBody>
      </p:sp>
      <p:sp>
        <p:nvSpPr>
          <p:cNvPr id="5" name="TextBox 4"/>
          <p:cNvSpPr txBox="1"/>
          <p:nvPr/>
        </p:nvSpPr>
        <p:spPr>
          <a:xfrm>
            <a:off x="548640" y="1554480"/>
            <a:ext cx="10972800" cy="365760"/>
          </a:xfrm>
          <a:prstGeom prst="rect">
            <a:avLst/>
          </a:prstGeom>
          <a:noFill/>
        </p:spPr>
        <p:txBody>
          <a:bodyPr wrap="square">
            <a:spAutoFit/>
          </a:bodyPr>
          <a:lstStyle/>
          <a:p>
            <a:pPr algn="l"/>
            <a:r>
              <a:rPr sz="1500" b="0" i="0">
                <a:solidFill>
                  <a:srgbClr val="0D1B2A"/>
                </a:solidFill>
              </a:rPr>
              <a:t>ISO 13485:2016  —  Quality Management System</a:t>
            </a:r>
          </a:p>
        </p:txBody>
      </p:sp>
      <p:sp>
        <p:nvSpPr>
          <p:cNvPr id="6" name="TextBox 5"/>
          <p:cNvSpPr txBox="1"/>
          <p:nvPr/>
        </p:nvSpPr>
        <p:spPr>
          <a:xfrm>
            <a:off x="548640" y="2011680"/>
            <a:ext cx="10972800" cy="365760"/>
          </a:xfrm>
          <a:prstGeom prst="rect">
            <a:avLst/>
          </a:prstGeom>
          <a:noFill/>
        </p:spPr>
        <p:txBody>
          <a:bodyPr wrap="square">
            <a:spAutoFit/>
          </a:bodyPr>
          <a:lstStyle/>
          <a:p>
            <a:pPr algn="l"/>
            <a:r>
              <a:rPr sz="1500" b="0" i="0">
                <a:solidFill>
                  <a:srgbClr val="0D1B2A"/>
                </a:solidFill>
              </a:rPr>
              <a:t>ISO 14971:2019  —  Risk Management — 7 risks identified &amp; controlled</a:t>
            </a:r>
          </a:p>
        </p:txBody>
      </p:sp>
      <p:sp>
        <p:nvSpPr>
          <p:cNvPr id="7" name="TextBox 6"/>
          <p:cNvSpPr txBox="1"/>
          <p:nvPr/>
        </p:nvSpPr>
        <p:spPr>
          <a:xfrm>
            <a:off x="548640" y="2468880"/>
            <a:ext cx="10972800" cy="365760"/>
          </a:xfrm>
          <a:prstGeom prst="rect">
            <a:avLst/>
          </a:prstGeom>
          <a:noFill/>
        </p:spPr>
        <p:txBody>
          <a:bodyPr wrap="square">
            <a:spAutoFit/>
          </a:bodyPr>
          <a:lstStyle/>
          <a:p>
            <a:pPr algn="l"/>
            <a:r>
              <a:rPr sz="1500" b="0" i="0">
                <a:solidFill>
                  <a:srgbClr val="0D1B2A"/>
                </a:solidFill>
              </a:rPr>
              <a:t>IEC 62304:2006  —  Medical Device Software Lifecycle</a:t>
            </a:r>
          </a:p>
        </p:txBody>
      </p:sp>
      <p:sp>
        <p:nvSpPr>
          <p:cNvPr id="8" name="TextBox 7"/>
          <p:cNvSpPr txBox="1"/>
          <p:nvPr/>
        </p:nvSpPr>
        <p:spPr>
          <a:xfrm>
            <a:off x="548640" y="2926080"/>
            <a:ext cx="10972800" cy="365760"/>
          </a:xfrm>
          <a:prstGeom prst="rect">
            <a:avLst/>
          </a:prstGeom>
          <a:noFill/>
        </p:spPr>
        <p:txBody>
          <a:bodyPr wrap="square">
            <a:spAutoFit/>
          </a:bodyPr>
          <a:lstStyle/>
          <a:p>
            <a:pPr algn="l"/>
            <a:r>
              <a:rPr sz="1500" b="0" i="0">
                <a:solidFill>
                  <a:srgbClr val="0D1B2A"/>
                </a:solidFill>
              </a:rPr>
              <a:t>FDA 21 CFR Part 11  —  Electronic Records &amp; Signatures</a:t>
            </a:r>
          </a:p>
        </p:txBody>
      </p:sp>
      <p:sp>
        <p:nvSpPr>
          <p:cNvPr id="9" name="TextBox 8"/>
          <p:cNvSpPr txBox="1"/>
          <p:nvPr/>
        </p:nvSpPr>
        <p:spPr>
          <a:xfrm>
            <a:off x="548640" y="3383280"/>
            <a:ext cx="10972800" cy="365760"/>
          </a:xfrm>
          <a:prstGeom prst="rect">
            <a:avLst/>
          </a:prstGeom>
          <a:noFill/>
        </p:spPr>
        <p:txBody>
          <a:bodyPr wrap="square">
            <a:spAutoFit/>
          </a:bodyPr>
          <a:lstStyle/>
          <a:p>
            <a:pPr algn="l"/>
            <a:r>
              <a:rPr sz="1500" b="0" i="0">
                <a:solidFill>
                  <a:srgbClr val="0D1B2A"/>
                </a:solidFill>
              </a:rPr>
              <a:t>FDA Cybersecurity Guidance 2023  —  Threat modelling, SBOM, update policy</a:t>
            </a:r>
          </a:p>
        </p:txBody>
      </p:sp>
      <p:sp>
        <p:nvSpPr>
          <p:cNvPr id="10" name="TextBox 9"/>
          <p:cNvSpPr txBox="1"/>
          <p:nvPr/>
        </p:nvSpPr>
        <p:spPr>
          <a:xfrm>
            <a:off x="548640" y="3931920"/>
            <a:ext cx="10972800" cy="365760"/>
          </a:xfrm>
          <a:prstGeom prst="rect">
            <a:avLst/>
          </a:prstGeom>
          <a:noFill/>
        </p:spPr>
        <p:txBody>
          <a:bodyPr wrap="square">
            <a:spAutoFit/>
          </a:bodyPr>
          <a:lstStyle/>
          <a:p>
            <a:pPr algn="l"/>
            <a:r>
              <a:rPr sz="1600" b="1" i="0">
                <a:solidFill>
                  <a:srgbClr val="0078D4"/>
                </a:solidFill>
              </a:rPr>
              <a:t>How We Comply</a:t>
            </a:r>
          </a:p>
        </p:txBody>
      </p:sp>
      <p:sp>
        <p:nvSpPr>
          <p:cNvPr id="11" name="TextBox 10"/>
          <p:cNvSpPr txBox="1"/>
          <p:nvPr/>
        </p:nvSpPr>
        <p:spPr>
          <a:xfrm>
            <a:off x="822960" y="4343400"/>
            <a:ext cx="10972800" cy="347472"/>
          </a:xfrm>
          <a:prstGeom prst="rect">
            <a:avLst/>
          </a:prstGeom>
          <a:noFill/>
        </p:spPr>
        <p:txBody>
          <a:bodyPr wrap="square">
            <a:spAutoFit/>
          </a:bodyPr>
          <a:lstStyle/>
          <a:p>
            <a:pPr algn="l"/>
            <a:r>
              <a:rPr sz="1300" b="0" i="0">
                <a:solidFill>
                  <a:srgbClr val="0D1B2A"/>
                </a:solidFill>
              </a:rPr>
              <a:t>  Immutable append-only audit log (no deletes, ever)</a:t>
            </a:r>
          </a:p>
        </p:txBody>
      </p:sp>
      <p:sp>
        <p:nvSpPr>
          <p:cNvPr id="12" name="TextBox 11"/>
          <p:cNvSpPr txBox="1"/>
          <p:nvPr/>
        </p:nvSpPr>
        <p:spPr>
          <a:xfrm>
            <a:off x="822960" y="4727448"/>
            <a:ext cx="10972800" cy="347472"/>
          </a:xfrm>
          <a:prstGeom prst="rect">
            <a:avLst/>
          </a:prstGeom>
          <a:noFill/>
        </p:spPr>
        <p:txBody>
          <a:bodyPr wrap="square">
            <a:spAutoFit/>
          </a:bodyPr>
          <a:lstStyle/>
          <a:p>
            <a:pPr algn="l"/>
            <a:r>
              <a:rPr sz="1300" b="0" i="0">
                <a:solidFill>
                  <a:srgbClr val="0D1B2A"/>
                </a:solidFill>
              </a:rPr>
              <a:t>  UUID trace ID on every AI decision</a:t>
            </a:r>
          </a:p>
        </p:txBody>
      </p:sp>
      <p:sp>
        <p:nvSpPr>
          <p:cNvPr id="13" name="TextBox 12"/>
          <p:cNvSpPr txBox="1"/>
          <p:nvPr/>
        </p:nvSpPr>
        <p:spPr>
          <a:xfrm>
            <a:off x="822960" y="5111496"/>
            <a:ext cx="10972800" cy="347472"/>
          </a:xfrm>
          <a:prstGeom prst="rect">
            <a:avLst/>
          </a:prstGeom>
          <a:noFill/>
        </p:spPr>
        <p:txBody>
          <a:bodyPr wrap="square">
            <a:spAutoFit/>
          </a:bodyPr>
          <a:lstStyle/>
          <a:p>
            <a:pPr algn="l"/>
            <a:r>
              <a:rPr sz="1300" b="0" i="0">
                <a:solidFill>
                  <a:srgbClr val="0D1B2A"/>
                </a:solidFill>
              </a:rPr>
              <a:t>  Human approval gate on every proposal — enforced in code</a:t>
            </a:r>
          </a:p>
        </p:txBody>
      </p:sp>
      <p:sp>
        <p:nvSpPr>
          <p:cNvPr id="14" name="TextBox 13"/>
          <p:cNvSpPr txBox="1"/>
          <p:nvPr/>
        </p:nvSpPr>
        <p:spPr>
          <a:xfrm>
            <a:off x="822960" y="5495544"/>
            <a:ext cx="10972800" cy="347472"/>
          </a:xfrm>
          <a:prstGeom prst="rect">
            <a:avLst/>
          </a:prstGeom>
          <a:noFill/>
        </p:spPr>
        <p:txBody>
          <a:bodyPr wrap="square">
            <a:spAutoFit/>
          </a:bodyPr>
          <a:lstStyle/>
          <a:p>
            <a:pPr algn="l"/>
            <a:r>
              <a:rPr sz="1300" b="0" i="0">
                <a:solidFill>
                  <a:srgbClr val="0D1B2A"/>
                </a:solidFill>
              </a:rPr>
              <a:t>  Full DHF: SRS · RTM · V&amp;V Plan · SOUP Inventory</a:t>
            </a:r>
          </a:p>
        </p:txBody>
      </p:sp>
      <p:sp>
        <p:nvSpPr>
          <p:cNvPr id="15" name="TextBox 14"/>
          <p:cNvSpPr txBox="1"/>
          <p:nvPr/>
        </p:nvSpPr>
        <p:spPr>
          <a:xfrm>
            <a:off x="822960" y="5879592"/>
            <a:ext cx="10972800" cy="347472"/>
          </a:xfrm>
          <a:prstGeom prst="rect">
            <a:avLst/>
          </a:prstGeom>
          <a:noFill/>
        </p:spPr>
        <p:txBody>
          <a:bodyPr wrap="square">
            <a:spAutoFit/>
          </a:bodyPr>
          <a:lstStyle/>
          <a:p>
            <a:pPr algn="l"/>
            <a:r>
              <a:rPr sz="1300" b="0" i="0">
                <a:solidFill>
                  <a:srgbClr val="0D1B2A"/>
                </a:solidFill>
              </a:rPr>
              <a:t>  Air-gapped LLM option — no cloud dependency required</a:t>
            </a:r>
          </a:p>
        </p:txBody>
      </p:sp>
      <p:sp>
        <p:nvSpPr>
          <p:cNvPr id="16" name="Rectangle 15"/>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Open Source (Apache 2.0) | github.com/Sumanharapanahalli/sage | March 2026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SAGE[ai] Gets Better Every Day — From Your Own Team</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Compounding intelligence through the RAG feedback loop</a:t>
            </a:r>
          </a:p>
        </p:txBody>
      </p:sp>
      <p:sp>
        <p:nvSpPr>
          <p:cNvPr id="5" name="Rectangle 4"/>
          <p:cNvSpPr/>
          <p:nvPr/>
        </p:nvSpPr>
        <p:spPr>
          <a:xfrm>
            <a:off x="548640" y="1600200"/>
            <a:ext cx="3383280" cy="32004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37360"/>
            <a:ext cx="548640" cy="548640"/>
          </a:xfrm>
          <a:prstGeom prst="rect">
            <a:avLst/>
          </a:prstGeom>
          <a:noFill/>
        </p:spPr>
        <p:txBody>
          <a:bodyPr wrap="square">
            <a:spAutoFit/>
          </a:bodyPr>
          <a:lstStyle/>
          <a:p>
            <a:pPr algn="l"/>
            <a:r>
              <a:rPr sz="2800" b="1" i="0">
                <a:solidFill>
                  <a:srgbClr val="FFFFFF"/>
                </a:solidFill>
              </a:rPr>
              <a:t>1</a:t>
            </a:r>
          </a:p>
        </p:txBody>
      </p:sp>
      <p:sp>
        <p:nvSpPr>
          <p:cNvPr id="7" name="TextBox 6"/>
          <p:cNvSpPr txBox="1"/>
          <p:nvPr/>
        </p:nvSpPr>
        <p:spPr>
          <a:xfrm>
            <a:off x="685800" y="2331720"/>
            <a:ext cx="3108960" cy="457200"/>
          </a:xfrm>
          <a:prstGeom prst="rect">
            <a:avLst/>
          </a:prstGeom>
          <a:noFill/>
        </p:spPr>
        <p:txBody>
          <a:bodyPr wrap="square">
            <a:spAutoFit/>
          </a:bodyPr>
          <a:lstStyle/>
          <a:p>
            <a:pPr algn="l"/>
            <a:r>
              <a:rPr sz="1400" b="1" i="0">
                <a:solidFill>
                  <a:srgbClr val="FFFFFF"/>
                </a:solidFill>
              </a:rPr>
              <a:t>USER SUBMITS REQUEST</a:t>
            </a:r>
          </a:p>
        </p:txBody>
      </p:sp>
      <p:sp>
        <p:nvSpPr>
          <p:cNvPr id="8" name="TextBox 7"/>
          <p:cNvSpPr txBox="1"/>
          <p:nvPr/>
        </p:nvSpPr>
        <p:spPr>
          <a:xfrm>
            <a:off x="685800" y="2834640"/>
            <a:ext cx="3108960" cy="1645920"/>
          </a:xfrm>
          <a:prstGeom prst="rect">
            <a:avLst/>
          </a:prstGeom>
          <a:noFill/>
        </p:spPr>
        <p:txBody>
          <a:bodyPr wrap="square">
            <a:spAutoFit/>
          </a:bodyPr>
          <a:lstStyle/>
          <a:p>
            <a:pPr algn="l"/>
            <a:r>
              <a:rPr sz="1200" b="0" i="0">
                <a:solidFill>
                  <a:srgbClr val="FFFFFF"/>
                </a:solidFill>
              </a:rPr>
              <a:t>Click 'Request Improvement' on any module — logged instantly</a:t>
            </a:r>
          </a:p>
        </p:txBody>
      </p:sp>
      <p:sp>
        <p:nvSpPr>
          <p:cNvPr id="9" name="Rectangle 8"/>
          <p:cNvSpPr/>
          <p:nvPr/>
        </p:nvSpPr>
        <p:spPr>
          <a:xfrm>
            <a:off x="4389120" y="1600200"/>
            <a:ext cx="3383280" cy="320040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26280" y="1737360"/>
            <a:ext cx="548640" cy="548640"/>
          </a:xfrm>
          <a:prstGeom prst="rect">
            <a:avLst/>
          </a:prstGeom>
          <a:noFill/>
        </p:spPr>
        <p:txBody>
          <a:bodyPr wrap="square">
            <a:spAutoFit/>
          </a:bodyPr>
          <a:lstStyle/>
          <a:p>
            <a:pPr algn="l"/>
            <a:r>
              <a:rPr sz="2800" b="1" i="0">
                <a:solidFill>
                  <a:srgbClr val="FFFFFF"/>
                </a:solidFill>
              </a:rPr>
              <a:t>2</a:t>
            </a:r>
          </a:p>
        </p:txBody>
      </p:sp>
      <p:sp>
        <p:nvSpPr>
          <p:cNvPr id="11" name="TextBox 10"/>
          <p:cNvSpPr txBox="1"/>
          <p:nvPr/>
        </p:nvSpPr>
        <p:spPr>
          <a:xfrm>
            <a:off x="4526280" y="2331720"/>
            <a:ext cx="3108960" cy="457200"/>
          </a:xfrm>
          <a:prstGeom prst="rect">
            <a:avLst/>
          </a:prstGeom>
          <a:noFill/>
        </p:spPr>
        <p:txBody>
          <a:bodyPr wrap="square">
            <a:spAutoFit/>
          </a:bodyPr>
          <a:lstStyle/>
          <a:p>
            <a:pPr algn="l"/>
            <a:r>
              <a:rPr sz="1400" b="1" i="0">
                <a:solidFill>
                  <a:srgbClr val="FFFFFF"/>
                </a:solidFill>
              </a:rPr>
              <a:t>AI PLANS</a:t>
            </a:r>
          </a:p>
        </p:txBody>
      </p:sp>
      <p:sp>
        <p:nvSpPr>
          <p:cNvPr id="12" name="TextBox 11"/>
          <p:cNvSpPr txBox="1"/>
          <p:nvPr/>
        </p:nvSpPr>
        <p:spPr>
          <a:xfrm>
            <a:off x="4526280" y="2834640"/>
            <a:ext cx="3108960" cy="1645920"/>
          </a:xfrm>
          <a:prstGeom prst="rect">
            <a:avLst/>
          </a:prstGeom>
          <a:noFill/>
        </p:spPr>
        <p:txBody>
          <a:bodyPr wrap="square">
            <a:spAutoFit/>
          </a:bodyPr>
          <a:lstStyle/>
          <a:p>
            <a:pPr algn="l"/>
            <a:r>
              <a:rPr sz="1200" b="0" i="0">
                <a:solidFill>
                  <a:srgbClr val="FFFFFF"/>
                </a:solidFill>
              </a:rPr>
              <a:t>Planner Agent decomposes into subtasks, queued for implementation</a:t>
            </a:r>
          </a:p>
        </p:txBody>
      </p:sp>
      <p:sp>
        <p:nvSpPr>
          <p:cNvPr id="13" name="Rectangle 12"/>
          <p:cNvSpPr/>
          <p:nvPr/>
        </p:nvSpPr>
        <p:spPr>
          <a:xfrm>
            <a:off x="8229600" y="1600200"/>
            <a:ext cx="3383280" cy="3200400"/>
          </a:xfrm>
          <a:prstGeom prst="rect">
            <a:avLst/>
          </a:prstGeom>
          <a:solidFill>
            <a:srgbClr val="21C5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66760" y="1737360"/>
            <a:ext cx="548640" cy="548640"/>
          </a:xfrm>
          <a:prstGeom prst="rect">
            <a:avLst/>
          </a:prstGeom>
          <a:noFill/>
        </p:spPr>
        <p:txBody>
          <a:bodyPr wrap="square">
            <a:spAutoFit/>
          </a:bodyPr>
          <a:lstStyle/>
          <a:p>
            <a:pPr algn="l"/>
            <a:r>
              <a:rPr sz="2800" b="1" i="0">
                <a:solidFill>
                  <a:srgbClr val="FFFFFF"/>
                </a:solidFill>
              </a:rPr>
              <a:t>3</a:t>
            </a:r>
          </a:p>
        </p:txBody>
      </p:sp>
      <p:sp>
        <p:nvSpPr>
          <p:cNvPr id="15" name="TextBox 14"/>
          <p:cNvSpPr txBox="1"/>
          <p:nvPr/>
        </p:nvSpPr>
        <p:spPr>
          <a:xfrm>
            <a:off x="8366760" y="2331720"/>
            <a:ext cx="3108960" cy="457200"/>
          </a:xfrm>
          <a:prstGeom prst="rect">
            <a:avLst/>
          </a:prstGeom>
          <a:noFill/>
        </p:spPr>
        <p:txBody>
          <a:bodyPr wrap="square">
            <a:spAutoFit/>
          </a:bodyPr>
          <a:lstStyle/>
          <a:p>
            <a:pPr algn="l"/>
            <a:r>
              <a:rPr sz="1400" b="1" i="0">
                <a:solidFill>
                  <a:srgbClr val="FFFFFF"/>
                </a:solidFill>
              </a:rPr>
              <a:t>IMPLEMENTED &amp; LEARNED</a:t>
            </a:r>
          </a:p>
        </p:txBody>
      </p:sp>
      <p:sp>
        <p:nvSpPr>
          <p:cNvPr id="16" name="TextBox 15"/>
          <p:cNvSpPr txBox="1"/>
          <p:nvPr/>
        </p:nvSpPr>
        <p:spPr>
          <a:xfrm>
            <a:off x="8366760" y="2834640"/>
            <a:ext cx="3108960" cy="1645920"/>
          </a:xfrm>
          <a:prstGeom prst="rect">
            <a:avLst/>
          </a:prstGeom>
          <a:noFill/>
        </p:spPr>
        <p:txBody>
          <a:bodyPr wrap="square">
            <a:spAutoFit/>
          </a:bodyPr>
          <a:lstStyle/>
          <a:p>
            <a:pPr algn="l"/>
            <a:r>
              <a:rPr sz="1200" b="0" i="0">
                <a:solidFill>
                  <a:srgbClr val="FFFFFF"/>
                </a:solidFill>
              </a:rPr>
              <a:t>Change deployed; RAG memory updated — next analysis is smarter</a:t>
            </a:r>
          </a:p>
        </p:txBody>
      </p:sp>
      <p:sp>
        <p:nvSpPr>
          <p:cNvPr id="17" name="TextBox 16"/>
          <p:cNvSpPr txBox="1"/>
          <p:nvPr/>
        </p:nvSpPr>
        <p:spPr>
          <a:xfrm>
            <a:off x="548640" y="5029200"/>
            <a:ext cx="10972800" cy="502920"/>
          </a:xfrm>
          <a:prstGeom prst="rect">
            <a:avLst/>
          </a:prstGeom>
          <a:noFill/>
        </p:spPr>
        <p:txBody>
          <a:bodyPr wrap="square">
            <a:spAutoFit/>
          </a:bodyPr>
          <a:lstStyle/>
          <a:p>
            <a:pPr algn="ctr"/>
            <a:r>
              <a:rPr sz="1500" b="1" i="1">
                <a:solidFill>
                  <a:srgbClr val="0D1B2A"/>
                </a:solidFill>
              </a:rPr>
              <a:t>The system improves itself through the same AI pipeline it provides to engineers.</a:t>
            </a:r>
          </a:p>
        </p:txBody>
      </p:sp>
      <p:sp>
        <p:nvSpPr>
          <p:cNvPr id="18" name="Rectangle 17"/>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Open Source (Apache 2.0) | github.com/Sumanharapanahalli/sage | March 2026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From Pilot to Production: 3-Month Plan</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12 integration phases complete — pilot deployment is next</a:t>
            </a:r>
          </a:p>
        </p:txBody>
      </p:sp>
      <p:graphicFrame>
        <p:nvGraphicFramePr>
          <p:cNvPr id="5" name="Table 4"/>
          <p:cNvGraphicFramePr>
            <a:graphicFrameLocks noGrp="1"/>
          </p:cNvGraphicFramePr>
          <p:nvPr/>
        </p:nvGraphicFramePr>
        <p:xfrm>
          <a:off x="457200" y="1508760"/>
          <a:ext cx="11247120" cy="3803904"/>
        </p:xfrm>
        <a:graphic>
          <a:graphicData uri="http://schemas.openxmlformats.org/drawingml/2006/table">
            <a:tbl>
              <a:tblPr firstRow="1" bandRow="1">
                <a:tableStyleId>{5C22544A-7EE6-4342-B048-85BDC9FD1C3A}</a:tableStyleId>
              </a:tblPr>
              <a:tblGrid>
                <a:gridCol w="1828800"/>
                <a:gridCol w="1280160"/>
                <a:gridCol w="6309360"/>
                <a:gridCol w="1828800"/>
              </a:tblGrid>
              <a:tr h="475488">
                <a:tc>
                  <a:txBody>
                    <a:bodyPr/>
                    <a:lstStyle/>
                    <a:p>
                      <a:pPr algn="ctr"/>
                      <a:r>
                        <a:rPr b="1" sz="1300">
                          <a:solidFill>
                            <a:srgbClr val="FFFFFF"/>
                          </a:solidFill>
                        </a:rPr>
                        <a:t>Phase</a:t>
                      </a:r>
                    </a:p>
                  </a:txBody>
                  <a:tcPr>
                    <a:solidFill>
                      <a:srgbClr val="0078D4"/>
                    </a:solidFill>
                  </a:tcPr>
                </a:tc>
                <a:tc>
                  <a:txBody>
                    <a:bodyPr/>
                    <a:lstStyle/>
                    <a:p>
                      <a:pPr algn="ctr"/>
                      <a:r>
                        <a:rPr b="1" sz="1300">
                          <a:solidFill>
                            <a:srgbClr val="FFFFFF"/>
                          </a:solidFill>
                        </a:rPr>
                        <a:t>Timeline</a:t>
                      </a:r>
                    </a:p>
                  </a:txBody>
                  <a:tcPr>
                    <a:solidFill>
                      <a:srgbClr val="0078D4"/>
                    </a:solidFill>
                  </a:tcPr>
                </a:tc>
                <a:tc>
                  <a:txBody>
                    <a:bodyPr/>
                    <a:lstStyle/>
                    <a:p>
                      <a:pPr algn="ctr"/>
                      <a:r>
                        <a:rPr b="1" sz="1300">
                          <a:solidFill>
                            <a:srgbClr val="FFFFFF"/>
                          </a:solidFill>
                        </a:rPr>
                        <a:t>Deliverable</a:t>
                      </a:r>
                    </a:p>
                  </a:txBody>
                  <a:tcPr>
                    <a:solidFill>
                      <a:srgbClr val="0078D4"/>
                    </a:solidFill>
                  </a:tcPr>
                </a:tc>
                <a:tc>
                  <a:txBody>
                    <a:bodyPr/>
                    <a:lstStyle/>
                    <a:p>
                      <a:pPr algn="ctr"/>
                      <a:r>
                        <a:rPr b="1" sz="1300">
                          <a:solidFill>
                            <a:srgbClr val="FFFFFF"/>
                          </a:solidFill>
                        </a:rPr>
                        <a:t>Status</a:t>
                      </a:r>
                    </a:p>
                  </a:txBody>
                  <a:tcPr>
                    <a:solidFill>
                      <a:srgbClr val="0078D4"/>
                    </a:solidFill>
                  </a:tcPr>
                </a:tc>
              </a:tr>
              <a:tr h="475488">
                <a:tc>
                  <a:txBody>
                    <a:bodyPr/>
                    <a:lstStyle/>
                    <a:p>
                      <a:pPr algn="l"/>
                      <a:r>
                        <a:rPr sz="1200">
                          <a:solidFill>
                            <a:srgbClr val="0D1B2A"/>
                          </a:solidFill>
                        </a:rPr>
                        <a:t>Phases 0-4: Core</a:t>
                      </a:r>
                    </a:p>
                  </a:txBody>
                  <a:tcPr>
                    <a:solidFill>
                      <a:srgbClr val="F0F4F8"/>
                    </a:solidFill>
                  </a:tcPr>
                </a:tc>
                <a:tc>
                  <a:txBody>
                    <a:bodyPr/>
                    <a:lstStyle/>
                    <a:p>
                      <a:pPr algn="l"/>
                      <a:r>
                        <a:rPr sz="1200">
                          <a:solidFill>
                            <a:srgbClr val="0D1B2A"/>
                          </a:solidFill>
                        </a:rPr>
                        <a:t>Done</a:t>
                      </a:r>
                    </a:p>
                  </a:txBody>
                  <a:tcPr>
                    <a:solidFill>
                      <a:srgbClr val="F0F4F8"/>
                    </a:solidFill>
                  </a:tcPr>
                </a:tc>
                <a:tc>
                  <a:txBody>
                    <a:bodyPr/>
                    <a:lstStyle/>
                    <a:p>
                      <a:pPr algn="l"/>
                      <a:r>
                        <a:rPr sz="1200">
                          <a:solidFill>
                            <a:srgbClr val="0D1B2A"/>
                          </a:solidFill>
                        </a:rPr>
                        <a:t>Agents, API, Web UI, Approval gate, Audit log</a:t>
                      </a:r>
                    </a:p>
                  </a:txBody>
                  <a:tcPr>
                    <a:solidFill>
                      <a:srgbClr val="F0F4F8"/>
                    </a:solidFill>
                  </a:tcPr>
                </a:tc>
                <a:tc>
                  <a:txBody>
                    <a:bodyPr/>
                    <a:lstStyle/>
                    <a:p>
                      <a:pPr algn="l"/>
                      <a:r>
                        <a:rPr sz="1200">
                          <a:solidFill>
                            <a:srgbClr val="0D1B2A"/>
                          </a:solidFill>
                        </a:rPr>
                        <a:t>Complete</a:t>
                      </a:r>
                    </a:p>
                  </a:txBody>
                  <a:tcPr>
                    <a:solidFill>
                      <a:srgbClr val="F0F4F8"/>
                    </a:solidFill>
                  </a:tcPr>
                </a:tc>
              </a:tr>
              <a:tr h="475488">
                <a:tc>
                  <a:txBody>
                    <a:bodyPr/>
                    <a:lstStyle/>
                    <a:p>
                      <a:pPr algn="l"/>
                      <a:r>
                        <a:rPr sz="1200">
                          <a:solidFill>
                            <a:srgbClr val="0D1B2A"/>
                          </a:solidFill>
                        </a:rPr>
                        <a:t>Phase 5: Streaming</a:t>
                      </a:r>
                    </a:p>
                  </a:txBody>
                  <a:tcPr>
                    <a:solidFill>
                      <a:srgbClr val="FFFFFF"/>
                    </a:solidFill>
                  </a:tcPr>
                </a:tc>
                <a:tc>
                  <a:txBody>
                    <a:bodyPr/>
                    <a:lstStyle/>
                    <a:p>
                      <a:pPr algn="l"/>
                      <a:r>
                        <a:rPr sz="1200">
                          <a:solidFill>
                            <a:srgbClr val="0D1B2A"/>
                          </a:solidFill>
                        </a:rPr>
                        <a:t>Done</a:t>
                      </a:r>
                    </a:p>
                  </a:txBody>
                  <a:tcPr>
                    <a:solidFill>
                      <a:srgbClr val="FFFFFF"/>
                    </a:solidFill>
                  </a:tcPr>
                </a:tc>
                <a:tc>
                  <a:txBody>
                    <a:bodyPr/>
                    <a:lstStyle/>
                    <a:p>
                      <a:pPr algn="l"/>
                      <a:r>
                        <a:rPr sz="1200">
                          <a:solidFill>
                            <a:srgbClr val="0D1B2A"/>
                          </a:solidFill>
                        </a:rPr>
                        <a:t>SSE token streaming for all providers</a:t>
                      </a:r>
                    </a:p>
                  </a:txBody>
                  <a:tcPr>
                    <a:solidFill>
                      <a:srgbClr val="FFFFFF"/>
                    </a:solidFill>
                  </a:tcPr>
                </a:tc>
                <a:tc>
                  <a:txBody>
                    <a:bodyPr/>
                    <a:lstStyle/>
                    <a:p>
                      <a:pPr algn="l"/>
                      <a:r>
                        <a:rPr sz="1200">
                          <a:solidFill>
                            <a:srgbClr val="0D1B2A"/>
                          </a:solidFill>
                        </a:rPr>
                        <a:t>Complete</a:t>
                      </a:r>
                    </a:p>
                  </a:txBody>
                  <a:tcPr>
                    <a:solidFill>
                      <a:srgbClr val="FFFFFF"/>
                    </a:solidFill>
                  </a:tcPr>
                </a:tc>
              </a:tr>
              <a:tr h="475488">
                <a:tc>
                  <a:txBody>
                    <a:bodyPr/>
                    <a:lstStyle/>
                    <a:p>
                      <a:pPr algn="l"/>
                      <a:r>
                        <a:rPr sz="1200">
                          <a:solidFill>
                            <a:srgbClr val="0D1B2A"/>
                          </a:solidFill>
                        </a:rPr>
                        <a:t>Phase 6: Onboard</a:t>
                      </a:r>
                    </a:p>
                  </a:txBody>
                  <a:tcPr>
                    <a:solidFill>
                      <a:srgbClr val="F0F4F8"/>
                    </a:solidFill>
                  </a:tcPr>
                </a:tc>
                <a:tc>
                  <a:txBody>
                    <a:bodyPr/>
                    <a:lstStyle/>
                    <a:p>
                      <a:pPr algn="l"/>
                      <a:r>
                        <a:rPr sz="1200">
                          <a:solidFill>
                            <a:srgbClr val="0D1B2A"/>
                          </a:solidFill>
                        </a:rPr>
                        <a:t>Done</a:t>
                      </a:r>
                    </a:p>
                  </a:txBody>
                  <a:tcPr>
                    <a:solidFill>
                      <a:srgbClr val="F0F4F8"/>
                    </a:solidFill>
                  </a:tcPr>
                </a:tc>
                <a:tc>
                  <a:txBody>
                    <a:bodyPr/>
                    <a:lstStyle/>
                    <a:p>
                      <a:pPr algn="l"/>
                      <a:r>
                        <a:rPr sz="1200">
                          <a:solidFill>
                            <a:srgbClr val="0D1B2A"/>
                          </a:solidFill>
                        </a:rPr>
                        <a:t>Plain-language to YAML solution wizard</a:t>
                      </a:r>
                    </a:p>
                  </a:txBody>
                  <a:tcPr>
                    <a:solidFill>
                      <a:srgbClr val="F0F4F8"/>
                    </a:solidFill>
                  </a:tcPr>
                </a:tc>
                <a:tc>
                  <a:txBody>
                    <a:bodyPr/>
                    <a:lstStyle/>
                    <a:p>
                      <a:pPr algn="l"/>
                      <a:r>
                        <a:rPr sz="1200">
                          <a:solidFill>
                            <a:srgbClr val="0D1B2A"/>
                          </a:solidFill>
                        </a:rPr>
                        <a:t>Complete</a:t>
                      </a:r>
                    </a:p>
                  </a:txBody>
                  <a:tcPr>
                    <a:solidFill>
                      <a:srgbClr val="F0F4F8"/>
                    </a:solidFill>
                  </a:tcPr>
                </a:tc>
              </a:tr>
              <a:tr h="475488">
                <a:tc>
                  <a:txBody>
                    <a:bodyPr/>
                    <a:lstStyle/>
                    <a:p>
                      <a:pPr algn="l"/>
                      <a:r>
                        <a:rPr sz="1200">
                          <a:solidFill>
                            <a:srgbClr val="0D1B2A"/>
                          </a:solidFill>
                        </a:rPr>
                        <a:t>Phases 7-11</a:t>
                      </a:r>
                    </a:p>
                  </a:txBody>
                  <a:tcPr>
                    <a:solidFill>
                      <a:srgbClr val="FFFFFF"/>
                    </a:solidFill>
                  </a:tcPr>
                </a:tc>
                <a:tc>
                  <a:txBody>
                    <a:bodyPr/>
                    <a:lstStyle/>
                    <a:p>
                      <a:pPr algn="l"/>
                      <a:r>
                        <a:rPr sz="1200">
                          <a:solidFill>
                            <a:srgbClr val="0D1B2A"/>
                          </a:solidFill>
                        </a:rPr>
                        <a:t>Done</a:t>
                      </a:r>
                    </a:p>
                  </a:txBody>
                  <a:tcPr>
                    <a:solidFill>
                      <a:srgbClr val="FFFFFF"/>
                    </a:solidFill>
                  </a:tcPr>
                </a:tc>
                <a:tc>
                  <a:txBody>
                    <a:bodyPr/>
                    <a:lstStyle/>
                    <a:p>
                      <a:pPr algn="l"/>
                      <a:r>
                        <a:rPr sz="1200">
                          <a:solidFill>
                            <a:srgbClr val="0D1B2A"/>
                          </a:solidFill>
                        </a:rPr>
                        <a:t>Knowledge CRUD, Slack, Eval, Multi-tenant, Temporal</a:t>
                      </a:r>
                    </a:p>
                  </a:txBody>
                  <a:tcPr>
                    <a:solidFill>
                      <a:srgbClr val="FFFFFF"/>
                    </a:solidFill>
                  </a:tcPr>
                </a:tc>
                <a:tc>
                  <a:txBody>
                    <a:bodyPr/>
                    <a:lstStyle/>
                    <a:p>
                      <a:pPr algn="l"/>
                      <a:r>
                        <a:rPr sz="1200">
                          <a:solidFill>
                            <a:srgbClr val="0D1B2A"/>
                          </a:solidFill>
                        </a:rPr>
                        <a:t>Complete</a:t>
                      </a:r>
                    </a:p>
                  </a:txBody>
                  <a:tcPr>
                    <a:solidFill>
                      <a:srgbClr val="FFFFFF"/>
                    </a:solidFill>
                  </a:tcPr>
                </a:tc>
              </a:tr>
              <a:tr h="475488">
                <a:tc>
                  <a:txBody>
                    <a:bodyPr/>
                    <a:lstStyle/>
                    <a:p>
                      <a:pPr algn="l"/>
                      <a:r>
                        <a:rPr sz="1200">
                          <a:solidFill>
                            <a:srgbClr val="0D1B2A"/>
                          </a:solidFill>
                        </a:rPr>
                        <a:t>Pilot Deploy</a:t>
                      </a:r>
                    </a:p>
                  </a:txBody>
                  <a:tcPr>
                    <a:solidFill>
                      <a:srgbClr val="F0F4F8"/>
                    </a:solidFill>
                  </a:tcPr>
                </a:tc>
                <a:tc>
                  <a:txBody>
                    <a:bodyPr/>
                    <a:lstStyle/>
                    <a:p>
                      <a:pPr algn="l"/>
                      <a:r>
                        <a:rPr sz="1200">
                          <a:solidFill>
                            <a:srgbClr val="0D1B2A"/>
                          </a:solidFill>
                        </a:rPr>
                        <a:t>Month 1</a:t>
                      </a:r>
                    </a:p>
                  </a:txBody>
                  <a:tcPr>
                    <a:solidFill>
                      <a:srgbClr val="F0F4F8"/>
                    </a:solidFill>
                  </a:tcPr>
                </a:tc>
                <a:tc>
                  <a:txBody>
                    <a:bodyPr/>
                    <a:lstStyle/>
                    <a:p>
                      <a:pPr algn="l"/>
                      <a:r>
                        <a:rPr sz="1200">
                          <a:solidFill>
                            <a:srgbClr val="0D1B2A"/>
                          </a:solidFill>
                        </a:rPr>
                        <a:t>Production deploy, engineer training, KPI baseline</a:t>
                      </a:r>
                    </a:p>
                  </a:txBody>
                  <a:tcPr>
                    <a:solidFill>
                      <a:srgbClr val="F0F4F8"/>
                    </a:solidFill>
                  </a:tcPr>
                </a:tc>
                <a:tc>
                  <a:txBody>
                    <a:bodyPr/>
                    <a:lstStyle/>
                    <a:p>
                      <a:pPr algn="l"/>
                      <a:r>
                        <a:rPr sz="1200">
                          <a:solidFill>
                            <a:srgbClr val="0D1B2A"/>
                          </a:solidFill>
                        </a:rPr>
                        <a:t>Next</a:t>
                      </a:r>
                    </a:p>
                  </a:txBody>
                  <a:tcPr>
                    <a:solidFill>
                      <a:srgbClr val="F0F4F8"/>
                    </a:solidFill>
                  </a:tcPr>
                </a:tc>
              </a:tr>
              <a:tr h="475488">
                <a:tc>
                  <a:txBody>
                    <a:bodyPr/>
                    <a:lstStyle/>
                    <a:p>
                      <a:pPr algn="l"/>
                      <a:r>
                        <a:rPr sz="1200">
                          <a:solidFill>
                            <a:srgbClr val="0D1B2A"/>
                          </a:solidFill>
                        </a:rPr>
                        <a:t>Iterate</a:t>
                      </a:r>
                    </a:p>
                  </a:txBody>
                  <a:tcPr>
                    <a:solidFill>
                      <a:srgbClr val="FFFFFF"/>
                    </a:solidFill>
                  </a:tcPr>
                </a:tc>
                <a:tc>
                  <a:txBody>
                    <a:bodyPr/>
                    <a:lstStyle/>
                    <a:p>
                      <a:pPr algn="l"/>
                      <a:r>
                        <a:rPr sz="1200">
                          <a:solidFill>
                            <a:srgbClr val="0D1B2A"/>
                          </a:solidFill>
                        </a:rPr>
                        <a:t>Month 2</a:t>
                      </a:r>
                    </a:p>
                  </a:txBody>
                  <a:tcPr>
                    <a:solidFill>
                      <a:srgbClr val="FFFFFF"/>
                    </a:solidFill>
                  </a:tcPr>
                </a:tc>
                <a:tc>
                  <a:txBody>
                    <a:bodyPr/>
                    <a:lstStyle/>
                    <a:p>
                      <a:pPr algn="l"/>
                      <a:r>
                        <a:rPr sz="1200">
                          <a:solidFill>
                            <a:srgbClr val="0D1B2A"/>
                          </a:solidFill>
                        </a:rPr>
                        <a:t>KPI tracking, RAG feedback loop, first improvements</a:t>
                      </a:r>
                    </a:p>
                  </a:txBody>
                  <a:tcPr>
                    <a:solidFill>
                      <a:srgbClr val="FFFFFF"/>
                    </a:solidFill>
                  </a:tcPr>
                </a:tc>
                <a:tc>
                  <a:txBody>
                    <a:bodyPr/>
                    <a:lstStyle/>
                    <a:p>
                      <a:pPr algn="l"/>
                      <a:r>
                        <a:rPr sz="1200">
                          <a:solidFill>
                            <a:srgbClr val="0D1B2A"/>
                          </a:solidFill>
                        </a:rPr>
                        <a:t>Planned</a:t>
                      </a:r>
                    </a:p>
                  </a:txBody>
                  <a:tcPr>
                    <a:solidFill>
                      <a:srgbClr val="FFFFFF"/>
                    </a:solidFill>
                  </a:tcPr>
                </a:tc>
              </a:tr>
              <a:tr h="475488">
                <a:tc>
                  <a:txBody>
                    <a:bodyPr/>
                    <a:lstStyle/>
                    <a:p>
                      <a:pPr algn="l"/>
                      <a:r>
                        <a:rPr sz="1200">
                          <a:solidFill>
                            <a:srgbClr val="0D1B2A"/>
                          </a:solidFill>
                        </a:rPr>
                        <a:t>Scale</a:t>
                      </a:r>
                    </a:p>
                  </a:txBody>
                  <a:tcPr>
                    <a:solidFill>
                      <a:srgbClr val="F0F4F8"/>
                    </a:solidFill>
                  </a:tcPr>
                </a:tc>
                <a:tc>
                  <a:txBody>
                    <a:bodyPr/>
                    <a:lstStyle/>
                    <a:p>
                      <a:pPr algn="l"/>
                      <a:r>
                        <a:rPr sz="1200">
                          <a:solidFill>
                            <a:srgbClr val="0D1B2A"/>
                          </a:solidFill>
                        </a:rPr>
                        <a:t>Month 3</a:t>
                      </a:r>
                    </a:p>
                  </a:txBody>
                  <a:tcPr>
                    <a:solidFill>
                      <a:srgbClr val="F0F4F8"/>
                    </a:solidFill>
                  </a:tcPr>
                </a:tc>
                <a:tc>
                  <a:txBody>
                    <a:bodyPr/>
                    <a:lstStyle/>
                    <a:p>
                      <a:pPr algn="l"/>
                      <a:r>
                        <a:rPr sz="1200">
                          <a:solidFill>
                            <a:srgbClr val="0D1B2A"/>
                          </a:solidFill>
                        </a:rPr>
                        <a:t>Multi-team rollout, Spira integration, exec dashboards</a:t>
                      </a:r>
                    </a:p>
                  </a:txBody>
                  <a:tcPr>
                    <a:solidFill>
                      <a:srgbClr val="F0F4F8"/>
                    </a:solidFill>
                  </a:tcPr>
                </a:tc>
                <a:tc>
                  <a:txBody>
                    <a:bodyPr/>
                    <a:lstStyle/>
                    <a:p>
                      <a:pPr algn="l"/>
                      <a:r>
                        <a:rPr sz="1200">
                          <a:solidFill>
                            <a:srgbClr val="0D1B2A"/>
                          </a:solidFill>
                        </a:rPr>
                        <a:t>Planned</a:t>
                      </a:r>
                    </a:p>
                  </a:txBody>
                  <a:tcPr>
                    <a:solidFill>
                      <a:srgbClr val="F0F4F8"/>
                    </a:solidFill>
                  </a:tcPr>
                </a:tc>
              </a:tr>
            </a:tbl>
          </a:graphicData>
        </a:graphic>
      </p:graphicFrame>
      <p:sp>
        <p:nvSpPr>
          <p:cNvPr id="6" name="Rectangle 5"/>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Open Source (Apache 2.0) | github.com/Sumanharapanahalli/sage | March 2026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Next Steps: 3-Month Pilot Proposal</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What we need vs what you get</a:t>
            </a:r>
          </a:p>
        </p:txBody>
      </p:sp>
      <p:sp>
        <p:nvSpPr>
          <p:cNvPr id="5" name="TextBox 4"/>
          <p:cNvSpPr txBox="1"/>
          <p:nvPr/>
        </p:nvSpPr>
        <p:spPr>
          <a:xfrm>
            <a:off x="457200" y="1508760"/>
            <a:ext cx="5486400" cy="411480"/>
          </a:xfrm>
          <a:prstGeom prst="rect">
            <a:avLst/>
          </a:prstGeom>
          <a:noFill/>
        </p:spPr>
        <p:txBody>
          <a:bodyPr wrap="square">
            <a:spAutoFit/>
          </a:bodyPr>
          <a:lstStyle/>
          <a:p>
            <a:pPr algn="l"/>
            <a:r>
              <a:rPr sz="1600" b="1" i="0">
                <a:solidFill>
                  <a:srgbClr val="0078D4"/>
                </a:solidFill>
              </a:rPr>
              <a:t>What We Need</a:t>
            </a:r>
          </a:p>
        </p:txBody>
      </p:sp>
      <p:sp>
        <p:nvSpPr>
          <p:cNvPr id="6" name="TextBox 5"/>
          <p:cNvSpPr txBox="1"/>
          <p:nvPr/>
        </p:nvSpPr>
        <p:spPr>
          <a:xfrm>
            <a:off x="640080" y="1965960"/>
            <a:ext cx="5303520" cy="384048"/>
          </a:xfrm>
          <a:prstGeom prst="rect">
            <a:avLst/>
          </a:prstGeom>
          <a:noFill/>
        </p:spPr>
        <p:txBody>
          <a:bodyPr wrap="square">
            <a:spAutoFit/>
          </a:bodyPr>
          <a:lstStyle/>
          <a:p>
            <a:pPr algn="l"/>
            <a:r>
              <a:rPr sz="1300" b="0" i="0">
                <a:solidFill>
                  <a:srgbClr val="0D1B2A"/>
                </a:solidFill>
              </a:rPr>
              <a:t>Production deployment approval (internal network)</a:t>
            </a:r>
          </a:p>
        </p:txBody>
      </p:sp>
      <p:sp>
        <p:nvSpPr>
          <p:cNvPr id="7" name="TextBox 6"/>
          <p:cNvSpPr txBox="1"/>
          <p:nvPr/>
        </p:nvSpPr>
        <p:spPr>
          <a:xfrm>
            <a:off x="640080" y="2404872"/>
            <a:ext cx="5303520" cy="384048"/>
          </a:xfrm>
          <a:prstGeom prst="rect">
            <a:avLst/>
          </a:prstGeom>
          <a:noFill/>
        </p:spPr>
        <p:txBody>
          <a:bodyPr wrap="square">
            <a:spAutoFit/>
          </a:bodyPr>
          <a:lstStyle/>
          <a:p>
            <a:pPr algn="l"/>
            <a:r>
              <a:rPr sz="1300" b="0" i="0">
                <a:solidFill>
                  <a:srgbClr val="0D1B2A"/>
                </a:solidFill>
              </a:rPr>
              <a:t>2-day engineering team training session</a:t>
            </a:r>
          </a:p>
        </p:txBody>
      </p:sp>
      <p:sp>
        <p:nvSpPr>
          <p:cNvPr id="8" name="TextBox 7"/>
          <p:cNvSpPr txBox="1"/>
          <p:nvPr/>
        </p:nvSpPr>
        <p:spPr>
          <a:xfrm>
            <a:off x="640080" y="2843784"/>
            <a:ext cx="5303520" cy="384048"/>
          </a:xfrm>
          <a:prstGeom prst="rect">
            <a:avLst/>
          </a:prstGeom>
          <a:noFill/>
        </p:spPr>
        <p:txBody>
          <a:bodyPr wrap="square">
            <a:spAutoFit/>
          </a:bodyPr>
          <a:lstStyle/>
          <a:p>
            <a:pPr algn="l"/>
            <a:r>
              <a:rPr sz="1300" b="0" i="0">
                <a:solidFill>
                  <a:srgbClr val="0D1B2A"/>
                </a:solidFill>
              </a:rPr>
              <a:t>Access to GitLab, Metabase, Teams API credentials</a:t>
            </a:r>
          </a:p>
        </p:txBody>
      </p:sp>
      <p:sp>
        <p:nvSpPr>
          <p:cNvPr id="9" name="TextBox 8"/>
          <p:cNvSpPr txBox="1"/>
          <p:nvPr/>
        </p:nvSpPr>
        <p:spPr>
          <a:xfrm>
            <a:off x="640080" y="3282696"/>
            <a:ext cx="5303520" cy="384048"/>
          </a:xfrm>
          <a:prstGeom prst="rect">
            <a:avLst/>
          </a:prstGeom>
          <a:noFill/>
        </p:spPr>
        <p:txBody>
          <a:bodyPr wrap="square">
            <a:spAutoFit/>
          </a:bodyPr>
          <a:lstStyle/>
          <a:p>
            <a:pPr algn="l"/>
            <a:r>
              <a:rPr sz="1300" b="0" i="0">
                <a:solidFill>
                  <a:srgbClr val="0D1B2A"/>
                </a:solidFill>
              </a:rPr>
              <a:t>Dedicated server or VM  (8-core CPU · 32 GB RAM · optional GPU)</a:t>
            </a:r>
          </a:p>
        </p:txBody>
      </p:sp>
      <p:sp>
        <p:nvSpPr>
          <p:cNvPr id="10" name="TextBox 9"/>
          <p:cNvSpPr txBox="1"/>
          <p:nvPr/>
        </p:nvSpPr>
        <p:spPr>
          <a:xfrm>
            <a:off x="6309360" y="1508760"/>
            <a:ext cx="5486400" cy="411480"/>
          </a:xfrm>
          <a:prstGeom prst="rect">
            <a:avLst/>
          </a:prstGeom>
          <a:noFill/>
        </p:spPr>
        <p:txBody>
          <a:bodyPr wrap="square">
            <a:spAutoFit/>
          </a:bodyPr>
          <a:lstStyle/>
          <a:p>
            <a:pPr algn="l"/>
            <a:r>
              <a:rPr sz="1600" b="1" i="0">
                <a:solidFill>
                  <a:srgbClr val="21C55D"/>
                </a:solidFill>
              </a:rPr>
              <a:t>What You Get</a:t>
            </a:r>
          </a:p>
        </p:txBody>
      </p:sp>
      <p:sp>
        <p:nvSpPr>
          <p:cNvPr id="11" name="TextBox 10"/>
          <p:cNvSpPr txBox="1"/>
          <p:nvPr/>
        </p:nvSpPr>
        <p:spPr>
          <a:xfrm>
            <a:off x="6492240" y="1965960"/>
            <a:ext cx="5303520" cy="384048"/>
          </a:xfrm>
          <a:prstGeom prst="rect">
            <a:avLst/>
          </a:prstGeom>
          <a:noFill/>
        </p:spPr>
        <p:txBody>
          <a:bodyPr wrap="square">
            <a:spAutoFit/>
          </a:bodyPr>
          <a:lstStyle/>
          <a:p>
            <a:pPr algn="l"/>
            <a:r>
              <a:rPr sz="1300" b="0" i="0">
                <a:solidFill>
                  <a:srgbClr val="0D1B2A"/>
                </a:solidFill>
              </a:rPr>
              <a:t>KPI dashboard operational by Week 2</a:t>
            </a:r>
          </a:p>
        </p:txBody>
      </p:sp>
      <p:sp>
        <p:nvSpPr>
          <p:cNvPr id="12" name="TextBox 11"/>
          <p:cNvSpPr txBox="1"/>
          <p:nvPr/>
        </p:nvSpPr>
        <p:spPr>
          <a:xfrm>
            <a:off x="6492240" y="2404872"/>
            <a:ext cx="5303520" cy="384048"/>
          </a:xfrm>
          <a:prstGeom prst="rect">
            <a:avLst/>
          </a:prstGeom>
          <a:noFill/>
        </p:spPr>
        <p:txBody>
          <a:bodyPr wrap="square">
            <a:spAutoFit/>
          </a:bodyPr>
          <a:lstStyle/>
          <a:p>
            <a:pPr algn="l"/>
            <a:r>
              <a:rPr sz="1300" b="0" i="0">
                <a:solidFill>
                  <a:srgbClr val="0D1B2A"/>
                </a:solidFill>
              </a:rPr>
              <a:t>60+ hours/week reclaimed from manual work</a:t>
            </a:r>
          </a:p>
        </p:txBody>
      </p:sp>
      <p:sp>
        <p:nvSpPr>
          <p:cNvPr id="13" name="TextBox 12"/>
          <p:cNvSpPr txBox="1"/>
          <p:nvPr/>
        </p:nvSpPr>
        <p:spPr>
          <a:xfrm>
            <a:off x="6492240" y="2843784"/>
            <a:ext cx="5303520" cy="384048"/>
          </a:xfrm>
          <a:prstGeom prst="rect">
            <a:avLst/>
          </a:prstGeom>
          <a:noFill/>
        </p:spPr>
        <p:txBody>
          <a:bodyPr wrap="square">
            <a:spAutoFit/>
          </a:bodyPr>
          <a:lstStyle/>
          <a:p>
            <a:pPr algn="l"/>
            <a:r>
              <a:rPr sz="1300" b="0" i="0">
                <a:solidFill>
                  <a:srgbClr val="0D1B2A"/>
                </a:solidFill>
              </a:rPr>
              <a:t>ISO 13485 audit trail from day 1</a:t>
            </a:r>
          </a:p>
        </p:txBody>
      </p:sp>
      <p:sp>
        <p:nvSpPr>
          <p:cNvPr id="14" name="TextBox 13"/>
          <p:cNvSpPr txBox="1"/>
          <p:nvPr/>
        </p:nvSpPr>
        <p:spPr>
          <a:xfrm>
            <a:off x="6492240" y="3282696"/>
            <a:ext cx="5303520" cy="384048"/>
          </a:xfrm>
          <a:prstGeom prst="rect">
            <a:avLst/>
          </a:prstGeom>
          <a:noFill/>
        </p:spPr>
        <p:txBody>
          <a:bodyPr wrap="square">
            <a:spAutoFit/>
          </a:bodyPr>
          <a:lstStyle/>
          <a:p>
            <a:pPr algn="l"/>
            <a:r>
              <a:rPr sz="1300" b="0" i="0">
                <a:solidFill>
                  <a:srgbClr val="0D1B2A"/>
                </a:solidFill>
              </a:rPr>
              <a:t>AI that learns from your engineers' expertise</a:t>
            </a:r>
          </a:p>
        </p:txBody>
      </p:sp>
      <p:sp>
        <p:nvSpPr>
          <p:cNvPr id="15" name="TextBox 14"/>
          <p:cNvSpPr txBox="1"/>
          <p:nvPr/>
        </p:nvSpPr>
        <p:spPr>
          <a:xfrm>
            <a:off x="6492240" y="3721608"/>
            <a:ext cx="5303520" cy="384048"/>
          </a:xfrm>
          <a:prstGeom prst="rect">
            <a:avLst/>
          </a:prstGeom>
          <a:noFill/>
        </p:spPr>
        <p:txBody>
          <a:bodyPr wrap="square">
            <a:spAutoFit/>
          </a:bodyPr>
          <a:lstStyle/>
          <a:p>
            <a:pPr algn="l"/>
            <a:r>
              <a:rPr sz="1300" b="0" i="0">
                <a:solidFill>
                  <a:srgbClr val="0D1B2A"/>
                </a:solidFill>
              </a:rPr>
              <a:t>ROI positive within 2 months*</a:t>
            </a:r>
          </a:p>
        </p:txBody>
      </p:sp>
      <p:sp>
        <p:nvSpPr>
          <p:cNvPr id="16" name="Rectangle 15"/>
          <p:cNvSpPr/>
          <p:nvPr/>
        </p:nvSpPr>
        <p:spPr>
          <a:xfrm>
            <a:off x="6126480" y="1463040"/>
            <a:ext cx="36576" cy="347472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Open Source (Apache 2.0) | github.com/Sumanharapanahalli/sage | March 2026</a:t>
            </a:r>
          </a:p>
        </p:txBody>
      </p:sp>
      <p:sp>
        <p:nvSpPr>
          <p:cNvPr id="19" name="Rectangle 18"/>
          <p:cNvSpPr/>
          <p:nvPr/>
        </p:nvSpPr>
        <p:spPr>
          <a:xfrm>
            <a:off x="0" y="5989320"/>
            <a:ext cx="12188952" cy="530352"/>
          </a:xfrm>
          <a:prstGeom prst="rect">
            <a:avLst/>
          </a:prstGeom>
          <a:solidFill>
            <a:srgbClr val="FFF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74320" y="6007608"/>
            <a:ext cx="11612880" cy="493776"/>
          </a:xfrm>
          <a:prstGeom prst="rect">
            <a:avLst/>
          </a:prstGeom>
          <a:noFill/>
        </p:spPr>
        <p:txBody>
          <a:bodyPr wrap="square">
            <a:spAutoFit/>
          </a:bodyPr>
          <a:lstStyle/>
          <a:p>
            <a:pPr algn="l"/>
            <a:r>
              <a:rPr sz="850" b="0" i="1">
                <a:solidFill>
                  <a:srgbClr val="7B4F00"/>
                </a:solidFill>
              </a:rPr>
              <a:t>IMPORTANT: All financial figures, FTE savings, and ROI estimates on this slide are based on internal assumptions and industry benchmarks. They must be validated and replaced with actual measured data before any business decision is made.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ECFD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none">
            <a:spAutoFit/>
          </a:bodyPr>
          <a:lstStyle/>
          <a:p>
            <a:r>
              <a:rPr sz="3000" b="1">
                <a:solidFill>
                  <a:srgbClr val="065F46"/>
                </a:solidFill>
                <a:latin typeface="Calibri"/>
              </a:rPr>
              <a:t>Build Orchestrator — Product Factory</a:t>
            </a:r>
          </a:p>
        </p:txBody>
      </p:sp>
      <p:sp>
        <p:nvSpPr>
          <p:cNvPr id="4" name="TextBox 3"/>
          <p:cNvSpPr txBox="1"/>
          <p:nvPr/>
        </p:nvSpPr>
        <p:spPr>
          <a:xfrm>
            <a:off x="411480" y="804672"/>
            <a:ext cx="11338560" cy="438912"/>
          </a:xfrm>
          <a:prstGeom prst="rect">
            <a:avLst/>
          </a:prstGeom>
          <a:noFill/>
        </p:spPr>
        <p:txBody>
          <a:bodyPr wrap="none">
            <a:spAutoFit/>
          </a:bodyPr>
          <a:lstStyle/>
          <a:p>
            <a:r>
              <a:rPr sz="1600" b="0">
                <a:solidFill>
                  <a:srgbClr val="4B5563"/>
                </a:solidFill>
                <a:latin typeface="Calibri"/>
              </a:rPr>
              <a:t>Describe a product in plain English → get a working codebase</a:t>
            </a:r>
          </a:p>
        </p:txBody>
      </p:sp>
      <p:sp>
        <p:nvSpPr>
          <p:cNvPr id="5" name="Rectangle 4"/>
          <p:cNvSpPr/>
          <p:nvPr/>
        </p:nvSpPr>
        <p:spPr>
          <a:xfrm>
            <a:off x="457200" y="1508760"/>
            <a:ext cx="3627120" cy="3200400"/>
          </a:xfrm>
          <a:prstGeom prst="rect">
            <a:avLst/>
          </a:prstGeom>
          <a:solidFill>
            <a:srgbClr val="ECFD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00200"/>
            <a:ext cx="3444240" cy="274320"/>
          </a:xfrm>
          <a:prstGeom prst="rect">
            <a:avLst/>
          </a:prstGeom>
          <a:noFill/>
        </p:spPr>
        <p:txBody>
          <a:bodyPr wrap="none">
            <a:spAutoFit/>
          </a:bodyPr>
          <a:lstStyle/>
          <a:p>
            <a:r>
              <a:rPr sz="1500" b="1">
                <a:solidFill>
                  <a:srgbClr val="059669"/>
                </a:solidFill>
                <a:latin typeface="Calibri"/>
              </a:rPr>
              <a:t>10x Faster</a:t>
            </a:r>
          </a:p>
        </p:txBody>
      </p:sp>
      <p:sp>
        <p:nvSpPr>
          <p:cNvPr id="7" name="TextBox 6"/>
          <p:cNvSpPr txBox="1"/>
          <p:nvPr/>
        </p:nvSpPr>
        <p:spPr>
          <a:xfrm>
            <a:off x="548640" y="1828800"/>
            <a:ext cx="3444240" cy="2834640"/>
          </a:xfrm>
          <a:prstGeom prst="rect">
            <a:avLst/>
          </a:prstGeom>
          <a:noFill/>
        </p:spPr>
        <p:txBody>
          <a:bodyPr wrap="square">
            <a:spAutoFit/>
          </a:bodyPr>
          <a:lstStyle/>
          <a:p>
            <a:r>
              <a:rPr sz="1300" b="0">
                <a:solidFill>
                  <a:srgbClr val="374151"/>
                </a:solidFill>
                <a:latin typeface="Calibri"/>
              </a:rPr>
              <a:t>Parallel agent execution with dependency-aware wave scheduling</a:t>
            </a:r>
          </a:p>
        </p:txBody>
      </p:sp>
      <p:sp>
        <p:nvSpPr>
          <p:cNvPr id="8" name="Rectangle 7"/>
          <p:cNvSpPr/>
          <p:nvPr/>
        </p:nvSpPr>
        <p:spPr>
          <a:xfrm>
            <a:off x="4267200" y="1508760"/>
            <a:ext cx="3627120" cy="3200400"/>
          </a:xfrm>
          <a:prstGeom prst="rect">
            <a:avLst/>
          </a:prstGeom>
          <a:solidFill>
            <a:srgbClr val="ECFD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58640" y="1600200"/>
            <a:ext cx="3444240" cy="274320"/>
          </a:xfrm>
          <a:prstGeom prst="rect">
            <a:avLst/>
          </a:prstGeom>
          <a:noFill/>
        </p:spPr>
        <p:txBody>
          <a:bodyPr wrap="none">
            <a:spAutoFit/>
          </a:bodyPr>
          <a:lstStyle/>
          <a:p>
            <a:r>
              <a:rPr sz="1500" b="1">
                <a:solidFill>
                  <a:srgbClr val="059669"/>
                </a:solidFill>
                <a:latin typeface="Calibri"/>
              </a:rPr>
              <a:t>Quality Built In</a:t>
            </a:r>
          </a:p>
        </p:txBody>
      </p:sp>
      <p:sp>
        <p:nvSpPr>
          <p:cNvPr id="10" name="TextBox 9"/>
          <p:cNvSpPr txBox="1"/>
          <p:nvPr/>
        </p:nvSpPr>
        <p:spPr>
          <a:xfrm>
            <a:off x="4358640" y="1828800"/>
            <a:ext cx="3444240" cy="2834640"/>
          </a:xfrm>
          <a:prstGeom prst="rect">
            <a:avLst/>
          </a:prstGeom>
          <a:noFill/>
        </p:spPr>
        <p:txBody>
          <a:bodyPr wrap="square">
            <a:spAutoFit/>
          </a:bodyPr>
          <a:lstStyle/>
          <a:p>
            <a:r>
              <a:rPr sz="1300" b="0">
                <a:solidFill>
                  <a:srgbClr val="374151"/>
                </a:solidFill>
                <a:latin typeface="Calibri"/>
              </a:rPr>
              <a:t>Critic agent reviews every artifact before human sees it (actor-critic pattern)</a:t>
            </a:r>
          </a:p>
        </p:txBody>
      </p:sp>
      <p:sp>
        <p:nvSpPr>
          <p:cNvPr id="11" name="Rectangle 10"/>
          <p:cNvSpPr/>
          <p:nvPr/>
        </p:nvSpPr>
        <p:spPr>
          <a:xfrm>
            <a:off x="8077200" y="1508760"/>
            <a:ext cx="3627120" cy="3200400"/>
          </a:xfrm>
          <a:prstGeom prst="rect">
            <a:avLst/>
          </a:prstGeom>
          <a:solidFill>
            <a:srgbClr val="ECFD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68640" y="1600200"/>
            <a:ext cx="3444240" cy="274320"/>
          </a:xfrm>
          <a:prstGeom prst="rect">
            <a:avLst/>
          </a:prstGeom>
          <a:noFill/>
        </p:spPr>
        <p:txBody>
          <a:bodyPr wrap="none">
            <a:spAutoFit/>
          </a:bodyPr>
          <a:lstStyle/>
          <a:p>
            <a:r>
              <a:rPr sz="1500" b="1">
                <a:solidFill>
                  <a:srgbClr val="059669"/>
                </a:solidFill>
                <a:latin typeface="Calibri"/>
              </a:rPr>
              <a:t>Human Always in Control</a:t>
            </a:r>
          </a:p>
        </p:txBody>
      </p:sp>
      <p:sp>
        <p:nvSpPr>
          <p:cNvPr id="13" name="TextBox 12"/>
          <p:cNvSpPr txBox="1"/>
          <p:nvPr/>
        </p:nvSpPr>
        <p:spPr>
          <a:xfrm>
            <a:off x="8168640" y="1828800"/>
            <a:ext cx="3444240" cy="2834640"/>
          </a:xfrm>
          <a:prstGeom prst="rect">
            <a:avLst/>
          </a:prstGeom>
          <a:noFill/>
        </p:spPr>
        <p:txBody>
          <a:bodyPr wrap="square">
            <a:spAutoFit/>
          </a:bodyPr>
          <a:lstStyle/>
          <a:p>
            <a:r>
              <a:rPr sz="1300" b="0">
                <a:solidFill>
                  <a:srgbClr val="374151"/>
                </a:solidFill>
                <a:latin typeface="Calibri"/>
              </a:rPr>
              <a:t>3 configurable HITL levels: minimal, standard, strict — compliance guaranteed</a:t>
            </a:r>
          </a:p>
        </p:txBody>
      </p:sp>
      <p:sp>
        <p:nvSpPr>
          <p:cNvPr id="14" name="TextBox 13"/>
          <p:cNvSpPr txBox="1"/>
          <p:nvPr/>
        </p:nvSpPr>
        <p:spPr>
          <a:xfrm>
            <a:off x="457200" y="4937760"/>
            <a:ext cx="11247120" cy="274320"/>
          </a:xfrm>
          <a:prstGeom prst="rect">
            <a:avLst/>
          </a:prstGeom>
          <a:noFill/>
        </p:spPr>
        <p:txBody>
          <a:bodyPr wrap="square">
            <a:spAutoFit/>
          </a:bodyPr>
          <a:lstStyle/>
          <a:p>
            <a:r>
              <a:rPr sz="1100" b="0">
                <a:solidFill>
                  <a:srgbClr val="6B7280"/>
                </a:solidFill>
                <a:latin typeface="Calibri"/>
              </a:rPr>
              <a:t>Supports 10 agentic AI patterns (Google Cloud reference) · 9 task types · 3-tier degradation</a:t>
            </a:r>
          </a:p>
        </p:txBody>
      </p:sp>
      <p:sp>
        <p:nvSpPr>
          <p:cNvPr id="15" name="Rectangle 14"/>
          <p:cNvSpPr/>
          <p:nvPr/>
        </p:nvSpPr>
        <p:spPr>
          <a:xfrm>
            <a:off x="0" y="6492240"/>
            <a:ext cx="12188952" cy="365760"/>
          </a:xfrm>
          <a:prstGeom prst="rect">
            <a:avLst/>
          </a:prstGeom>
          <a:solidFill>
            <a:srgbClr val="ECFD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74320" y="6510528"/>
            <a:ext cx="8229600" cy="274320"/>
          </a:xfrm>
          <a:prstGeom prst="rect">
            <a:avLst/>
          </a:prstGeom>
          <a:noFill/>
        </p:spPr>
        <p:txBody>
          <a:bodyPr wrap="none">
            <a:spAutoFit/>
          </a:bodyPr>
          <a:lstStyle/>
          <a:p>
            <a:r>
              <a:rPr sz="900" b="0">
                <a:solidFill>
                  <a:srgbClr val="6B7280"/>
                </a:solidFill>
                <a:latin typeface="Calibri"/>
              </a:rPr>
              <a:t>SAGE[ai] — Open Source (Apache 2.0) | github.com/Sumanharapanahalli/sage | March 2026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3108960"/>
            <a:ext cx="12188952" cy="54864"/>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645920"/>
            <a:ext cx="10515600" cy="1645920"/>
          </a:xfrm>
          <a:prstGeom prst="rect">
            <a:avLst/>
          </a:prstGeom>
          <a:noFill/>
        </p:spPr>
        <p:txBody>
          <a:bodyPr wrap="square">
            <a:spAutoFit/>
          </a:bodyPr>
          <a:lstStyle/>
          <a:p>
            <a:pPr algn="ctr"/>
            <a:r>
              <a:rPr sz="3000" b="1" i="0">
                <a:solidFill>
                  <a:srgbClr val="FFFFFF"/>
                </a:solidFill>
              </a:rPr>
              <a:t>SAGE[ai] is not a replacement for your engineers
—
it's their most productive teammate.</a:t>
            </a:r>
          </a:p>
        </p:txBody>
      </p:sp>
      <p:sp>
        <p:nvSpPr>
          <p:cNvPr id="5" name="TextBox 4"/>
          <p:cNvSpPr txBox="1"/>
          <p:nvPr/>
        </p:nvSpPr>
        <p:spPr>
          <a:xfrm>
            <a:off x="731520" y="3383280"/>
            <a:ext cx="10515600" cy="594360"/>
          </a:xfrm>
          <a:prstGeom prst="rect">
            <a:avLst/>
          </a:prstGeom>
          <a:noFill/>
        </p:spPr>
        <p:txBody>
          <a:bodyPr wrap="square">
            <a:spAutoFit/>
          </a:bodyPr>
          <a:lstStyle/>
          <a:p>
            <a:pPr algn="ctr"/>
            <a:r>
              <a:rPr sz="2200" b="0" i="0">
                <a:solidFill>
                  <a:srgbClr val="00B4D8"/>
                </a:solidFill>
              </a:rPr>
              <a:t>Open source. Self-hosted. Start today at github.com/Sumanharapanahalli/sage</a:t>
            </a:r>
          </a:p>
        </p:txBody>
      </p:sp>
      <p:sp>
        <p:nvSpPr>
          <p:cNvPr id="6" name="TextBox 5"/>
          <p:cNvSpPr txBox="1"/>
          <p:nvPr/>
        </p:nvSpPr>
        <p:spPr>
          <a:xfrm>
            <a:off x="1371600" y="5486400"/>
            <a:ext cx="9144000" cy="457200"/>
          </a:xfrm>
          <a:prstGeom prst="rect">
            <a:avLst/>
          </a:prstGeom>
          <a:noFill/>
        </p:spPr>
        <p:txBody>
          <a:bodyPr wrap="square">
            <a:spAutoFit/>
          </a:bodyPr>
          <a:lstStyle/>
          <a:p>
            <a:pPr algn="ctr"/>
            <a:r>
              <a:rPr sz="1000" b="0" i="1">
                <a:solidFill>
                  <a:srgbClr val="647487"/>
                </a:solidFill>
              </a:rPr>
              <a:t>* All financial estimates are assumption-based. Validate with actual data before business decisions.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