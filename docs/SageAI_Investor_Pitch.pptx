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120640"/>
            <a:ext cx="12188952"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6576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914400"/>
            <a:ext cx="10332720" cy="1097280"/>
          </a:xfrm>
          <a:prstGeom prst="rect">
            <a:avLst/>
          </a:prstGeom>
          <a:noFill/>
        </p:spPr>
        <p:txBody>
          <a:bodyPr wrap="square">
            <a:spAutoFit/>
          </a:bodyPr>
          <a:lstStyle/>
          <a:p>
            <a:pPr algn="ctr"/>
            <a:r>
              <a:rPr sz="5600" b="1" i="0">
                <a:solidFill>
                  <a:srgbClr val="FFFFFF"/>
                </a:solidFill>
              </a:rPr>
              <a:t>SAGE Framework</a:t>
            </a:r>
          </a:p>
        </p:txBody>
      </p:sp>
      <p:sp>
        <p:nvSpPr>
          <p:cNvPr id="6" name="TextBox 5"/>
          <p:cNvSpPr txBox="1"/>
          <p:nvPr/>
        </p:nvSpPr>
        <p:spPr>
          <a:xfrm>
            <a:off x="914400" y="2103120"/>
            <a:ext cx="10332720" cy="594360"/>
          </a:xfrm>
          <a:prstGeom prst="rect">
            <a:avLst/>
          </a:prstGeom>
          <a:noFill/>
        </p:spPr>
        <p:txBody>
          <a:bodyPr wrap="square">
            <a:spAutoFit/>
          </a:bodyPr>
          <a:lstStyle/>
          <a:p>
            <a:pPr algn="ctr"/>
            <a:r>
              <a:rPr sz="2400" b="0" i="0">
                <a:solidFill>
                  <a:srgbClr val="00B4D8"/>
                </a:solidFill>
              </a:rPr>
              <a:t>Smart Agentic-Guided Empowerment</a:t>
            </a:r>
          </a:p>
        </p:txBody>
      </p:sp>
      <p:sp>
        <p:nvSpPr>
          <p:cNvPr id="7" name="TextBox 6"/>
          <p:cNvSpPr txBox="1"/>
          <p:nvPr/>
        </p:nvSpPr>
        <p:spPr>
          <a:xfrm>
            <a:off x="1371600" y="2834640"/>
            <a:ext cx="9418320" cy="594360"/>
          </a:xfrm>
          <a:prstGeom prst="rect">
            <a:avLst/>
          </a:prstGeom>
          <a:noFill/>
        </p:spPr>
        <p:txBody>
          <a:bodyPr wrap="square">
            <a:spAutoFit/>
          </a:bodyPr>
          <a:lstStyle/>
          <a:p>
            <a:pPr algn="ctr"/>
            <a:r>
              <a:rPr sz="1800" b="0" i="1">
                <a:solidFill>
                  <a:srgbClr val="647487"/>
                </a:solidFill>
              </a:rPr>
              <a:t>Autonomous AI Agent Infrastructure for Regulated Industries</a:t>
            </a:r>
          </a:p>
        </p:txBody>
      </p:sp>
      <p:sp>
        <p:nvSpPr>
          <p:cNvPr id="8" name="TextBox 7"/>
          <p:cNvSpPr txBox="1"/>
          <p:nvPr/>
        </p:nvSpPr>
        <p:spPr>
          <a:xfrm>
            <a:off x="914400" y="5394960"/>
            <a:ext cx="10332720" cy="411480"/>
          </a:xfrm>
          <a:prstGeom prst="rect">
            <a:avLst/>
          </a:prstGeom>
          <a:noFill/>
        </p:spPr>
        <p:txBody>
          <a:bodyPr wrap="square">
            <a:spAutoFit/>
          </a:bodyPr>
          <a:lstStyle/>
          <a:p>
            <a:pPr algn="ctr"/>
            <a:r>
              <a:rPr sz="1300" b="0" i="0">
                <a:solidFill>
                  <a:srgbClr val="647487"/>
                </a:solidFill>
              </a:rPr>
              <a:t>Investor Presentation — March 2026 —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31520"/>
          </a:xfrm>
          <a:prstGeom prst="rect">
            <a:avLst/>
          </a:prstGeom>
          <a:noFill/>
        </p:spPr>
        <p:txBody>
          <a:bodyPr wrap="square">
            <a:spAutoFit/>
          </a:bodyPr>
          <a:lstStyle/>
          <a:p>
            <a:pPr algn="l"/>
            <a:r>
              <a:rPr sz="3000" b="1" i="0">
                <a:solidFill>
                  <a:srgbClr val="FFFFFF"/>
                </a:solidFill>
              </a:rPr>
              <a:t>Executive Summary</a:t>
            </a:r>
          </a:p>
        </p:txBody>
      </p:sp>
      <p:sp>
        <p:nvSpPr>
          <p:cNvPr id="4" name="TextBox 3"/>
          <p:cNvSpPr txBox="1"/>
          <p:nvPr/>
        </p:nvSpPr>
        <p:spPr>
          <a:xfrm>
            <a:off x="411480" y="804672"/>
            <a:ext cx="11338560" cy="438912"/>
          </a:xfrm>
          <a:prstGeom prst="rect">
            <a:avLst/>
          </a:prstGeom>
          <a:noFill/>
        </p:spPr>
        <p:txBody>
          <a:bodyPr wrap="square">
            <a:spAutoFit/>
          </a:bodyPr>
          <a:lstStyle/>
          <a:p>
            <a:pPr algn="l"/>
            <a:r>
              <a:rPr sz="1600" b="0" i="0">
                <a:solidFill>
                  <a:srgbClr val="00B4D8"/>
                </a:solidFill>
              </a:rPr>
              <a:t>The opportunity and our position — in brief</a:t>
            </a:r>
          </a:p>
        </p:txBody>
      </p:sp>
      <p:sp>
        <p:nvSpPr>
          <p:cNvPr id="5" name="TextBox 4"/>
          <p:cNvSpPr txBox="1"/>
          <p:nvPr/>
        </p:nvSpPr>
        <p:spPr>
          <a:xfrm>
            <a:off x="457200" y="1463040"/>
            <a:ext cx="5394960" cy="411480"/>
          </a:xfrm>
          <a:prstGeom prst="rect">
            <a:avLst/>
          </a:prstGeom>
          <a:noFill/>
        </p:spPr>
        <p:txBody>
          <a:bodyPr wrap="square">
            <a:spAutoFit/>
          </a:bodyPr>
          <a:lstStyle/>
          <a:p>
            <a:pPr algn="l"/>
            <a:r>
              <a:rPr sz="1600" b="1" i="0">
                <a:solidFill>
                  <a:srgbClr val="0078D4"/>
                </a:solidFill>
              </a:rPr>
              <a:t>The Opportunity</a:t>
            </a:r>
          </a:p>
        </p:txBody>
      </p:sp>
      <p:sp>
        <p:nvSpPr>
          <p:cNvPr id="6" name="TextBox 5"/>
          <p:cNvSpPr txBox="1"/>
          <p:nvPr/>
        </p:nvSpPr>
        <p:spPr>
          <a:xfrm>
            <a:off x="548640" y="1920240"/>
            <a:ext cx="5303520" cy="384048"/>
          </a:xfrm>
          <a:prstGeom prst="rect">
            <a:avLst/>
          </a:prstGeom>
          <a:noFill/>
        </p:spPr>
        <p:txBody>
          <a:bodyPr wrap="square">
            <a:spAutoFit/>
          </a:bodyPr>
          <a:lstStyle/>
          <a:p>
            <a:pPr algn="l"/>
            <a:r>
              <a:rPr sz="1300" b="0" i="0">
                <a:solidFill>
                  <a:srgbClr val="0D1B2A"/>
                </a:solidFill>
              </a:rPr>
              <a:t>AI in manufacturing software: $3.8B (2023) to $68.4B (2032), 38% CAGR</a:t>
            </a:r>
          </a:p>
        </p:txBody>
      </p:sp>
      <p:sp>
        <p:nvSpPr>
          <p:cNvPr id="7" name="TextBox 6"/>
          <p:cNvSpPr txBox="1"/>
          <p:nvPr/>
        </p:nvSpPr>
        <p:spPr>
          <a:xfrm>
            <a:off x="548640" y="2377440"/>
            <a:ext cx="5303520" cy="384048"/>
          </a:xfrm>
          <a:prstGeom prst="rect">
            <a:avLst/>
          </a:prstGeom>
          <a:noFill/>
        </p:spPr>
        <p:txBody>
          <a:bodyPr wrap="square">
            <a:spAutoFit/>
          </a:bodyPr>
          <a:lstStyle/>
          <a:p>
            <a:pPr algn="l"/>
            <a:r>
              <a:rPr sz="1300" b="0" i="0">
                <a:solidFill>
                  <a:srgbClr val="0D1B2A"/>
                </a:solidFill>
              </a:rPr>
              <a:t>Regulated industries (medical devices, aerospace, pharma) are under-served</a:t>
            </a:r>
          </a:p>
        </p:txBody>
      </p:sp>
      <p:sp>
        <p:nvSpPr>
          <p:cNvPr id="8" name="TextBox 7"/>
          <p:cNvSpPr txBox="1"/>
          <p:nvPr/>
        </p:nvSpPr>
        <p:spPr>
          <a:xfrm>
            <a:off x="548640" y="2834640"/>
            <a:ext cx="5303520" cy="384048"/>
          </a:xfrm>
          <a:prstGeom prst="rect">
            <a:avLst/>
          </a:prstGeom>
          <a:noFill/>
        </p:spPr>
        <p:txBody>
          <a:bodyPr wrap="square">
            <a:spAutoFit/>
          </a:bodyPr>
          <a:lstStyle/>
          <a:p>
            <a:pPr algn="l"/>
            <a:r>
              <a:rPr sz="1300" b="0" i="0">
                <a:solidFill>
                  <a:srgbClr val="0D1B2A"/>
                </a:solidFill>
              </a:rPr>
              <a:t>Compliance requirements create 60+ hours per week of preventable manual work</a:t>
            </a:r>
          </a:p>
        </p:txBody>
      </p:sp>
      <p:sp>
        <p:nvSpPr>
          <p:cNvPr id="9" name="TextBox 8"/>
          <p:cNvSpPr txBox="1"/>
          <p:nvPr/>
        </p:nvSpPr>
        <p:spPr>
          <a:xfrm>
            <a:off x="6400800" y="1463040"/>
            <a:ext cx="5394960" cy="411480"/>
          </a:xfrm>
          <a:prstGeom prst="rect">
            <a:avLst/>
          </a:prstGeom>
          <a:noFill/>
        </p:spPr>
        <p:txBody>
          <a:bodyPr wrap="square">
            <a:spAutoFit/>
          </a:bodyPr>
          <a:lstStyle/>
          <a:p>
            <a:pPr algn="l"/>
            <a:r>
              <a:rPr sz="1600" b="1" i="0">
                <a:solidFill>
                  <a:srgbClr val="21C55D"/>
                </a:solidFill>
              </a:rPr>
              <a:t>Our Position</a:t>
            </a:r>
          </a:p>
        </p:txBody>
      </p:sp>
      <p:sp>
        <p:nvSpPr>
          <p:cNvPr id="10" name="TextBox 9"/>
          <p:cNvSpPr txBox="1"/>
          <p:nvPr/>
        </p:nvSpPr>
        <p:spPr>
          <a:xfrm>
            <a:off x="6492240" y="1920240"/>
            <a:ext cx="5303520" cy="384048"/>
          </a:xfrm>
          <a:prstGeom prst="rect">
            <a:avLst/>
          </a:prstGeom>
          <a:noFill/>
        </p:spPr>
        <p:txBody>
          <a:bodyPr wrap="square">
            <a:spAutoFit/>
          </a:bodyPr>
          <a:lstStyle/>
          <a:p>
            <a:pPr algn="l"/>
            <a:r>
              <a:rPr sz="1300" b="0" i="0">
                <a:solidFill>
                  <a:srgbClr val="0D1B2A"/>
                </a:solidFill>
              </a:rPr>
              <a:t>Production-ready AI agent framework — human-in-the-loop compliance by design</a:t>
            </a:r>
          </a:p>
        </p:txBody>
      </p:sp>
      <p:sp>
        <p:nvSpPr>
          <p:cNvPr id="11" name="TextBox 10"/>
          <p:cNvSpPr txBox="1"/>
          <p:nvPr/>
        </p:nvSpPr>
        <p:spPr>
          <a:xfrm>
            <a:off x="6492240" y="2377440"/>
            <a:ext cx="5303520" cy="384048"/>
          </a:xfrm>
          <a:prstGeom prst="rect">
            <a:avLst/>
          </a:prstGeom>
          <a:noFill/>
        </p:spPr>
        <p:txBody>
          <a:bodyPr wrap="square">
            <a:spAutoFit/>
          </a:bodyPr>
          <a:lstStyle/>
          <a:p>
            <a:pPr algn="l"/>
            <a:r>
              <a:rPr sz="1300" b="0" i="0">
                <a:solidFill>
                  <a:srgbClr val="0D1B2A"/>
                </a:solidFill>
              </a:rPr>
              <a:t>12 integration phases complete — live in regulated production environments</a:t>
            </a:r>
          </a:p>
        </p:txBody>
      </p:sp>
      <p:sp>
        <p:nvSpPr>
          <p:cNvPr id="12" name="TextBox 11"/>
          <p:cNvSpPr txBox="1"/>
          <p:nvPr/>
        </p:nvSpPr>
        <p:spPr>
          <a:xfrm>
            <a:off x="6492240" y="2834640"/>
            <a:ext cx="5303520" cy="384048"/>
          </a:xfrm>
          <a:prstGeom prst="rect">
            <a:avLst/>
          </a:prstGeom>
          <a:noFill/>
        </p:spPr>
        <p:txBody>
          <a:bodyPr wrap="square">
            <a:spAutoFit/>
          </a:bodyPr>
          <a:lstStyle/>
          <a:p>
            <a:pPr algn="l"/>
            <a:r>
              <a:rPr sz="1300" b="0" i="0">
                <a:solidFill>
                  <a:srgbClr val="0D1B2A"/>
                </a:solidFill>
              </a:rPr>
              <a:t>Seeking Series A to accelerate sales, expand integrations, and grow the team</a:t>
            </a:r>
          </a:p>
        </p:txBody>
      </p:sp>
      <p:sp>
        <p:nvSpPr>
          <p:cNvPr id="13" name="Rectangle 12"/>
          <p:cNvSpPr/>
          <p:nvPr/>
        </p:nvSpPr>
        <p:spPr>
          <a:xfrm>
            <a:off x="6126480" y="1417320"/>
            <a:ext cx="36576" cy="32004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6492240"/>
            <a:ext cx="12188952" cy="3657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4320" y="6510528"/>
            <a:ext cx="8229600" cy="274320"/>
          </a:xfrm>
          <a:prstGeom prst="rect">
            <a:avLst/>
          </a:prstGeom>
          <a:noFill/>
        </p:spPr>
        <p:txBody>
          <a:bodyPr wrap="square">
            <a:spAutoFit/>
          </a:bodyPr>
          <a:lstStyle/>
          <a:p>
            <a:pPr algn="l"/>
            <a:r>
              <a:rPr sz="900" b="0" i="0">
                <a:solidFill>
                  <a:srgbClr val="647487"/>
                </a:solidFill>
              </a:rPr>
              <a:t>SAGE[ai] — Confidential | March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31520"/>
          </a:xfrm>
          <a:prstGeom prst="rect">
            <a:avLst/>
          </a:prstGeom>
          <a:noFill/>
        </p:spPr>
        <p:txBody>
          <a:bodyPr wrap="square">
            <a:spAutoFit/>
          </a:bodyPr>
          <a:lstStyle/>
          <a:p>
            <a:pPr algn="l"/>
            <a:r>
              <a:rPr sz="3000" b="1" i="0">
                <a:solidFill>
                  <a:srgbClr val="FFFFFF"/>
                </a:solidFill>
              </a:rPr>
              <a:t>The Cost of Manual Engineering Operations</a:t>
            </a:r>
          </a:p>
        </p:txBody>
      </p:sp>
      <p:sp>
        <p:nvSpPr>
          <p:cNvPr id="4" name="TextBox 3"/>
          <p:cNvSpPr txBox="1"/>
          <p:nvPr/>
        </p:nvSpPr>
        <p:spPr>
          <a:xfrm>
            <a:off x="411480" y="804672"/>
            <a:ext cx="11338560" cy="438912"/>
          </a:xfrm>
          <a:prstGeom prst="rect">
            <a:avLst/>
          </a:prstGeom>
          <a:noFill/>
        </p:spPr>
        <p:txBody>
          <a:bodyPr wrap="square">
            <a:spAutoFit/>
          </a:bodyPr>
          <a:lstStyle/>
          <a:p>
            <a:pPr algn="l"/>
            <a:r>
              <a:rPr sz="1600" b="0" i="0">
                <a:solidFill>
                  <a:srgbClr val="00B4D8"/>
                </a:solidFill>
              </a:rPr>
              <a:t>60+ hours per week of preventable waste in every regulated engineering team</a:t>
            </a:r>
          </a:p>
        </p:txBody>
      </p:sp>
      <p:graphicFrame>
        <p:nvGraphicFramePr>
          <p:cNvPr id="5" name="Table 4"/>
          <p:cNvGraphicFramePr>
            <a:graphicFrameLocks noGrp="1"/>
          </p:cNvGraphicFramePr>
          <p:nvPr/>
        </p:nvGraphicFramePr>
        <p:xfrm>
          <a:off x="457200" y="1508760"/>
          <a:ext cx="11247120" cy="2852928"/>
        </p:xfrm>
        <a:graphic>
          <a:graphicData uri="http://schemas.openxmlformats.org/drawingml/2006/table">
            <a:tbl>
              <a:tblPr firstRow="1" bandRow="1">
                <a:tableStyleId>{5C22544A-7EE6-4342-B048-85BDC9FD1C3A}</a:tableStyleId>
              </a:tblPr>
              <a:tblGrid>
                <a:gridCol w="2286000"/>
                <a:gridCol w="5029200"/>
                <a:gridCol w="3931920"/>
              </a:tblGrid>
              <a:tr h="475488">
                <a:tc>
                  <a:txBody>
                    <a:bodyPr/>
                    <a:lstStyle/>
                    <a:p>
                      <a:pPr algn="ctr"/>
                      <a:r>
                        <a:rPr b="1" sz="1300">
                          <a:solidFill>
                            <a:srgbClr val="FFFFFF"/>
                          </a:solidFill>
                        </a:rPr>
                        <a:t>Activity</a:t>
                      </a:r>
                    </a:p>
                  </a:txBody>
                  <a:tcPr>
                    <a:solidFill>
                      <a:srgbClr val="0078D4"/>
                    </a:solidFill>
                  </a:tcPr>
                </a:tc>
                <a:tc>
                  <a:txBody>
                    <a:bodyPr/>
                    <a:lstStyle/>
                    <a:p>
                      <a:pPr algn="ctr"/>
                      <a:r>
                        <a:rPr b="1" sz="1300">
                          <a:solidFill>
                            <a:srgbClr val="FFFFFF"/>
                          </a:solidFill>
                        </a:rPr>
                        <a:t>Current State</a:t>
                      </a:r>
                    </a:p>
                  </a:txBody>
                  <a:tcPr>
                    <a:solidFill>
                      <a:srgbClr val="0078D4"/>
                    </a:solidFill>
                  </a:tcPr>
                </a:tc>
                <a:tc>
                  <a:txBody>
                    <a:bodyPr/>
                    <a:lstStyle/>
                    <a:p>
                      <a:pPr algn="ctr"/>
                      <a:r>
                        <a:rPr b="1" sz="1300">
                          <a:solidFill>
                            <a:srgbClr val="FFFFFF"/>
                          </a:solidFill>
                        </a:rPr>
                        <a:t>Annual Cost (Estimated)*</a:t>
                      </a:r>
                    </a:p>
                  </a:txBody>
                  <a:tcPr>
                    <a:solidFill>
                      <a:srgbClr val="0078D4"/>
                    </a:solidFill>
                  </a:tcPr>
                </a:tc>
              </a:tr>
              <a:tr h="475488">
                <a:tc>
                  <a:txBody>
                    <a:bodyPr/>
                    <a:lstStyle/>
                    <a:p>
                      <a:pPr algn="l"/>
                      <a:r>
                        <a:rPr sz="1200">
                          <a:solidFill>
                            <a:srgbClr val="0D1B2A"/>
                          </a:solidFill>
                        </a:rPr>
                        <a:t>Error log analysis</a:t>
                      </a:r>
                    </a:p>
                  </a:txBody>
                  <a:tcPr>
                    <a:solidFill>
                      <a:srgbClr val="F0F4F8"/>
                    </a:solidFill>
                  </a:tcPr>
                </a:tc>
                <a:tc>
                  <a:txBody>
                    <a:bodyPr/>
                    <a:lstStyle/>
                    <a:p>
                      <a:pPr algn="l"/>
                      <a:r>
                        <a:rPr sz="1200">
                          <a:solidFill>
                            <a:srgbClr val="0D1B2A"/>
                          </a:solidFill>
                        </a:rPr>
                        <a:t>45 min per event, 10 events/day, 2 engineers</a:t>
                      </a:r>
                    </a:p>
                  </a:txBody>
                  <a:tcPr>
                    <a:solidFill>
                      <a:srgbClr val="F0F4F8"/>
                    </a:solidFill>
                  </a:tcPr>
                </a:tc>
                <a:tc>
                  <a:txBody>
                    <a:bodyPr/>
                    <a:lstStyle/>
                    <a:p>
                      <a:pPr algn="l"/>
                      <a:r>
                        <a:rPr sz="1200">
                          <a:solidFill>
                            <a:srgbClr val="0D1B2A"/>
                          </a:solidFill>
                        </a:rPr>
                        <a:t>~780 engineer-hours per year</a:t>
                      </a:r>
                    </a:p>
                  </a:txBody>
                  <a:tcPr>
                    <a:solidFill>
                      <a:srgbClr val="F0F4F8"/>
                    </a:solidFill>
                  </a:tcPr>
                </a:tc>
              </a:tr>
              <a:tr h="475488">
                <a:tc>
                  <a:txBody>
                    <a:bodyPr/>
                    <a:lstStyle/>
                    <a:p>
                      <a:pPr algn="l"/>
                      <a:r>
                        <a:rPr sz="1200">
                          <a:solidFill>
                            <a:srgbClr val="0D1B2A"/>
                          </a:solidFill>
                        </a:rPr>
                        <a:t>Code review backlog</a:t>
                      </a:r>
                    </a:p>
                  </a:txBody>
                  <a:tcPr>
                    <a:solidFill>
                      <a:srgbClr val="FFFFFF"/>
                    </a:solidFill>
                  </a:tcPr>
                </a:tc>
                <a:tc>
                  <a:txBody>
                    <a:bodyPr/>
                    <a:lstStyle/>
                    <a:p>
                      <a:pPr algn="l"/>
                      <a:r>
                        <a:rPr sz="1200">
                          <a:solidFill>
                            <a:srgbClr val="0D1B2A"/>
                          </a:solidFill>
                        </a:rPr>
                        <a:t>3 hours per MR, 15 MRs per week</a:t>
                      </a:r>
                    </a:p>
                  </a:txBody>
                  <a:tcPr>
                    <a:solidFill>
                      <a:srgbClr val="FFFFFF"/>
                    </a:solidFill>
                  </a:tcPr>
                </a:tc>
                <a:tc>
                  <a:txBody>
                    <a:bodyPr/>
                    <a:lstStyle/>
                    <a:p>
                      <a:pPr algn="l"/>
                      <a:r>
                        <a:rPr sz="1200">
                          <a:solidFill>
                            <a:srgbClr val="0D1B2A"/>
                          </a:solidFill>
                        </a:rPr>
                        <a:t>~2,340 engineer-hours per year</a:t>
                      </a:r>
                    </a:p>
                  </a:txBody>
                  <a:tcPr>
                    <a:solidFill>
                      <a:srgbClr val="FFFFFF"/>
                    </a:solidFill>
                  </a:tcPr>
                </a:tc>
              </a:tr>
              <a:tr h="475488">
                <a:tc>
                  <a:txBody>
                    <a:bodyPr/>
                    <a:lstStyle/>
                    <a:p>
                      <a:pPr algn="l"/>
                      <a:r>
                        <a:rPr sz="1200">
                          <a:solidFill>
                            <a:srgbClr val="0D1B2A"/>
                          </a:solidFill>
                        </a:rPr>
                        <a:t>Compliance reporting</a:t>
                      </a:r>
                    </a:p>
                  </a:txBody>
                  <a:tcPr>
                    <a:solidFill>
                      <a:srgbClr val="F0F4F8"/>
                    </a:solidFill>
                  </a:tcPr>
                </a:tc>
                <a:tc>
                  <a:txBody>
                    <a:bodyPr/>
                    <a:lstStyle/>
                    <a:p>
                      <a:pPr algn="l"/>
                      <a:r>
                        <a:rPr sz="1200">
                          <a:solidFill>
                            <a:srgbClr val="0D1B2A"/>
                          </a:solidFill>
                        </a:rPr>
                        <a:t>8+ hours per week, manual, error-prone</a:t>
                      </a:r>
                    </a:p>
                  </a:txBody>
                  <a:tcPr>
                    <a:solidFill>
                      <a:srgbClr val="F0F4F8"/>
                    </a:solidFill>
                  </a:tcPr>
                </a:tc>
                <a:tc>
                  <a:txBody>
                    <a:bodyPr/>
                    <a:lstStyle/>
                    <a:p>
                      <a:pPr algn="l"/>
                      <a:r>
                        <a:rPr sz="1200">
                          <a:solidFill>
                            <a:srgbClr val="0D1B2A"/>
                          </a:solidFill>
                        </a:rPr>
                        <a:t>~416 engineer-hours per year</a:t>
                      </a:r>
                    </a:p>
                  </a:txBody>
                  <a:tcPr>
                    <a:solidFill>
                      <a:srgbClr val="F0F4F8"/>
                    </a:solidFill>
                  </a:tcPr>
                </a:tc>
              </a:tr>
              <a:tr h="475488">
                <a:tc>
                  <a:txBody>
                    <a:bodyPr/>
                    <a:lstStyle/>
                    <a:p>
                      <a:pPr algn="l"/>
                      <a:r>
                        <a:rPr sz="1200">
                          <a:solidFill>
                            <a:srgbClr val="0D1B2A"/>
                          </a:solidFill>
                        </a:rPr>
                        <a:t>Knowledge attrition</a:t>
                      </a:r>
                    </a:p>
                  </a:txBody>
                  <a:tcPr>
                    <a:solidFill>
                      <a:srgbClr val="FFFFFF"/>
                    </a:solidFill>
                  </a:tcPr>
                </a:tc>
                <a:tc>
                  <a:txBody>
                    <a:bodyPr/>
                    <a:lstStyle/>
                    <a:p>
                      <a:pPr algn="l"/>
                      <a:r>
                        <a:rPr sz="1200">
                          <a:solidFill>
                            <a:srgbClr val="0D1B2A"/>
                          </a:solidFill>
                        </a:rPr>
                        <a:t>Expert context lost permanently on departure</a:t>
                      </a:r>
                    </a:p>
                  </a:txBody>
                  <a:tcPr>
                    <a:solidFill>
                      <a:srgbClr val="FFFFFF"/>
                    </a:solidFill>
                  </a:tcPr>
                </a:tc>
                <a:tc>
                  <a:txBody>
                    <a:bodyPr/>
                    <a:lstStyle/>
                    <a:p>
                      <a:pPr algn="l"/>
                      <a:r>
                        <a:rPr sz="1200">
                          <a:solidFill>
                            <a:srgbClr val="0D1B2A"/>
                          </a:solidFill>
                        </a:rPr>
                        <a:t>Unquantifiable, recurring</a:t>
                      </a:r>
                    </a:p>
                  </a:txBody>
                  <a:tcPr>
                    <a:solidFill>
                      <a:srgbClr val="FFFFFF"/>
                    </a:solidFill>
                  </a:tcPr>
                </a:tc>
              </a:tr>
              <a:tr h="475488">
                <a:tc>
                  <a:txBody>
                    <a:bodyPr/>
                    <a:lstStyle/>
                    <a:p>
                      <a:pPr algn="l"/>
                      <a:r>
                        <a:rPr sz="1200">
                          <a:solidFill>
                            <a:srgbClr val="0D1B2A"/>
                          </a:solidFill>
                        </a:rPr>
                        <a:t>TOTAL IMPACT</a:t>
                      </a:r>
                    </a:p>
                  </a:txBody>
                  <a:tcPr>
                    <a:solidFill>
                      <a:srgbClr val="F0F4F8"/>
                    </a:solidFill>
                  </a:tcPr>
                </a:tc>
                <a:tc>
                  <a:txBody>
                    <a:bodyPr/>
                    <a:lstStyle/>
                    <a:p>
                      <a:pPr algn="l"/>
                      <a:r>
                        <a:rPr sz="1200">
                          <a:solidFill>
                            <a:srgbClr val="0D1B2A"/>
                          </a:solidFill>
                        </a:rPr>
                        <a:t>~68 hrs/week per team of 10 engineers</a:t>
                      </a:r>
                    </a:p>
                  </a:txBody>
                  <a:tcPr>
                    <a:solidFill>
                      <a:srgbClr val="F0F4F8"/>
                    </a:solidFill>
                  </a:tcPr>
                </a:tc>
                <a:tc>
                  <a:txBody>
                    <a:bodyPr/>
                    <a:lstStyle/>
                    <a:p>
                      <a:pPr algn="l"/>
                      <a:r>
                        <a:rPr sz="1200">
                          <a:solidFill>
                            <a:srgbClr val="0D1B2A"/>
                          </a:solidFill>
                        </a:rPr>
                        <a:t>~1.7 FTE equivalent per year*</a:t>
                      </a:r>
                    </a:p>
                  </a:txBody>
                  <a:tcPr>
                    <a:solidFill>
                      <a:srgbClr val="F0F4F8"/>
                    </a:solidFill>
                  </a:tcPr>
                </a:tc>
              </a:tr>
            </a:tbl>
          </a:graphicData>
        </a:graphic>
      </p:graphicFrame>
      <p:sp>
        <p:nvSpPr>
          <p:cNvPr id="6" name="TextBox 5"/>
          <p:cNvSpPr txBox="1"/>
          <p:nvPr/>
        </p:nvSpPr>
        <p:spPr>
          <a:xfrm>
            <a:off x="457200" y="4453128"/>
            <a:ext cx="11247120" cy="365760"/>
          </a:xfrm>
          <a:prstGeom prst="rect">
            <a:avLst/>
          </a:prstGeom>
          <a:noFill/>
        </p:spPr>
        <p:txBody>
          <a:bodyPr wrap="square">
            <a:spAutoFit/>
          </a:bodyPr>
          <a:lstStyle/>
          <a:p>
            <a:pPr algn="l"/>
            <a:r>
              <a:rPr sz="1100" b="0" i="1">
                <a:solidFill>
                  <a:srgbClr val="647487"/>
                </a:solidFill>
              </a:rPr>
              <a:t>* All figures are assumption-based estimates derived from industry benchmarks. Validate with actual team data.</a:t>
            </a:r>
          </a:p>
        </p:txBody>
      </p:sp>
      <p:sp>
        <p:nvSpPr>
          <p:cNvPr id="7" name="Rectangle 6"/>
          <p:cNvSpPr/>
          <p:nvPr/>
        </p:nvSpPr>
        <p:spPr>
          <a:xfrm>
            <a:off x="0" y="6492240"/>
            <a:ext cx="12188952" cy="3657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10528"/>
            <a:ext cx="8229600" cy="274320"/>
          </a:xfrm>
          <a:prstGeom prst="rect">
            <a:avLst/>
          </a:prstGeom>
          <a:noFill/>
        </p:spPr>
        <p:txBody>
          <a:bodyPr wrap="square">
            <a:spAutoFit/>
          </a:bodyPr>
          <a:lstStyle/>
          <a:p>
            <a:pPr algn="l"/>
            <a:r>
              <a:rPr sz="900" b="0" i="0">
                <a:solidFill>
                  <a:srgbClr val="647487"/>
                </a:solidFill>
              </a:rPr>
              <a:t>SAGE[ai] — Confidential | March 2026</a:t>
            </a:r>
          </a:p>
        </p:txBody>
      </p:sp>
      <p:sp>
        <p:nvSpPr>
          <p:cNvPr id="9" name="Rectangle 8"/>
          <p:cNvSpPr/>
          <p:nvPr/>
        </p:nvSpPr>
        <p:spPr>
          <a:xfrm>
            <a:off x="0" y="5989320"/>
            <a:ext cx="12188952" cy="530352"/>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6007608"/>
            <a:ext cx="11612880" cy="493776"/>
          </a:xfrm>
          <a:prstGeom prst="rect">
            <a:avLst/>
          </a:prstGeom>
          <a:noFill/>
        </p:spPr>
        <p:txBody>
          <a:bodyPr wrap="square">
            <a:spAutoFit/>
          </a:bodyPr>
          <a:lstStyle/>
          <a:p>
            <a:pPr algn="l"/>
            <a:r>
              <a:rPr sz="850" b="0" i="1">
                <a:solidFill>
                  <a:srgbClr val="7B4F00"/>
                </a:solidFill>
              </a:rPr>
              <a:t>IMPORTANT: All financial figures, FTE savings, and ROI estimates on this slide are based on internal assumptions and industry benchmarks. They must be validated and replaced with actual measured data before any business decision is made.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31520"/>
          </a:xfrm>
          <a:prstGeom prst="rect">
            <a:avLst/>
          </a:prstGeom>
          <a:noFill/>
        </p:spPr>
        <p:txBody>
          <a:bodyPr wrap="square">
            <a:spAutoFit/>
          </a:bodyPr>
          <a:lstStyle/>
          <a:p>
            <a:pPr algn="l"/>
            <a:r>
              <a:rPr sz="3000" b="1" i="0">
                <a:solidFill>
                  <a:srgbClr val="FFFFFF"/>
                </a:solidFill>
              </a:rPr>
              <a:t>SAGE: Always-On AI Agent Infrastructure</a:t>
            </a:r>
          </a:p>
        </p:txBody>
      </p:sp>
      <p:sp>
        <p:nvSpPr>
          <p:cNvPr id="4" name="TextBox 3"/>
          <p:cNvSpPr txBox="1"/>
          <p:nvPr/>
        </p:nvSpPr>
        <p:spPr>
          <a:xfrm>
            <a:off x="411480" y="804672"/>
            <a:ext cx="11338560" cy="438912"/>
          </a:xfrm>
          <a:prstGeom prst="rect">
            <a:avLst/>
          </a:prstGeom>
          <a:noFill/>
        </p:spPr>
        <p:txBody>
          <a:bodyPr wrap="square">
            <a:spAutoFit/>
          </a:bodyPr>
          <a:lstStyle/>
          <a:p>
            <a:pPr algn="l"/>
            <a:r>
              <a:rPr sz="1600" b="0" i="0">
                <a:solidFill>
                  <a:srgbClr val="00B4D8"/>
                </a:solidFill>
              </a:rPr>
              <a:t>Agents surface signals, propose actions, wait for human approval, and learn from every correction</a:t>
            </a:r>
          </a:p>
        </p:txBody>
      </p:sp>
      <p:sp>
        <p:nvSpPr>
          <p:cNvPr id="5" name="TextBox 4"/>
          <p:cNvSpPr txBox="1"/>
          <p:nvPr/>
        </p:nvSpPr>
        <p:spPr>
          <a:xfrm>
            <a:off x="502920" y="1463040"/>
            <a:ext cx="11155680" cy="384048"/>
          </a:xfrm>
          <a:prstGeom prst="rect">
            <a:avLst/>
          </a:prstGeom>
          <a:noFill/>
        </p:spPr>
        <p:txBody>
          <a:bodyPr wrap="square">
            <a:spAutoFit/>
          </a:bodyPr>
          <a:lstStyle/>
          <a:p>
            <a:pPr algn="l"/>
            <a:r>
              <a:rPr sz="1500" b="0" i="0">
                <a:solidFill>
                  <a:srgbClr val="0D1B2A"/>
                </a:solidFill>
              </a:rPr>
              <a:t>Analyzes error logs in under 60 seconds — versus 45-60 minutes manual</a:t>
            </a:r>
          </a:p>
        </p:txBody>
      </p:sp>
      <p:sp>
        <p:nvSpPr>
          <p:cNvPr id="6" name="TextBox 5"/>
          <p:cNvSpPr txBox="1"/>
          <p:nvPr/>
        </p:nvSpPr>
        <p:spPr>
          <a:xfrm>
            <a:off x="502920" y="1920240"/>
            <a:ext cx="11155680" cy="384048"/>
          </a:xfrm>
          <a:prstGeom prst="rect">
            <a:avLst/>
          </a:prstGeom>
          <a:noFill/>
        </p:spPr>
        <p:txBody>
          <a:bodyPr wrap="square">
            <a:spAutoFit/>
          </a:bodyPr>
          <a:lstStyle/>
          <a:p>
            <a:pPr algn="l"/>
            <a:r>
              <a:rPr sz="1500" b="0" i="0">
                <a:solidFill>
                  <a:srgbClr val="0D1B2A"/>
                </a:solidFill>
              </a:rPr>
              <a:t>AI-assisted code review with multi-step reasoning and pipeline status</a:t>
            </a:r>
          </a:p>
        </p:txBody>
      </p:sp>
      <p:sp>
        <p:nvSpPr>
          <p:cNvPr id="7" name="TextBox 6"/>
          <p:cNvSpPr txBox="1"/>
          <p:nvPr/>
        </p:nvSpPr>
        <p:spPr>
          <a:xfrm>
            <a:off x="502920" y="2377440"/>
            <a:ext cx="11155680" cy="384048"/>
          </a:xfrm>
          <a:prstGeom prst="rect">
            <a:avLst/>
          </a:prstGeom>
          <a:noFill/>
        </p:spPr>
        <p:txBody>
          <a:bodyPr wrap="square">
            <a:spAutoFit/>
          </a:bodyPr>
          <a:lstStyle/>
          <a:p>
            <a:pPr algn="l"/>
            <a:r>
              <a:rPr sz="1500" b="0" i="0">
                <a:solidFill>
                  <a:srgbClr val="0D1B2A"/>
                </a:solidFill>
              </a:rPr>
              <a:t>Monitors Microsoft Teams, Metabase, and GitLab in real time</a:t>
            </a:r>
          </a:p>
        </p:txBody>
      </p:sp>
      <p:sp>
        <p:nvSpPr>
          <p:cNvPr id="8" name="TextBox 7"/>
          <p:cNvSpPr txBox="1"/>
          <p:nvPr/>
        </p:nvSpPr>
        <p:spPr>
          <a:xfrm>
            <a:off x="502920" y="2834640"/>
            <a:ext cx="11155680" cy="384048"/>
          </a:xfrm>
          <a:prstGeom prst="rect">
            <a:avLst/>
          </a:prstGeom>
          <a:noFill/>
        </p:spPr>
        <p:txBody>
          <a:bodyPr wrap="square">
            <a:spAutoFit/>
          </a:bodyPr>
          <a:lstStyle/>
          <a:p>
            <a:pPr algn="l"/>
            <a:r>
              <a:rPr sz="1500" b="0" i="0">
                <a:solidFill>
                  <a:srgbClr val="0D1B2A"/>
                </a:solidFill>
              </a:rPr>
              <a:t>Human approval gate on every proposal — enforced in code, never bypassed</a:t>
            </a:r>
          </a:p>
        </p:txBody>
      </p:sp>
      <p:sp>
        <p:nvSpPr>
          <p:cNvPr id="9" name="TextBox 8"/>
          <p:cNvSpPr txBox="1"/>
          <p:nvPr/>
        </p:nvSpPr>
        <p:spPr>
          <a:xfrm>
            <a:off x="502920" y="3291840"/>
            <a:ext cx="11155680" cy="384048"/>
          </a:xfrm>
          <a:prstGeom prst="rect">
            <a:avLst/>
          </a:prstGeom>
          <a:noFill/>
        </p:spPr>
        <p:txBody>
          <a:bodyPr wrap="square">
            <a:spAutoFit/>
          </a:bodyPr>
          <a:lstStyle/>
          <a:p>
            <a:pPr algn="l"/>
            <a:r>
              <a:rPr sz="1500" b="0" i="0">
                <a:solidFill>
                  <a:srgbClr val="0D1B2A"/>
                </a:solidFill>
              </a:rPr>
              <a:t>Every decision logged to an immutable, ISO 13485-compliant audit trail</a:t>
            </a:r>
          </a:p>
        </p:txBody>
      </p:sp>
      <p:sp>
        <p:nvSpPr>
          <p:cNvPr id="10" name="TextBox 9"/>
          <p:cNvSpPr txBox="1"/>
          <p:nvPr/>
        </p:nvSpPr>
        <p:spPr>
          <a:xfrm>
            <a:off x="502920" y="3749040"/>
            <a:ext cx="11155680" cy="384048"/>
          </a:xfrm>
          <a:prstGeom prst="rect">
            <a:avLst/>
          </a:prstGeom>
          <a:noFill/>
        </p:spPr>
        <p:txBody>
          <a:bodyPr wrap="square">
            <a:spAutoFit/>
          </a:bodyPr>
          <a:lstStyle/>
          <a:p>
            <a:pPr algn="l"/>
            <a:r>
              <a:rPr sz="1500" b="0" i="0">
                <a:solidFill>
                  <a:srgbClr val="0D1B2A"/>
                </a:solidFill>
              </a:rPr>
              <a:t>Learns from every correction via vector memory — improves without model retraining</a:t>
            </a:r>
          </a:p>
        </p:txBody>
      </p:sp>
      <p:sp>
        <p:nvSpPr>
          <p:cNvPr id="11" name="TextBox 10"/>
          <p:cNvSpPr txBox="1"/>
          <p:nvPr/>
        </p:nvSpPr>
        <p:spPr>
          <a:xfrm>
            <a:off x="502920" y="4206240"/>
            <a:ext cx="11155680" cy="384048"/>
          </a:xfrm>
          <a:prstGeom prst="rect">
            <a:avLst/>
          </a:prstGeom>
          <a:noFill/>
        </p:spPr>
        <p:txBody>
          <a:bodyPr wrap="square">
            <a:spAutoFit/>
          </a:bodyPr>
          <a:lstStyle/>
          <a:p>
            <a:pPr algn="l"/>
            <a:r>
              <a:rPr sz="1500" b="0" i="0">
                <a:solidFill>
                  <a:srgbClr val="0D1B2A"/>
                </a:solidFill>
              </a:rPr>
              <a:t>YAML-first architecture: new industry domain configured in under 60 seconds</a:t>
            </a:r>
          </a:p>
        </p:txBody>
      </p:sp>
      <p:sp>
        <p:nvSpPr>
          <p:cNvPr id="12" name="Rectangle 11"/>
          <p:cNvSpPr/>
          <p:nvPr/>
        </p:nvSpPr>
        <p:spPr>
          <a:xfrm>
            <a:off x="0" y="6492240"/>
            <a:ext cx="12188952" cy="3657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6510528"/>
            <a:ext cx="8229600" cy="274320"/>
          </a:xfrm>
          <a:prstGeom prst="rect">
            <a:avLst/>
          </a:prstGeom>
          <a:noFill/>
        </p:spPr>
        <p:txBody>
          <a:bodyPr wrap="square">
            <a:spAutoFit/>
          </a:bodyPr>
          <a:lstStyle/>
          <a:p>
            <a:pPr algn="l"/>
            <a:r>
              <a:rPr sz="900" b="0" i="0">
                <a:solidFill>
                  <a:srgbClr val="647487"/>
                </a:solidFill>
              </a:rPr>
              <a:t>SAGE[ai] — Confidential | March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31520"/>
          </a:xfrm>
          <a:prstGeom prst="rect">
            <a:avLst/>
          </a:prstGeom>
          <a:noFill/>
        </p:spPr>
        <p:txBody>
          <a:bodyPr wrap="square">
            <a:spAutoFit/>
          </a:bodyPr>
          <a:lstStyle/>
          <a:p>
            <a:pPr algn="l"/>
            <a:r>
              <a:rPr sz="3000" b="1" i="0">
                <a:solidFill>
                  <a:srgbClr val="FFFFFF"/>
                </a:solidFill>
              </a:rPr>
              <a:t>Large, Fast-Growing, Underserved Market</a:t>
            </a:r>
          </a:p>
        </p:txBody>
      </p:sp>
      <p:sp>
        <p:nvSpPr>
          <p:cNvPr id="4" name="TextBox 3"/>
          <p:cNvSpPr txBox="1"/>
          <p:nvPr/>
        </p:nvSpPr>
        <p:spPr>
          <a:xfrm>
            <a:off x="411480" y="804672"/>
            <a:ext cx="11338560" cy="438912"/>
          </a:xfrm>
          <a:prstGeom prst="rect">
            <a:avLst/>
          </a:prstGeom>
          <a:noFill/>
        </p:spPr>
        <p:txBody>
          <a:bodyPr wrap="square">
            <a:spAutoFit/>
          </a:bodyPr>
          <a:lstStyle/>
          <a:p>
            <a:pPr algn="l"/>
            <a:r>
              <a:rPr sz="1600" b="0" i="0">
                <a:solidFill>
                  <a:srgbClr val="00B4D8"/>
                </a:solidFill>
              </a:rPr>
              <a:t>Regulated industry engineering software is a clear white space for agentic AI</a:t>
            </a:r>
          </a:p>
        </p:txBody>
      </p:sp>
      <p:sp>
        <p:nvSpPr>
          <p:cNvPr id="5" name="Rectangle 4"/>
          <p:cNvSpPr/>
          <p:nvPr/>
        </p:nvSpPr>
        <p:spPr>
          <a:xfrm>
            <a:off x="457200" y="1600200"/>
            <a:ext cx="3566160" cy="347472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783080"/>
            <a:ext cx="3291840" cy="1005840"/>
          </a:xfrm>
          <a:prstGeom prst="rect">
            <a:avLst/>
          </a:prstGeom>
          <a:noFill/>
        </p:spPr>
        <p:txBody>
          <a:bodyPr wrap="square">
            <a:spAutoFit/>
          </a:bodyPr>
          <a:lstStyle/>
          <a:p>
            <a:pPr algn="ctr"/>
            <a:r>
              <a:rPr sz="4200" b="1" i="0">
                <a:solidFill>
                  <a:srgbClr val="FFFFFF"/>
                </a:solidFill>
              </a:rPr>
              <a:t>$68.4B</a:t>
            </a:r>
          </a:p>
        </p:txBody>
      </p:sp>
      <p:sp>
        <p:nvSpPr>
          <p:cNvPr id="7" name="TextBox 6"/>
          <p:cNvSpPr txBox="1"/>
          <p:nvPr/>
        </p:nvSpPr>
        <p:spPr>
          <a:xfrm>
            <a:off x="594360" y="2834640"/>
            <a:ext cx="3291840" cy="594360"/>
          </a:xfrm>
          <a:prstGeom prst="rect">
            <a:avLst/>
          </a:prstGeom>
          <a:noFill/>
        </p:spPr>
        <p:txBody>
          <a:bodyPr wrap="square">
            <a:spAutoFit/>
          </a:bodyPr>
          <a:lstStyle/>
          <a:p>
            <a:pPr algn="ctr"/>
            <a:r>
              <a:rPr sz="1300" b="1" i="0">
                <a:solidFill>
                  <a:srgbClr val="FFFFFF"/>
                </a:solidFill>
              </a:rPr>
              <a:t>AI in Manufacturing Software by 2032</a:t>
            </a:r>
          </a:p>
        </p:txBody>
      </p:sp>
      <p:sp>
        <p:nvSpPr>
          <p:cNvPr id="8" name="TextBox 7"/>
          <p:cNvSpPr txBox="1"/>
          <p:nvPr/>
        </p:nvSpPr>
        <p:spPr>
          <a:xfrm>
            <a:off x="594360" y="3474720"/>
            <a:ext cx="3291840" cy="502920"/>
          </a:xfrm>
          <a:prstGeom prst="rect">
            <a:avLst/>
          </a:prstGeom>
          <a:noFill/>
        </p:spPr>
        <p:txBody>
          <a:bodyPr wrap="square">
            <a:spAutoFit/>
          </a:bodyPr>
          <a:lstStyle/>
          <a:p>
            <a:pPr algn="ctr"/>
            <a:r>
              <a:rPr sz="1100" b="0" i="1">
                <a:solidFill>
                  <a:srgbClr val="F0F4F8"/>
                </a:solidFill>
              </a:rPr>
              <a:t>38% CAGR from $3.8B in 2023</a:t>
            </a:r>
          </a:p>
        </p:txBody>
      </p:sp>
      <p:sp>
        <p:nvSpPr>
          <p:cNvPr id="9" name="Rectangle 8"/>
          <p:cNvSpPr/>
          <p:nvPr/>
        </p:nvSpPr>
        <p:spPr>
          <a:xfrm>
            <a:off x="4389120" y="1600200"/>
            <a:ext cx="3566160" cy="34747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80" y="1783080"/>
            <a:ext cx="3291840" cy="1005840"/>
          </a:xfrm>
          <a:prstGeom prst="rect">
            <a:avLst/>
          </a:prstGeom>
          <a:noFill/>
        </p:spPr>
        <p:txBody>
          <a:bodyPr wrap="square">
            <a:spAutoFit/>
          </a:bodyPr>
          <a:lstStyle/>
          <a:p>
            <a:pPr algn="ctr"/>
            <a:r>
              <a:rPr sz="4200" b="1" i="0">
                <a:solidFill>
                  <a:srgbClr val="FFFFFF"/>
                </a:solidFill>
              </a:rPr>
              <a:t>120,000+</a:t>
            </a:r>
          </a:p>
        </p:txBody>
      </p:sp>
      <p:sp>
        <p:nvSpPr>
          <p:cNvPr id="11" name="TextBox 10"/>
          <p:cNvSpPr txBox="1"/>
          <p:nvPr/>
        </p:nvSpPr>
        <p:spPr>
          <a:xfrm>
            <a:off x="4526280" y="2834640"/>
            <a:ext cx="3291840" cy="594360"/>
          </a:xfrm>
          <a:prstGeom prst="rect">
            <a:avLst/>
          </a:prstGeom>
          <a:noFill/>
        </p:spPr>
        <p:txBody>
          <a:bodyPr wrap="square">
            <a:spAutoFit/>
          </a:bodyPr>
          <a:lstStyle/>
          <a:p>
            <a:pPr algn="ctr"/>
            <a:r>
              <a:rPr sz="1300" b="1" i="0">
                <a:solidFill>
                  <a:srgbClr val="FFFFFF"/>
                </a:solidFill>
              </a:rPr>
              <a:t>Regulated engineering teams globally</a:t>
            </a:r>
          </a:p>
        </p:txBody>
      </p:sp>
      <p:sp>
        <p:nvSpPr>
          <p:cNvPr id="12" name="TextBox 11"/>
          <p:cNvSpPr txBox="1"/>
          <p:nvPr/>
        </p:nvSpPr>
        <p:spPr>
          <a:xfrm>
            <a:off x="4526280" y="3474720"/>
            <a:ext cx="3291840" cy="502920"/>
          </a:xfrm>
          <a:prstGeom prst="rect">
            <a:avLst/>
          </a:prstGeom>
          <a:noFill/>
        </p:spPr>
        <p:txBody>
          <a:bodyPr wrap="square">
            <a:spAutoFit/>
          </a:bodyPr>
          <a:lstStyle/>
          <a:p>
            <a:pPr algn="ctr"/>
            <a:r>
              <a:rPr sz="1100" b="0" i="1">
                <a:solidFill>
                  <a:srgbClr val="F0F4F8"/>
                </a:solidFill>
              </a:rPr>
              <a:t>Medical devices, pharma, aerospace</a:t>
            </a:r>
          </a:p>
        </p:txBody>
      </p:sp>
      <p:sp>
        <p:nvSpPr>
          <p:cNvPr id="13" name="Rectangle 12"/>
          <p:cNvSpPr/>
          <p:nvPr/>
        </p:nvSpPr>
        <p:spPr>
          <a:xfrm>
            <a:off x="8321040" y="1600200"/>
            <a:ext cx="3566160" cy="3474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58200" y="1783080"/>
            <a:ext cx="3291840" cy="1005840"/>
          </a:xfrm>
          <a:prstGeom prst="rect">
            <a:avLst/>
          </a:prstGeom>
          <a:noFill/>
        </p:spPr>
        <p:txBody>
          <a:bodyPr wrap="square">
            <a:spAutoFit/>
          </a:bodyPr>
          <a:lstStyle/>
          <a:p>
            <a:pPr algn="ctr"/>
            <a:r>
              <a:rPr sz="4200" b="1" i="0">
                <a:solidFill>
                  <a:srgbClr val="FFFFFF"/>
                </a:solidFill>
              </a:rPr>
              <a:t>$45B</a:t>
            </a:r>
          </a:p>
        </p:txBody>
      </p:sp>
      <p:sp>
        <p:nvSpPr>
          <p:cNvPr id="15" name="TextBox 14"/>
          <p:cNvSpPr txBox="1"/>
          <p:nvPr/>
        </p:nvSpPr>
        <p:spPr>
          <a:xfrm>
            <a:off x="8458200" y="2834640"/>
            <a:ext cx="3291840" cy="594360"/>
          </a:xfrm>
          <a:prstGeom prst="rect">
            <a:avLst/>
          </a:prstGeom>
          <a:noFill/>
        </p:spPr>
        <p:txBody>
          <a:bodyPr wrap="square">
            <a:spAutoFit/>
          </a:bodyPr>
          <a:lstStyle/>
          <a:p>
            <a:pPr algn="ctr"/>
            <a:r>
              <a:rPr sz="1300" b="1" i="0">
                <a:solidFill>
                  <a:srgbClr val="FFFFFF"/>
                </a:solidFill>
              </a:rPr>
              <a:t>Compliance and quality management software TAM</a:t>
            </a:r>
          </a:p>
        </p:txBody>
      </p:sp>
      <p:sp>
        <p:nvSpPr>
          <p:cNvPr id="16" name="TextBox 15"/>
          <p:cNvSpPr txBox="1"/>
          <p:nvPr/>
        </p:nvSpPr>
        <p:spPr>
          <a:xfrm>
            <a:off x="8458200" y="3474720"/>
            <a:ext cx="3291840" cy="502920"/>
          </a:xfrm>
          <a:prstGeom prst="rect">
            <a:avLst/>
          </a:prstGeom>
          <a:noFill/>
        </p:spPr>
        <p:txBody>
          <a:bodyPr wrap="square">
            <a:spAutoFit/>
          </a:bodyPr>
          <a:lstStyle/>
          <a:p>
            <a:pPr algn="ctr"/>
            <a:r>
              <a:rPr sz="1100" b="0" i="1">
                <a:solidFill>
                  <a:srgbClr val="F0F4F8"/>
                </a:solidFill>
              </a:rPr>
              <a:t>Growing at 12% CAGR</a:t>
            </a:r>
          </a:p>
        </p:txBody>
      </p:sp>
      <p:sp>
        <p:nvSpPr>
          <p:cNvPr id="17" name="TextBox 16"/>
          <p:cNvSpPr txBox="1"/>
          <p:nvPr/>
        </p:nvSpPr>
        <p:spPr>
          <a:xfrm>
            <a:off x="457200" y="5577840"/>
            <a:ext cx="11247120" cy="347472"/>
          </a:xfrm>
          <a:prstGeom prst="rect">
            <a:avLst/>
          </a:prstGeom>
          <a:noFill/>
        </p:spPr>
        <p:txBody>
          <a:bodyPr wrap="square">
            <a:spAutoFit/>
          </a:bodyPr>
          <a:lstStyle/>
          <a:p>
            <a:pPr algn="ctr"/>
            <a:r>
              <a:rPr sz="1100" b="0" i="1">
                <a:solidFill>
                  <a:srgbClr val="647487"/>
                </a:solidFill>
              </a:rPr>
              <a:t>Sources: MarketsandMarkets, Grand View Research, Gartner — 2024 industry reports.</a:t>
            </a:r>
          </a:p>
        </p:txBody>
      </p:sp>
      <p:sp>
        <p:nvSpPr>
          <p:cNvPr id="18" name="Rectangle 17"/>
          <p:cNvSpPr/>
          <p:nvPr/>
        </p:nvSpPr>
        <p:spPr>
          <a:xfrm>
            <a:off x="0" y="6492240"/>
            <a:ext cx="12188952" cy="3657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4320" y="6510528"/>
            <a:ext cx="8229600" cy="274320"/>
          </a:xfrm>
          <a:prstGeom prst="rect">
            <a:avLst/>
          </a:prstGeom>
          <a:noFill/>
        </p:spPr>
        <p:txBody>
          <a:bodyPr wrap="square">
            <a:spAutoFit/>
          </a:bodyPr>
          <a:lstStyle/>
          <a:p>
            <a:pPr algn="l"/>
            <a:r>
              <a:rPr sz="900" b="0" i="0">
                <a:solidFill>
                  <a:srgbClr val="647487"/>
                </a:solidFill>
              </a:rPr>
              <a:t>SAGE[ai] — Confidential | March 2026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31520"/>
          </a:xfrm>
          <a:prstGeom prst="rect">
            <a:avLst/>
          </a:prstGeom>
          <a:noFill/>
        </p:spPr>
        <p:txBody>
          <a:bodyPr wrap="square">
            <a:spAutoFit/>
          </a:bodyPr>
          <a:lstStyle/>
          <a:p>
            <a:pPr algn="l"/>
            <a:r>
              <a:rPr sz="3000" b="1" i="0">
                <a:solidFill>
                  <a:srgbClr val="FFFFFF"/>
                </a:solidFill>
              </a:rPr>
              <a:t>Platform Capabilities — 12 Integration Phases Complete</a:t>
            </a:r>
          </a:p>
        </p:txBody>
      </p:sp>
      <p:sp>
        <p:nvSpPr>
          <p:cNvPr id="4" name="TextBox 3"/>
          <p:cNvSpPr txBox="1"/>
          <p:nvPr/>
        </p:nvSpPr>
        <p:spPr>
          <a:xfrm>
            <a:off x="411480" y="804672"/>
            <a:ext cx="11338560" cy="438912"/>
          </a:xfrm>
          <a:prstGeom prst="rect">
            <a:avLst/>
          </a:prstGeom>
          <a:noFill/>
        </p:spPr>
        <p:txBody>
          <a:bodyPr wrap="square">
            <a:spAutoFit/>
          </a:bodyPr>
          <a:lstStyle/>
          <a:p>
            <a:pPr algn="l"/>
            <a:r>
              <a:rPr sz="1600" b="0" i="0">
                <a:solidFill>
                  <a:srgbClr val="00B4D8"/>
                </a:solidFill>
              </a:rPr>
              <a:t>From core agent loop to enterprise-grade orchestration — all production-ready</a:t>
            </a:r>
          </a:p>
        </p:txBody>
      </p:sp>
      <p:graphicFrame>
        <p:nvGraphicFramePr>
          <p:cNvPr id="5" name="Table 4"/>
          <p:cNvGraphicFramePr>
            <a:graphicFrameLocks noGrp="1"/>
          </p:cNvGraphicFramePr>
          <p:nvPr/>
        </p:nvGraphicFramePr>
        <p:xfrm>
          <a:off x="457200" y="1508760"/>
          <a:ext cx="11247120" cy="3803904"/>
        </p:xfrm>
        <a:graphic>
          <a:graphicData uri="http://schemas.openxmlformats.org/drawingml/2006/table">
            <a:tbl>
              <a:tblPr firstRow="1" bandRow="1">
                <a:tableStyleId>{5C22544A-7EE6-4342-B048-85BDC9FD1C3A}</a:tableStyleId>
              </a:tblPr>
              <a:tblGrid>
                <a:gridCol w="2286000"/>
                <a:gridCol w="5029200"/>
                <a:gridCol w="3931920"/>
              </a:tblGrid>
              <a:tr h="475488">
                <a:tc>
                  <a:txBody>
                    <a:bodyPr/>
                    <a:lstStyle/>
                    <a:p>
                      <a:pPr algn="ctr"/>
                      <a:r>
                        <a:rPr b="1" sz="1300">
                          <a:solidFill>
                            <a:srgbClr val="FFFFFF"/>
                          </a:solidFill>
                        </a:rPr>
                        <a:t>Capability</a:t>
                      </a:r>
                    </a:p>
                  </a:txBody>
                  <a:tcPr>
                    <a:solidFill>
                      <a:srgbClr val="0078D4"/>
                    </a:solidFill>
                  </a:tcPr>
                </a:tc>
                <a:tc>
                  <a:txBody>
                    <a:bodyPr/>
                    <a:lstStyle/>
                    <a:p>
                      <a:pPr algn="ctr"/>
                      <a:r>
                        <a:rPr b="1" sz="1300">
                          <a:solidFill>
                            <a:srgbClr val="FFFFFF"/>
                          </a:solidFill>
                        </a:rPr>
                        <a:t>What It Does</a:t>
                      </a:r>
                    </a:p>
                  </a:txBody>
                  <a:tcPr>
                    <a:solidFill>
                      <a:srgbClr val="0078D4"/>
                    </a:solidFill>
                  </a:tcPr>
                </a:tc>
                <a:tc>
                  <a:txBody>
                    <a:bodyPr/>
                    <a:lstStyle/>
                    <a:p>
                      <a:pPr algn="ctr"/>
                      <a:r>
                        <a:rPr b="1" sz="1300">
                          <a:solidFill>
                            <a:srgbClr val="FFFFFF"/>
                          </a:solidFill>
                        </a:rPr>
                        <a:t>Value Delivered</a:t>
                      </a:r>
                    </a:p>
                  </a:txBody>
                  <a:tcPr>
                    <a:solidFill>
                      <a:srgbClr val="0078D4"/>
                    </a:solidFill>
                  </a:tcPr>
                </a:tc>
              </a:tr>
              <a:tr h="475488">
                <a:tc>
                  <a:txBody>
                    <a:bodyPr/>
                    <a:lstStyle/>
                    <a:p>
                      <a:pPr algn="l"/>
                      <a:r>
                        <a:rPr sz="1200">
                          <a:solidFill>
                            <a:srgbClr val="0D1B2A"/>
                          </a:solidFill>
                        </a:rPr>
                        <a:t>Intelligent Analysis</a:t>
                      </a:r>
                    </a:p>
                  </a:txBody>
                  <a:tcPr>
                    <a:solidFill>
                      <a:srgbClr val="F0F4F8"/>
                    </a:solidFill>
                  </a:tcPr>
                </a:tc>
                <a:tc>
                  <a:txBody>
                    <a:bodyPr/>
                    <a:lstStyle/>
                    <a:p>
                      <a:pPr algn="l"/>
                      <a:r>
                        <a:rPr sz="1200">
                          <a:solidFill>
                            <a:srgbClr val="0D1B2A"/>
                          </a:solidFill>
                        </a:rPr>
                        <a:t>AI triage of error logs, severity scoring, root-cause reasoning</a:t>
                      </a:r>
                    </a:p>
                  </a:txBody>
                  <a:tcPr>
                    <a:solidFill>
                      <a:srgbClr val="F0F4F8"/>
                    </a:solidFill>
                  </a:tcPr>
                </a:tc>
                <a:tc>
                  <a:txBody>
                    <a:bodyPr/>
                    <a:lstStyle/>
                    <a:p>
                      <a:pPr algn="l"/>
                      <a:r>
                        <a:rPr sz="1200">
                          <a:solidFill>
                            <a:srgbClr val="0D1B2A"/>
                          </a:solidFill>
                        </a:rPr>
                        <a:t>45 min reduced to under 60 seconds</a:t>
                      </a:r>
                    </a:p>
                  </a:txBody>
                  <a:tcPr>
                    <a:solidFill>
                      <a:srgbClr val="F0F4F8"/>
                    </a:solidFill>
                  </a:tcPr>
                </a:tc>
              </a:tr>
              <a:tr h="475488">
                <a:tc>
                  <a:txBody>
                    <a:bodyPr/>
                    <a:lstStyle/>
                    <a:p>
                      <a:pPr algn="l"/>
                      <a:r>
                        <a:rPr sz="1200">
                          <a:solidFill>
                            <a:srgbClr val="0D1B2A"/>
                          </a:solidFill>
                        </a:rPr>
                        <a:t>Automated Code Review</a:t>
                      </a:r>
                    </a:p>
                  </a:txBody>
                  <a:tcPr>
                    <a:solidFill>
                      <a:srgbClr val="FFFFFF"/>
                    </a:solidFill>
                  </a:tcPr>
                </a:tc>
                <a:tc>
                  <a:txBody>
                    <a:bodyPr/>
                    <a:lstStyle/>
                    <a:p>
                      <a:pPr algn="l"/>
                      <a:r>
                        <a:rPr sz="1200">
                          <a:solidFill>
                            <a:srgbClr val="0D1B2A"/>
                          </a:solidFill>
                        </a:rPr>
                        <a:t>Multi-step ReAct reasoning loop on merge requests</a:t>
                      </a:r>
                    </a:p>
                  </a:txBody>
                  <a:tcPr>
                    <a:solidFill>
                      <a:srgbClr val="FFFFFF"/>
                    </a:solidFill>
                  </a:tcPr>
                </a:tc>
                <a:tc>
                  <a:txBody>
                    <a:bodyPr/>
                    <a:lstStyle/>
                    <a:p>
                      <a:pPr algn="l"/>
                      <a:r>
                        <a:rPr sz="1200">
                          <a:solidFill>
                            <a:srgbClr val="0D1B2A"/>
                          </a:solidFill>
                        </a:rPr>
                        <a:t>3-hour review reduced to minutes</a:t>
                      </a:r>
                    </a:p>
                  </a:txBody>
                  <a:tcPr>
                    <a:solidFill>
                      <a:srgbClr val="FFFFFF"/>
                    </a:solidFill>
                  </a:tcPr>
                </a:tc>
              </a:tr>
              <a:tr h="475488">
                <a:tc>
                  <a:txBody>
                    <a:bodyPr/>
                    <a:lstStyle/>
                    <a:p>
                      <a:pPr algn="l"/>
                      <a:r>
                        <a:rPr sz="1200">
                          <a:solidFill>
                            <a:srgbClr val="0D1B2A"/>
                          </a:solidFill>
                        </a:rPr>
                        <a:t>Durable Workflows</a:t>
                      </a:r>
                    </a:p>
                  </a:txBody>
                  <a:tcPr>
                    <a:solidFill>
                      <a:srgbClr val="F0F4F8"/>
                    </a:solidFill>
                  </a:tcPr>
                </a:tc>
                <a:tc>
                  <a:txBody>
                    <a:bodyPr/>
                    <a:lstStyle/>
                    <a:p>
                      <a:pPr algn="l"/>
                      <a:r>
                        <a:rPr sz="1200">
                          <a:solidFill>
                            <a:srgbClr val="0D1B2A"/>
                          </a:solidFill>
                        </a:rPr>
                        <a:t>LangGraph interrupt/resume and Temporal — survives server restart</a:t>
                      </a:r>
                    </a:p>
                  </a:txBody>
                  <a:tcPr>
                    <a:solidFill>
                      <a:srgbClr val="F0F4F8"/>
                    </a:solidFill>
                  </a:tcPr>
                </a:tc>
                <a:tc>
                  <a:txBody>
                    <a:bodyPr/>
                    <a:lstStyle/>
                    <a:p>
                      <a:pPr algn="l"/>
                      <a:r>
                        <a:rPr sz="1200">
                          <a:solidFill>
                            <a:srgbClr val="0D1B2A"/>
                          </a:solidFill>
                        </a:rPr>
                        <a:t>Zero lost work in long processes</a:t>
                      </a:r>
                    </a:p>
                  </a:txBody>
                  <a:tcPr>
                    <a:solidFill>
                      <a:srgbClr val="F0F4F8"/>
                    </a:solidFill>
                  </a:tcPr>
                </a:tc>
              </a:tr>
              <a:tr h="475488">
                <a:tc>
                  <a:txBody>
                    <a:bodyPr/>
                    <a:lstStyle/>
                    <a:p>
                      <a:pPr algn="l"/>
                      <a:r>
                        <a:rPr sz="1200">
                          <a:solidFill>
                            <a:srgbClr val="0D1B2A"/>
                          </a:solidFill>
                        </a:rPr>
                        <a:t>Onboarding Wizard</a:t>
                      </a:r>
                    </a:p>
                  </a:txBody>
                  <a:tcPr>
                    <a:solidFill>
                      <a:srgbClr val="FFFFFF"/>
                    </a:solidFill>
                  </a:tcPr>
                </a:tc>
                <a:tc>
                  <a:txBody>
                    <a:bodyPr/>
                    <a:lstStyle/>
                    <a:p>
                      <a:pPr algn="l"/>
                      <a:r>
                        <a:rPr sz="1200">
                          <a:solidFill>
                            <a:srgbClr val="0D1B2A"/>
                          </a:solidFill>
                        </a:rPr>
                        <a:t>Plain-language description generates full domain config in 60 seconds</a:t>
                      </a:r>
                    </a:p>
                  </a:txBody>
                  <a:tcPr>
                    <a:solidFill>
                      <a:srgbClr val="FFFFFF"/>
                    </a:solidFill>
                  </a:tcPr>
                </a:tc>
                <a:tc>
                  <a:txBody>
                    <a:bodyPr/>
                    <a:lstStyle/>
                    <a:p>
                      <a:pPr algn="l"/>
                      <a:r>
                        <a:rPr sz="1200">
                          <a:solidFill>
                            <a:srgbClr val="0D1B2A"/>
                          </a:solidFill>
                        </a:rPr>
                        <a:t>New vertical in under 1 hour</a:t>
                      </a:r>
                    </a:p>
                  </a:txBody>
                  <a:tcPr>
                    <a:solidFill>
                      <a:srgbClr val="FFFFFF"/>
                    </a:solidFill>
                  </a:tcPr>
                </a:tc>
              </a:tr>
              <a:tr h="475488">
                <a:tc>
                  <a:txBody>
                    <a:bodyPr/>
                    <a:lstStyle/>
                    <a:p>
                      <a:pPr algn="l"/>
                      <a:r>
                        <a:rPr sz="1200">
                          <a:solidFill>
                            <a:srgbClr val="0D1B2A"/>
                          </a:solidFill>
                        </a:rPr>
                        <a:t>Evaluation Framework</a:t>
                      </a:r>
                    </a:p>
                  </a:txBody>
                  <a:tcPr>
                    <a:solidFill>
                      <a:srgbClr val="F0F4F8"/>
                    </a:solidFill>
                  </a:tcPr>
                </a:tc>
                <a:tc>
                  <a:txBody>
                    <a:bodyPr/>
                    <a:lstStyle/>
                    <a:p>
                      <a:pPr algn="l"/>
                      <a:r>
                        <a:rPr sz="1200">
                          <a:solidFill>
                            <a:srgbClr val="0D1B2A"/>
                          </a:solidFill>
                        </a:rPr>
                        <a:t>YAML test suites with 0-100 scoring and regression tracking</a:t>
                      </a:r>
                    </a:p>
                  </a:txBody>
                  <a:tcPr>
                    <a:solidFill>
                      <a:srgbClr val="F0F4F8"/>
                    </a:solidFill>
                  </a:tcPr>
                </a:tc>
                <a:tc>
                  <a:txBody>
                    <a:bodyPr/>
                    <a:lstStyle/>
                    <a:p>
                      <a:pPr algn="l"/>
                      <a:r>
                        <a:rPr sz="1200">
                          <a:solidFill>
                            <a:srgbClr val="0D1B2A"/>
                          </a:solidFill>
                        </a:rPr>
                        <a:t>Measurable agent quality over time</a:t>
                      </a:r>
                    </a:p>
                  </a:txBody>
                  <a:tcPr>
                    <a:solidFill>
                      <a:srgbClr val="F0F4F8"/>
                    </a:solidFill>
                  </a:tcPr>
                </a:tc>
              </a:tr>
              <a:tr h="475488">
                <a:tc>
                  <a:txBody>
                    <a:bodyPr/>
                    <a:lstStyle/>
                    <a:p>
                      <a:pPr algn="l"/>
                      <a:r>
                        <a:rPr sz="1200">
                          <a:solidFill>
                            <a:srgbClr val="0D1B2A"/>
                          </a:solidFill>
                        </a:rPr>
                        <a:t>Multi-Tenant Isolation</a:t>
                      </a:r>
                    </a:p>
                  </a:txBody>
                  <a:tcPr>
                    <a:solidFill>
                      <a:srgbClr val="FFFFFF"/>
                    </a:solidFill>
                  </a:tcPr>
                </a:tc>
                <a:tc>
                  <a:txBody>
                    <a:bodyPr/>
                    <a:lstStyle/>
                    <a:p>
                      <a:pPr algn="l"/>
                      <a:r>
                        <a:rPr sz="1200">
                          <a:solidFill>
                            <a:srgbClr val="0D1B2A"/>
                          </a:solidFill>
                        </a:rPr>
                        <a:t>Per-team knowledge namespacing via request header</a:t>
                      </a:r>
                    </a:p>
                  </a:txBody>
                  <a:tcPr>
                    <a:solidFill>
                      <a:srgbClr val="FFFFFF"/>
                    </a:solidFill>
                  </a:tcPr>
                </a:tc>
                <a:tc>
                  <a:txBody>
                    <a:bodyPr/>
                    <a:lstStyle/>
                    <a:p>
                      <a:pPr algn="l"/>
                      <a:r>
                        <a:rPr sz="1200">
                          <a:solidFill>
                            <a:srgbClr val="0D1B2A"/>
                          </a:solidFill>
                        </a:rPr>
                        <a:t>Enterprise-ready, single deployment</a:t>
                      </a:r>
                    </a:p>
                  </a:txBody>
                  <a:tcPr>
                    <a:solidFill>
                      <a:srgbClr val="FFFFFF"/>
                    </a:solidFill>
                  </a:tcPr>
                </a:tc>
              </a:tr>
              <a:tr h="475488">
                <a:tc>
                  <a:txBody>
                    <a:bodyPr/>
                    <a:lstStyle/>
                    <a:p>
                      <a:pPr algn="l"/>
                      <a:r>
                        <a:rPr sz="1200">
                          <a:solidFill>
                            <a:srgbClr val="0D1B2A"/>
                          </a:solidFill>
                        </a:rPr>
                        <a:t>Slack Approvals</a:t>
                      </a:r>
                    </a:p>
                  </a:txBody>
                  <a:tcPr>
                    <a:solidFill>
                      <a:srgbClr val="F0F4F8"/>
                    </a:solidFill>
                  </a:tcPr>
                </a:tc>
                <a:tc>
                  <a:txBody>
                    <a:bodyPr/>
                    <a:lstStyle/>
                    <a:p>
                      <a:pPr algn="l"/>
                      <a:r>
                        <a:rPr sz="1200">
                          <a:solidFill>
                            <a:srgbClr val="0D1B2A"/>
                          </a:solidFill>
                        </a:rPr>
                        <a:t>Block Kit proposals with approve/reject and HMAC-verified callbacks</a:t>
                      </a:r>
                    </a:p>
                  </a:txBody>
                  <a:tcPr>
                    <a:solidFill>
                      <a:srgbClr val="F0F4F8"/>
                    </a:solidFill>
                  </a:tcPr>
                </a:tc>
                <a:tc>
                  <a:txBody>
                    <a:bodyPr/>
                    <a:lstStyle/>
                    <a:p>
                      <a:pPr algn="l"/>
                      <a:r>
                        <a:rPr sz="1200">
                          <a:solidFill>
                            <a:srgbClr val="0D1B2A"/>
                          </a:solidFill>
                        </a:rPr>
                        <a:t>Approvals from existing team tools</a:t>
                      </a:r>
                    </a:p>
                  </a:txBody>
                  <a:tcPr>
                    <a:solidFill>
                      <a:srgbClr val="F0F4F8"/>
                    </a:solidFill>
                  </a:tcPr>
                </a:tc>
              </a:tr>
            </a:tbl>
          </a:graphicData>
        </a:graphic>
      </p:graphicFrame>
      <p:sp>
        <p:nvSpPr>
          <p:cNvPr id="6" name="Rectangle 5"/>
          <p:cNvSpPr/>
          <p:nvPr/>
        </p:nvSpPr>
        <p:spPr>
          <a:xfrm>
            <a:off x="0" y="6492240"/>
            <a:ext cx="12188952" cy="3657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8229600" cy="274320"/>
          </a:xfrm>
          <a:prstGeom prst="rect">
            <a:avLst/>
          </a:prstGeom>
          <a:noFill/>
        </p:spPr>
        <p:txBody>
          <a:bodyPr wrap="square">
            <a:spAutoFit/>
          </a:bodyPr>
          <a:lstStyle/>
          <a:p>
            <a:pPr algn="l"/>
            <a:r>
              <a:rPr sz="900" b="0" i="0">
                <a:solidFill>
                  <a:srgbClr val="647487"/>
                </a:solidFill>
              </a:rPr>
              <a:t>SAGE[ai] — Confidential | March 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31520"/>
          </a:xfrm>
          <a:prstGeom prst="rect">
            <a:avLst/>
          </a:prstGeom>
          <a:noFill/>
        </p:spPr>
        <p:txBody>
          <a:bodyPr wrap="square">
            <a:spAutoFit/>
          </a:bodyPr>
          <a:lstStyle/>
          <a:p>
            <a:pPr algn="l"/>
            <a:r>
              <a:rPr sz="3000" b="1" i="0">
                <a:solidFill>
                  <a:srgbClr val="FFFFFF"/>
                </a:solidFill>
              </a:rPr>
              <a:t>Five Defensible Technology Moats</a:t>
            </a:r>
          </a:p>
        </p:txBody>
      </p:sp>
      <p:sp>
        <p:nvSpPr>
          <p:cNvPr id="4" name="TextBox 3"/>
          <p:cNvSpPr txBox="1"/>
          <p:nvPr/>
        </p:nvSpPr>
        <p:spPr>
          <a:xfrm>
            <a:off x="411480" y="804672"/>
            <a:ext cx="11338560" cy="438912"/>
          </a:xfrm>
          <a:prstGeom prst="rect">
            <a:avLst/>
          </a:prstGeom>
          <a:noFill/>
        </p:spPr>
        <p:txBody>
          <a:bodyPr wrap="square">
            <a:spAutoFit/>
          </a:bodyPr>
          <a:lstStyle/>
          <a:p>
            <a:pPr algn="l"/>
            <a:r>
              <a:rPr sz="1600" b="0" i="0">
                <a:solidFill>
                  <a:srgbClr val="00B4D8"/>
                </a:solidFill>
              </a:rPr>
              <a:t>Architecture decisions that compound advantage over time</a:t>
            </a:r>
          </a:p>
        </p:txBody>
      </p:sp>
      <p:sp>
        <p:nvSpPr>
          <p:cNvPr id="5" name="Rectangle 4"/>
          <p:cNvSpPr/>
          <p:nvPr/>
        </p:nvSpPr>
        <p:spPr>
          <a:xfrm>
            <a:off x="365760" y="1463040"/>
            <a:ext cx="91440" cy="77724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508760"/>
            <a:ext cx="10789920" cy="347472"/>
          </a:xfrm>
          <a:prstGeom prst="rect">
            <a:avLst/>
          </a:prstGeom>
          <a:noFill/>
        </p:spPr>
        <p:txBody>
          <a:bodyPr wrap="square">
            <a:spAutoFit/>
          </a:bodyPr>
          <a:lstStyle/>
          <a:p>
            <a:pPr algn="l"/>
            <a:r>
              <a:rPr sz="1400" b="1" i="0">
                <a:solidFill>
                  <a:srgbClr val="0078D4"/>
                </a:solidFill>
              </a:rPr>
              <a:t>Compliance by Design</a:t>
            </a:r>
          </a:p>
        </p:txBody>
      </p:sp>
      <p:sp>
        <p:nvSpPr>
          <p:cNvPr id="7" name="TextBox 6"/>
          <p:cNvSpPr txBox="1"/>
          <p:nvPr/>
        </p:nvSpPr>
        <p:spPr>
          <a:xfrm>
            <a:off x="594360" y="1847088"/>
            <a:ext cx="10789920" cy="347472"/>
          </a:xfrm>
          <a:prstGeom prst="rect">
            <a:avLst/>
          </a:prstGeom>
          <a:noFill/>
        </p:spPr>
        <p:txBody>
          <a:bodyPr wrap="square">
            <a:spAutoFit/>
          </a:bodyPr>
          <a:lstStyle/>
          <a:p>
            <a:pPr algn="l"/>
            <a:r>
              <a:rPr sz="1200" b="0" i="0">
                <a:solidFill>
                  <a:srgbClr val="0D1B2A"/>
                </a:solidFill>
              </a:rPr>
              <a:t>Human approval gate is enforced in code — never optional. Audit trail is append-only. Built for FDA 21 CFR Part 11 and ISO 13485 from day one, not retrofitted.</a:t>
            </a:r>
          </a:p>
        </p:txBody>
      </p:sp>
      <p:sp>
        <p:nvSpPr>
          <p:cNvPr id="8" name="Rectangle 7"/>
          <p:cNvSpPr/>
          <p:nvPr/>
        </p:nvSpPr>
        <p:spPr>
          <a:xfrm>
            <a:off x="365760" y="2377440"/>
            <a:ext cx="91440" cy="77724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423160"/>
            <a:ext cx="10789920" cy="347472"/>
          </a:xfrm>
          <a:prstGeom prst="rect">
            <a:avLst/>
          </a:prstGeom>
          <a:noFill/>
        </p:spPr>
        <p:txBody>
          <a:bodyPr wrap="square">
            <a:spAutoFit/>
          </a:bodyPr>
          <a:lstStyle/>
          <a:p>
            <a:pPr algn="l"/>
            <a:r>
              <a:rPr sz="1400" b="1" i="0">
                <a:solidFill>
                  <a:srgbClr val="0078D4"/>
                </a:solidFill>
              </a:rPr>
              <a:t>Compounding Intelligence</a:t>
            </a:r>
          </a:p>
        </p:txBody>
      </p:sp>
      <p:sp>
        <p:nvSpPr>
          <p:cNvPr id="10" name="TextBox 9"/>
          <p:cNvSpPr txBox="1"/>
          <p:nvPr/>
        </p:nvSpPr>
        <p:spPr>
          <a:xfrm>
            <a:off x="594360" y="2761488"/>
            <a:ext cx="10789920" cy="347472"/>
          </a:xfrm>
          <a:prstGeom prst="rect">
            <a:avLst/>
          </a:prstGeom>
          <a:noFill/>
        </p:spPr>
        <p:txBody>
          <a:bodyPr wrap="square">
            <a:spAutoFit/>
          </a:bodyPr>
          <a:lstStyle/>
          <a:p>
            <a:pPr algn="l"/>
            <a:r>
              <a:rPr sz="1200" b="0" i="0">
                <a:solidFill>
                  <a:srgbClr val="0D1B2A"/>
                </a:solidFill>
              </a:rPr>
              <a:t>Every human correction is stored in the vector database. Future agent quality improves without model retraining. Behavioral improvement decouples from LLM cost.</a:t>
            </a:r>
          </a:p>
        </p:txBody>
      </p:sp>
      <p:sp>
        <p:nvSpPr>
          <p:cNvPr id="11" name="Rectangle 10"/>
          <p:cNvSpPr/>
          <p:nvPr/>
        </p:nvSpPr>
        <p:spPr>
          <a:xfrm>
            <a:off x="365760" y="3291840"/>
            <a:ext cx="91440" cy="77724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3337560"/>
            <a:ext cx="10789920" cy="347472"/>
          </a:xfrm>
          <a:prstGeom prst="rect">
            <a:avLst/>
          </a:prstGeom>
          <a:noFill/>
        </p:spPr>
        <p:txBody>
          <a:bodyPr wrap="square">
            <a:spAutoFit/>
          </a:bodyPr>
          <a:lstStyle/>
          <a:p>
            <a:pPr algn="l"/>
            <a:r>
              <a:rPr sz="1400" b="1" i="0">
                <a:solidFill>
                  <a:srgbClr val="0078D4"/>
                </a:solidFill>
              </a:rPr>
              <a:t>YAML-First Architecture</a:t>
            </a:r>
          </a:p>
        </p:txBody>
      </p:sp>
      <p:sp>
        <p:nvSpPr>
          <p:cNvPr id="13" name="TextBox 12"/>
          <p:cNvSpPr txBox="1"/>
          <p:nvPr/>
        </p:nvSpPr>
        <p:spPr>
          <a:xfrm>
            <a:off x="594360" y="3675888"/>
            <a:ext cx="10789920" cy="347472"/>
          </a:xfrm>
          <a:prstGeom prst="rect">
            <a:avLst/>
          </a:prstGeom>
          <a:noFill/>
        </p:spPr>
        <p:txBody>
          <a:bodyPr wrap="square">
            <a:spAutoFit/>
          </a:bodyPr>
          <a:lstStyle/>
          <a:p>
            <a:pPr algn="l"/>
            <a:r>
              <a:rPr sz="1200" b="0" i="0">
                <a:solidFill>
                  <a:srgbClr val="0D1B2A"/>
                </a:solidFill>
              </a:rPr>
              <a:t>New domain equals 3 YAML files and zero code changes. The framework is domain-blind. Vertical expansion requires no additional engineering time.</a:t>
            </a:r>
          </a:p>
        </p:txBody>
      </p:sp>
      <p:sp>
        <p:nvSpPr>
          <p:cNvPr id="14" name="Rectangle 13"/>
          <p:cNvSpPr/>
          <p:nvPr/>
        </p:nvSpPr>
        <p:spPr>
          <a:xfrm>
            <a:off x="365760" y="4206240"/>
            <a:ext cx="91440" cy="77724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251960"/>
            <a:ext cx="10789920" cy="347472"/>
          </a:xfrm>
          <a:prstGeom prst="rect">
            <a:avLst/>
          </a:prstGeom>
          <a:noFill/>
        </p:spPr>
        <p:txBody>
          <a:bodyPr wrap="square">
            <a:spAutoFit/>
          </a:bodyPr>
          <a:lstStyle/>
          <a:p>
            <a:pPr algn="l"/>
            <a:r>
              <a:rPr sz="1400" b="1" i="0">
                <a:solidFill>
                  <a:srgbClr val="0078D4"/>
                </a:solidFill>
              </a:rPr>
              <a:t>No API Key Lock-In</a:t>
            </a:r>
          </a:p>
        </p:txBody>
      </p:sp>
      <p:sp>
        <p:nvSpPr>
          <p:cNvPr id="16" name="TextBox 15"/>
          <p:cNvSpPr txBox="1"/>
          <p:nvPr/>
        </p:nvSpPr>
        <p:spPr>
          <a:xfrm>
            <a:off x="594360" y="4590288"/>
            <a:ext cx="10789920" cy="347472"/>
          </a:xfrm>
          <a:prstGeom prst="rect">
            <a:avLst/>
          </a:prstGeom>
          <a:noFill/>
        </p:spPr>
        <p:txBody>
          <a:bodyPr wrap="square">
            <a:spAutoFit/>
          </a:bodyPr>
          <a:lstStyle/>
          <a:p>
            <a:pPr algn="l"/>
            <a:r>
              <a:rPr sz="1200" b="0" i="0">
                <a:solidFill>
                  <a:srgbClr val="0D1B2A"/>
                </a:solidFill>
              </a:rPr>
              <a:t>Five LLM providers work without API keys — Gemini CLI, Claude Code, Ollama, local models, and any CLI tool. Customers own their inference and data.</a:t>
            </a:r>
          </a:p>
        </p:txBody>
      </p:sp>
      <p:sp>
        <p:nvSpPr>
          <p:cNvPr id="17" name="Rectangle 16"/>
          <p:cNvSpPr/>
          <p:nvPr/>
        </p:nvSpPr>
        <p:spPr>
          <a:xfrm>
            <a:off x="365760" y="5120640"/>
            <a:ext cx="91440" cy="77724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166360"/>
            <a:ext cx="10789920" cy="347472"/>
          </a:xfrm>
          <a:prstGeom prst="rect">
            <a:avLst/>
          </a:prstGeom>
          <a:noFill/>
        </p:spPr>
        <p:txBody>
          <a:bodyPr wrap="square">
            <a:spAutoFit/>
          </a:bodyPr>
          <a:lstStyle/>
          <a:p>
            <a:pPr algn="l"/>
            <a:r>
              <a:rPr sz="1400" b="1" i="0">
                <a:solidFill>
                  <a:srgbClr val="0078D4"/>
                </a:solidFill>
              </a:rPr>
              <a:t>Provider Agnostic</a:t>
            </a:r>
          </a:p>
        </p:txBody>
      </p:sp>
      <p:sp>
        <p:nvSpPr>
          <p:cNvPr id="19" name="TextBox 18"/>
          <p:cNvSpPr txBox="1"/>
          <p:nvPr/>
        </p:nvSpPr>
        <p:spPr>
          <a:xfrm>
            <a:off x="594360" y="5504688"/>
            <a:ext cx="10789920" cy="347472"/>
          </a:xfrm>
          <a:prstGeom prst="rect">
            <a:avLst/>
          </a:prstGeom>
          <a:noFill/>
        </p:spPr>
        <p:txBody>
          <a:bodyPr wrap="square">
            <a:spAutoFit/>
          </a:bodyPr>
          <a:lstStyle/>
          <a:p>
            <a:pPr algn="l"/>
            <a:r>
              <a:rPr sz="1200" b="0" i="0">
                <a:solidFill>
                  <a:srgbClr val="0D1B2A"/>
                </a:solidFill>
              </a:rPr>
              <a:t>A single config change swaps LLM providers — OpenAI to Ollama to Anthropic. No vendor lock-in at the infrastructure level.</a:t>
            </a:r>
          </a:p>
        </p:txBody>
      </p:sp>
      <p:sp>
        <p:nvSpPr>
          <p:cNvPr id="20" name="Rectangle 19"/>
          <p:cNvSpPr/>
          <p:nvPr/>
        </p:nvSpPr>
        <p:spPr>
          <a:xfrm>
            <a:off x="0" y="6492240"/>
            <a:ext cx="12188952" cy="3657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4320" y="6510528"/>
            <a:ext cx="8229600" cy="274320"/>
          </a:xfrm>
          <a:prstGeom prst="rect">
            <a:avLst/>
          </a:prstGeom>
          <a:noFill/>
        </p:spPr>
        <p:txBody>
          <a:bodyPr wrap="square">
            <a:spAutoFit/>
          </a:bodyPr>
          <a:lstStyle/>
          <a:p>
            <a:pPr algn="l"/>
            <a:r>
              <a:rPr sz="900" b="0" i="0">
                <a:solidFill>
                  <a:srgbClr val="647487"/>
                </a:solidFill>
              </a:rPr>
              <a:t>SAGE[ai] — Confidential | March 2026</a:t>
            </a:r>
          </a:p>
        </p:txBody>
      </p:sp>
      <p:sp>
        <p:nvSpPr>
          <p:cNvPr id="18" name="TextBox 17"/>
          <p:cNvSpPr txBox="1"/>
          <p:nvPr/>
        </p:nvSpPr>
        <p:spPr>
          <a:xfrm>
            <a:off x="594360" y="6080760"/>
            <a:ext cx="10789920" cy="347472"/>
          </a:xfrm>
          <a:prstGeom prst="rect">
            <a:avLst/>
          </a:prstGeom>
          <a:noFill/>
        </p:spPr>
        <p:txBody>
          <a:bodyPr wrap="square">
            <a:spAutoFit/>
          </a:bodyPr>
          <a:lstStyle/>
          <a:p>
            <a:pPr algn="l"/>
            <a:r>
              <a:rPr sz="1400" b="1" i="0">
                <a:solidFill>
                  <a:srgbClr val="0078D4"/>
                </a:solidFill>
              </a:rPr>
              <a:t>Integration Network Effect</a:t>
            </a:r>
          </a:p>
        </p:txBody>
      </p:sp>
      <p:sp>
        <p:nvSpPr>
          <p:cNvPr id="19" name="TextBox 18"/>
          <p:cNvSpPr txBox="1"/>
          <p:nvPr/>
        </p:nvSpPr>
        <p:spPr>
          <a:xfrm>
            <a:off x="594360" y="6419088"/>
            <a:ext cx="10789920" cy="347472"/>
          </a:xfrm>
          <a:prstGeom prst="rect">
            <a:avLst/>
          </a:prstGeom>
          <a:noFill/>
        </p:spPr>
        <p:txBody>
          <a:bodyPr wrap="square">
            <a:spAutoFit/>
          </a:bodyPr>
          <a:lstStyle/>
          <a:p>
            <a:pPr algn="l"/>
            <a:r>
              <a:rPr sz="1200" b="0" i="0">
                <a:solidFill>
                  <a:srgbClr val="0D1B2A"/>
                </a:solidFill>
              </a:rPr>
              <a:t>100+ pre-built tool integrations via Composio. Each new connector increases platform value for all customers. Solution marketplace (APM vision) creates community flywheel — share YAML configs across industries.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31520"/>
          </a:xfrm>
          <a:prstGeom prst="rect">
            <a:avLst/>
          </a:prstGeom>
          <a:noFill/>
        </p:spPr>
        <p:txBody>
          <a:bodyPr wrap="square">
            <a:spAutoFit/>
          </a:bodyPr>
          <a:lstStyle/>
          <a:p>
            <a:pPr algn="l"/>
            <a:r>
              <a:rPr sz="3000" b="1" i="0">
                <a:solidFill>
                  <a:srgbClr val="FFFFFF"/>
                </a:solidFill>
              </a:rPr>
              <a:t>Business Model — SaaS Infrastructure and Professional Services</a:t>
            </a:r>
          </a:p>
        </p:txBody>
      </p:sp>
      <p:sp>
        <p:nvSpPr>
          <p:cNvPr id="4" name="TextBox 3"/>
          <p:cNvSpPr txBox="1"/>
          <p:nvPr/>
        </p:nvSpPr>
        <p:spPr>
          <a:xfrm>
            <a:off x="411480" y="804672"/>
            <a:ext cx="11338560" cy="438912"/>
          </a:xfrm>
          <a:prstGeom prst="rect">
            <a:avLst/>
          </a:prstGeom>
          <a:noFill/>
        </p:spPr>
        <p:txBody>
          <a:bodyPr wrap="square">
            <a:spAutoFit/>
          </a:bodyPr>
          <a:lstStyle/>
          <a:p>
            <a:pPr algn="l"/>
            <a:r>
              <a:rPr sz="1600" b="0" i="0">
                <a:solidFill>
                  <a:srgbClr val="00B4D8"/>
                </a:solidFill>
              </a:rPr>
              <a:t>Recurring revenue with high retention — switching cost grows as vector memory accumulates</a:t>
            </a:r>
          </a:p>
        </p:txBody>
      </p:sp>
      <p:sp>
        <p:nvSpPr>
          <p:cNvPr id="5" name="Rectangle 4"/>
          <p:cNvSpPr/>
          <p:nvPr/>
        </p:nvSpPr>
        <p:spPr>
          <a:xfrm>
            <a:off x="365760" y="1600200"/>
            <a:ext cx="5394960" cy="40233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91640"/>
            <a:ext cx="5029200" cy="457200"/>
          </a:xfrm>
          <a:prstGeom prst="rect">
            <a:avLst/>
          </a:prstGeom>
          <a:noFill/>
        </p:spPr>
        <p:txBody>
          <a:bodyPr wrap="square">
            <a:spAutoFit/>
          </a:bodyPr>
          <a:lstStyle/>
          <a:p>
            <a:pPr algn="l"/>
            <a:r>
              <a:rPr sz="1600" b="1" i="0">
                <a:solidFill>
                  <a:srgbClr val="FFFFFF"/>
                </a:solidFill>
              </a:rPr>
              <a:t>Software — Annual Recurring Revenue</a:t>
            </a:r>
          </a:p>
        </p:txBody>
      </p:sp>
      <p:sp>
        <p:nvSpPr>
          <p:cNvPr id="7" name="TextBox 6"/>
          <p:cNvSpPr txBox="1"/>
          <p:nvPr/>
        </p:nvSpPr>
        <p:spPr>
          <a:xfrm>
            <a:off x="548640" y="2194560"/>
            <a:ext cx="5029200" cy="347472"/>
          </a:xfrm>
          <a:prstGeom prst="rect">
            <a:avLst/>
          </a:prstGeom>
          <a:noFill/>
        </p:spPr>
        <p:txBody>
          <a:bodyPr wrap="square">
            <a:spAutoFit/>
          </a:bodyPr>
          <a:lstStyle/>
          <a:p>
            <a:pPr algn="l"/>
            <a:r>
              <a:rPr sz="1200" b="0" i="1">
                <a:solidFill>
                  <a:srgbClr val="00B4D8"/>
                </a:solidFill>
              </a:rPr>
              <a:t>Platform revenue streams</a:t>
            </a:r>
          </a:p>
        </p:txBody>
      </p:sp>
      <p:sp>
        <p:nvSpPr>
          <p:cNvPr id="8" name="TextBox 7"/>
          <p:cNvSpPr txBox="1"/>
          <p:nvPr/>
        </p:nvSpPr>
        <p:spPr>
          <a:xfrm>
            <a:off x="640080" y="2606040"/>
            <a:ext cx="4846320" cy="347472"/>
          </a:xfrm>
          <a:prstGeom prst="rect">
            <a:avLst/>
          </a:prstGeom>
          <a:noFill/>
        </p:spPr>
        <p:txBody>
          <a:bodyPr wrap="square">
            <a:spAutoFit/>
          </a:bodyPr>
          <a:lstStyle/>
          <a:p>
            <a:pPr algn="l"/>
            <a:r>
              <a:rPr sz="1200" b="0" i="0">
                <a:solidFill>
                  <a:srgbClr val="FFFFFF"/>
                </a:solidFill>
              </a:rPr>
              <a:t>Platform license per deployment (on-premise or cloud)</a:t>
            </a:r>
          </a:p>
        </p:txBody>
      </p:sp>
      <p:sp>
        <p:nvSpPr>
          <p:cNvPr id="9" name="TextBox 8"/>
          <p:cNvSpPr txBox="1"/>
          <p:nvPr/>
        </p:nvSpPr>
        <p:spPr>
          <a:xfrm>
            <a:off x="640080" y="3026664"/>
            <a:ext cx="4846320" cy="347472"/>
          </a:xfrm>
          <a:prstGeom prst="rect">
            <a:avLst/>
          </a:prstGeom>
          <a:noFill/>
        </p:spPr>
        <p:txBody>
          <a:bodyPr wrap="square">
            <a:spAutoFit/>
          </a:bodyPr>
          <a:lstStyle/>
          <a:p>
            <a:pPr algn="l"/>
            <a:r>
              <a:rPr sz="1200" b="0" i="0">
                <a:solidFill>
                  <a:srgbClr val="FFFFFF"/>
                </a:solidFill>
              </a:rPr>
              <a:t>Tiered by number of active solutions and agents</a:t>
            </a:r>
          </a:p>
        </p:txBody>
      </p:sp>
      <p:sp>
        <p:nvSpPr>
          <p:cNvPr id="10" name="TextBox 9"/>
          <p:cNvSpPr txBox="1"/>
          <p:nvPr/>
        </p:nvSpPr>
        <p:spPr>
          <a:xfrm>
            <a:off x="640080" y="3447288"/>
            <a:ext cx="4846320" cy="347472"/>
          </a:xfrm>
          <a:prstGeom prst="rect">
            <a:avLst/>
          </a:prstGeom>
          <a:noFill/>
        </p:spPr>
        <p:txBody>
          <a:bodyPr wrap="square">
            <a:spAutoFit/>
          </a:bodyPr>
          <a:lstStyle/>
          <a:p>
            <a:pPr algn="l"/>
            <a:r>
              <a:rPr sz="1200" b="0" i="0">
                <a:solidFill>
                  <a:srgbClr val="FFFFFF"/>
                </a:solidFill>
              </a:rPr>
              <a:t>Multi-tenant enterprise pricing for large organisations</a:t>
            </a:r>
          </a:p>
        </p:txBody>
      </p:sp>
      <p:sp>
        <p:nvSpPr>
          <p:cNvPr id="11" name="TextBox 10"/>
          <p:cNvSpPr txBox="1"/>
          <p:nvPr/>
        </p:nvSpPr>
        <p:spPr>
          <a:xfrm>
            <a:off x="640080" y="3867912"/>
            <a:ext cx="4846320" cy="347472"/>
          </a:xfrm>
          <a:prstGeom prst="rect">
            <a:avLst/>
          </a:prstGeom>
          <a:noFill/>
        </p:spPr>
        <p:txBody>
          <a:bodyPr wrap="square">
            <a:spAutoFit/>
          </a:bodyPr>
          <a:lstStyle/>
          <a:p>
            <a:pPr algn="l"/>
            <a:r>
              <a:rPr sz="1200" b="0" i="0">
                <a:solidFill>
                  <a:srgbClr val="FFFFFF"/>
                </a:solidFill>
              </a:rPr>
              <a:t>Add-on modules: advanced eval, Temporal, AutoGen execution</a:t>
            </a:r>
          </a:p>
        </p:txBody>
      </p:sp>
      <p:sp>
        <p:nvSpPr>
          <p:cNvPr id="12" name="Rectangle 11"/>
          <p:cNvSpPr/>
          <p:nvPr/>
        </p:nvSpPr>
        <p:spPr>
          <a:xfrm>
            <a:off x="6309360" y="1600200"/>
            <a:ext cx="5394960" cy="402336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1691640"/>
            <a:ext cx="5029200" cy="457200"/>
          </a:xfrm>
          <a:prstGeom prst="rect">
            <a:avLst/>
          </a:prstGeom>
          <a:noFill/>
        </p:spPr>
        <p:txBody>
          <a:bodyPr wrap="square">
            <a:spAutoFit/>
          </a:bodyPr>
          <a:lstStyle/>
          <a:p>
            <a:pPr algn="l"/>
            <a:r>
              <a:rPr sz="1600" b="1" i="0">
                <a:solidFill>
                  <a:srgbClr val="FFFFFF"/>
                </a:solidFill>
              </a:rPr>
              <a:t>Professional Services</a:t>
            </a:r>
          </a:p>
        </p:txBody>
      </p:sp>
      <p:sp>
        <p:nvSpPr>
          <p:cNvPr id="14" name="TextBox 13"/>
          <p:cNvSpPr txBox="1"/>
          <p:nvPr/>
        </p:nvSpPr>
        <p:spPr>
          <a:xfrm>
            <a:off x="6492240" y="2194560"/>
            <a:ext cx="5029200" cy="347472"/>
          </a:xfrm>
          <a:prstGeom prst="rect">
            <a:avLst/>
          </a:prstGeom>
          <a:noFill/>
        </p:spPr>
        <p:txBody>
          <a:bodyPr wrap="square">
            <a:spAutoFit/>
          </a:bodyPr>
          <a:lstStyle/>
          <a:p>
            <a:pPr algn="l"/>
            <a:r>
              <a:rPr sz="1200" b="0" i="1">
                <a:solidFill>
                  <a:srgbClr val="00B4D8"/>
                </a:solidFill>
              </a:rPr>
              <a:t>Engagement and support revenue</a:t>
            </a:r>
          </a:p>
        </p:txBody>
      </p:sp>
      <p:sp>
        <p:nvSpPr>
          <p:cNvPr id="15" name="TextBox 14"/>
          <p:cNvSpPr txBox="1"/>
          <p:nvPr/>
        </p:nvSpPr>
        <p:spPr>
          <a:xfrm>
            <a:off x="6583680" y="2606040"/>
            <a:ext cx="4846320" cy="347472"/>
          </a:xfrm>
          <a:prstGeom prst="rect">
            <a:avLst/>
          </a:prstGeom>
          <a:noFill/>
        </p:spPr>
        <p:txBody>
          <a:bodyPr wrap="square">
            <a:spAutoFit/>
          </a:bodyPr>
          <a:lstStyle/>
          <a:p>
            <a:pPr algn="l"/>
            <a:r>
              <a:rPr sz="1200" b="0" i="0">
                <a:solidFill>
                  <a:srgbClr val="FFFFFF"/>
                </a:solidFill>
              </a:rPr>
              <a:t>Onboarding and integration (fixed fee per engagement)</a:t>
            </a:r>
          </a:p>
        </p:txBody>
      </p:sp>
      <p:sp>
        <p:nvSpPr>
          <p:cNvPr id="16" name="TextBox 15"/>
          <p:cNvSpPr txBox="1"/>
          <p:nvPr/>
        </p:nvSpPr>
        <p:spPr>
          <a:xfrm>
            <a:off x="6583680" y="3026664"/>
            <a:ext cx="4846320" cy="347472"/>
          </a:xfrm>
          <a:prstGeom prst="rect">
            <a:avLst/>
          </a:prstGeom>
          <a:noFill/>
        </p:spPr>
        <p:txBody>
          <a:bodyPr wrap="square">
            <a:spAutoFit/>
          </a:bodyPr>
          <a:lstStyle/>
          <a:p>
            <a:pPr algn="l"/>
            <a:r>
              <a:rPr sz="1200" b="0" i="0">
                <a:solidFill>
                  <a:srgbClr val="FFFFFF"/>
                </a:solidFill>
              </a:rPr>
              <a:t>Custom solution development (YAML and prompt engineering)</a:t>
            </a:r>
          </a:p>
        </p:txBody>
      </p:sp>
      <p:sp>
        <p:nvSpPr>
          <p:cNvPr id="17" name="TextBox 16"/>
          <p:cNvSpPr txBox="1"/>
          <p:nvPr/>
        </p:nvSpPr>
        <p:spPr>
          <a:xfrm>
            <a:off x="6583680" y="3447288"/>
            <a:ext cx="4846320" cy="347472"/>
          </a:xfrm>
          <a:prstGeom prst="rect">
            <a:avLst/>
          </a:prstGeom>
          <a:noFill/>
        </p:spPr>
        <p:txBody>
          <a:bodyPr wrap="square">
            <a:spAutoFit/>
          </a:bodyPr>
          <a:lstStyle/>
          <a:p>
            <a:pPr algn="l"/>
            <a:r>
              <a:rPr sz="1200" b="0" i="0">
                <a:solidFill>
                  <a:srgbClr val="FFFFFF"/>
                </a:solidFill>
              </a:rPr>
              <a:t>Training and certification for engineering teams</a:t>
            </a:r>
          </a:p>
        </p:txBody>
      </p:sp>
      <p:sp>
        <p:nvSpPr>
          <p:cNvPr id="18" name="TextBox 17"/>
          <p:cNvSpPr txBox="1"/>
          <p:nvPr/>
        </p:nvSpPr>
        <p:spPr>
          <a:xfrm>
            <a:off x="6583680" y="3867912"/>
            <a:ext cx="4846320" cy="347472"/>
          </a:xfrm>
          <a:prstGeom prst="rect">
            <a:avLst/>
          </a:prstGeom>
          <a:noFill/>
        </p:spPr>
        <p:txBody>
          <a:bodyPr wrap="square">
            <a:spAutoFit/>
          </a:bodyPr>
          <a:lstStyle/>
          <a:p>
            <a:pPr algn="l"/>
            <a:r>
              <a:rPr sz="1200" b="0" i="0">
                <a:solidFill>
                  <a:srgbClr val="FFFFFF"/>
                </a:solidFill>
              </a:rPr>
              <a:t>Compliance documentation packages (ISO 13485, IEC 62304)</a:t>
            </a:r>
          </a:p>
        </p:txBody>
      </p:sp>
      <p:sp>
        <p:nvSpPr>
          <p:cNvPr id="19" name="TextBox 18"/>
          <p:cNvSpPr txBox="1"/>
          <p:nvPr/>
        </p:nvSpPr>
        <p:spPr>
          <a:xfrm>
            <a:off x="457200" y="5833872"/>
            <a:ext cx="11247120" cy="347472"/>
          </a:xfrm>
          <a:prstGeom prst="rect">
            <a:avLst/>
          </a:prstGeom>
          <a:noFill/>
        </p:spPr>
        <p:txBody>
          <a:bodyPr wrap="square">
            <a:spAutoFit/>
          </a:bodyPr>
          <a:lstStyle/>
          <a:p>
            <a:pPr algn="ctr"/>
            <a:r>
              <a:rPr sz="1100" b="1" i="1">
                <a:solidFill>
                  <a:srgbClr val="0D1B2A"/>
                </a:solidFill>
              </a:rPr>
              <a:t>Target gross margin: 75-80% on software, 40-50% on services. Blended target: 65%+*</a:t>
            </a:r>
          </a:p>
        </p:txBody>
      </p:sp>
      <p:sp>
        <p:nvSpPr>
          <p:cNvPr id="20" name="Rectangle 19"/>
          <p:cNvSpPr/>
          <p:nvPr/>
        </p:nvSpPr>
        <p:spPr>
          <a:xfrm>
            <a:off x="0" y="6492240"/>
            <a:ext cx="12188952" cy="3657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4320" y="6510528"/>
            <a:ext cx="8229600" cy="274320"/>
          </a:xfrm>
          <a:prstGeom prst="rect">
            <a:avLst/>
          </a:prstGeom>
          <a:noFill/>
        </p:spPr>
        <p:txBody>
          <a:bodyPr wrap="square">
            <a:spAutoFit/>
          </a:bodyPr>
          <a:lstStyle/>
          <a:p>
            <a:pPr algn="l"/>
            <a:r>
              <a:rPr sz="900" b="0" i="0">
                <a:solidFill>
                  <a:srgbClr val="647487"/>
                </a:solidFill>
              </a:rPr>
              <a:t>SAGE[ai] — Confidential | March 2026</a:t>
            </a:r>
          </a:p>
        </p:txBody>
      </p:sp>
      <p:sp>
        <p:nvSpPr>
          <p:cNvPr id="22" name="Rectangle 21"/>
          <p:cNvSpPr/>
          <p:nvPr/>
        </p:nvSpPr>
        <p:spPr>
          <a:xfrm>
            <a:off x="0" y="5989320"/>
            <a:ext cx="12188952" cy="530352"/>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4320" y="6007608"/>
            <a:ext cx="11612880" cy="493776"/>
          </a:xfrm>
          <a:prstGeom prst="rect">
            <a:avLst/>
          </a:prstGeom>
          <a:noFill/>
        </p:spPr>
        <p:txBody>
          <a:bodyPr wrap="square">
            <a:spAutoFit/>
          </a:bodyPr>
          <a:lstStyle/>
          <a:p>
            <a:pPr algn="l"/>
            <a:r>
              <a:rPr sz="850" b="0" i="1">
                <a:solidFill>
                  <a:srgbClr val="7B4F00"/>
                </a:solidFill>
              </a:rPr>
              <a:t>IMPORTANT: All financial figures, FTE savings, and ROI estimates on this slide are based on internal assumptions and industry benchmarks. They must be validated and replaced with actual measured data before any business decision is made.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31520"/>
          </a:xfrm>
          <a:prstGeom prst="rect">
            <a:avLst/>
          </a:prstGeom>
          <a:noFill/>
        </p:spPr>
        <p:txBody>
          <a:bodyPr wrap="square">
            <a:spAutoFit/>
          </a:bodyPr>
          <a:lstStyle/>
          <a:p>
            <a:pPr algn="l"/>
            <a:r>
              <a:rPr sz="3000" b="1" i="0">
                <a:solidFill>
                  <a:srgbClr val="FFFFFF"/>
                </a:solidFill>
              </a:rPr>
              <a:t>Competitive Landscape</a:t>
            </a:r>
          </a:p>
        </p:txBody>
      </p:sp>
      <p:sp>
        <p:nvSpPr>
          <p:cNvPr id="4" name="TextBox 3"/>
          <p:cNvSpPr txBox="1"/>
          <p:nvPr/>
        </p:nvSpPr>
        <p:spPr>
          <a:xfrm>
            <a:off x="411480" y="804672"/>
            <a:ext cx="11338560" cy="438912"/>
          </a:xfrm>
          <a:prstGeom prst="rect">
            <a:avLst/>
          </a:prstGeom>
          <a:noFill/>
        </p:spPr>
        <p:txBody>
          <a:bodyPr wrap="square">
            <a:spAutoFit/>
          </a:bodyPr>
          <a:lstStyle/>
          <a:p>
            <a:pPr algn="l"/>
            <a:r>
              <a:rPr sz="1600" b="0" i="0">
                <a:solidFill>
                  <a:srgbClr val="00B4D8"/>
                </a:solidFill>
              </a:rPr>
              <a:t>SAGE is purpose-built for regulated industries — no direct equivalent exists today</a:t>
            </a:r>
          </a:p>
        </p:txBody>
      </p:sp>
      <p:graphicFrame>
        <p:nvGraphicFramePr>
          <p:cNvPr id="5" name="Table 4"/>
          <p:cNvGraphicFramePr>
            <a:graphicFrameLocks noGrp="1"/>
          </p:cNvGraphicFramePr>
          <p:nvPr/>
        </p:nvGraphicFramePr>
        <p:xfrm>
          <a:off x="457200" y="1508760"/>
          <a:ext cx="11247120" cy="3328416"/>
        </p:xfrm>
        <a:graphic>
          <a:graphicData uri="http://schemas.openxmlformats.org/drawingml/2006/table">
            <a:tbl>
              <a:tblPr firstRow="1" bandRow="1">
                <a:tableStyleId>{5C22544A-7EE6-4342-B048-85BDC9FD1C3A}</a:tableStyleId>
              </a:tblPr>
              <a:tblGrid>
                <a:gridCol w="2743200"/>
                <a:gridCol w="3840480"/>
                <a:gridCol w="4663440"/>
              </a:tblGrid>
              <a:tr h="475488">
                <a:tc>
                  <a:txBody>
                    <a:bodyPr/>
                    <a:lstStyle/>
                    <a:p>
                      <a:pPr algn="ctr"/>
                      <a:r>
                        <a:rPr b="1" sz="1300">
                          <a:solidFill>
                            <a:srgbClr val="FFFFFF"/>
                          </a:solidFill>
                        </a:rPr>
                        <a:t>Competitor Category</a:t>
                      </a:r>
                    </a:p>
                  </a:txBody>
                  <a:tcPr>
                    <a:solidFill>
                      <a:srgbClr val="0078D4"/>
                    </a:solidFill>
                  </a:tcPr>
                </a:tc>
                <a:tc>
                  <a:txBody>
                    <a:bodyPr/>
                    <a:lstStyle/>
                    <a:p>
                      <a:pPr algn="ctr"/>
                      <a:r>
                        <a:rPr b="1" sz="1300">
                          <a:solidFill>
                            <a:srgbClr val="FFFFFF"/>
                          </a:solidFill>
                        </a:rPr>
                        <a:t>Examples</a:t>
                      </a:r>
                    </a:p>
                  </a:txBody>
                  <a:tcPr>
                    <a:solidFill>
                      <a:srgbClr val="0078D4"/>
                    </a:solidFill>
                  </a:tcPr>
                </a:tc>
                <a:tc>
                  <a:txBody>
                    <a:bodyPr/>
                    <a:lstStyle/>
                    <a:p>
                      <a:pPr algn="ctr"/>
                      <a:r>
                        <a:rPr b="1" sz="1300">
                          <a:solidFill>
                            <a:srgbClr val="FFFFFF"/>
                          </a:solidFill>
                        </a:rPr>
                        <a:t>Gap vs SAGE</a:t>
                      </a:r>
                    </a:p>
                  </a:txBody>
                  <a:tcPr>
                    <a:solidFill>
                      <a:srgbClr val="0078D4"/>
                    </a:solidFill>
                  </a:tcPr>
                </a:tc>
              </a:tr>
              <a:tr h="475488">
                <a:tc>
                  <a:txBody>
                    <a:bodyPr/>
                    <a:lstStyle/>
                    <a:p>
                      <a:pPr algn="l"/>
                      <a:r>
                        <a:rPr sz="1200">
                          <a:solidFill>
                            <a:srgbClr val="0D1B2A"/>
                          </a:solidFill>
                        </a:rPr>
                        <a:t>General AI coding assistants</a:t>
                      </a:r>
                    </a:p>
                  </a:txBody>
                  <a:tcPr>
                    <a:solidFill>
                      <a:srgbClr val="F0F4F8"/>
                    </a:solidFill>
                  </a:tcPr>
                </a:tc>
                <a:tc>
                  <a:txBody>
                    <a:bodyPr/>
                    <a:lstStyle/>
                    <a:p>
                      <a:pPr algn="l"/>
                      <a:r>
                        <a:rPr sz="1200">
                          <a:solidFill>
                            <a:srgbClr val="0D1B2A"/>
                          </a:solidFill>
                        </a:rPr>
                        <a:t>GitHub Copilot, Cursor, Codeium</a:t>
                      </a:r>
                    </a:p>
                  </a:txBody>
                  <a:tcPr>
                    <a:solidFill>
                      <a:srgbClr val="F0F4F8"/>
                    </a:solidFill>
                  </a:tcPr>
                </a:tc>
                <a:tc>
                  <a:txBody>
                    <a:bodyPr/>
                    <a:lstStyle/>
                    <a:p>
                      <a:pPr algn="l"/>
                      <a:r>
                        <a:rPr sz="1200">
                          <a:solidFill>
                            <a:srgbClr val="0D1B2A"/>
                          </a:solidFill>
                        </a:rPr>
                        <a:t>No audit trail, no compliance gate, no domain memory</a:t>
                      </a:r>
                    </a:p>
                  </a:txBody>
                  <a:tcPr>
                    <a:solidFill>
                      <a:srgbClr val="F0F4F8"/>
                    </a:solidFill>
                  </a:tcPr>
                </a:tc>
              </a:tr>
              <a:tr h="475488">
                <a:tc>
                  <a:txBody>
                    <a:bodyPr/>
                    <a:lstStyle/>
                    <a:p>
                      <a:pPr algn="l"/>
                      <a:r>
                        <a:rPr sz="1200">
                          <a:solidFill>
                            <a:srgbClr val="0D1B2A"/>
                          </a:solidFill>
                        </a:rPr>
                        <a:t>Enterprise LLM platforms</a:t>
                      </a:r>
                    </a:p>
                  </a:txBody>
                  <a:tcPr>
                    <a:solidFill>
                      <a:srgbClr val="FFFFFF"/>
                    </a:solidFill>
                  </a:tcPr>
                </a:tc>
                <a:tc>
                  <a:txBody>
                    <a:bodyPr/>
                    <a:lstStyle/>
                    <a:p>
                      <a:pPr algn="l"/>
                      <a:r>
                        <a:rPr sz="1200">
                          <a:solidFill>
                            <a:srgbClr val="0D1B2A"/>
                          </a:solidFill>
                        </a:rPr>
                        <a:t>Azure OpenAI, AWS Bedrock</a:t>
                      </a:r>
                    </a:p>
                  </a:txBody>
                  <a:tcPr>
                    <a:solidFill>
                      <a:srgbClr val="FFFFFF"/>
                    </a:solidFill>
                  </a:tcPr>
                </a:tc>
                <a:tc>
                  <a:txBody>
                    <a:bodyPr/>
                    <a:lstStyle/>
                    <a:p>
                      <a:pPr algn="l"/>
                      <a:r>
                        <a:rPr sz="1200">
                          <a:solidFill>
                            <a:srgbClr val="0D1B2A"/>
                          </a:solidFill>
                        </a:rPr>
                        <a:t>Infrastructure only — no agent logic, no approval workflow</a:t>
                      </a:r>
                    </a:p>
                  </a:txBody>
                  <a:tcPr>
                    <a:solidFill>
                      <a:srgbClr val="FFFFFF"/>
                    </a:solidFill>
                  </a:tcPr>
                </a:tc>
              </a:tr>
              <a:tr h="475488">
                <a:tc>
                  <a:txBody>
                    <a:bodyPr/>
                    <a:lstStyle/>
                    <a:p>
                      <a:pPr algn="l"/>
                      <a:r>
                        <a:rPr sz="1200">
                          <a:solidFill>
                            <a:srgbClr val="0D1B2A"/>
                          </a:solidFill>
                        </a:rPr>
                        <a:t>AI workflow automation</a:t>
                      </a:r>
                    </a:p>
                  </a:txBody>
                  <a:tcPr>
                    <a:solidFill>
                      <a:srgbClr val="F0F4F8"/>
                    </a:solidFill>
                  </a:tcPr>
                </a:tc>
                <a:tc>
                  <a:txBody>
                    <a:bodyPr/>
                    <a:lstStyle/>
                    <a:p>
                      <a:pPr algn="l"/>
                      <a:r>
                        <a:rPr sz="1200">
                          <a:solidFill>
                            <a:srgbClr val="0D1B2A"/>
                          </a:solidFill>
                        </a:rPr>
                        <a:t>n8n, Zapier AI, Make</a:t>
                      </a:r>
                    </a:p>
                  </a:txBody>
                  <a:tcPr>
                    <a:solidFill>
                      <a:srgbClr val="F0F4F8"/>
                    </a:solidFill>
                  </a:tcPr>
                </a:tc>
                <a:tc>
                  <a:txBody>
                    <a:bodyPr/>
                    <a:lstStyle/>
                    <a:p>
                      <a:pPr algn="l"/>
                      <a:r>
                        <a:rPr sz="1200">
                          <a:solidFill>
                            <a:srgbClr val="0D1B2A"/>
                          </a:solidFill>
                        </a:rPr>
                        <a:t>No domain intelligence, no vector memory, no compliance layer</a:t>
                      </a:r>
                    </a:p>
                  </a:txBody>
                  <a:tcPr>
                    <a:solidFill>
                      <a:srgbClr val="F0F4F8"/>
                    </a:solidFill>
                  </a:tcPr>
                </a:tc>
              </a:tr>
              <a:tr h="475488">
                <a:tc>
                  <a:txBody>
                    <a:bodyPr/>
                    <a:lstStyle/>
                    <a:p>
                      <a:pPr algn="l"/>
                      <a:r>
                        <a:rPr sz="1200">
                          <a:solidFill>
                            <a:srgbClr val="0D1B2A"/>
                          </a:solidFill>
                        </a:rPr>
                        <a:t>Vertical AI point solutions</a:t>
                      </a:r>
                    </a:p>
                  </a:txBody>
                  <a:tcPr>
                    <a:solidFill>
                      <a:srgbClr val="FFFFFF"/>
                    </a:solidFill>
                  </a:tcPr>
                </a:tc>
                <a:tc>
                  <a:txBody>
                    <a:bodyPr/>
                    <a:lstStyle/>
                    <a:p>
                      <a:pPr algn="l"/>
                      <a:r>
                        <a:rPr sz="1200">
                          <a:solidFill>
                            <a:srgbClr val="0D1B2A"/>
                          </a:solidFill>
                        </a:rPr>
                        <a:t>Veeva, Sparta Systems TrackWise</a:t>
                      </a:r>
                    </a:p>
                  </a:txBody>
                  <a:tcPr>
                    <a:solidFill>
                      <a:srgbClr val="FFFFFF"/>
                    </a:solidFill>
                  </a:tcPr>
                </a:tc>
                <a:tc>
                  <a:txBody>
                    <a:bodyPr/>
                    <a:lstStyle/>
                    <a:p>
                      <a:pPr algn="l"/>
                      <a:r>
                        <a:rPr sz="1200">
                          <a:solidFill>
                            <a:srgbClr val="0D1B2A"/>
                          </a:solidFill>
                        </a:rPr>
                        <a:t>Single-function, expensive, not extensible to engineering workflows</a:t>
                      </a:r>
                    </a:p>
                  </a:txBody>
                  <a:tcPr>
                    <a:solidFill>
                      <a:srgbClr val="FFFFFF"/>
                    </a:solidFill>
                  </a:tcPr>
                </a:tc>
              </a:tr>
              <a:tr h="475488">
                <a:tc>
                  <a:txBody>
                    <a:bodyPr/>
                    <a:lstStyle/>
                    <a:p>
                      <a:pPr algn="l"/>
                      <a:r>
                        <a:rPr sz="1200">
                          <a:solidFill>
                            <a:srgbClr val="0D1B2A"/>
                          </a:solidFill>
                        </a:rPr>
                        <a:t>Open-source agent frameworks</a:t>
                      </a:r>
                    </a:p>
                  </a:txBody>
                  <a:tcPr>
                    <a:solidFill>
                      <a:srgbClr val="F0F4F8"/>
                    </a:solidFill>
                  </a:tcPr>
                </a:tc>
                <a:tc>
                  <a:txBody>
                    <a:bodyPr/>
                    <a:lstStyle/>
                    <a:p>
                      <a:pPr algn="l"/>
                      <a:r>
                        <a:rPr sz="1200">
                          <a:solidFill>
                            <a:srgbClr val="0D1B2A"/>
                          </a:solidFill>
                        </a:rPr>
                        <a:t>LangChain, AutoGen, CrewAI</a:t>
                      </a:r>
                    </a:p>
                  </a:txBody>
                  <a:tcPr>
                    <a:solidFill>
                      <a:srgbClr val="F0F4F8"/>
                    </a:solidFill>
                  </a:tcPr>
                </a:tc>
                <a:tc>
                  <a:txBody>
                    <a:bodyPr/>
                    <a:lstStyle/>
                    <a:p>
                      <a:pPr algn="l"/>
                      <a:r>
                        <a:rPr sz="1200">
                          <a:solidFill>
                            <a:srgbClr val="0D1B2A"/>
                          </a:solidFill>
                        </a:rPr>
                        <a:t>No production harness, no compliance, no UI — integration required</a:t>
                      </a:r>
                    </a:p>
                  </a:txBody>
                  <a:tcPr>
                    <a:solidFill>
                      <a:srgbClr val="F0F4F8"/>
                    </a:solidFill>
                  </a:tcPr>
                </a:tc>
              </a:tr>
              <a:tr h="475488">
                <a:tc>
                  <a:txBody>
                    <a:bodyPr/>
                    <a:lstStyle/>
                    <a:p>
                      <a:pPr algn="l"/>
                      <a:r>
                        <a:rPr sz="1200">
                          <a:solidFill>
                            <a:srgbClr val="0D1B2A"/>
                          </a:solidFill>
                        </a:rPr>
                        <a:t>SAGE Framework</a:t>
                      </a:r>
                    </a:p>
                  </a:txBody>
                  <a:tcPr>
                    <a:solidFill>
                      <a:srgbClr val="FFFFFF"/>
                    </a:solidFill>
                  </a:tcPr>
                </a:tc>
                <a:tc>
                  <a:txBody>
                    <a:bodyPr/>
                    <a:lstStyle/>
                    <a:p>
                      <a:pPr algn="l"/>
                      <a:r>
                        <a:rPr sz="1200">
                          <a:solidFill>
                            <a:srgbClr val="0D1B2A"/>
                          </a:solidFill>
                        </a:rPr>
                        <a:t>Purpose-built for regulated engineering</a:t>
                      </a:r>
                    </a:p>
                  </a:txBody>
                  <a:tcPr>
                    <a:solidFill>
                      <a:srgbClr val="FFFFFF"/>
                    </a:solidFill>
                  </a:tcPr>
                </a:tc>
                <a:tc>
                  <a:txBody>
                    <a:bodyPr/>
                    <a:lstStyle/>
                    <a:p>
                      <a:pPr algn="l"/>
                      <a:r>
                        <a:rPr sz="1200">
                          <a:solidFill>
                            <a:srgbClr val="0D1B2A"/>
                          </a:solidFill>
                        </a:rPr>
                        <a:t>Full stack: compliance, agents, memory, UI, no API key required</a:t>
                      </a:r>
                    </a:p>
                  </a:txBody>
                  <a:tcPr>
                    <a:solidFill>
                      <a:srgbClr val="FFFFFF"/>
                    </a:solidFill>
                  </a:tcPr>
                </a:tc>
              </a:tr>
            </a:tbl>
          </a:graphicData>
        </a:graphic>
      </p:graphicFrame>
      <p:sp>
        <p:nvSpPr>
          <p:cNvPr id="6" name="Rectangle 5"/>
          <p:cNvSpPr/>
          <p:nvPr/>
        </p:nvSpPr>
        <p:spPr>
          <a:xfrm>
            <a:off x="0" y="6492240"/>
            <a:ext cx="12188952" cy="3657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8229600" cy="274320"/>
          </a:xfrm>
          <a:prstGeom prst="rect">
            <a:avLst/>
          </a:prstGeom>
          <a:noFill/>
        </p:spPr>
        <p:txBody>
          <a:bodyPr wrap="square">
            <a:spAutoFit/>
          </a:bodyPr>
          <a:lstStyle/>
          <a:p>
            <a:pPr algn="l"/>
            <a:r>
              <a:rPr sz="900" b="0" i="0">
                <a:solidFill>
                  <a:srgbClr val="647487"/>
                </a:solidFill>
              </a:rPr>
              <a:t>SAGE[ai] — Confidential | March 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31520"/>
          </a:xfrm>
          <a:prstGeom prst="rect">
            <a:avLst/>
          </a:prstGeom>
          <a:noFill/>
        </p:spPr>
        <p:txBody>
          <a:bodyPr wrap="square">
            <a:spAutoFit/>
          </a:bodyPr>
          <a:lstStyle/>
          <a:p>
            <a:pPr algn="l"/>
            <a:r>
              <a:rPr sz="3000" b="1" i="0">
                <a:solidFill>
                  <a:srgbClr val="FFFFFF"/>
                </a:solidFill>
              </a:rPr>
              <a:t>Go-to-Market Strategy</a:t>
            </a:r>
          </a:p>
        </p:txBody>
      </p:sp>
      <p:sp>
        <p:nvSpPr>
          <p:cNvPr id="4" name="TextBox 3"/>
          <p:cNvSpPr txBox="1"/>
          <p:nvPr/>
        </p:nvSpPr>
        <p:spPr>
          <a:xfrm>
            <a:off x="411480" y="804672"/>
            <a:ext cx="11338560" cy="438912"/>
          </a:xfrm>
          <a:prstGeom prst="rect">
            <a:avLst/>
          </a:prstGeom>
          <a:noFill/>
        </p:spPr>
        <p:txBody>
          <a:bodyPr wrap="square">
            <a:spAutoFit/>
          </a:bodyPr>
          <a:lstStyle/>
          <a:p>
            <a:pPr algn="l"/>
            <a:r>
              <a:rPr sz="1600" b="0" i="0">
                <a:solidFill>
                  <a:srgbClr val="00B4D8"/>
                </a:solidFill>
              </a:rPr>
              <a:t>Land in regulated engineering teams, expand across the organisation, grow vertically</a:t>
            </a:r>
          </a:p>
        </p:txBody>
      </p:sp>
      <p:sp>
        <p:nvSpPr>
          <p:cNvPr id="5" name="Rectangle 4"/>
          <p:cNvSpPr/>
          <p:nvPr/>
        </p:nvSpPr>
        <p:spPr>
          <a:xfrm>
            <a:off x="365760" y="1600200"/>
            <a:ext cx="3611880" cy="36576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737360"/>
            <a:ext cx="3337560" cy="502920"/>
          </a:xfrm>
          <a:prstGeom prst="rect">
            <a:avLst/>
          </a:prstGeom>
          <a:noFill/>
        </p:spPr>
        <p:txBody>
          <a:bodyPr wrap="square">
            <a:spAutoFit/>
          </a:bodyPr>
          <a:lstStyle/>
          <a:p>
            <a:pPr algn="ctr"/>
            <a:r>
              <a:rPr sz="1500" b="1" i="0">
                <a:solidFill>
                  <a:srgbClr val="FFFFFF"/>
                </a:solidFill>
              </a:rPr>
              <a:t>Phase 1: Land</a:t>
            </a:r>
          </a:p>
        </p:txBody>
      </p:sp>
      <p:sp>
        <p:nvSpPr>
          <p:cNvPr id="7" name="TextBox 6"/>
          <p:cNvSpPr txBox="1"/>
          <p:nvPr/>
        </p:nvSpPr>
        <p:spPr>
          <a:xfrm>
            <a:off x="502920" y="2331720"/>
            <a:ext cx="3337560" cy="2560320"/>
          </a:xfrm>
          <a:prstGeom prst="rect">
            <a:avLst/>
          </a:prstGeom>
          <a:noFill/>
        </p:spPr>
        <p:txBody>
          <a:bodyPr wrap="square">
            <a:spAutoFit/>
          </a:bodyPr>
          <a:lstStyle/>
          <a:p>
            <a:pPr algn="l"/>
            <a:r>
              <a:rPr sz="1200" b="0" i="0">
                <a:solidFill>
                  <a:srgbClr val="FFFFFF"/>
                </a:solidFill>
              </a:rPr>
              <a:t>Target regulated engineering teams in medical devices, aerospace, and pharma. Pilot pricing is a fixed 90-day engagement. Success metric: 40% manual work reduction measured and validated.</a:t>
            </a:r>
          </a:p>
        </p:txBody>
      </p:sp>
      <p:sp>
        <p:nvSpPr>
          <p:cNvPr id="8" name="Rectangle 7"/>
          <p:cNvSpPr/>
          <p:nvPr/>
        </p:nvSpPr>
        <p:spPr>
          <a:xfrm>
            <a:off x="4343399" y="1600200"/>
            <a:ext cx="3611880" cy="36576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80559" y="1737360"/>
            <a:ext cx="3337560" cy="502920"/>
          </a:xfrm>
          <a:prstGeom prst="rect">
            <a:avLst/>
          </a:prstGeom>
          <a:noFill/>
        </p:spPr>
        <p:txBody>
          <a:bodyPr wrap="square">
            <a:spAutoFit/>
          </a:bodyPr>
          <a:lstStyle/>
          <a:p>
            <a:pPr algn="ctr"/>
            <a:r>
              <a:rPr sz="1500" b="1" i="0">
                <a:solidFill>
                  <a:srgbClr val="FFFFFF"/>
                </a:solidFill>
              </a:rPr>
              <a:t>Phase 2: Expand</a:t>
            </a:r>
          </a:p>
        </p:txBody>
      </p:sp>
      <p:sp>
        <p:nvSpPr>
          <p:cNvPr id="10" name="TextBox 9"/>
          <p:cNvSpPr txBox="1"/>
          <p:nvPr/>
        </p:nvSpPr>
        <p:spPr>
          <a:xfrm>
            <a:off x="4480559" y="2331720"/>
            <a:ext cx="3337560" cy="2560320"/>
          </a:xfrm>
          <a:prstGeom prst="rect">
            <a:avLst/>
          </a:prstGeom>
          <a:noFill/>
        </p:spPr>
        <p:txBody>
          <a:bodyPr wrap="square">
            <a:spAutoFit/>
          </a:bodyPr>
          <a:lstStyle/>
          <a:p>
            <a:pPr algn="l"/>
            <a:r>
              <a:rPr sz="1200" b="0" i="0">
                <a:solidFill>
                  <a:srgbClr val="FFFFFF"/>
                </a:solidFill>
              </a:rPr>
              <a:t>Cross-sell multi-tenant to adjacent teams in the same organisation. Add Spira, Jira, and ServiceNow connectors. Upsell advanced eval and Temporal workflow modules.</a:t>
            </a:r>
          </a:p>
        </p:txBody>
      </p:sp>
      <p:sp>
        <p:nvSpPr>
          <p:cNvPr id="11" name="Rectangle 10"/>
          <p:cNvSpPr/>
          <p:nvPr/>
        </p:nvSpPr>
        <p:spPr>
          <a:xfrm>
            <a:off x="8321038" y="1600200"/>
            <a:ext cx="3611880" cy="36576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58198" y="1737360"/>
            <a:ext cx="3337560" cy="502920"/>
          </a:xfrm>
          <a:prstGeom prst="rect">
            <a:avLst/>
          </a:prstGeom>
          <a:noFill/>
        </p:spPr>
        <p:txBody>
          <a:bodyPr wrap="square">
            <a:spAutoFit/>
          </a:bodyPr>
          <a:lstStyle/>
          <a:p>
            <a:pPr algn="ctr"/>
            <a:r>
              <a:rPr sz="1500" b="1" i="0">
                <a:solidFill>
                  <a:srgbClr val="FFFFFF"/>
                </a:solidFill>
              </a:rPr>
              <a:t>Phase 3: Scale</a:t>
            </a:r>
          </a:p>
        </p:txBody>
      </p:sp>
      <p:sp>
        <p:nvSpPr>
          <p:cNvPr id="13" name="TextBox 12"/>
          <p:cNvSpPr txBox="1"/>
          <p:nvPr/>
        </p:nvSpPr>
        <p:spPr>
          <a:xfrm>
            <a:off x="8458198" y="2331720"/>
            <a:ext cx="3337560" cy="2560320"/>
          </a:xfrm>
          <a:prstGeom prst="rect">
            <a:avLst/>
          </a:prstGeom>
          <a:noFill/>
        </p:spPr>
        <p:txBody>
          <a:bodyPr wrap="square">
            <a:spAutoFit/>
          </a:bodyPr>
          <a:lstStyle/>
          <a:p>
            <a:pPr algn="l"/>
            <a:r>
              <a:rPr sz="1200" b="0" i="0">
                <a:solidFill>
                  <a:srgbClr val="FFFFFF"/>
                </a:solidFill>
              </a:rPr>
              <a:t>Partner with system integrators and QMS consultancies. OEM licensing to compliance software vendors. Open-source community flywheel for non-regulated verticals.</a:t>
            </a:r>
          </a:p>
        </p:txBody>
      </p:sp>
      <p:sp>
        <p:nvSpPr>
          <p:cNvPr id="14" name="Rectangle 13"/>
          <p:cNvSpPr/>
          <p:nvPr/>
        </p:nvSpPr>
        <p:spPr>
          <a:xfrm>
            <a:off x="0" y="6492240"/>
            <a:ext cx="12188952" cy="3657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4320" y="6510528"/>
            <a:ext cx="8229600" cy="274320"/>
          </a:xfrm>
          <a:prstGeom prst="rect">
            <a:avLst/>
          </a:prstGeom>
          <a:noFill/>
        </p:spPr>
        <p:txBody>
          <a:bodyPr wrap="square">
            <a:spAutoFit/>
          </a:bodyPr>
          <a:lstStyle/>
          <a:p>
            <a:pPr algn="l"/>
            <a:r>
              <a:rPr sz="900" b="0" i="0">
                <a:solidFill>
                  <a:srgbClr val="647487"/>
                </a:solidFill>
              </a:rPr>
              <a:t>SAGE[ai] — Confidential | March 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31520"/>
          </a:xfrm>
          <a:prstGeom prst="rect">
            <a:avLst/>
          </a:prstGeom>
          <a:noFill/>
        </p:spPr>
        <p:txBody>
          <a:bodyPr wrap="square">
            <a:spAutoFit/>
          </a:bodyPr>
          <a:lstStyle/>
          <a:p>
            <a:pPr algn="l"/>
            <a:r>
              <a:rPr sz="3000" b="1" i="0">
                <a:solidFill>
                  <a:srgbClr val="FFFFFF"/>
                </a:solidFill>
              </a:rPr>
              <a:t>Traction — Platform Complete, Pilots Underway</a:t>
            </a:r>
          </a:p>
        </p:txBody>
      </p:sp>
      <p:sp>
        <p:nvSpPr>
          <p:cNvPr id="4" name="TextBox 3"/>
          <p:cNvSpPr txBox="1"/>
          <p:nvPr/>
        </p:nvSpPr>
        <p:spPr>
          <a:xfrm>
            <a:off x="411480" y="804672"/>
            <a:ext cx="11338560" cy="438912"/>
          </a:xfrm>
          <a:prstGeom prst="rect">
            <a:avLst/>
          </a:prstGeom>
          <a:noFill/>
        </p:spPr>
        <p:txBody>
          <a:bodyPr wrap="square">
            <a:spAutoFit/>
          </a:bodyPr>
          <a:lstStyle/>
          <a:p>
            <a:pPr algn="l"/>
            <a:r>
              <a:rPr sz="1600" b="0" i="0">
                <a:solidFill>
                  <a:srgbClr val="00B4D8"/>
                </a:solidFill>
              </a:rPr>
              <a:t>12 integration phases shipped, test suite green, first regulated deployment in progress</a:t>
            </a:r>
          </a:p>
        </p:txBody>
      </p:sp>
      <p:sp>
        <p:nvSpPr>
          <p:cNvPr id="5" name="Rectangle 4"/>
          <p:cNvSpPr/>
          <p:nvPr/>
        </p:nvSpPr>
        <p:spPr>
          <a:xfrm>
            <a:off x="457200" y="1508760"/>
            <a:ext cx="3566160" cy="256032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45920"/>
            <a:ext cx="3383280" cy="868680"/>
          </a:xfrm>
          <a:prstGeom prst="rect">
            <a:avLst/>
          </a:prstGeom>
          <a:noFill/>
        </p:spPr>
        <p:txBody>
          <a:bodyPr wrap="square">
            <a:spAutoFit/>
          </a:bodyPr>
          <a:lstStyle/>
          <a:p>
            <a:pPr algn="ctr"/>
            <a:r>
              <a:rPr sz="4400" b="1" i="0">
                <a:solidFill>
                  <a:srgbClr val="FFFFFF"/>
                </a:solidFill>
              </a:rPr>
              <a:t>12</a:t>
            </a:r>
          </a:p>
        </p:txBody>
      </p:sp>
      <p:sp>
        <p:nvSpPr>
          <p:cNvPr id="7" name="TextBox 6"/>
          <p:cNvSpPr txBox="1"/>
          <p:nvPr/>
        </p:nvSpPr>
        <p:spPr>
          <a:xfrm>
            <a:off x="548640" y="2560320"/>
            <a:ext cx="3383280" cy="457200"/>
          </a:xfrm>
          <a:prstGeom prst="rect">
            <a:avLst/>
          </a:prstGeom>
          <a:noFill/>
        </p:spPr>
        <p:txBody>
          <a:bodyPr wrap="square">
            <a:spAutoFit/>
          </a:bodyPr>
          <a:lstStyle/>
          <a:p>
            <a:pPr algn="ctr"/>
            <a:r>
              <a:rPr sz="1300" b="1" i="0">
                <a:solidFill>
                  <a:srgbClr val="FFFFFF"/>
                </a:solidFill>
              </a:rPr>
              <a:t>Integration phases complete</a:t>
            </a:r>
          </a:p>
        </p:txBody>
      </p:sp>
      <p:sp>
        <p:nvSpPr>
          <p:cNvPr id="8" name="TextBox 7"/>
          <p:cNvSpPr txBox="1"/>
          <p:nvPr/>
        </p:nvSpPr>
        <p:spPr>
          <a:xfrm>
            <a:off x="548640" y="3017520"/>
            <a:ext cx="3383280" cy="411480"/>
          </a:xfrm>
          <a:prstGeom prst="rect">
            <a:avLst/>
          </a:prstGeom>
          <a:noFill/>
        </p:spPr>
        <p:txBody>
          <a:bodyPr wrap="square">
            <a:spAutoFit/>
          </a:bodyPr>
          <a:lstStyle/>
          <a:p>
            <a:pPr algn="ctr"/>
            <a:r>
              <a:rPr sz="1100" b="0" i="1">
                <a:solidFill>
                  <a:srgbClr val="F0F4F8"/>
                </a:solidFill>
              </a:rPr>
              <a:t>Phases 0-11 all production-ready</a:t>
            </a:r>
          </a:p>
        </p:txBody>
      </p:sp>
      <p:sp>
        <p:nvSpPr>
          <p:cNvPr id="9" name="Rectangle 8"/>
          <p:cNvSpPr/>
          <p:nvPr/>
        </p:nvSpPr>
        <p:spPr>
          <a:xfrm>
            <a:off x="4389120" y="1508760"/>
            <a:ext cx="3566160" cy="25603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60" y="1645920"/>
            <a:ext cx="3383280" cy="868680"/>
          </a:xfrm>
          <a:prstGeom prst="rect">
            <a:avLst/>
          </a:prstGeom>
          <a:noFill/>
        </p:spPr>
        <p:txBody>
          <a:bodyPr wrap="square">
            <a:spAutoFit/>
          </a:bodyPr>
          <a:lstStyle/>
          <a:p>
            <a:pPr algn="ctr"/>
            <a:r>
              <a:rPr sz="4400" b="1" i="0">
                <a:solidFill>
                  <a:srgbClr val="FFFFFF"/>
                </a:solidFill>
              </a:rPr>
              <a:t>383+</a:t>
            </a:r>
          </a:p>
        </p:txBody>
      </p:sp>
      <p:sp>
        <p:nvSpPr>
          <p:cNvPr id="11" name="TextBox 10"/>
          <p:cNvSpPr txBox="1"/>
          <p:nvPr/>
        </p:nvSpPr>
        <p:spPr>
          <a:xfrm>
            <a:off x="4480560" y="2560320"/>
            <a:ext cx="3383280" cy="457200"/>
          </a:xfrm>
          <a:prstGeom prst="rect">
            <a:avLst/>
          </a:prstGeom>
          <a:noFill/>
        </p:spPr>
        <p:txBody>
          <a:bodyPr wrap="square">
            <a:spAutoFit/>
          </a:bodyPr>
          <a:lstStyle/>
          <a:p>
            <a:pPr algn="ctr"/>
            <a:r>
              <a:rPr sz="1300" b="1" i="0">
                <a:solidFill>
                  <a:srgbClr val="FFFFFF"/>
                </a:solidFill>
              </a:rPr>
              <a:t>Automated tests passing</a:t>
            </a:r>
          </a:p>
        </p:txBody>
      </p:sp>
      <p:sp>
        <p:nvSpPr>
          <p:cNvPr id="12" name="TextBox 11"/>
          <p:cNvSpPr txBox="1"/>
          <p:nvPr/>
        </p:nvSpPr>
        <p:spPr>
          <a:xfrm>
            <a:off x="4480560" y="3017520"/>
            <a:ext cx="3383280" cy="411480"/>
          </a:xfrm>
          <a:prstGeom prst="rect">
            <a:avLst/>
          </a:prstGeom>
          <a:noFill/>
        </p:spPr>
        <p:txBody>
          <a:bodyPr wrap="square">
            <a:spAutoFit/>
          </a:bodyPr>
          <a:lstStyle/>
          <a:p>
            <a:pPr algn="ctr"/>
            <a:r>
              <a:rPr sz="1100" b="0" i="1">
                <a:solidFill>
                  <a:srgbClr val="F0F4F8"/>
                </a:solidFill>
              </a:rPr>
              <a:t>Framework and all solution test suites</a:t>
            </a:r>
          </a:p>
        </p:txBody>
      </p:sp>
      <p:sp>
        <p:nvSpPr>
          <p:cNvPr id="13" name="Rectangle 12"/>
          <p:cNvSpPr/>
          <p:nvPr/>
        </p:nvSpPr>
        <p:spPr>
          <a:xfrm>
            <a:off x="8321040" y="1508760"/>
            <a:ext cx="3566160" cy="25603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0" y="1645920"/>
            <a:ext cx="3383280" cy="868680"/>
          </a:xfrm>
          <a:prstGeom prst="rect">
            <a:avLst/>
          </a:prstGeom>
          <a:noFill/>
        </p:spPr>
        <p:txBody>
          <a:bodyPr wrap="square">
            <a:spAutoFit/>
          </a:bodyPr>
          <a:lstStyle/>
          <a:p>
            <a:pPr algn="ctr"/>
            <a:r>
              <a:rPr sz="4400" b="1" i="0">
                <a:solidFill>
                  <a:srgbClr val="FFFFFF"/>
                </a:solidFill>
              </a:rPr>
              <a:t>5</a:t>
            </a:r>
          </a:p>
        </p:txBody>
      </p:sp>
      <p:sp>
        <p:nvSpPr>
          <p:cNvPr id="15" name="TextBox 14"/>
          <p:cNvSpPr txBox="1"/>
          <p:nvPr/>
        </p:nvSpPr>
        <p:spPr>
          <a:xfrm>
            <a:off x="8412480" y="2560320"/>
            <a:ext cx="3383280" cy="457200"/>
          </a:xfrm>
          <a:prstGeom prst="rect">
            <a:avLst/>
          </a:prstGeom>
          <a:noFill/>
        </p:spPr>
        <p:txBody>
          <a:bodyPr wrap="square">
            <a:spAutoFit/>
          </a:bodyPr>
          <a:lstStyle/>
          <a:p>
            <a:pPr algn="ctr"/>
            <a:r>
              <a:rPr sz="1300" b="1" i="0">
                <a:solidFill>
                  <a:srgbClr val="FFFFFF"/>
                </a:solidFill>
              </a:rPr>
              <a:t>LLM providers supported</a:t>
            </a:r>
          </a:p>
        </p:txBody>
      </p:sp>
      <p:sp>
        <p:nvSpPr>
          <p:cNvPr id="16" name="TextBox 15"/>
          <p:cNvSpPr txBox="1"/>
          <p:nvPr/>
        </p:nvSpPr>
        <p:spPr>
          <a:xfrm>
            <a:off x="8412480" y="3017520"/>
            <a:ext cx="3383280" cy="411480"/>
          </a:xfrm>
          <a:prstGeom prst="rect">
            <a:avLst/>
          </a:prstGeom>
          <a:noFill/>
        </p:spPr>
        <p:txBody>
          <a:bodyPr wrap="square">
            <a:spAutoFit/>
          </a:bodyPr>
          <a:lstStyle/>
          <a:p>
            <a:pPr algn="ctr"/>
            <a:r>
              <a:rPr sz="1100" b="0" i="1">
                <a:solidFill>
                  <a:srgbClr val="F0F4F8"/>
                </a:solidFill>
              </a:rPr>
              <a:t>All without API keys — zero credential risk</a:t>
            </a:r>
          </a:p>
        </p:txBody>
      </p:sp>
      <p:sp>
        <p:nvSpPr>
          <p:cNvPr id="17" name="TextBox 16"/>
          <p:cNvSpPr txBox="1"/>
          <p:nvPr/>
        </p:nvSpPr>
        <p:spPr>
          <a:xfrm>
            <a:off x="502920" y="4251960"/>
            <a:ext cx="11155680" cy="347472"/>
          </a:xfrm>
          <a:prstGeom prst="rect">
            <a:avLst/>
          </a:prstGeom>
          <a:noFill/>
        </p:spPr>
        <p:txBody>
          <a:bodyPr wrap="square">
            <a:spAutoFit/>
          </a:bodyPr>
          <a:lstStyle/>
          <a:p>
            <a:pPr algn="l"/>
            <a:r>
              <a:rPr sz="1300" b="0" i="0">
                <a:solidFill>
                  <a:srgbClr val="0D1B2A"/>
                </a:solidFill>
              </a:rPr>
              <a:t>Core framework complete: agents, API, audit log, vector memory, web dashboard</a:t>
            </a:r>
          </a:p>
        </p:txBody>
      </p:sp>
      <p:sp>
        <p:nvSpPr>
          <p:cNvPr id="18" name="TextBox 17"/>
          <p:cNvSpPr txBox="1"/>
          <p:nvPr/>
        </p:nvSpPr>
        <p:spPr>
          <a:xfrm>
            <a:off x="502920" y="4672584"/>
            <a:ext cx="11155680" cy="347472"/>
          </a:xfrm>
          <a:prstGeom prst="rect">
            <a:avLst/>
          </a:prstGeom>
          <a:noFill/>
        </p:spPr>
        <p:txBody>
          <a:bodyPr wrap="square">
            <a:spAutoFit/>
          </a:bodyPr>
          <a:lstStyle/>
          <a:p>
            <a:pPr algn="l"/>
            <a:r>
              <a:rPr sz="1300" b="0" i="0">
                <a:solidFill>
                  <a:srgbClr val="0D1B2A"/>
                </a:solidFill>
              </a:rPr>
              <a:t>New capabilities live: Composio (100+ tool integrations), Hire Agent (web UI role creation), conversational onboarding wizard, solution theming system</a:t>
            </a:r>
          </a:p>
        </p:txBody>
      </p:sp>
      <p:sp>
        <p:nvSpPr>
          <p:cNvPr id="19" name="TextBox 18"/>
          <p:cNvSpPr txBox="1"/>
          <p:nvPr/>
        </p:nvSpPr>
        <p:spPr>
          <a:xfrm>
            <a:off x="502920" y="5093208"/>
            <a:ext cx="11155680" cy="347472"/>
          </a:xfrm>
          <a:prstGeom prst="rect">
            <a:avLst/>
          </a:prstGeom>
          <a:noFill/>
        </p:spPr>
        <p:txBody>
          <a:bodyPr wrap="square">
            <a:spAutoFit/>
          </a:bodyPr>
          <a:lstStyle/>
          <a:p>
            <a:pPr algn="l"/>
            <a:r>
              <a:rPr sz="1300" b="0" i="0">
                <a:solidFill>
                  <a:srgbClr val="0D1B2A"/>
                </a:solidFill>
              </a:rPr>
              <a:t>Solutions active: medtech (ISO 13485), poseengine (ML/mobile), kappture (human tracking)</a:t>
            </a:r>
          </a:p>
        </p:txBody>
      </p:sp>
      <p:sp>
        <p:nvSpPr>
          <p:cNvPr id="20" name="TextBox 19"/>
          <p:cNvSpPr txBox="1"/>
          <p:nvPr/>
        </p:nvSpPr>
        <p:spPr>
          <a:xfrm>
            <a:off x="502920" y="5513832"/>
            <a:ext cx="11155680" cy="347472"/>
          </a:xfrm>
          <a:prstGeom prst="rect">
            <a:avLst/>
          </a:prstGeom>
          <a:noFill/>
        </p:spPr>
        <p:txBody>
          <a:bodyPr wrap="square">
            <a:spAutoFit/>
          </a:bodyPr>
          <a:lstStyle/>
          <a:p>
            <a:pPr algn="l"/>
            <a:r>
              <a:rPr sz="1300" b="0" i="0">
                <a:solidFill>
                  <a:srgbClr val="0D1B2A"/>
                </a:solidFill>
              </a:rPr>
              <a:t>Pilot in progress: regulated engineering team, first KPI measurement expected Q2 2026</a:t>
            </a:r>
          </a:p>
        </p:txBody>
      </p:sp>
      <p:sp>
        <p:nvSpPr>
          <p:cNvPr id="21" name="Rectangle 20"/>
          <p:cNvSpPr/>
          <p:nvPr/>
        </p:nvSpPr>
        <p:spPr>
          <a:xfrm>
            <a:off x="0" y="6492240"/>
            <a:ext cx="12188952" cy="3657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4320" y="6510528"/>
            <a:ext cx="8229600" cy="274320"/>
          </a:xfrm>
          <a:prstGeom prst="rect">
            <a:avLst/>
          </a:prstGeom>
          <a:noFill/>
        </p:spPr>
        <p:txBody>
          <a:bodyPr wrap="square">
            <a:spAutoFit/>
          </a:bodyPr>
          <a:lstStyle/>
          <a:p>
            <a:pPr algn="l"/>
            <a:r>
              <a:rPr sz="900" b="0" i="0">
                <a:solidFill>
                  <a:srgbClr val="647487"/>
                </a:solidFill>
              </a:rPr>
              <a:t>SAGE[ai] — Confidential | March 2026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31520"/>
          </a:xfrm>
          <a:prstGeom prst="rect">
            <a:avLst/>
          </a:prstGeom>
          <a:noFill/>
        </p:spPr>
        <p:txBody>
          <a:bodyPr wrap="square">
            <a:spAutoFit/>
          </a:bodyPr>
          <a:lstStyle/>
          <a:p>
            <a:pPr algn="l"/>
            <a:r>
              <a:rPr sz="3000" b="1" i="0">
                <a:solidFill>
                  <a:srgbClr val="FFFFFF"/>
                </a:solidFill>
              </a:rPr>
              <a:t>Financial Projections — Three-Year Model</a:t>
            </a:r>
          </a:p>
        </p:txBody>
      </p:sp>
      <p:sp>
        <p:nvSpPr>
          <p:cNvPr id="4" name="TextBox 3"/>
          <p:cNvSpPr txBox="1"/>
          <p:nvPr/>
        </p:nvSpPr>
        <p:spPr>
          <a:xfrm>
            <a:off x="411480" y="804672"/>
            <a:ext cx="11338560" cy="438912"/>
          </a:xfrm>
          <a:prstGeom prst="rect">
            <a:avLst/>
          </a:prstGeom>
          <a:noFill/>
        </p:spPr>
        <p:txBody>
          <a:bodyPr wrap="square">
            <a:spAutoFit/>
          </a:bodyPr>
          <a:lstStyle/>
          <a:p>
            <a:pPr algn="l"/>
            <a:r>
              <a:rPr sz="1600" b="0" i="0">
                <a:solidFill>
                  <a:srgbClr val="00B4D8"/>
                </a:solidFill>
              </a:rPr>
              <a:t>Conservative estimates based on industry benchmarks — all figures assumption-based*</a:t>
            </a:r>
          </a:p>
        </p:txBody>
      </p:sp>
      <p:graphicFrame>
        <p:nvGraphicFramePr>
          <p:cNvPr id="5" name="Table 4"/>
          <p:cNvGraphicFramePr>
            <a:graphicFrameLocks noGrp="1"/>
          </p:cNvGraphicFramePr>
          <p:nvPr/>
        </p:nvGraphicFramePr>
        <p:xfrm>
          <a:off x="457200" y="1508760"/>
          <a:ext cx="11247120" cy="3803904"/>
        </p:xfrm>
        <a:graphic>
          <a:graphicData uri="http://schemas.openxmlformats.org/drawingml/2006/table">
            <a:tbl>
              <a:tblPr firstRow="1" bandRow="1">
                <a:tableStyleId>{5C22544A-7EE6-4342-B048-85BDC9FD1C3A}</a:tableStyleId>
              </a:tblPr>
              <a:tblGrid>
                <a:gridCol w="3200400"/>
                <a:gridCol w="2194560"/>
                <a:gridCol w="2194560"/>
                <a:gridCol w="3657600"/>
              </a:tblGrid>
              <a:tr h="475488">
                <a:tc>
                  <a:txBody>
                    <a:bodyPr/>
                    <a:lstStyle/>
                    <a:p>
                      <a:pPr algn="ctr"/>
                      <a:r>
                        <a:rPr b="1" sz="1300">
                          <a:solidFill>
                            <a:srgbClr val="FFFFFF"/>
                          </a:solidFill>
                        </a:rPr>
                        <a:t>Metric</a:t>
                      </a:r>
                    </a:p>
                  </a:txBody>
                  <a:tcPr>
                    <a:solidFill>
                      <a:srgbClr val="0078D4"/>
                    </a:solidFill>
                  </a:tcPr>
                </a:tc>
                <a:tc>
                  <a:txBody>
                    <a:bodyPr/>
                    <a:lstStyle/>
                    <a:p>
                      <a:pPr algn="ctr"/>
                      <a:r>
                        <a:rPr b="1" sz="1300">
                          <a:solidFill>
                            <a:srgbClr val="FFFFFF"/>
                          </a:solidFill>
                        </a:rPr>
                        <a:t>Year 1</a:t>
                      </a:r>
                    </a:p>
                  </a:txBody>
                  <a:tcPr>
                    <a:solidFill>
                      <a:srgbClr val="0078D4"/>
                    </a:solidFill>
                  </a:tcPr>
                </a:tc>
                <a:tc>
                  <a:txBody>
                    <a:bodyPr/>
                    <a:lstStyle/>
                    <a:p>
                      <a:pPr algn="ctr"/>
                      <a:r>
                        <a:rPr b="1" sz="1300">
                          <a:solidFill>
                            <a:srgbClr val="FFFFFF"/>
                          </a:solidFill>
                        </a:rPr>
                        <a:t>Year 2</a:t>
                      </a:r>
                    </a:p>
                  </a:txBody>
                  <a:tcPr>
                    <a:solidFill>
                      <a:srgbClr val="0078D4"/>
                    </a:solidFill>
                  </a:tcPr>
                </a:tc>
                <a:tc>
                  <a:txBody>
                    <a:bodyPr/>
                    <a:lstStyle/>
                    <a:p>
                      <a:pPr algn="ctr"/>
                      <a:r>
                        <a:rPr b="1" sz="1300">
                          <a:solidFill>
                            <a:srgbClr val="FFFFFF"/>
                          </a:solidFill>
                        </a:rPr>
                        <a:t>Year 3</a:t>
                      </a:r>
                    </a:p>
                  </a:txBody>
                  <a:tcPr>
                    <a:solidFill>
                      <a:srgbClr val="0078D4"/>
                    </a:solidFill>
                  </a:tcPr>
                </a:tc>
              </a:tr>
              <a:tr h="475488">
                <a:tc>
                  <a:txBody>
                    <a:bodyPr/>
                    <a:lstStyle/>
                    <a:p>
                      <a:pPr algn="l"/>
                      <a:r>
                        <a:rPr sz="1200">
                          <a:solidFill>
                            <a:srgbClr val="0D1B2A"/>
                          </a:solidFill>
                        </a:rPr>
                        <a:t>Customers (deployments)</a:t>
                      </a:r>
                    </a:p>
                  </a:txBody>
                  <a:tcPr>
                    <a:solidFill>
                      <a:srgbClr val="F0F4F8"/>
                    </a:solidFill>
                  </a:tcPr>
                </a:tc>
                <a:tc>
                  <a:txBody>
                    <a:bodyPr/>
                    <a:lstStyle/>
                    <a:p>
                      <a:pPr algn="l"/>
                      <a:r>
                        <a:rPr sz="1200">
                          <a:solidFill>
                            <a:srgbClr val="0D1B2A"/>
                          </a:solidFill>
                        </a:rPr>
                        <a:t>3-5 pilots</a:t>
                      </a:r>
                    </a:p>
                  </a:txBody>
                  <a:tcPr>
                    <a:solidFill>
                      <a:srgbClr val="F0F4F8"/>
                    </a:solidFill>
                  </a:tcPr>
                </a:tc>
                <a:tc>
                  <a:txBody>
                    <a:bodyPr/>
                    <a:lstStyle/>
                    <a:p>
                      <a:pPr algn="l"/>
                      <a:r>
                        <a:rPr sz="1200">
                          <a:solidFill>
                            <a:srgbClr val="0D1B2A"/>
                          </a:solidFill>
                        </a:rPr>
                        <a:t>15-25</a:t>
                      </a:r>
                    </a:p>
                  </a:txBody>
                  <a:tcPr>
                    <a:solidFill>
                      <a:srgbClr val="F0F4F8"/>
                    </a:solidFill>
                  </a:tcPr>
                </a:tc>
                <a:tc>
                  <a:txBody>
                    <a:bodyPr/>
                    <a:lstStyle/>
                    <a:p>
                      <a:pPr algn="l"/>
                      <a:r>
                        <a:rPr sz="1200">
                          <a:solidFill>
                            <a:srgbClr val="0D1B2A"/>
                          </a:solidFill>
                        </a:rPr>
                        <a:t>50-80</a:t>
                      </a:r>
                    </a:p>
                  </a:txBody>
                  <a:tcPr>
                    <a:solidFill>
                      <a:srgbClr val="F0F4F8"/>
                    </a:solidFill>
                  </a:tcPr>
                </a:tc>
              </a:tr>
              <a:tr h="475488">
                <a:tc>
                  <a:txBody>
                    <a:bodyPr/>
                    <a:lstStyle/>
                    <a:p>
                      <a:pPr algn="l"/>
                      <a:r>
                        <a:rPr sz="1200">
                          <a:solidFill>
                            <a:srgbClr val="0D1B2A"/>
                          </a:solidFill>
                        </a:rPr>
                        <a:t>Average Contract Value</a:t>
                      </a:r>
                    </a:p>
                  </a:txBody>
                  <a:tcPr>
                    <a:solidFill>
                      <a:srgbClr val="FFFFFF"/>
                    </a:solidFill>
                  </a:tcPr>
                </a:tc>
                <a:tc>
                  <a:txBody>
                    <a:bodyPr/>
                    <a:lstStyle/>
                    <a:p>
                      <a:pPr algn="l"/>
                      <a:r>
                        <a:rPr sz="1200">
                          <a:solidFill>
                            <a:srgbClr val="0D1B2A"/>
                          </a:solidFill>
                        </a:rPr>
                        <a:t>$45K ARR</a:t>
                      </a:r>
                    </a:p>
                  </a:txBody>
                  <a:tcPr>
                    <a:solidFill>
                      <a:srgbClr val="FFFFFF"/>
                    </a:solidFill>
                  </a:tcPr>
                </a:tc>
                <a:tc>
                  <a:txBody>
                    <a:bodyPr/>
                    <a:lstStyle/>
                    <a:p>
                      <a:pPr algn="l"/>
                      <a:r>
                        <a:rPr sz="1200">
                          <a:solidFill>
                            <a:srgbClr val="0D1B2A"/>
                          </a:solidFill>
                        </a:rPr>
                        <a:t>$65K ARR</a:t>
                      </a:r>
                    </a:p>
                  </a:txBody>
                  <a:tcPr>
                    <a:solidFill>
                      <a:srgbClr val="FFFFFF"/>
                    </a:solidFill>
                  </a:tcPr>
                </a:tc>
                <a:tc>
                  <a:txBody>
                    <a:bodyPr/>
                    <a:lstStyle/>
                    <a:p>
                      <a:pPr algn="l"/>
                      <a:r>
                        <a:rPr sz="1200">
                          <a:solidFill>
                            <a:srgbClr val="0D1B2A"/>
                          </a:solidFill>
                        </a:rPr>
                        <a:t>$85K ARR</a:t>
                      </a:r>
                    </a:p>
                  </a:txBody>
                  <a:tcPr>
                    <a:solidFill>
                      <a:srgbClr val="FFFFFF"/>
                    </a:solidFill>
                  </a:tcPr>
                </a:tc>
              </a:tr>
              <a:tr h="475488">
                <a:tc>
                  <a:txBody>
                    <a:bodyPr/>
                    <a:lstStyle/>
                    <a:p>
                      <a:pPr algn="l"/>
                      <a:r>
                        <a:rPr sz="1200">
                          <a:solidFill>
                            <a:srgbClr val="0D1B2A"/>
                          </a:solidFill>
                        </a:rPr>
                        <a:t>Annual Recurring Revenue</a:t>
                      </a:r>
                    </a:p>
                  </a:txBody>
                  <a:tcPr>
                    <a:solidFill>
                      <a:srgbClr val="F0F4F8"/>
                    </a:solidFill>
                  </a:tcPr>
                </a:tc>
                <a:tc>
                  <a:txBody>
                    <a:bodyPr/>
                    <a:lstStyle/>
                    <a:p>
                      <a:pPr algn="l"/>
                      <a:r>
                        <a:rPr sz="1200">
                          <a:solidFill>
                            <a:srgbClr val="0D1B2A"/>
                          </a:solidFill>
                        </a:rPr>
                        <a:t>$180K</a:t>
                      </a:r>
                    </a:p>
                  </a:txBody>
                  <a:tcPr>
                    <a:solidFill>
                      <a:srgbClr val="F0F4F8"/>
                    </a:solidFill>
                  </a:tcPr>
                </a:tc>
                <a:tc>
                  <a:txBody>
                    <a:bodyPr/>
                    <a:lstStyle/>
                    <a:p>
                      <a:pPr algn="l"/>
                      <a:r>
                        <a:rPr sz="1200">
                          <a:solidFill>
                            <a:srgbClr val="0D1B2A"/>
                          </a:solidFill>
                        </a:rPr>
                        <a:t>$1.3M</a:t>
                      </a:r>
                    </a:p>
                  </a:txBody>
                  <a:tcPr>
                    <a:solidFill>
                      <a:srgbClr val="F0F4F8"/>
                    </a:solidFill>
                  </a:tcPr>
                </a:tc>
                <a:tc>
                  <a:txBody>
                    <a:bodyPr/>
                    <a:lstStyle/>
                    <a:p>
                      <a:pPr algn="l"/>
                      <a:r>
                        <a:rPr sz="1200">
                          <a:solidFill>
                            <a:srgbClr val="0D1B2A"/>
                          </a:solidFill>
                        </a:rPr>
                        <a:t>$5.5M</a:t>
                      </a:r>
                    </a:p>
                  </a:txBody>
                  <a:tcPr>
                    <a:solidFill>
                      <a:srgbClr val="F0F4F8"/>
                    </a:solidFill>
                  </a:tcPr>
                </a:tc>
              </a:tr>
              <a:tr h="475488">
                <a:tc>
                  <a:txBody>
                    <a:bodyPr/>
                    <a:lstStyle/>
                    <a:p>
                      <a:pPr algn="l"/>
                      <a:r>
                        <a:rPr sz="1200">
                          <a:solidFill>
                            <a:srgbClr val="0D1B2A"/>
                          </a:solidFill>
                        </a:rPr>
                        <a:t>Professional Services</a:t>
                      </a:r>
                    </a:p>
                  </a:txBody>
                  <a:tcPr>
                    <a:solidFill>
                      <a:srgbClr val="FFFFFF"/>
                    </a:solidFill>
                  </a:tcPr>
                </a:tc>
                <a:tc>
                  <a:txBody>
                    <a:bodyPr/>
                    <a:lstStyle/>
                    <a:p>
                      <a:pPr algn="l"/>
                      <a:r>
                        <a:rPr sz="1200">
                          <a:solidFill>
                            <a:srgbClr val="0D1B2A"/>
                          </a:solidFill>
                        </a:rPr>
                        <a:t>$150K</a:t>
                      </a:r>
                    </a:p>
                  </a:txBody>
                  <a:tcPr>
                    <a:solidFill>
                      <a:srgbClr val="FFFFFF"/>
                    </a:solidFill>
                  </a:tcPr>
                </a:tc>
                <a:tc>
                  <a:txBody>
                    <a:bodyPr/>
                    <a:lstStyle/>
                    <a:p>
                      <a:pPr algn="l"/>
                      <a:r>
                        <a:rPr sz="1200">
                          <a:solidFill>
                            <a:srgbClr val="0D1B2A"/>
                          </a:solidFill>
                        </a:rPr>
                        <a:t>$400K</a:t>
                      </a:r>
                    </a:p>
                  </a:txBody>
                  <a:tcPr>
                    <a:solidFill>
                      <a:srgbClr val="FFFFFF"/>
                    </a:solidFill>
                  </a:tcPr>
                </a:tc>
                <a:tc>
                  <a:txBody>
                    <a:bodyPr/>
                    <a:lstStyle/>
                    <a:p>
                      <a:pPr algn="l"/>
                      <a:r>
                        <a:rPr sz="1200">
                          <a:solidFill>
                            <a:srgbClr val="0D1B2A"/>
                          </a:solidFill>
                        </a:rPr>
                        <a:t>$800K</a:t>
                      </a:r>
                    </a:p>
                  </a:txBody>
                  <a:tcPr>
                    <a:solidFill>
                      <a:srgbClr val="FFFFFF"/>
                    </a:solidFill>
                  </a:tcPr>
                </a:tc>
              </a:tr>
              <a:tr h="475488">
                <a:tc>
                  <a:txBody>
                    <a:bodyPr/>
                    <a:lstStyle/>
                    <a:p>
                      <a:pPr algn="l"/>
                      <a:r>
                        <a:rPr sz="1200">
                          <a:solidFill>
                            <a:srgbClr val="0D1B2A"/>
                          </a:solidFill>
                        </a:rPr>
                        <a:t>Total Revenue</a:t>
                      </a:r>
                    </a:p>
                  </a:txBody>
                  <a:tcPr>
                    <a:solidFill>
                      <a:srgbClr val="F0F4F8"/>
                    </a:solidFill>
                  </a:tcPr>
                </a:tc>
                <a:tc>
                  <a:txBody>
                    <a:bodyPr/>
                    <a:lstStyle/>
                    <a:p>
                      <a:pPr algn="l"/>
                      <a:r>
                        <a:rPr sz="1200">
                          <a:solidFill>
                            <a:srgbClr val="0D1B2A"/>
                          </a:solidFill>
                        </a:rPr>
                        <a:t>$330K</a:t>
                      </a:r>
                    </a:p>
                  </a:txBody>
                  <a:tcPr>
                    <a:solidFill>
                      <a:srgbClr val="F0F4F8"/>
                    </a:solidFill>
                  </a:tcPr>
                </a:tc>
                <a:tc>
                  <a:txBody>
                    <a:bodyPr/>
                    <a:lstStyle/>
                    <a:p>
                      <a:pPr algn="l"/>
                      <a:r>
                        <a:rPr sz="1200">
                          <a:solidFill>
                            <a:srgbClr val="0D1B2A"/>
                          </a:solidFill>
                        </a:rPr>
                        <a:t>$1.7M</a:t>
                      </a:r>
                    </a:p>
                  </a:txBody>
                  <a:tcPr>
                    <a:solidFill>
                      <a:srgbClr val="F0F4F8"/>
                    </a:solidFill>
                  </a:tcPr>
                </a:tc>
                <a:tc>
                  <a:txBody>
                    <a:bodyPr/>
                    <a:lstStyle/>
                    <a:p>
                      <a:pPr algn="l"/>
                      <a:r>
                        <a:rPr sz="1200">
                          <a:solidFill>
                            <a:srgbClr val="0D1B2A"/>
                          </a:solidFill>
                        </a:rPr>
                        <a:t>$6.3M</a:t>
                      </a:r>
                    </a:p>
                  </a:txBody>
                  <a:tcPr>
                    <a:solidFill>
                      <a:srgbClr val="F0F4F8"/>
                    </a:solidFill>
                  </a:tcPr>
                </a:tc>
              </a:tr>
              <a:tr h="475488">
                <a:tc>
                  <a:txBody>
                    <a:bodyPr/>
                    <a:lstStyle/>
                    <a:p>
                      <a:pPr algn="l"/>
                      <a:r>
                        <a:rPr sz="1200">
                          <a:solidFill>
                            <a:srgbClr val="0D1B2A"/>
                          </a:solidFill>
                        </a:rPr>
                        <a:t>Gross Margin (blended)</a:t>
                      </a:r>
                    </a:p>
                  </a:txBody>
                  <a:tcPr>
                    <a:solidFill>
                      <a:srgbClr val="FFFFFF"/>
                    </a:solidFill>
                  </a:tcPr>
                </a:tc>
                <a:tc>
                  <a:txBody>
                    <a:bodyPr/>
                    <a:lstStyle/>
                    <a:p>
                      <a:pPr algn="l"/>
                      <a:r>
                        <a:rPr sz="1200">
                          <a:solidFill>
                            <a:srgbClr val="0D1B2A"/>
                          </a:solidFill>
                        </a:rPr>
                        <a:t>55%</a:t>
                      </a:r>
                    </a:p>
                  </a:txBody>
                  <a:tcPr>
                    <a:solidFill>
                      <a:srgbClr val="FFFFFF"/>
                    </a:solidFill>
                  </a:tcPr>
                </a:tc>
                <a:tc>
                  <a:txBody>
                    <a:bodyPr/>
                    <a:lstStyle/>
                    <a:p>
                      <a:pPr algn="l"/>
                      <a:r>
                        <a:rPr sz="1200">
                          <a:solidFill>
                            <a:srgbClr val="0D1B2A"/>
                          </a:solidFill>
                        </a:rPr>
                        <a:t>62%</a:t>
                      </a:r>
                    </a:p>
                  </a:txBody>
                  <a:tcPr>
                    <a:solidFill>
                      <a:srgbClr val="FFFFFF"/>
                    </a:solidFill>
                  </a:tcPr>
                </a:tc>
                <a:tc>
                  <a:txBody>
                    <a:bodyPr/>
                    <a:lstStyle/>
                    <a:p>
                      <a:pPr algn="l"/>
                      <a:r>
                        <a:rPr sz="1200">
                          <a:solidFill>
                            <a:srgbClr val="0D1B2A"/>
                          </a:solidFill>
                        </a:rPr>
                        <a:t>68%</a:t>
                      </a:r>
                    </a:p>
                  </a:txBody>
                  <a:tcPr>
                    <a:solidFill>
                      <a:srgbClr val="FFFFFF"/>
                    </a:solidFill>
                  </a:tcPr>
                </a:tc>
              </a:tr>
              <a:tr h="475488">
                <a:tc>
                  <a:txBody>
                    <a:bodyPr/>
                    <a:lstStyle/>
                    <a:p>
                      <a:pPr algn="l"/>
                      <a:r>
                        <a:rPr sz="1200">
                          <a:solidFill>
                            <a:srgbClr val="0D1B2A"/>
                          </a:solidFill>
                        </a:rPr>
                        <a:t>Headcount</a:t>
                      </a:r>
                    </a:p>
                  </a:txBody>
                  <a:tcPr>
                    <a:solidFill>
                      <a:srgbClr val="F0F4F8"/>
                    </a:solidFill>
                  </a:tcPr>
                </a:tc>
                <a:tc>
                  <a:txBody>
                    <a:bodyPr/>
                    <a:lstStyle/>
                    <a:p>
                      <a:pPr algn="l"/>
                      <a:r>
                        <a:rPr sz="1200">
                          <a:solidFill>
                            <a:srgbClr val="0D1B2A"/>
                          </a:solidFill>
                        </a:rPr>
                        <a:t>4</a:t>
                      </a:r>
                    </a:p>
                  </a:txBody>
                  <a:tcPr>
                    <a:solidFill>
                      <a:srgbClr val="F0F4F8"/>
                    </a:solidFill>
                  </a:tcPr>
                </a:tc>
                <a:tc>
                  <a:txBody>
                    <a:bodyPr/>
                    <a:lstStyle/>
                    <a:p>
                      <a:pPr algn="l"/>
                      <a:r>
                        <a:rPr sz="1200">
                          <a:solidFill>
                            <a:srgbClr val="0D1B2A"/>
                          </a:solidFill>
                        </a:rPr>
                        <a:t>12</a:t>
                      </a:r>
                    </a:p>
                  </a:txBody>
                  <a:tcPr>
                    <a:solidFill>
                      <a:srgbClr val="F0F4F8"/>
                    </a:solidFill>
                  </a:tcPr>
                </a:tc>
                <a:tc>
                  <a:txBody>
                    <a:bodyPr/>
                    <a:lstStyle/>
                    <a:p>
                      <a:pPr algn="l"/>
                      <a:r>
                        <a:rPr sz="1200">
                          <a:solidFill>
                            <a:srgbClr val="0D1B2A"/>
                          </a:solidFill>
                        </a:rPr>
                        <a:t>25</a:t>
                      </a:r>
                    </a:p>
                  </a:txBody>
                  <a:tcPr>
                    <a:solidFill>
                      <a:srgbClr val="F0F4F8"/>
                    </a:solidFill>
                  </a:tcPr>
                </a:tc>
              </a:tr>
            </a:tbl>
          </a:graphicData>
        </a:graphic>
      </p:graphicFrame>
      <p:sp>
        <p:nvSpPr>
          <p:cNvPr id="6" name="TextBox 5"/>
          <p:cNvSpPr txBox="1"/>
          <p:nvPr/>
        </p:nvSpPr>
        <p:spPr>
          <a:xfrm>
            <a:off x="457200" y="5404104"/>
            <a:ext cx="11247120" cy="365760"/>
          </a:xfrm>
          <a:prstGeom prst="rect">
            <a:avLst/>
          </a:prstGeom>
          <a:noFill/>
        </p:spPr>
        <p:txBody>
          <a:bodyPr wrap="square">
            <a:spAutoFit/>
          </a:bodyPr>
          <a:lstStyle/>
          <a:p>
            <a:pPr algn="l"/>
            <a:r>
              <a:rPr sz="1100" b="0" i="1">
                <a:solidFill>
                  <a:srgbClr val="647487"/>
                </a:solidFill>
              </a:rPr>
              <a:t>* All projections are assumption-based. Replace with validated data before any investment decision.</a:t>
            </a:r>
          </a:p>
        </p:txBody>
      </p:sp>
      <p:sp>
        <p:nvSpPr>
          <p:cNvPr id="7" name="Rectangle 6"/>
          <p:cNvSpPr/>
          <p:nvPr/>
        </p:nvSpPr>
        <p:spPr>
          <a:xfrm>
            <a:off x="0" y="6492240"/>
            <a:ext cx="12188952" cy="3657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10528"/>
            <a:ext cx="8229600" cy="274320"/>
          </a:xfrm>
          <a:prstGeom prst="rect">
            <a:avLst/>
          </a:prstGeom>
          <a:noFill/>
        </p:spPr>
        <p:txBody>
          <a:bodyPr wrap="square">
            <a:spAutoFit/>
          </a:bodyPr>
          <a:lstStyle/>
          <a:p>
            <a:pPr algn="l"/>
            <a:r>
              <a:rPr sz="900" b="0" i="0">
                <a:solidFill>
                  <a:srgbClr val="647487"/>
                </a:solidFill>
              </a:rPr>
              <a:t>SAGE[ai] — Confidential | March 2026</a:t>
            </a:r>
          </a:p>
        </p:txBody>
      </p:sp>
      <p:sp>
        <p:nvSpPr>
          <p:cNvPr id="9" name="Rectangle 8"/>
          <p:cNvSpPr/>
          <p:nvPr/>
        </p:nvSpPr>
        <p:spPr>
          <a:xfrm>
            <a:off x="0" y="5989320"/>
            <a:ext cx="12188952" cy="530352"/>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6007608"/>
            <a:ext cx="11612880" cy="493776"/>
          </a:xfrm>
          <a:prstGeom prst="rect">
            <a:avLst/>
          </a:prstGeom>
          <a:noFill/>
        </p:spPr>
        <p:txBody>
          <a:bodyPr wrap="square">
            <a:spAutoFit/>
          </a:bodyPr>
          <a:lstStyle/>
          <a:p>
            <a:pPr algn="l"/>
            <a:r>
              <a:rPr sz="850" b="0" i="1">
                <a:solidFill>
                  <a:srgbClr val="7B4F00"/>
                </a:solidFill>
              </a:rPr>
              <a:t>IMPORTANT: All financial figures, FTE savings, and ROI estimates on this slide are based on internal assumptions and industry benchmarks. They must be validated and replaced with actual measured data before any business decision is made.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31520"/>
          </a:xfrm>
          <a:prstGeom prst="rect">
            <a:avLst/>
          </a:prstGeom>
          <a:noFill/>
        </p:spPr>
        <p:txBody>
          <a:bodyPr wrap="square">
            <a:spAutoFit/>
          </a:bodyPr>
          <a:lstStyle/>
          <a:p>
            <a:pPr algn="l"/>
            <a:r>
              <a:rPr sz="3000" b="1" i="0">
                <a:solidFill>
                  <a:srgbClr val="FFFFFF"/>
                </a:solidFill>
              </a:rPr>
              <a:t>The Ask — Series A: $4.5M</a:t>
            </a:r>
          </a:p>
        </p:txBody>
      </p:sp>
      <p:sp>
        <p:nvSpPr>
          <p:cNvPr id="4" name="TextBox 3"/>
          <p:cNvSpPr txBox="1"/>
          <p:nvPr/>
        </p:nvSpPr>
        <p:spPr>
          <a:xfrm>
            <a:off x="411480" y="804672"/>
            <a:ext cx="11338560" cy="438912"/>
          </a:xfrm>
          <a:prstGeom prst="rect">
            <a:avLst/>
          </a:prstGeom>
          <a:noFill/>
        </p:spPr>
        <p:txBody>
          <a:bodyPr wrap="square">
            <a:spAutoFit/>
          </a:bodyPr>
          <a:lstStyle/>
          <a:p>
            <a:pPr algn="l"/>
            <a:r>
              <a:rPr sz="1600" b="0" i="0">
                <a:solidFill>
                  <a:srgbClr val="00B4D8"/>
                </a:solidFill>
              </a:rPr>
              <a:t>18-month runway to first significant revenue and an enterprise customer base</a:t>
            </a:r>
          </a:p>
        </p:txBody>
      </p:sp>
      <p:sp>
        <p:nvSpPr>
          <p:cNvPr id="5" name="Rectangle 4"/>
          <p:cNvSpPr/>
          <p:nvPr/>
        </p:nvSpPr>
        <p:spPr>
          <a:xfrm>
            <a:off x="365760" y="1600200"/>
            <a:ext cx="5394960" cy="40233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91640"/>
            <a:ext cx="5029200" cy="457200"/>
          </a:xfrm>
          <a:prstGeom prst="rect">
            <a:avLst/>
          </a:prstGeom>
          <a:noFill/>
        </p:spPr>
        <p:txBody>
          <a:bodyPr wrap="square">
            <a:spAutoFit/>
          </a:bodyPr>
          <a:lstStyle/>
          <a:p>
            <a:pPr algn="l"/>
            <a:r>
              <a:rPr sz="1700" b="1" i="0">
                <a:solidFill>
                  <a:srgbClr val="FFFFFF"/>
                </a:solidFill>
              </a:rPr>
              <a:t>Use of Funds</a:t>
            </a:r>
          </a:p>
        </p:txBody>
      </p:sp>
      <p:sp>
        <p:nvSpPr>
          <p:cNvPr id="7" name="TextBox 6"/>
          <p:cNvSpPr txBox="1"/>
          <p:nvPr/>
        </p:nvSpPr>
        <p:spPr>
          <a:xfrm>
            <a:off x="548640" y="2194560"/>
            <a:ext cx="5029200" cy="347472"/>
          </a:xfrm>
          <a:prstGeom prst="rect">
            <a:avLst/>
          </a:prstGeom>
          <a:noFill/>
        </p:spPr>
        <p:txBody>
          <a:bodyPr wrap="square">
            <a:spAutoFit/>
          </a:bodyPr>
          <a:lstStyle/>
          <a:p>
            <a:pPr algn="l"/>
            <a:r>
              <a:rPr sz="1200" b="0" i="1">
                <a:solidFill>
                  <a:srgbClr val="00B4D8"/>
                </a:solidFill>
              </a:rPr>
              <a:t>How the capital is deployed</a:t>
            </a:r>
          </a:p>
        </p:txBody>
      </p:sp>
      <p:sp>
        <p:nvSpPr>
          <p:cNvPr id="8" name="TextBox 7"/>
          <p:cNvSpPr txBox="1"/>
          <p:nvPr/>
        </p:nvSpPr>
        <p:spPr>
          <a:xfrm>
            <a:off x="640080" y="2651760"/>
            <a:ext cx="4846320" cy="347472"/>
          </a:xfrm>
          <a:prstGeom prst="rect">
            <a:avLst/>
          </a:prstGeom>
          <a:noFill/>
        </p:spPr>
        <p:txBody>
          <a:bodyPr wrap="square">
            <a:spAutoFit/>
          </a:bodyPr>
          <a:lstStyle/>
          <a:p>
            <a:pPr algn="l"/>
            <a:r>
              <a:rPr sz="1300" b="0" i="0">
                <a:solidFill>
                  <a:srgbClr val="FFFFFF"/>
                </a:solidFill>
              </a:rPr>
              <a:t>Engineering and Product  —  45%  ($2.0M)</a:t>
            </a:r>
          </a:p>
        </p:txBody>
      </p:sp>
      <p:sp>
        <p:nvSpPr>
          <p:cNvPr id="9" name="TextBox 8"/>
          <p:cNvSpPr txBox="1"/>
          <p:nvPr/>
        </p:nvSpPr>
        <p:spPr>
          <a:xfrm>
            <a:off x="640080" y="3090672"/>
            <a:ext cx="4846320" cy="347472"/>
          </a:xfrm>
          <a:prstGeom prst="rect">
            <a:avLst/>
          </a:prstGeom>
          <a:noFill/>
        </p:spPr>
        <p:txBody>
          <a:bodyPr wrap="square">
            <a:spAutoFit/>
          </a:bodyPr>
          <a:lstStyle/>
          <a:p>
            <a:pPr algn="l"/>
            <a:r>
              <a:rPr sz="1300" b="0" i="0">
                <a:solidFill>
                  <a:srgbClr val="FFFFFF"/>
                </a:solidFill>
              </a:rPr>
              <a:t>Sales and Marketing      —  30%  ($1.35M)</a:t>
            </a:r>
          </a:p>
        </p:txBody>
      </p:sp>
      <p:sp>
        <p:nvSpPr>
          <p:cNvPr id="10" name="TextBox 9"/>
          <p:cNvSpPr txBox="1"/>
          <p:nvPr/>
        </p:nvSpPr>
        <p:spPr>
          <a:xfrm>
            <a:off x="640080" y="3529584"/>
            <a:ext cx="4846320" cy="347472"/>
          </a:xfrm>
          <a:prstGeom prst="rect">
            <a:avLst/>
          </a:prstGeom>
          <a:noFill/>
        </p:spPr>
        <p:txBody>
          <a:bodyPr wrap="square">
            <a:spAutoFit/>
          </a:bodyPr>
          <a:lstStyle/>
          <a:p>
            <a:pPr algn="l"/>
            <a:r>
              <a:rPr sz="1300" b="0" i="0">
                <a:solidFill>
                  <a:srgbClr val="FFFFFF"/>
                </a:solidFill>
              </a:rPr>
              <a:t>Operations and G&amp;A       —  15%  ($0.68M)</a:t>
            </a:r>
          </a:p>
        </p:txBody>
      </p:sp>
      <p:sp>
        <p:nvSpPr>
          <p:cNvPr id="11" name="TextBox 10"/>
          <p:cNvSpPr txBox="1"/>
          <p:nvPr/>
        </p:nvSpPr>
        <p:spPr>
          <a:xfrm>
            <a:off x="640080" y="3968496"/>
            <a:ext cx="4846320" cy="347472"/>
          </a:xfrm>
          <a:prstGeom prst="rect">
            <a:avLst/>
          </a:prstGeom>
          <a:noFill/>
        </p:spPr>
        <p:txBody>
          <a:bodyPr wrap="square">
            <a:spAutoFit/>
          </a:bodyPr>
          <a:lstStyle/>
          <a:p>
            <a:pPr algn="l"/>
            <a:r>
              <a:rPr sz="1300" b="0" i="0">
                <a:solidFill>
                  <a:srgbClr val="FFFFFF"/>
                </a:solidFill>
              </a:rPr>
              <a:t>Reserve and Contingency  —  10%  ($0.45M)</a:t>
            </a:r>
          </a:p>
        </p:txBody>
      </p:sp>
      <p:sp>
        <p:nvSpPr>
          <p:cNvPr id="12" name="Rectangle 11"/>
          <p:cNvSpPr/>
          <p:nvPr/>
        </p:nvSpPr>
        <p:spPr>
          <a:xfrm>
            <a:off x="6309360" y="1600200"/>
            <a:ext cx="5394960" cy="402336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1691640"/>
            <a:ext cx="5029200" cy="457200"/>
          </a:xfrm>
          <a:prstGeom prst="rect">
            <a:avLst/>
          </a:prstGeom>
          <a:noFill/>
        </p:spPr>
        <p:txBody>
          <a:bodyPr wrap="square">
            <a:spAutoFit/>
          </a:bodyPr>
          <a:lstStyle/>
          <a:p>
            <a:pPr algn="l"/>
            <a:r>
              <a:rPr sz="1700" b="1" i="0">
                <a:solidFill>
                  <a:srgbClr val="FFFFFF"/>
                </a:solidFill>
              </a:rPr>
              <a:t>18-Month Milestones</a:t>
            </a:r>
          </a:p>
        </p:txBody>
      </p:sp>
      <p:sp>
        <p:nvSpPr>
          <p:cNvPr id="14" name="TextBox 13"/>
          <p:cNvSpPr txBox="1"/>
          <p:nvPr/>
        </p:nvSpPr>
        <p:spPr>
          <a:xfrm>
            <a:off x="6492240" y="2194560"/>
            <a:ext cx="5029200" cy="347472"/>
          </a:xfrm>
          <a:prstGeom prst="rect">
            <a:avLst/>
          </a:prstGeom>
          <a:noFill/>
        </p:spPr>
        <p:txBody>
          <a:bodyPr wrap="square">
            <a:spAutoFit/>
          </a:bodyPr>
          <a:lstStyle/>
          <a:p>
            <a:pPr algn="l"/>
            <a:r>
              <a:rPr sz="1200" b="0" i="1">
                <a:solidFill>
                  <a:srgbClr val="00B4D8"/>
                </a:solidFill>
              </a:rPr>
              <a:t>What the investment delivers</a:t>
            </a:r>
          </a:p>
        </p:txBody>
      </p:sp>
      <p:sp>
        <p:nvSpPr>
          <p:cNvPr id="15" name="TextBox 14"/>
          <p:cNvSpPr txBox="1"/>
          <p:nvPr/>
        </p:nvSpPr>
        <p:spPr>
          <a:xfrm>
            <a:off x="6583680" y="2651760"/>
            <a:ext cx="4846320" cy="347472"/>
          </a:xfrm>
          <a:prstGeom prst="rect">
            <a:avLst/>
          </a:prstGeom>
          <a:noFill/>
        </p:spPr>
        <p:txBody>
          <a:bodyPr wrap="square">
            <a:spAutoFit/>
          </a:bodyPr>
          <a:lstStyle/>
          <a:p>
            <a:pPr algn="l"/>
            <a:r>
              <a:rPr sz="1300" b="0" i="0">
                <a:solidFill>
                  <a:srgbClr val="FFFFFF"/>
                </a:solidFill>
              </a:rPr>
              <a:t>3 paying enterprise customers by Month 6</a:t>
            </a:r>
          </a:p>
        </p:txBody>
      </p:sp>
      <p:sp>
        <p:nvSpPr>
          <p:cNvPr id="16" name="TextBox 15"/>
          <p:cNvSpPr txBox="1"/>
          <p:nvPr/>
        </p:nvSpPr>
        <p:spPr>
          <a:xfrm>
            <a:off x="6583680" y="3090672"/>
            <a:ext cx="4846320" cy="347472"/>
          </a:xfrm>
          <a:prstGeom prst="rect">
            <a:avLst/>
          </a:prstGeom>
          <a:noFill/>
        </p:spPr>
        <p:txBody>
          <a:bodyPr wrap="square">
            <a:spAutoFit/>
          </a:bodyPr>
          <a:lstStyle/>
          <a:p>
            <a:pPr algn="l"/>
            <a:r>
              <a:rPr sz="1300" b="0" i="0">
                <a:solidFill>
                  <a:srgbClr val="FFFFFF"/>
                </a:solidFill>
              </a:rPr>
              <a:t>$1M ARR by Month 12</a:t>
            </a:r>
          </a:p>
        </p:txBody>
      </p:sp>
      <p:sp>
        <p:nvSpPr>
          <p:cNvPr id="17" name="TextBox 16"/>
          <p:cNvSpPr txBox="1"/>
          <p:nvPr/>
        </p:nvSpPr>
        <p:spPr>
          <a:xfrm>
            <a:off x="6583680" y="3529584"/>
            <a:ext cx="4846320" cy="347472"/>
          </a:xfrm>
          <a:prstGeom prst="rect">
            <a:avLst/>
          </a:prstGeom>
          <a:noFill/>
        </p:spPr>
        <p:txBody>
          <a:bodyPr wrap="square">
            <a:spAutoFit/>
          </a:bodyPr>
          <a:lstStyle/>
          <a:p>
            <a:pPr algn="l"/>
            <a:r>
              <a:rPr sz="1300" b="0" i="0">
                <a:solidFill>
                  <a:srgbClr val="FFFFFF"/>
                </a:solidFill>
              </a:rPr>
              <a:t>Partner channel live by Month 14</a:t>
            </a:r>
          </a:p>
        </p:txBody>
      </p:sp>
      <p:sp>
        <p:nvSpPr>
          <p:cNvPr id="18" name="TextBox 17"/>
          <p:cNvSpPr txBox="1"/>
          <p:nvPr/>
        </p:nvSpPr>
        <p:spPr>
          <a:xfrm>
            <a:off x="6583680" y="3968496"/>
            <a:ext cx="4846320" cy="347472"/>
          </a:xfrm>
          <a:prstGeom prst="rect">
            <a:avLst/>
          </a:prstGeom>
          <a:noFill/>
        </p:spPr>
        <p:txBody>
          <a:bodyPr wrap="square">
            <a:spAutoFit/>
          </a:bodyPr>
          <a:lstStyle/>
          <a:p>
            <a:pPr algn="l"/>
            <a:r>
              <a:rPr sz="1300" b="0" i="0">
                <a:solidFill>
                  <a:srgbClr val="FFFFFF"/>
                </a:solidFill>
              </a:rPr>
              <a:t>$2.5M ARR by Month 18</a:t>
            </a:r>
          </a:p>
        </p:txBody>
      </p:sp>
      <p:sp>
        <p:nvSpPr>
          <p:cNvPr id="19" name="TextBox 18"/>
          <p:cNvSpPr txBox="1"/>
          <p:nvPr/>
        </p:nvSpPr>
        <p:spPr>
          <a:xfrm>
            <a:off x="6583680" y="4407408"/>
            <a:ext cx="4846320" cy="347472"/>
          </a:xfrm>
          <a:prstGeom prst="rect">
            <a:avLst/>
          </a:prstGeom>
          <a:noFill/>
        </p:spPr>
        <p:txBody>
          <a:bodyPr wrap="square">
            <a:spAutoFit/>
          </a:bodyPr>
          <a:lstStyle/>
          <a:p>
            <a:pPr algn="l"/>
            <a:r>
              <a:rPr sz="1300" b="0" i="0">
                <a:solidFill>
                  <a:srgbClr val="FFFFFF"/>
                </a:solidFill>
              </a:rPr>
              <a:t>Series B ready: $10M+ ARR trajectory</a:t>
            </a:r>
          </a:p>
        </p:txBody>
      </p:sp>
      <p:sp>
        <p:nvSpPr>
          <p:cNvPr id="20" name="TextBox 19"/>
          <p:cNvSpPr txBox="1"/>
          <p:nvPr/>
        </p:nvSpPr>
        <p:spPr>
          <a:xfrm>
            <a:off x="457200" y="5833872"/>
            <a:ext cx="11247120" cy="347472"/>
          </a:xfrm>
          <a:prstGeom prst="rect">
            <a:avLst/>
          </a:prstGeom>
          <a:noFill/>
        </p:spPr>
        <p:txBody>
          <a:bodyPr wrap="square">
            <a:spAutoFit/>
          </a:bodyPr>
          <a:lstStyle/>
          <a:p>
            <a:pPr algn="ctr"/>
            <a:r>
              <a:rPr sz="1000" b="0" i="1">
                <a:solidFill>
                  <a:srgbClr val="647487"/>
                </a:solidFill>
              </a:rPr>
              <a:t>All financial projections are assumptions — validate before any investment decision.</a:t>
            </a:r>
          </a:p>
        </p:txBody>
      </p:sp>
      <p:sp>
        <p:nvSpPr>
          <p:cNvPr id="21" name="Rectangle 20"/>
          <p:cNvSpPr/>
          <p:nvPr/>
        </p:nvSpPr>
        <p:spPr>
          <a:xfrm>
            <a:off x="0" y="6492240"/>
            <a:ext cx="12188952" cy="3657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4320" y="6510528"/>
            <a:ext cx="8229600" cy="274320"/>
          </a:xfrm>
          <a:prstGeom prst="rect">
            <a:avLst/>
          </a:prstGeom>
          <a:noFill/>
        </p:spPr>
        <p:txBody>
          <a:bodyPr wrap="square">
            <a:spAutoFit/>
          </a:bodyPr>
          <a:lstStyle/>
          <a:p>
            <a:pPr algn="l"/>
            <a:r>
              <a:rPr sz="900" b="0" i="0">
                <a:solidFill>
                  <a:srgbClr val="647487"/>
                </a:solidFill>
              </a:rPr>
              <a:t>SAGE[ai] — Confidential | March 2026</a:t>
            </a:r>
          </a:p>
        </p:txBody>
      </p:sp>
      <p:sp>
        <p:nvSpPr>
          <p:cNvPr id="23" name="Rectangle 22"/>
          <p:cNvSpPr/>
          <p:nvPr/>
        </p:nvSpPr>
        <p:spPr>
          <a:xfrm>
            <a:off x="0" y="5989320"/>
            <a:ext cx="12188952" cy="530352"/>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4320" y="6007608"/>
            <a:ext cx="11612880" cy="493776"/>
          </a:xfrm>
          <a:prstGeom prst="rect">
            <a:avLst/>
          </a:prstGeom>
          <a:noFill/>
        </p:spPr>
        <p:txBody>
          <a:bodyPr wrap="square">
            <a:spAutoFit/>
          </a:bodyPr>
          <a:lstStyle/>
          <a:p>
            <a:pPr algn="l"/>
            <a:r>
              <a:rPr sz="850" b="0" i="1">
                <a:solidFill>
                  <a:srgbClr val="7B4F00"/>
                </a:solidFill>
              </a:rPr>
              <a:t>IMPORTANT: All financial figures, FTE savings, and ROI estimates on this slide are based on internal assumptions and industry benchmarks. They must be validated and replaced with actual measured data before any business decision is made.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749039"/>
            <a:ext cx="12188952"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6576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822960"/>
            <a:ext cx="10698480" cy="868680"/>
          </a:xfrm>
          <a:prstGeom prst="rect">
            <a:avLst/>
          </a:prstGeom>
          <a:noFill/>
        </p:spPr>
        <p:txBody>
          <a:bodyPr wrap="square">
            <a:spAutoFit/>
          </a:bodyPr>
          <a:lstStyle/>
          <a:p>
            <a:pPr algn="ctr"/>
            <a:r>
              <a:rPr sz="4600" b="1" i="0">
                <a:solidFill>
                  <a:srgbClr val="FFFFFF"/>
                </a:solidFill>
              </a:rPr>
              <a:t>SAGE Framework</a:t>
            </a:r>
          </a:p>
        </p:txBody>
      </p:sp>
      <p:sp>
        <p:nvSpPr>
          <p:cNvPr id="6" name="TextBox 5"/>
          <p:cNvSpPr txBox="1"/>
          <p:nvPr/>
        </p:nvSpPr>
        <p:spPr>
          <a:xfrm>
            <a:off x="731520" y="1783080"/>
            <a:ext cx="10698480" cy="640080"/>
          </a:xfrm>
          <a:prstGeom prst="rect">
            <a:avLst/>
          </a:prstGeom>
          <a:noFill/>
        </p:spPr>
        <p:txBody>
          <a:bodyPr wrap="square">
            <a:spAutoFit/>
          </a:bodyPr>
          <a:lstStyle/>
          <a:p>
            <a:pPr algn="ctr"/>
            <a:r>
              <a:rPr sz="2000" b="0" i="0">
                <a:solidFill>
                  <a:srgbClr val="00B4D8"/>
                </a:solidFill>
              </a:rPr>
              <a:t>The infrastructure layer for AI-augmented engineering in regulated industries.</a:t>
            </a:r>
          </a:p>
        </p:txBody>
      </p:sp>
      <p:sp>
        <p:nvSpPr>
          <p:cNvPr id="7" name="TextBox 6"/>
          <p:cNvSpPr txBox="1"/>
          <p:nvPr/>
        </p:nvSpPr>
        <p:spPr>
          <a:xfrm>
            <a:off x="731520" y="2514600"/>
            <a:ext cx="10698480" cy="914400"/>
          </a:xfrm>
          <a:prstGeom prst="rect">
            <a:avLst/>
          </a:prstGeom>
          <a:noFill/>
        </p:spPr>
        <p:txBody>
          <a:bodyPr wrap="square">
            <a:spAutoFit/>
          </a:bodyPr>
          <a:lstStyle/>
          <a:p>
            <a:pPr algn="ctr"/>
            <a:r>
              <a:rPr sz="1700" b="0" i="1">
                <a:solidFill>
                  <a:srgbClr val="647487"/>
                </a:solidFill>
              </a:rPr>
              <a:t>Lean development at machine speed.
Compliant by design. Human judgment always in the loop.</a:t>
            </a:r>
          </a:p>
        </p:txBody>
      </p:sp>
      <p:sp>
        <p:nvSpPr>
          <p:cNvPr id="8" name="TextBox 7"/>
          <p:cNvSpPr txBox="1"/>
          <p:nvPr/>
        </p:nvSpPr>
        <p:spPr>
          <a:xfrm>
            <a:off x="2286000" y="3977639"/>
            <a:ext cx="7589520" cy="384048"/>
          </a:xfrm>
          <a:prstGeom prst="rect">
            <a:avLst/>
          </a:prstGeom>
          <a:noFill/>
        </p:spPr>
        <p:txBody>
          <a:bodyPr wrap="square">
            <a:spAutoFit/>
          </a:bodyPr>
          <a:lstStyle/>
          <a:p>
            <a:pPr algn="ctr"/>
            <a:r>
              <a:rPr sz="1400" b="0" i="0">
                <a:solidFill>
                  <a:srgbClr val="FFFFFF"/>
                </a:solidFill>
              </a:rPr>
              <a:t>github.com/your-org/sage</a:t>
            </a:r>
          </a:p>
        </p:txBody>
      </p:sp>
      <p:sp>
        <p:nvSpPr>
          <p:cNvPr id="9" name="TextBox 8"/>
          <p:cNvSpPr txBox="1"/>
          <p:nvPr/>
        </p:nvSpPr>
        <p:spPr>
          <a:xfrm>
            <a:off x="2286000" y="4434839"/>
            <a:ext cx="7589520" cy="384048"/>
          </a:xfrm>
          <a:prstGeom prst="rect">
            <a:avLst/>
          </a:prstGeom>
          <a:noFill/>
        </p:spPr>
        <p:txBody>
          <a:bodyPr wrap="square">
            <a:spAutoFit/>
          </a:bodyPr>
          <a:lstStyle/>
          <a:p>
            <a:pPr algn="ctr"/>
            <a:r>
              <a:rPr sz="1400" b="0" i="0">
                <a:solidFill>
                  <a:srgbClr val="FFFFFF"/>
                </a:solidFill>
              </a:rPr>
              <a:t>contact@sage-framework.ai</a:t>
            </a:r>
          </a:p>
        </p:txBody>
      </p:sp>
      <p:sp>
        <p:nvSpPr>
          <p:cNvPr id="10" name="TextBox 9"/>
          <p:cNvSpPr txBox="1"/>
          <p:nvPr/>
        </p:nvSpPr>
        <p:spPr>
          <a:xfrm>
            <a:off x="2286000" y="4892039"/>
            <a:ext cx="7589520" cy="384048"/>
          </a:xfrm>
          <a:prstGeom prst="rect">
            <a:avLst/>
          </a:prstGeom>
          <a:noFill/>
        </p:spPr>
        <p:txBody>
          <a:bodyPr wrap="square">
            <a:spAutoFit/>
          </a:bodyPr>
          <a:lstStyle/>
          <a:p>
            <a:pPr algn="ctr"/>
            <a:r>
              <a:rPr sz="1400" b="0" i="0">
                <a:solidFill>
                  <a:srgbClr val="FFFFFF"/>
                </a:solidFill>
              </a:rPr>
              <a:t>/docs — SETUP.md, API_REFERENCE.md, USER_GUIDE.md</a:t>
            </a:r>
          </a:p>
        </p:txBody>
      </p:sp>
      <p:sp>
        <p:nvSpPr>
          <p:cNvPr id="11" name="TextBox 10"/>
          <p:cNvSpPr txBox="1"/>
          <p:nvPr/>
        </p:nvSpPr>
        <p:spPr>
          <a:xfrm>
            <a:off x="1371600" y="5989320"/>
            <a:ext cx="9418320" cy="411480"/>
          </a:xfrm>
          <a:prstGeom prst="rect">
            <a:avLst/>
          </a:prstGeom>
          <a:noFill/>
        </p:spPr>
        <p:txBody>
          <a:bodyPr wrap="square">
            <a:spAutoFit/>
          </a:bodyPr>
          <a:lstStyle/>
          <a:p>
            <a:pPr algn="ctr"/>
            <a:r>
              <a:rPr sz="1000" b="0" i="1">
                <a:solidFill>
                  <a:srgbClr val="647487"/>
                </a:solidFill>
              </a:rPr>
              <a:t>All financial estimates and projections are assumption-based. Validate with actual data before any investment decision.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