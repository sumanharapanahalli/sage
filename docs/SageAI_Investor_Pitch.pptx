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332720" cy="1097280"/>
          </a:xfrm>
          <a:prstGeom prst="rect">
            <a:avLst/>
          </a:prstGeom>
          <a:noFill/>
        </p:spPr>
        <p:txBody>
          <a:bodyPr wrap="square">
            <a:spAutoFit/>
          </a:bodyPr>
          <a:lstStyle/>
          <a:p>
            <a:pPr algn="ctr"/>
            <a:r>
              <a:rPr sz="5600" b="1" i="0">
                <a:solidFill>
                  <a:srgbClr val="FFFFFF"/>
                </a:solidFill>
              </a:rPr>
              <a:t>SAGE Framework</a:t>
            </a:r>
          </a:p>
        </p:txBody>
      </p:sp>
      <p:sp>
        <p:nvSpPr>
          <p:cNvPr id="6" name="TextBox 5"/>
          <p:cNvSpPr txBox="1"/>
          <p:nvPr/>
        </p:nvSpPr>
        <p:spPr>
          <a:xfrm>
            <a:off x="914400" y="2103120"/>
            <a:ext cx="1033272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418320" cy="594360"/>
          </a:xfrm>
          <a:prstGeom prst="rect">
            <a:avLst/>
          </a:prstGeom>
          <a:noFill/>
        </p:spPr>
        <p:txBody>
          <a:bodyPr wrap="square">
            <a:spAutoFit/>
          </a:bodyPr>
          <a:lstStyle/>
          <a:p>
            <a:pPr algn="ctr"/>
            <a:r>
              <a:rPr sz="1800" b="0" i="1">
                <a:solidFill>
                  <a:srgbClr val="647487"/>
                </a:solidFill>
              </a:rPr>
              <a:t>Autonomous AI Agent Infrastructure for Regulated Industries</a:t>
            </a:r>
          </a:p>
        </p:txBody>
      </p:sp>
      <p:sp>
        <p:nvSpPr>
          <p:cNvPr id="8" name="TextBox 7"/>
          <p:cNvSpPr txBox="1"/>
          <p:nvPr/>
        </p:nvSpPr>
        <p:spPr>
          <a:xfrm>
            <a:off x="914400" y="5394960"/>
            <a:ext cx="10332720" cy="411480"/>
          </a:xfrm>
          <a:prstGeom prst="rect">
            <a:avLst/>
          </a:prstGeom>
          <a:noFill/>
        </p:spPr>
        <p:txBody>
          <a:bodyPr wrap="square">
            <a:spAutoFit/>
          </a:bodyPr>
          <a:lstStyle/>
          <a:p>
            <a:pPr algn="ctr"/>
            <a:r>
              <a:rPr sz="1300" b="0" i="0">
                <a:solidFill>
                  <a:srgbClr val="647487"/>
                </a:solidFill>
              </a:rPr>
              <a:t>Investor Presentation — March 2026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Executive Summary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opportunity and our position — in brief</a:t>
            </a:r>
          </a:p>
        </p:txBody>
      </p:sp>
      <p:sp>
        <p:nvSpPr>
          <p:cNvPr id="5" name="TextBox 4"/>
          <p:cNvSpPr txBox="1"/>
          <p:nvPr/>
        </p:nvSpPr>
        <p:spPr>
          <a:xfrm>
            <a:off x="457200" y="1463040"/>
            <a:ext cx="5394960" cy="411480"/>
          </a:xfrm>
          <a:prstGeom prst="rect">
            <a:avLst/>
          </a:prstGeom>
          <a:noFill/>
        </p:spPr>
        <p:txBody>
          <a:bodyPr wrap="square">
            <a:spAutoFit/>
          </a:bodyPr>
          <a:lstStyle/>
          <a:p>
            <a:pPr algn="l"/>
            <a:r>
              <a:rPr sz="1600" b="1" i="0">
                <a:solidFill>
                  <a:srgbClr val="0078D4"/>
                </a:solidFill>
              </a:rPr>
              <a:t>The Opportunity</a:t>
            </a:r>
          </a:p>
        </p:txBody>
      </p:sp>
      <p:sp>
        <p:nvSpPr>
          <p:cNvPr id="6" name="TextBox 5"/>
          <p:cNvSpPr txBox="1"/>
          <p:nvPr/>
        </p:nvSpPr>
        <p:spPr>
          <a:xfrm>
            <a:off x="548640" y="1920240"/>
            <a:ext cx="5303520" cy="384048"/>
          </a:xfrm>
          <a:prstGeom prst="rect">
            <a:avLst/>
          </a:prstGeom>
          <a:noFill/>
        </p:spPr>
        <p:txBody>
          <a:bodyPr wrap="square">
            <a:spAutoFit/>
          </a:bodyPr>
          <a:lstStyle/>
          <a:p>
            <a:pPr algn="l"/>
            <a:r>
              <a:rPr sz="1300" b="0" i="0">
                <a:solidFill>
                  <a:srgbClr val="0D1B2A"/>
                </a:solidFill>
              </a:rPr>
              <a:t>AI in manufacturing software: $3.8B (2023) to $68.4B (2032), 38% CAGR</a:t>
            </a:r>
          </a:p>
        </p:txBody>
      </p:sp>
      <p:sp>
        <p:nvSpPr>
          <p:cNvPr id="7" name="TextBox 6"/>
          <p:cNvSpPr txBox="1"/>
          <p:nvPr/>
        </p:nvSpPr>
        <p:spPr>
          <a:xfrm>
            <a:off x="548640" y="2377440"/>
            <a:ext cx="5303520" cy="384048"/>
          </a:xfrm>
          <a:prstGeom prst="rect">
            <a:avLst/>
          </a:prstGeom>
          <a:noFill/>
        </p:spPr>
        <p:txBody>
          <a:bodyPr wrap="square">
            <a:spAutoFit/>
          </a:bodyPr>
          <a:lstStyle/>
          <a:p>
            <a:pPr algn="l"/>
            <a:r>
              <a:rPr sz="1300" b="0" i="0">
                <a:solidFill>
                  <a:srgbClr val="0D1B2A"/>
                </a:solidFill>
              </a:rPr>
              <a:t>Regulated industries (medical devices, aerospace, pharma) are under-served</a:t>
            </a:r>
          </a:p>
        </p:txBody>
      </p:sp>
      <p:sp>
        <p:nvSpPr>
          <p:cNvPr id="8" name="TextBox 7"/>
          <p:cNvSpPr txBox="1"/>
          <p:nvPr/>
        </p:nvSpPr>
        <p:spPr>
          <a:xfrm>
            <a:off x="548640" y="2834640"/>
            <a:ext cx="5303520" cy="384048"/>
          </a:xfrm>
          <a:prstGeom prst="rect">
            <a:avLst/>
          </a:prstGeom>
          <a:noFill/>
        </p:spPr>
        <p:txBody>
          <a:bodyPr wrap="square">
            <a:spAutoFit/>
          </a:bodyPr>
          <a:lstStyle/>
          <a:p>
            <a:pPr algn="l"/>
            <a:r>
              <a:rPr sz="1300" b="0" i="0">
                <a:solidFill>
                  <a:srgbClr val="0D1B2A"/>
                </a:solidFill>
              </a:rPr>
              <a:t>Compliance requirements create 60+ hours per week of preventable manual work</a:t>
            </a:r>
          </a:p>
        </p:txBody>
      </p:sp>
      <p:sp>
        <p:nvSpPr>
          <p:cNvPr id="9" name="TextBox 8"/>
          <p:cNvSpPr txBox="1"/>
          <p:nvPr/>
        </p:nvSpPr>
        <p:spPr>
          <a:xfrm>
            <a:off x="6400800" y="1463040"/>
            <a:ext cx="5394960" cy="411480"/>
          </a:xfrm>
          <a:prstGeom prst="rect">
            <a:avLst/>
          </a:prstGeom>
          <a:noFill/>
        </p:spPr>
        <p:txBody>
          <a:bodyPr wrap="square">
            <a:spAutoFit/>
          </a:bodyPr>
          <a:lstStyle/>
          <a:p>
            <a:pPr algn="l"/>
            <a:r>
              <a:rPr sz="1600" b="1" i="0">
                <a:solidFill>
                  <a:srgbClr val="21C55D"/>
                </a:solidFill>
              </a:rPr>
              <a:t>Our Position</a:t>
            </a:r>
          </a:p>
        </p:txBody>
      </p:sp>
      <p:sp>
        <p:nvSpPr>
          <p:cNvPr id="10" name="TextBox 9"/>
          <p:cNvSpPr txBox="1"/>
          <p:nvPr/>
        </p:nvSpPr>
        <p:spPr>
          <a:xfrm>
            <a:off x="6492240" y="1920240"/>
            <a:ext cx="5303520" cy="384048"/>
          </a:xfrm>
          <a:prstGeom prst="rect">
            <a:avLst/>
          </a:prstGeom>
          <a:noFill/>
        </p:spPr>
        <p:txBody>
          <a:bodyPr wrap="square">
            <a:spAutoFit/>
          </a:bodyPr>
          <a:lstStyle/>
          <a:p>
            <a:pPr algn="l"/>
            <a:r>
              <a:rPr sz="1300" b="0" i="0">
                <a:solidFill>
                  <a:srgbClr val="0D1B2A"/>
                </a:solidFill>
              </a:rPr>
              <a:t>Production-ready AI agent framework — human-in-the-loop compliance by design</a:t>
            </a:r>
          </a:p>
        </p:txBody>
      </p:sp>
      <p:sp>
        <p:nvSpPr>
          <p:cNvPr id="11" name="TextBox 10"/>
          <p:cNvSpPr txBox="1"/>
          <p:nvPr/>
        </p:nvSpPr>
        <p:spPr>
          <a:xfrm>
            <a:off x="6492240" y="2377440"/>
            <a:ext cx="5303520" cy="384048"/>
          </a:xfrm>
          <a:prstGeom prst="rect">
            <a:avLst/>
          </a:prstGeom>
          <a:noFill/>
        </p:spPr>
        <p:txBody>
          <a:bodyPr wrap="square">
            <a:spAutoFit/>
          </a:bodyPr>
          <a:lstStyle/>
          <a:p>
            <a:pPr algn="l"/>
            <a:r>
              <a:rPr sz="1300" b="0" i="0">
                <a:solidFill>
                  <a:srgbClr val="0D1B2A"/>
                </a:solidFill>
              </a:rPr>
              <a:t>12 integration phases complete — live in regulated production environments</a:t>
            </a:r>
          </a:p>
        </p:txBody>
      </p:sp>
      <p:sp>
        <p:nvSpPr>
          <p:cNvPr id="12" name="TextBox 11"/>
          <p:cNvSpPr txBox="1"/>
          <p:nvPr/>
        </p:nvSpPr>
        <p:spPr>
          <a:xfrm>
            <a:off x="6492240" y="2834640"/>
            <a:ext cx="5303520" cy="384048"/>
          </a:xfrm>
          <a:prstGeom prst="rect">
            <a:avLst/>
          </a:prstGeom>
          <a:noFill/>
        </p:spPr>
        <p:txBody>
          <a:bodyPr wrap="square">
            <a:spAutoFit/>
          </a:bodyPr>
          <a:lstStyle/>
          <a:p>
            <a:pPr algn="l"/>
            <a:r>
              <a:rPr sz="1300" b="0" i="0">
                <a:solidFill>
                  <a:srgbClr val="0D1B2A"/>
                </a:solidFill>
              </a:rPr>
              <a:t>Seeking Series A to accelerate sales, expand integrations, and grow the team</a:t>
            </a:r>
          </a:p>
        </p:txBody>
      </p:sp>
      <p:sp>
        <p:nvSpPr>
          <p:cNvPr id="13" name="Rectangle 12"/>
          <p:cNvSpPr/>
          <p:nvPr/>
        </p:nvSpPr>
        <p:spPr>
          <a:xfrm>
            <a:off x="6126480" y="1417320"/>
            <a:ext cx="36576"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Cost of Manual Engineering Operations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60+ hours per week of preventable waste in every regulated engineering team</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Current State</a:t>
                      </a:r>
                    </a:p>
                  </a:txBody>
                  <a:tcPr>
                    <a:solidFill>
                      <a:srgbClr val="0078D4"/>
                    </a:solidFill>
                  </a:tcPr>
                </a:tc>
                <a:tc>
                  <a:txBody>
                    <a:bodyPr/>
                    <a:lstStyle/>
                    <a:p>
                      <a:pPr algn="ctr"/>
                      <a:r>
                        <a:rPr b="1" sz="1300">
                          <a:solidFill>
                            <a:srgbClr val="FFFFFF"/>
                          </a:solidFill>
                        </a:rPr>
                        <a:t>Annual Cost (Estimated)*</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per event, 10 events/day, 2 engineers</a:t>
                      </a:r>
                    </a:p>
                  </a:txBody>
                  <a:tcPr>
                    <a:solidFill>
                      <a:srgbClr val="F0F4F8"/>
                    </a:solidFill>
                  </a:tcPr>
                </a:tc>
                <a:tc>
                  <a:txBody>
                    <a:bodyPr/>
                    <a:lstStyle/>
                    <a:p>
                      <a:pPr algn="l"/>
                      <a:r>
                        <a:rPr sz="1200">
                          <a:solidFill>
                            <a:srgbClr val="0D1B2A"/>
                          </a:solidFill>
                        </a:rPr>
                        <a:t>~780 engineer-hours per year</a:t>
                      </a:r>
                    </a:p>
                  </a:txBody>
                  <a:tcPr>
                    <a:solidFill>
                      <a:srgbClr val="F0F4F8"/>
                    </a:solidFill>
                  </a:tcPr>
                </a:tc>
              </a:tr>
              <a:tr h="475488">
                <a:tc>
                  <a:txBody>
                    <a:bodyPr/>
                    <a:lstStyle/>
                    <a:p>
                      <a:pPr algn="l"/>
                      <a:r>
                        <a:rPr sz="1200">
                          <a:solidFill>
                            <a:srgbClr val="0D1B2A"/>
                          </a:solidFill>
                        </a:rPr>
                        <a:t>Code review backlog</a:t>
                      </a:r>
                    </a:p>
                  </a:txBody>
                  <a:tcPr>
                    <a:solidFill>
                      <a:srgbClr val="FFFFFF"/>
                    </a:solidFill>
                  </a:tcPr>
                </a:tc>
                <a:tc>
                  <a:txBody>
                    <a:bodyPr/>
                    <a:lstStyle/>
                    <a:p>
                      <a:pPr algn="l"/>
                      <a:r>
                        <a:rPr sz="1200">
                          <a:solidFill>
                            <a:srgbClr val="0D1B2A"/>
                          </a:solidFill>
                        </a:rPr>
                        <a:t>3 hours per MR, 15 MRs per week</a:t>
                      </a:r>
                    </a:p>
                  </a:txBody>
                  <a:tcPr>
                    <a:solidFill>
                      <a:srgbClr val="FFFFFF"/>
                    </a:solidFill>
                  </a:tcPr>
                </a:tc>
                <a:tc>
                  <a:txBody>
                    <a:bodyPr/>
                    <a:lstStyle/>
                    <a:p>
                      <a:pPr algn="l"/>
                      <a:r>
                        <a:rPr sz="1200">
                          <a:solidFill>
                            <a:srgbClr val="0D1B2A"/>
                          </a:solidFill>
                        </a:rPr>
                        <a:t>~2,340 engineer-hours per year</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hours per week, manual, error-prone</a:t>
                      </a:r>
                    </a:p>
                  </a:txBody>
                  <a:tcPr>
                    <a:solidFill>
                      <a:srgbClr val="F0F4F8"/>
                    </a:solidFill>
                  </a:tcPr>
                </a:tc>
                <a:tc>
                  <a:txBody>
                    <a:bodyPr/>
                    <a:lstStyle/>
                    <a:p>
                      <a:pPr algn="l"/>
                      <a:r>
                        <a:rPr sz="1200">
                          <a:solidFill>
                            <a:srgbClr val="0D1B2A"/>
                          </a:solidFill>
                        </a:rPr>
                        <a:t>~416 engineer-hours per year</a:t>
                      </a:r>
                    </a:p>
                  </a:txBody>
                  <a:tcPr>
                    <a:solidFill>
                      <a:srgbClr val="F0F4F8"/>
                    </a:solidFill>
                  </a:tcPr>
                </a:tc>
              </a:tr>
              <a:tr h="475488">
                <a:tc>
                  <a:txBody>
                    <a:bodyPr/>
                    <a:lstStyle/>
                    <a:p>
                      <a:pPr algn="l"/>
                      <a:r>
                        <a:rPr sz="1200">
                          <a:solidFill>
                            <a:srgbClr val="0D1B2A"/>
                          </a:solidFill>
                        </a:rPr>
                        <a:t>Knowledge attrition</a:t>
                      </a:r>
                    </a:p>
                  </a:txBody>
                  <a:tcPr>
                    <a:solidFill>
                      <a:srgbClr val="FFFFFF"/>
                    </a:solidFill>
                  </a:tcPr>
                </a:tc>
                <a:tc>
                  <a:txBody>
                    <a:bodyPr/>
                    <a:lstStyle/>
                    <a:p>
                      <a:pPr algn="l"/>
                      <a:r>
                        <a:rPr sz="1200">
                          <a:solidFill>
                            <a:srgbClr val="0D1B2A"/>
                          </a:solidFill>
                        </a:rPr>
                        <a:t>Expert context lost permanently on departure</a:t>
                      </a:r>
                    </a:p>
                  </a:txBody>
                  <a:tcPr>
                    <a:solidFill>
                      <a:srgbClr val="FFFFFF"/>
                    </a:solidFill>
                  </a:tcPr>
                </a:tc>
                <a:tc>
                  <a:txBody>
                    <a:bodyPr/>
                    <a:lstStyle/>
                    <a:p>
                      <a:pPr algn="l"/>
                      <a:r>
                        <a:rPr sz="1200">
                          <a:solidFill>
                            <a:srgbClr val="0D1B2A"/>
                          </a:solidFill>
                        </a:rPr>
                        <a:t>Unquantifiable, recurring</a:t>
                      </a:r>
                    </a:p>
                  </a:txBody>
                  <a:tcPr>
                    <a:solidFill>
                      <a:srgbClr val="FFFFFF"/>
                    </a:solidFill>
                  </a:tcPr>
                </a:tc>
              </a:tr>
              <a:tr h="475488">
                <a:tc>
                  <a:txBody>
                    <a:bodyPr/>
                    <a:lstStyle/>
                    <a:p>
                      <a:pPr algn="l"/>
                      <a:r>
                        <a:rPr sz="1200">
                          <a:solidFill>
                            <a:srgbClr val="0D1B2A"/>
                          </a:solidFill>
                        </a:rPr>
                        <a:t>TOTAL IMPACT</a:t>
                      </a:r>
                    </a:p>
                  </a:txBody>
                  <a:tcPr>
                    <a:solidFill>
                      <a:srgbClr val="F0F4F8"/>
                    </a:solidFill>
                  </a:tcPr>
                </a:tc>
                <a:tc>
                  <a:txBody>
                    <a:bodyPr/>
                    <a:lstStyle/>
                    <a:p>
                      <a:pPr algn="l"/>
                      <a:r>
                        <a:rPr sz="1200">
                          <a:solidFill>
                            <a:srgbClr val="0D1B2A"/>
                          </a:solidFill>
                        </a:rPr>
                        <a:t>~68 hrs/week per team of 10 engineers</a:t>
                      </a:r>
                    </a:p>
                  </a:txBody>
                  <a:tcPr>
                    <a:solidFill>
                      <a:srgbClr val="F0F4F8"/>
                    </a:solidFill>
                  </a:tcPr>
                </a:tc>
                <a:tc>
                  <a:txBody>
                    <a:bodyPr/>
                    <a:lstStyle/>
                    <a:p>
                      <a:pPr algn="l"/>
                      <a:r>
                        <a:rPr sz="1200">
                          <a:solidFill>
                            <a:srgbClr val="0D1B2A"/>
                          </a:solidFill>
                        </a:rPr>
                        <a:t>~1.7 FTE equivalent per year*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derived from industry benchmarks. Validate with actual team data.</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 Always-On AI Agent Infrastructure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Agents surface signals, propose actions, wait for human approval, and learn from every correction</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 versus 45-60 minutes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AI-assisted code review with multi-step reasoning and pipeline status</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Microsoft Teams, Metabase, and GitLab in real time</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Human approval gate on every proposal — enforced in code, never bypassed</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Every decision logged to an immutable, ISO 13485-compliant audit trail</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 improves without model retraining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YAML-first architecture: new industry domain configured in under 60 seconds</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Large, Fast-Growing, Underserved Market</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Regulated industry engineering software is a clear white space for agentic AI</a:t>
            </a:r>
          </a:p>
        </p:txBody>
      </p:sp>
      <p:sp>
        <p:nvSpPr>
          <p:cNvPr id="5" name="Rectangle 4"/>
          <p:cNvSpPr/>
          <p:nvPr/>
        </p:nvSpPr>
        <p:spPr>
          <a:xfrm>
            <a:off x="457200" y="1600200"/>
            <a:ext cx="35661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3291840" cy="1005840"/>
          </a:xfrm>
          <a:prstGeom prst="rect">
            <a:avLst/>
          </a:prstGeom>
          <a:noFill/>
        </p:spPr>
        <p:txBody>
          <a:bodyPr wrap="square">
            <a:spAutoFit/>
          </a:bodyPr>
          <a:lstStyle/>
          <a:p>
            <a:pPr algn="ctr"/>
            <a:r>
              <a:rPr sz="4200" b="1" i="0">
                <a:solidFill>
                  <a:srgbClr val="FFFFFF"/>
                </a:solidFill>
              </a:rPr>
              <a:t>$68.4B</a:t>
            </a:r>
          </a:p>
        </p:txBody>
      </p:sp>
      <p:sp>
        <p:nvSpPr>
          <p:cNvPr id="7" name="TextBox 6"/>
          <p:cNvSpPr txBox="1"/>
          <p:nvPr/>
        </p:nvSpPr>
        <p:spPr>
          <a:xfrm>
            <a:off x="594360" y="2834640"/>
            <a:ext cx="3291840" cy="594360"/>
          </a:xfrm>
          <a:prstGeom prst="rect">
            <a:avLst/>
          </a:prstGeom>
          <a:noFill/>
        </p:spPr>
        <p:txBody>
          <a:bodyPr wrap="square">
            <a:spAutoFit/>
          </a:bodyPr>
          <a:lstStyle/>
          <a:p>
            <a:pPr algn="ctr"/>
            <a:r>
              <a:rPr sz="1300" b="1" i="0">
                <a:solidFill>
                  <a:srgbClr val="FFFFFF"/>
                </a:solidFill>
              </a:rPr>
              <a:t>AI in Manufacturing Software by 2032</a:t>
            </a:r>
          </a:p>
        </p:txBody>
      </p:sp>
      <p:sp>
        <p:nvSpPr>
          <p:cNvPr id="8" name="TextBox 7"/>
          <p:cNvSpPr txBox="1"/>
          <p:nvPr/>
        </p:nvSpPr>
        <p:spPr>
          <a:xfrm>
            <a:off x="594360" y="3474720"/>
            <a:ext cx="3291840" cy="502920"/>
          </a:xfrm>
          <a:prstGeom prst="rect">
            <a:avLst/>
          </a:prstGeom>
          <a:noFill/>
        </p:spPr>
        <p:txBody>
          <a:bodyPr wrap="square">
            <a:spAutoFit/>
          </a:bodyPr>
          <a:lstStyle/>
          <a:p>
            <a:pPr algn="ctr"/>
            <a:r>
              <a:rPr sz="1100" b="0" i="1">
                <a:solidFill>
                  <a:srgbClr val="F0F4F8"/>
                </a:solidFill>
              </a:rPr>
              <a:t>38% CAGR from $3.8B in 2023</a:t>
            </a:r>
          </a:p>
        </p:txBody>
      </p:sp>
      <p:sp>
        <p:nvSpPr>
          <p:cNvPr id="9" name="Rectangle 8"/>
          <p:cNvSpPr/>
          <p:nvPr/>
        </p:nvSpPr>
        <p:spPr>
          <a:xfrm>
            <a:off x="4389120" y="1600200"/>
            <a:ext cx="35661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83080"/>
            <a:ext cx="3291840" cy="1005840"/>
          </a:xfrm>
          <a:prstGeom prst="rect">
            <a:avLst/>
          </a:prstGeom>
          <a:noFill/>
        </p:spPr>
        <p:txBody>
          <a:bodyPr wrap="square">
            <a:spAutoFit/>
          </a:bodyPr>
          <a:lstStyle/>
          <a:p>
            <a:pPr algn="ctr"/>
            <a:r>
              <a:rPr sz="4200" b="1" i="0">
                <a:solidFill>
                  <a:srgbClr val="FFFFFF"/>
                </a:solidFill>
              </a:rPr>
              <a:t>120,000+</a:t>
            </a:r>
          </a:p>
        </p:txBody>
      </p:sp>
      <p:sp>
        <p:nvSpPr>
          <p:cNvPr id="11" name="TextBox 10"/>
          <p:cNvSpPr txBox="1"/>
          <p:nvPr/>
        </p:nvSpPr>
        <p:spPr>
          <a:xfrm>
            <a:off x="4526280" y="2834640"/>
            <a:ext cx="3291840" cy="594360"/>
          </a:xfrm>
          <a:prstGeom prst="rect">
            <a:avLst/>
          </a:prstGeom>
          <a:noFill/>
        </p:spPr>
        <p:txBody>
          <a:bodyPr wrap="square">
            <a:spAutoFit/>
          </a:bodyPr>
          <a:lstStyle/>
          <a:p>
            <a:pPr algn="ctr"/>
            <a:r>
              <a:rPr sz="1300" b="1" i="0">
                <a:solidFill>
                  <a:srgbClr val="FFFFFF"/>
                </a:solidFill>
              </a:rPr>
              <a:t>Regulated engineering teams globally</a:t>
            </a:r>
          </a:p>
        </p:txBody>
      </p:sp>
      <p:sp>
        <p:nvSpPr>
          <p:cNvPr id="12" name="TextBox 11"/>
          <p:cNvSpPr txBox="1"/>
          <p:nvPr/>
        </p:nvSpPr>
        <p:spPr>
          <a:xfrm>
            <a:off x="4526280" y="3474720"/>
            <a:ext cx="3291840" cy="502920"/>
          </a:xfrm>
          <a:prstGeom prst="rect">
            <a:avLst/>
          </a:prstGeom>
          <a:noFill/>
        </p:spPr>
        <p:txBody>
          <a:bodyPr wrap="square">
            <a:spAutoFit/>
          </a:bodyPr>
          <a:lstStyle/>
          <a:p>
            <a:pPr algn="ctr"/>
            <a:r>
              <a:rPr sz="1100" b="0" i="1">
                <a:solidFill>
                  <a:srgbClr val="F0F4F8"/>
                </a:solidFill>
              </a:rPr>
              <a:t>Medical devices, pharma, aerospace</a:t>
            </a:r>
          </a:p>
        </p:txBody>
      </p:sp>
      <p:sp>
        <p:nvSpPr>
          <p:cNvPr id="13" name="Rectangle 12"/>
          <p:cNvSpPr/>
          <p:nvPr/>
        </p:nvSpPr>
        <p:spPr>
          <a:xfrm>
            <a:off x="8321040" y="1600200"/>
            <a:ext cx="35661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783080"/>
            <a:ext cx="3291840" cy="1005840"/>
          </a:xfrm>
          <a:prstGeom prst="rect">
            <a:avLst/>
          </a:prstGeom>
          <a:noFill/>
        </p:spPr>
        <p:txBody>
          <a:bodyPr wrap="square">
            <a:spAutoFit/>
          </a:bodyPr>
          <a:lstStyle/>
          <a:p>
            <a:pPr algn="ctr"/>
            <a:r>
              <a:rPr sz="4200" b="1" i="0">
                <a:solidFill>
                  <a:srgbClr val="FFFFFF"/>
                </a:solidFill>
              </a:rPr>
              <a:t>$45B</a:t>
            </a:r>
          </a:p>
        </p:txBody>
      </p:sp>
      <p:sp>
        <p:nvSpPr>
          <p:cNvPr id="15" name="TextBox 14"/>
          <p:cNvSpPr txBox="1"/>
          <p:nvPr/>
        </p:nvSpPr>
        <p:spPr>
          <a:xfrm>
            <a:off x="8458200" y="2834640"/>
            <a:ext cx="3291840" cy="594360"/>
          </a:xfrm>
          <a:prstGeom prst="rect">
            <a:avLst/>
          </a:prstGeom>
          <a:noFill/>
        </p:spPr>
        <p:txBody>
          <a:bodyPr wrap="square">
            <a:spAutoFit/>
          </a:bodyPr>
          <a:lstStyle/>
          <a:p>
            <a:pPr algn="ctr"/>
            <a:r>
              <a:rPr sz="1300" b="1" i="0">
                <a:solidFill>
                  <a:srgbClr val="FFFFFF"/>
                </a:solidFill>
              </a:rPr>
              <a:t>Compliance and quality management software TAM</a:t>
            </a:r>
          </a:p>
        </p:txBody>
      </p:sp>
      <p:sp>
        <p:nvSpPr>
          <p:cNvPr id="16" name="TextBox 15"/>
          <p:cNvSpPr txBox="1"/>
          <p:nvPr/>
        </p:nvSpPr>
        <p:spPr>
          <a:xfrm>
            <a:off x="8458200" y="3474720"/>
            <a:ext cx="3291840" cy="502920"/>
          </a:xfrm>
          <a:prstGeom prst="rect">
            <a:avLst/>
          </a:prstGeom>
          <a:noFill/>
        </p:spPr>
        <p:txBody>
          <a:bodyPr wrap="square">
            <a:spAutoFit/>
          </a:bodyPr>
          <a:lstStyle/>
          <a:p>
            <a:pPr algn="ctr"/>
            <a:r>
              <a:rPr sz="1100" b="0" i="1">
                <a:solidFill>
                  <a:srgbClr val="F0F4F8"/>
                </a:solidFill>
              </a:rPr>
              <a:t>Growing at 12% CAGR</a:t>
            </a:r>
          </a:p>
        </p:txBody>
      </p:sp>
      <p:sp>
        <p:nvSpPr>
          <p:cNvPr id="17" name="TextBox 16"/>
          <p:cNvSpPr txBox="1"/>
          <p:nvPr/>
        </p:nvSpPr>
        <p:spPr>
          <a:xfrm>
            <a:off x="457200" y="5577840"/>
            <a:ext cx="11247120" cy="347472"/>
          </a:xfrm>
          <a:prstGeom prst="rect">
            <a:avLst/>
          </a:prstGeom>
          <a:noFill/>
        </p:spPr>
        <p:txBody>
          <a:bodyPr wrap="square">
            <a:spAutoFit/>
          </a:bodyPr>
          <a:lstStyle/>
          <a:p>
            <a:pPr algn="ctr"/>
            <a:r>
              <a:rPr sz="1100" b="0" i="1">
                <a:solidFill>
                  <a:srgbClr val="647487"/>
                </a:solidFill>
              </a:rPr>
              <a:t>Sources: MarketsandMarkets, Grand View Research, Gartner — 2024 industry reports.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Capabilities — 12 Integration Phases Complete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production-ready</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What It Does</a:t>
                      </a:r>
                    </a:p>
                  </a:txBody>
                  <a:tcPr>
                    <a:solidFill>
                      <a:srgbClr val="0078D4"/>
                    </a:solidFill>
                  </a:tcPr>
                </a:tc>
                <a:tc>
                  <a:txBody>
                    <a:bodyPr/>
                    <a:lstStyle/>
                    <a:p>
                      <a:pPr algn="ctr"/>
                      <a:r>
                        <a:rPr b="1" sz="1300">
                          <a:solidFill>
                            <a:srgbClr val="FFFFFF"/>
                          </a:solidFill>
                        </a:rPr>
                        <a:t>Value Delivered</a:t>
                      </a:r>
                    </a:p>
                  </a:txBody>
                  <a:tcPr>
                    <a:solidFill>
                      <a:srgbClr val="0078D4"/>
                    </a:solidFill>
                  </a:tcPr>
                </a:tc>
              </a:tr>
              <a:tr h="475488">
                <a:tc>
                  <a:txBody>
                    <a:bodyPr/>
                    <a:lstStyle/>
                    <a:p>
                      <a:pPr algn="l"/>
                      <a:r>
                        <a:rPr sz="1200">
                          <a:solidFill>
                            <a:srgbClr val="0D1B2A"/>
                          </a:solidFill>
                        </a:rPr>
                        <a:t>Intelligent Analysis</a:t>
                      </a:r>
                    </a:p>
                  </a:txBody>
                  <a:tcPr>
                    <a:solidFill>
                      <a:srgbClr val="F0F4F8"/>
                    </a:solidFill>
                  </a:tcPr>
                </a:tc>
                <a:tc>
                  <a:txBody>
                    <a:bodyPr/>
                    <a:lstStyle/>
                    <a:p>
                      <a:pPr algn="l"/>
                      <a:r>
                        <a:rPr sz="1200">
                          <a:solidFill>
                            <a:srgbClr val="0D1B2A"/>
                          </a:solidFill>
                        </a:rPr>
                        <a:t>AI triage of error logs, severity scoring, root-cause reasoning</a:t>
                      </a:r>
                    </a:p>
                  </a:txBody>
                  <a:tcPr>
                    <a:solidFill>
                      <a:srgbClr val="F0F4F8"/>
                    </a:solidFill>
                  </a:tcPr>
                </a:tc>
                <a:tc>
                  <a:txBody>
                    <a:bodyPr/>
                    <a:lstStyle/>
                    <a:p>
                      <a:pPr algn="l"/>
                      <a:r>
                        <a:rPr sz="1200">
                          <a:solidFill>
                            <a:srgbClr val="0D1B2A"/>
                          </a:solidFill>
                        </a:rPr>
                        <a:t>45 min reduced to under 60 seconds</a:t>
                      </a:r>
                    </a:p>
                  </a:txBody>
                  <a:tcPr>
                    <a:solidFill>
                      <a:srgbClr val="F0F4F8"/>
                    </a:solidFill>
                  </a:tcPr>
                </a:tc>
              </a:tr>
              <a:tr h="475488">
                <a:tc>
                  <a:txBody>
                    <a:bodyPr/>
                    <a:lstStyle/>
                    <a:p>
                      <a:pPr algn="l"/>
                      <a:r>
                        <a:rPr sz="1200">
                          <a:solidFill>
                            <a:srgbClr val="0D1B2A"/>
                          </a:solidFill>
                        </a:rPr>
                        <a:t>Automated Code Review</a:t>
                      </a:r>
                    </a:p>
                  </a:txBody>
                  <a:tcPr>
                    <a:solidFill>
                      <a:srgbClr val="FFFFFF"/>
                    </a:solidFill>
                  </a:tcPr>
                </a:tc>
                <a:tc>
                  <a:txBody>
                    <a:bodyPr/>
                    <a:lstStyle/>
                    <a:p>
                      <a:pPr algn="l"/>
                      <a:r>
                        <a:rPr sz="1200">
                          <a:solidFill>
                            <a:srgbClr val="0D1B2A"/>
                          </a:solidFill>
                        </a:rPr>
                        <a:t>Multi-step ReAct reasoning loop on merge requests</a:t>
                      </a:r>
                    </a:p>
                  </a:txBody>
                  <a:tcPr>
                    <a:solidFill>
                      <a:srgbClr val="FFFFFF"/>
                    </a:solidFill>
                  </a:tcPr>
                </a:tc>
                <a:tc>
                  <a:txBody>
                    <a:bodyPr/>
                    <a:lstStyle/>
                    <a:p>
                      <a:pPr algn="l"/>
                      <a:r>
                        <a:rPr sz="1200">
                          <a:solidFill>
                            <a:srgbClr val="0D1B2A"/>
                          </a:solidFill>
                        </a:rPr>
                        <a:t>3-hour review reduced to minutes</a:t>
                      </a:r>
                    </a:p>
                  </a:txBody>
                  <a:tcPr>
                    <a:solidFill>
                      <a:srgbClr val="FFFFFF"/>
                    </a:solidFill>
                  </a:tcPr>
                </a:tc>
              </a:tr>
              <a:tr h="475488">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and Temporal — survives server restart</a:t>
                      </a:r>
                    </a:p>
                  </a:txBody>
                  <a:tcPr>
                    <a:solidFill>
                      <a:srgbClr val="F0F4F8"/>
                    </a:solidFill>
                  </a:tcPr>
                </a:tc>
                <a:tc>
                  <a:txBody>
                    <a:bodyPr/>
                    <a:lstStyle/>
                    <a:p>
                      <a:pPr algn="l"/>
                      <a:r>
                        <a:rPr sz="1200">
                          <a:solidFill>
                            <a:srgbClr val="0D1B2A"/>
                          </a:solidFill>
                        </a:rPr>
                        <a:t>Zero lost work in long processes</a:t>
                      </a:r>
                    </a:p>
                  </a:txBody>
                  <a:tcPr>
                    <a:solidFill>
                      <a:srgbClr val="F0F4F8"/>
                    </a:solidFill>
                  </a:tcPr>
                </a:tc>
              </a:tr>
              <a:tr h="475488">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generates full domain config in 60 seconds</a:t>
                      </a:r>
                    </a:p>
                  </a:txBody>
                  <a:tcPr>
                    <a:solidFill>
                      <a:srgbClr val="FFFFFF"/>
                    </a:solidFill>
                  </a:tcPr>
                </a:tc>
                <a:tc>
                  <a:txBody>
                    <a:bodyPr/>
                    <a:lstStyle/>
                    <a:p>
                      <a:pPr algn="l"/>
                      <a:r>
                        <a:rPr sz="1200">
                          <a:solidFill>
                            <a:srgbClr val="0D1B2A"/>
                          </a:solidFill>
                        </a:rPr>
                        <a:t>New vertical in under 1 hour</a:t>
                      </a:r>
                    </a:p>
                  </a:txBody>
                  <a:tcPr>
                    <a:solidFill>
                      <a:srgbClr val="FFFFFF"/>
                    </a:solidFill>
                  </a:tcPr>
                </a:tc>
              </a:tr>
              <a:tr h="475488">
                <a:tc>
                  <a:txBody>
                    <a:bodyPr/>
                    <a:lstStyle/>
                    <a:p>
                      <a:pPr algn="l"/>
                      <a:r>
                        <a:rPr sz="1200">
                          <a:solidFill>
                            <a:srgbClr val="0D1B2A"/>
                          </a:solidFill>
                        </a:rPr>
                        <a:t>Evaluation Framework</a:t>
                      </a:r>
                    </a:p>
                  </a:txBody>
                  <a:tcPr>
                    <a:solidFill>
                      <a:srgbClr val="F0F4F8"/>
                    </a:solidFill>
                  </a:tcPr>
                </a:tc>
                <a:tc>
                  <a:txBody>
                    <a:bodyPr/>
                    <a:lstStyle/>
                    <a:p>
                      <a:pPr algn="l"/>
                      <a:r>
                        <a:rPr sz="1200">
                          <a:solidFill>
                            <a:srgbClr val="0D1B2A"/>
                          </a:solidFill>
                        </a:rPr>
                        <a:t>YAML test suites with 0-100 scoring and regression tracking</a:t>
                      </a:r>
                    </a:p>
                  </a:txBody>
                  <a:tcPr>
                    <a:solidFill>
                      <a:srgbClr val="F0F4F8"/>
                    </a:solidFill>
                  </a:tcPr>
                </a:tc>
                <a:tc>
                  <a:txBody>
                    <a:bodyPr/>
                    <a:lstStyle/>
                    <a:p>
                      <a:pPr algn="l"/>
                      <a:r>
                        <a:rPr sz="1200">
                          <a:solidFill>
                            <a:srgbClr val="0D1B2A"/>
                          </a:solidFill>
                        </a:rPr>
                        <a:t>Measurable agent quality over time</a:t>
                      </a:r>
                    </a:p>
                  </a:txBody>
                  <a:tcPr>
                    <a:solidFill>
                      <a:srgbClr val="F0F4F8"/>
                    </a:solidFill>
                  </a:tcPr>
                </a:tc>
              </a:tr>
              <a:tr h="475488">
                <a:tc>
                  <a:txBody>
                    <a:bodyPr/>
                    <a:lstStyle/>
                    <a:p>
                      <a:pPr algn="l"/>
                      <a:r>
                        <a:rPr sz="1200">
                          <a:solidFill>
                            <a:srgbClr val="0D1B2A"/>
                          </a:solidFill>
                        </a:rPr>
                        <a:t>Multi-Tenant Isolation</a:t>
                      </a:r>
                    </a:p>
                  </a:txBody>
                  <a:tcPr>
                    <a:solidFill>
                      <a:srgbClr val="FFFFFF"/>
                    </a:solidFill>
                  </a:tcPr>
                </a:tc>
                <a:tc>
                  <a:txBody>
                    <a:bodyPr/>
                    <a:lstStyle/>
                    <a:p>
                      <a:pPr algn="l"/>
                      <a:r>
                        <a:rPr sz="1200">
                          <a:solidFill>
                            <a:srgbClr val="0D1B2A"/>
                          </a:solidFill>
                        </a:rPr>
                        <a:t>Per-team knowledge namespacing via request header</a:t>
                      </a:r>
                    </a:p>
                  </a:txBody>
                  <a:tcPr>
                    <a:solidFill>
                      <a:srgbClr val="FFFFFF"/>
                    </a:solidFill>
                  </a:tcPr>
                </a:tc>
                <a:tc>
                  <a:txBody>
                    <a:bodyPr/>
                    <a:lstStyle/>
                    <a:p>
                      <a:pPr algn="l"/>
                      <a:r>
                        <a:rPr sz="1200">
                          <a:solidFill>
                            <a:srgbClr val="0D1B2A"/>
                          </a:solidFill>
                        </a:rPr>
                        <a:t>Enterprise-ready, single deployment</a:t>
                      </a:r>
                    </a:p>
                  </a:txBody>
                  <a:tcPr>
                    <a:solidFill>
                      <a:srgbClr val="FFFFFF"/>
                    </a:solidFill>
                  </a:tcPr>
                </a:tc>
              </a:tr>
              <a:tr h="475488">
                <a:tc>
                  <a:txBody>
                    <a:bodyPr/>
                    <a:lstStyle/>
                    <a:p>
                      <a:pPr algn="l"/>
                      <a:r>
                        <a:rPr sz="1200">
                          <a:solidFill>
                            <a:srgbClr val="0D1B2A"/>
                          </a:solidFill>
                        </a:rPr>
                        <a:t>Slack Approvals</a:t>
                      </a:r>
                    </a:p>
                  </a:txBody>
                  <a:tcPr>
                    <a:solidFill>
                      <a:srgbClr val="F0F4F8"/>
                    </a:solidFill>
                  </a:tcPr>
                </a:tc>
                <a:tc>
                  <a:txBody>
                    <a:bodyPr/>
                    <a:lstStyle/>
                    <a:p>
                      <a:pPr algn="l"/>
                      <a:r>
                        <a:rPr sz="1200">
                          <a:solidFill>
                            <a:srgbClr val="0D1B2A"/>
                          </a:solidFill>
                        </a:rPr>
                        <a:t>Block Kit proposals with approve/reject and HMAC-verified callbacks</a:t>
                      </a:r>
                    </a:p>
                  </a:txBody>
                  <a:tcPr>
                    <a:solidFill>
                      <a:srgbClr val="F0F4F8"/>
                    </a:solidFill>
                  </a:tcPr>
                </a:tc>
                <a:tc>
                  <a:txBody>
                    <a:bodyPr/>
                    <a:lstStyle/>
                    <a:p>
                      <a:pPr algn="l"/>
                      <a:r>
                        <a:rPr sz="1200">
                          <a:solidFill>
                            <a:srgbClr val="0D1B2A"/>
                          </a:solidFill>
                        </a:rPr>
                        <a:t>Approvals from existing team tools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Five Defensible Technology Moats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Architecture decisions that compound advantage over time</a:t>
            </a:r>
          </a:p>
        </p:txBody>
      </p:sp>
      <p:sp>
        <p:nvSpPr>
          <p:cNvPr id="5" name="Rectangle 4"/>
          <p:cNvSpPr/>
          <p:nvPr/>
        </p:nvSpPr>
        <p:spPr>
          <a:xfrm>
            <a:off x="365760" y="14630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08760"/>
            <a:ext cx="10789920" cy="347472"/>
          </a:xfrm>
          <a:prstGeom prst="rect">
            <a:avLst/>
          </a:prstGeom>
          <a:noFill/>
        </p:spPr>
        <p:txBody>
          <a:bodyPr wrap="square">
            <a:spAutoFit/>
          </a:bodyPr>
          <a:lstStyle/>
          <a:p>
            <a:pPr algn="l"/>
            <a:r>
              <a:rPr sz="1400" b="1" i="0">
                <a:solidFill>
                  <a:srgbClr val="0078D4"/>
                </a:solidFill>
              </a:rPr>
              <a:t>Compliance by Design</a:t>
            </a:r>
          </a:p>
        </p:txBody>
      </p:sp>
      <p:sp>
        <p:nvSpPr>
          <p:cNvPr id="7" name="TextBox 6"/>
          <p:cNvSpPr txBox="1"/>
          <p:nvPr/>
        </p:nvSpPr>
        <p:spPr>
          <a:xfrm>
            <a:off x="594360" y="1847088"/>
            <a:ext cx="10789920" cy="347472"/>
          </a:xfrm>
          <a:prstGeom prst="rect">
            <a:avLst/>
          </a:prstGeom>
          <a:noFill/>
        </p:spPr>
        <p:txBody>
          <a:bodyPr wrap="square">
            <a:spAutoFit/>
          </a:bodyPr>
          <a:lstStyle/>
          <a:p>
            <a:pPr algn="l"/>
            <a:r>
              <a:rPr sz="1200" b="0" i="0">
                <a:solidFill>
                  <a:srgbClr val="0D1B2A"/>
                </a:solidFill>
              </a:rPr>
              <a:t>Human approval gate is enforced in code — never optional. Audit trail is append-only. Built for FDA 21 CFR Part 11 and ISO 13485 from day one, not retrofitted.</a:t>
            </a:r>
          </a:p>
        </p:txBody>
      </p:sp>
      <p:sp>
        <p:nvSpPr>
          <p:cNvPr id="8" name="Rectangle 7"/>
          <p:cNvSpPr/>
          <p:nvPr/>
        </p:nvSpPr>
        <p:spPr>
          <a:xfrm>
            <a:off x="365760" y="23774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423160"/>
            <a:ext cx="10789920" cy="347472"/>
          </a:xfrm>
          <a:prstGeom prst="rect">
            <a:avLst/>
          </a:prstGeom>
          <a:noFill/>
        </p:spPr>
        <p:txBody>
          <a:bodyPr wrap="square">
            <a:spAutoFit/>
          </a:bodyPr>
          <a:lstStyle/>
          <a:p>
            <a:pPr algn="l"/>
            <a:r>
              <a:rPr sz="1400" b="1" i="0">
                <a:solidFill>
                  <a:srgbClr val="0078D4"/>
                </a:solidFill>
              </a:rPr>
              <a:t>Compounding Intelligence</a:t>
            </a:r>
          </a:p>
        </p:txBody>
      </p:sp>
      <p:sp>
        <p:nvSpPr>
          <p:cNvPr id="10" name="TextBox 9"/>
          <p:cNvSpPr txBox="1"/>
          <p:nvPr/>
        </p:nvSpPr>
        <p:spPr>
          <a:xfrm>
            <a:off x="594360" y="2761488"/>
            <a:ext cx="10789920" cy="347472"/>
          </a:xfrm>
          <a:prstGeom prst="rect">
            <a:avLst/>
          </a:prstGeom>
          <a:noFill/>
        </p:spPr>
        <p:txBody>
          <a:bodyPr wrap="square">
            <a:spAutoFit/>
          </a:bodyPr>
          <a:lstStyle/>
          <a:p>
            <a:pPr algn="l"/>
            <a:r>
              <a:rPr sz="1200" b="0" i="0">
                <a:solidFill>
                  <a:srgbClr val="0D1B2A"/>
                </a:solidFill>
              </a:rPr>
              <a:t>Every human correction is stored in the vector database. Future agent quality improves without model retraining. Behavioral improvement decouples from LLM cost.</a:t>
            </a:r>
          </a:p>
        </p:txBody>
      </p:sp>
      <p:sp>
        <p:nvSpPr>
          <p:cNvPr id="11" name="Rectangle 10"/>
          <p:cNvSpPr/>
          <p:nvPr/>
        </p:nvSpPr>
        <p:spPr>
          <a:xfrm>
            <a:off x="365760" y="32918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337560"/>
            <a:ext cx="10789920" cy="347472"/>
          </a:xfrm>
          <a:prstGeom prst="rect">
            <a:avLst/>
          </a:prstGeom>
          <a:noFill/>
        </p:spPr>
        <p:txBody>
          <a:bodyPr wrap="square">
            <a:spAutoFit/>
          </a:bodyPr>
          <a:lstStyle/>
          <a:p>
            <a:pPr algn="l"/>
            <a:r>
              <a:rPr sz="1400" b="1" i="0">
                <a:solidFill>
                  <a:srgbClr val="0078D4"/>
                </a:solidFill>
              </a:rPr>
              <a:t>YAML-First Architecture</a:t>
            </a:r>
          </a:p>
        </p:txBody>
      </p:sp>
      <p:sp>
        <p:nvSpPr>
          <p:cNvPr id="13" name="TextBox 12"/>
          <p:cNvSpPr txBox="1"/>
          <p:nvPr/>
        </p:nvSpPr>
        <p:spPr>
          <a:xfrm>
            <a:off x="594360" y="3675888"/>
            <a:ext cx="10789920" cy="347472"/>
          </a:xfrm>
          <a:prstGeom prst="rect">
            <a:avLst/>
          </a:prstGeom>
          <a:noFill/>
        </p:spPr>
        <p:txBody>
          <a:bodyPr wrap="square">
            <a:spAutoFit/>
          </a:bodyPr>
          <a:lstStyle/>
          <a:p>
            <a:pPr algn="l"/>
            <a:r>
              <a:rPr sz="1200" b="0" i="0">
                <a:solidFill>
                  <a:srgbClr val="0D1B2A"/>
                </a:solidFill>
              </a:rPr>
              <a:t>New domain equals 3 YAML files and zero code changes. The framework is domain-blind. Vertical expansion requires no additional engineering time.</a:t>
            </a:r>
          </a:p>
        </p:txBody>
      </p:sp>
      <p:sp>
        <p:nvSpPr>
          <p:cNvPr id="14" name="Rectangle 13"/>
          <p:cNvSpPr/>
          <p:nvPr/>
        </p:nvSpPr>
        <p:spPr>
          <a:xfrm>
            <a:off x="365760" y="42062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51960"/>
            <a:ext cx="10789920" cy="347472"/>
          </a:xfrm>
          <a:prstGeom prst="rect">
            <a:avLst/>
          </a:prstGeom>
          <a:noFill/>
        </p:spPr>
        <p:txBody>
          <a:bodyPr wrap="square">
            <a:spAutoFit/>
          </a:bodyPr>
          <a:lstStyle/>
          <a:p>
            <a:pPr algn="l"/>
            <a:r>
              <a:rPr sz="1400" b="1" i="0">
                <a:solidFill>
                  <a:srgbClr val="0078D4"/>
                </a:solidFill>
              </a:rPr>
              <a:t>No API Key Lock-In</a:t>
            </a:r>
          </a:p>
        </p:txBody>
      </p:sp>
      <p:sp>
        <p:nvSpPr>
          <p:cNvPr id="16" name="TextBox 15"/>
          <p:cNvSpPr txBox="1"/>
          <p:nvPr/>
        </p:nvSpPr>
        <p:spPr>
          <a:xfrm>
            <a:off x="594360" y="4590288"/>
            <a:ext cx="10789920" cy="347472"/>
          </a:xfrm>
          <a:prstGeom prst="rect">
            <a:avLst/>
          </a:prstGeom>
          <a:noFill/>
        </p:spPr>
        <p:txBody>
          <a:bodyPr wrap="square">
            <a:spAutoFit/>
          </a:bodyPr>
          <a:lstStyle/>
          <a:p>
            <a:pPr algn="l"/>
            <a:r>
              <a:rPr sz="1200" b="0" i="0">
                <a:solidFill>
                  <a:srgbClr val="0D1B2A"/>
                </a:solidFill>
              </a:rPr>
              <a:t>Five LLM providers work without API keys — Gemini CLI, Claude Code, Ollama, local models, and any CLI tool. Customers own their inference and data.</a:t>
            </a:r>
          </a:p>
        </p:txBody>
      </p:sp>
      <p:sp>
        <p:nvSpPr>
          <p:cNvPr id="17" name="Rectangle 16"/>
          <p:cNvSpPr/>
          <p:nvPr/>
        </p:nvSpPr>
        <p:spPr>
          <a:xfrm>
            <a:off x="365760" y="51206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166360"/>
            <a:ext cx="10789920" cy="347472"/>
          </a:xfrm>
          <a:prstGeom prst="rect">
            <a:avLst/>
          </a:prstGeom>
          <a:noFill/>
        </p:spPr>
        <p:txBody>
          <a:bodyPr wrap="square">
            <a:spAutoFit/>
          </a:bodyPr>
          <a:lstStyle/>
          <a:p>
            <a:pPr algn="l"/>
            <a:r>
              <a:rPr sz="1400" b="1" i="0">
                <a:solidFill>
                  <a:srgbClr val="0078D4"/>
                </a:solidFill>
              </a:rPr>
              <a:t>Provider Agnostic</a:t>
            </a:r>
          </a:p>
        </p:txBody>
      </p:sp>
      <p:sp>
        <p:nvSpPr>
          <p:cNvPr id="19" name="TextBox 18"/>
          <p:cNvSpPr txBox="1"/>
          <p:nvPr/>
        </p:nvSpPr>
        <p:spPr>
          <a:xfrm>
            <a:off x="594360" y="5504688"/>
            <a:ext cx="10789920" cy="347472"/>
          </a:xfrm>
          <a:prstGeom prst="rect">
            <a:avLst/>
          </a:prstGeom>
          <a:noFill/>
        </p:spPr>
        <p:txBody>
          <a:bodyPr wrap="square">
            <a:spAutoFit/>
          </a:bodyPr>
          <a:lstStyle/>
          <a:p>
            <a:pPr algn="l"/>
            <a:r>
              <a:rPr sz="1200" b="0" i="0">
                <a:solidFill>
                  <a:srgbClr val="0D1B2A"/>
                </a:solidFill>
              </a:rPr>
              <a:t>A single config change swaps LLM providers — OpenAI to Ollama to Anthropic. No vendor lock-in at the infrastructure level.</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8" name="TextBox 17"/>
          <p:cNvSpPr txBox="1"/>
          <p:nvPr/>
        </p:nvSpPr>
        <p:spPr>
          <a:xfrm>
            <a:off x="594360" y="6080760"/>
            <a:ext cx="10789920" cy="347472"/>
          </a:xfrm>
          <a:prstGeom prst="rect">
            <a:avLst/>
          </a:prstGeom>
          <a:noFill/>
        </p:spPr>
        <p:txBody>
          <a:bodyPr wrap="square">
            <a:spAutoFit/>
          </a:bodyPr>
          <a:lstStyle/>
          <a:p>
            <a:pPr algn="l"/>
            <a:r>
              <a:rPr sz="1400" b="1" i="0">
                <a:solidFill>
                  <a:srgbClr val="0078D4"/>
                </a:solidFill>
              </a:rPr>
              <a:t>Integration Network Effect</a:t>
            </a:r>
          </a:p>
        </p:txBody>
      </p:sp>
      <p:sp>
        <p:nvSpPr>
          <p:cNvPr id="19" name="TextBox 18"/>
          <p:cNvSpPr txBox="1"/>
          <p:nvPr/>
        </p:nvSpPr>
        <p:spPr>
          <a:xfrm>
            <a:off x="594360" y="6419088"/>
            <a:ext cx="10789920" cy="347472"/>
          </a:xfrm>
          <a:prstGeom prst="rect">
            <a:avLst/>
          </a:prstGeom>
          <a:noFill/>
        </p:spPr>
        <p:txBody>
          <a:bodyPr wrap="square">
            <a:spAutoFit/>
          </a:bodyPr>
          <a:lstStyle/>
          <a:p>
            <a:pPr algn="l"/>
            <a:r>
              <a:rPr sz="1200" b="0" i="0">
                <a:solidFill>
                  <a:srgbClr val="0D1B2A"/>
                </a:solidFill>
              </a:rPr>
              <a:t>100+ pre-built tool integrations via Composio. Each new connector increases platform value for all customers. Solution marketplace (APM vision) creates community flywheel — share YAML configs across industries.</a:t>
            </a:r>
          </a:p>
        </p:txBody>
      </p:sp>
      <p:sp>
        <p:nvSpPr>
          <p:cNvPr id="18" name="TextBox 17"/>
          <p:cNvSpPr txBox="1"/>
          <p:nvPr/>
        </p:nvSpPr>
        <p:spPr>
          <a:xfrm>
            <a:off x="594360" y="6080760"/>
            <a:ext cx="10789920" cy="347472"/>
          </a:xfrm>
          <a:prstGeom prst="rect">
            <a:avLst/>
          </a:prstGeom>
          <a:noFill/>
        </p:spPr>
        <p:txBody>
          <a:bodyPr wrap="square">
            <a:spAutoFit/>
          </a:bodyPr>
          <a:lstStyle/>
          <a:p>
            <a:pPr algn="l"/>
            <a:r>
              <a:rPr sz="1400" b="1" i="0">
                <a:solidFill>
                  <a:srgbClr val="0078D4"/>
                </a:solidFill>
              </a:rPr>
              <a:t>Integration Network Effect</a:t>
            </a:r>
          </a:p>
        </p:txBody>
      </p:sp>
      <p:sp>
        <p:nvSpPr>
          <p:cNvPr id="19" name="TextBox 18"/>
          <p:cNvSpPr txBox="1"/>
          <p:nvPr/>
        </p:nvSpPr>
        <p:spPr>
          <a:xfrm>
            <a:off x="594360" y="6419088"/>
            <a:ext cx="10789920" cy="347472"/>
          </a:xfrm>
          <a:prstGeom prst="rect">
            <a:avLst/>
          </a:prstGeom>
          <a:noFill/>
        </p:spPr>
        <p:txBody>
          <a:bodyPr wrap="square">
            <a:spAutoFit/>
          </a:bodyPr>
          <a:lstStyle/>
          <a:p>
            <a:pPr algn="l"/>
            <a:r>
              <a:rPr sz="1200" b="0" i="0">
                <a:solidFill>
                  <a:srgbClr val="0D1B2A"/>
                </a:solidFill>
              </a:rPr>
              <a:t>100+ pre-built tool integrations via Composio. Each new connector increases platform value for all customers. Solution marketplace (APM vision) creates community flywheel — share YAML configs across industries.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Business Model — SaaS Infrastructure and Professional Services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Recurring revenue with high retention — switching cost grows as vector memory accumulates</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600" b="1" i="0">
                <a:solidFill>
                  <a:srgbClr val="FFFFFF"/>
                </a:solidFill>
              </a:rPr>
              <a:t>Software — Annual Recurring Revenue</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Platform revenue streams</a:t>
            </a:r>
          </a:p>
        </p:txBody>
      </p:sp>
      <p:sp>
        <p:nvSpPr>
          <p:cNvPr id="8" name="TextBox 7"/>
          <p:cNvSpPr txBox="1"/>
          <p:nvPr/>
        </p:nvSpPr>
        <p:spPr>
          <a:xfrm>
            <a:off x="640080" y="2606040"/>
            <a:ext cx="4846320" cy="347472"/>
          </a:xfrm>
          <a:prstGeom prst="rect">
            <a:avLst/>
          </a:prstGeom>
          <a:noFill/>
        </p:spPr>
        <p:txBody>
          <a:bodyPr wrap="square">
            <a:spAutoFit/>
          </a:bodyPr>
          <a:lstStyle/>
          <a:p>
            <a:pPr algn="l"/>
            <a:r>
              <a:rPr sz="1200" b="0" i="0">
                <a:solidFill>
                  <a:srgbClr val="FFFFFF"/>
                </a:solidFill>
              </a:rPr>
              <a:t>Platform license per deployment (on-premise or cloud)</a:t>
            </a:r>
          </a:p>
        </p:txBody>
      </p:sp>
      <p:sp>
        <p:nvSpPr>
          <p:cNvPr id="9" name="TextBox 8"/>
          <p:cNvSpPr txBox="1"/>
          <p:nvPr/>
        </p:nvSpPr>
        <p:spPr>
          <a:xfrm>
            <a:off x="640080" y="3026664"/>
            <a:ext cx="4846320" cy="347472"/>
          </a:xfrm>
          <a:prstGeom prst="rect">
            <a:avLst/>
          </a:prstGeom>
          <a:noFill/>
        </p:spPr>
        <p:txBody>
          <a:bodyPr wrap="square">
            <a:spAutoFit/>
          </a:bodyPr>
          <a:lstStyle/>
          <a:p>
            <a:pPr algn="l"/>
            <a:r>
              <a:rPr sz="1200" b="0" i="0">
                <a:solidFill>
                  <a:srgbClr val="FFFFFF"/>
                </a:solidFill>
              </a:rPr>
              <a:t>Tiered by number of active solutions and agents</a:t>
            </a:r>
          </a:p>
        </p:txBody>
      </p:sp>
      <p:sp>
        <p:nvSpPr>
          <p:cNvPr id="10" name="TextBox 9"/>
          <p:cNvSpPr txBox="1"/>
          <p:nvPr/>
        </p:nvSpPr>
        <p:spPr>
          <a:xfrm>
            <a:off x="640080" y="3447288"/>
            <a:ext cx="4846320" cy="347472"/>
          </a:xfrm>
          <a:prstGeom prst="rect">
            <a:avLst/>
          </a:prstGeom>
          <a:noFill/>
        </p:spPr>
        <p:txBody>
          <a:bodyPr wrap="square">
            <a:spAutoFit/>
          </a:bodyPr>
          <a:lstStyle/>
          <a:p>
            <a:pPr algn="l"/>
            <a:r>
              <a:rPr sz="1200" b="0" i="0">
                <a:solidFill>
                  <a:srgbClr val="FFFFFF"/>
                </a:solidFill>
              </a:rPr>
              <a:t>Multi-tenant enterprise pricing for large organisations</a:t>
            </a:r>
          </a:p>
        </p:txBody>
      </p:sp>
      <p:sp>
        <p:nvSpPr>
          <p:cNvPr id="11" name="TextBox 10"/>
          <p:cNvSpPr txBox="1"/>
          <p:nvPr/>
        </p:nvSpPr>
        <p:spPr>
          <a:xfrm>
            <a:off x="640080" y="3867912"/>
            <a:ext cx="4846320" cy="347472"/>
          </a:xfrm>
          <a:prstGeom prst="rect">
            <a:avLst/>
          </a:prstGeom>
          <a:noFill/>
        </p:spPr>
        <p:txBody>
          <a:bodyPr wrap="square">
            <a:spAutoFit/>
          </a:bodyPr>
          <a:lstStyle/>
          <a:p>
            <a:pPr algn="l"/>
            <a:r>
              <a:rPr sz="1200" b="0" i="0">
                <a:solidFill>
                  <a:srgbClr val="FFFFFF"/>
                </a:solidFill>
              </a:rPr>
              <a:t>Add-on modules: advanced eval, Temporal, AutoGen execution</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600" b="1" i="0">
                <a:solidFill>
                  <a:srgbClr val="FFFFFF"/>
                </a:solidFill>
              </a:rPr>
              <a:t>Professional Services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Engagement and support revenue</a:t>
            </a:r>
          </a:p>
        </p:txBody>
      </p:sp>
      <p:sp>
        <p:nvSpPr>
          <p:cNvPr id="15" name="TextBox 14"/>
          <p:cNvSpPr txBox="1"/>
          <p:nvPr/>
        </p:nvSpPr>
        <p:spPr>
          <a:xfrm>
            <a:off x="6583680" y="2606040"/>
            <a:ext cx="4846320" cy="347472"/>
          </a:xfrm>
          <a:prstGeom prst="rect">
            <a:avLst/>
          </a:prstGeom>
          <a:noFill/>
        </p:spPr>
        <p:txBody>
          <a:bodyPr wrap="square">
            <a:spAutoFit/>
          </a:bodyPr>
          <a:lstStyle/>
          <a:p>
            <a:pPr algn="l"/>
            <a:r>
              <a:rPr sz="1200" b="0" i="0">
                <a:solidFill>
                  <a:srgbClr val="FFFFFF"/>
                </a:solidFill>
              </a:rPr>
              <a:t>Onboarding and integration (fixed fee per engagement)</a:t>
            </a:r>
          </a:p>
        </p:txBody>
      </p:sp>
      <p:sp>
        <p:nvSpPr>
          <p:cNvPr id="16" name="TextBox 15"/>
          <p:cNvSpPr txBox="1"/>
          <p:nvPr/>
        </p:nvSpPr>
        <p:spPr>
          <a:xfrm>
            <a:off x="6583680" y="3026664"/>
            <a:ext cx="4846320" cy="347472"/>
          </a:xfrm>
          <a:prstGeom prst="rect">
            <a:avLst/>
          </a:prstGeom>
          <a:noFill/>
        </p:spPr>
        <p:txBody>
          <a:bodyPr wrap="square">
            <a:spAutoFit/>
          </a:bodyPr>
          <a:lstStyle/>
          <a:p>
            <a:pPr algn="l"/>
            <a:r>
              <a:rPr sz="1200" b="0" i="0">
                <a:solidFill>
                  <a:srgbClr val="FFFFFF"/>
                </a:solidFill>
              </a:rPr>
              <a:t>Custom solution development (YAML and prompt engineering)</a:t>
            </a:r>
          </a:p>
        </p:txBody>
      </p:sp>
      <p:sp>
        <p:nvSpPr>
          <p:cNvPr id="17" name="TextBox 16"/>
          <p:cNvSpPr txBox="1"/>
          <p:nvPr/>
        </p:nvSpPr>
        <p:spPr>
          <a:xfrm>
            <a:off x="6583680" y="3447288"/>
            <a:ext cx="4846320" cy="347472"/>
          </a:xfrm>
          <a:prstGeom prst="rect">
            <a:avLst/>
          </a:prstGeom>
          <a:noFill/>
        </p:spPr>
        <p:txBody>
          <a:bodyPr wrap="square">
            <a:spAutoFit/>
          </a:bodyPr>
          <a:lstStyle/>
          <a:p>
            <a:pPr algn="l"/>
            <a:r>
              <a:rPr sz="1200" b="0" i="0">
                <a:solidFill>
                  <a:srgbClr val="FFFFFF"/>
                </a:solidFill>
              </a:rPr>
              <a:t>Training and certification for engineering teams</a:t>
            </a:r>
          </a:p>
        </p:txBody>
      </p:sp>
      <p:sp>
        <p:nvSpPr>
          <p:cNvPr id="18" name="TextBox 17"/>
          <p:cNvSpPr txBox="1"/>
          <p:nvPr/>
        </p:nvSpPr>
        <p:spPr>
          <a:xfrm>
            <a:off x="6583680" y="3867912"/>
            <a:ext cx="4846320" cy="347472"/>
          </a:xfrm>
          <a:prstGeom prst="rect">
            <a:avLst/>
          </a:prstGeom>
          <a:noFill/>
        </p:spPr>
        <p:txBody>
          <a:bodyPr wrap="square">
            <a:spAutoFit/>
          </a:bodyPr>
          <a:lstStyle/>
          <a:p>
            <a:pPr algn="l"/>
            <a:r>
              <a:rPr sz="1200" b="0" i="0">
                <a:solidFill>
                  <a:srgbClr val="FFFFFF"/>
                </a:solidFill>
              </a:rPr>
              <a:t>Compliance documentation packages (ISO 13485, IEC 62304)</a:t>
            </a:r>
          </a:p>
        </p:txBody>
      </p:sp>
      <p:sp>
        <p:nvSpPr>
          <p:cNvPr id="19" name="TextBox 18"/>
          <p:cNvSpPr txBox="1"/>
          <p:nvPr/>
        </p:nvSpPr>
        <p:spPr>
          <a:xfrm>
            <a:off x="457200" y="5833872"/>
            <a:ext cx="11247120" cy="347472"/>
          </a:xfrm>
          <a:prstGeom prst="rect">
            <a:avLst/>
          </a:prstGeom>
          <a:noFill/>
        </p:spPr>
        <p:txBody>
          <a:bodyPr wrap="square">
            <a:spAutoFit/>
          </a:bodyPr>
          <a:lstStyle/>
          <a:p>
            <a:pPr algn="ctr"/>
            <a:r>
              <a:rPr sz="1100" b="1" i="1">
                <a:solidFill>
                  <a:srgbClr val="0D1B2A"/>
                </a:solidFill>
              </a:rPr>
              <a:t>Target gross margin: 75-80% on software, 40-50% on services. Blended target: 65%+*</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2" name="Rectangle 21"/>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Competitive Landscape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is purpose-built for regulated industries — no direct equivalent exists today</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743200"/>
                <a:gridCol w="3840480"/>
                <a:gridCol w="4663440"/>
              </a:tblGrid>
              <a:tr h="475488">
                <a:tc>
                  <a:txBody>
                    <a:bodyPr/>
                    <a:lstStyle/>
                    <a:p>
                      <a:pPr algn="ctr"/>
                      <a:r>
                        <a:rPr b="1" sz="1300">
                          <a:solidFill>
                            <a:srgbClr val="FFFFFF"/>
                          </a:solidFill>
                        </a:rPr>
                        <a:t>Competitor Category</a:t>
                      </a:r>
                    </a:p>
                  </a:txBody>
                  <a:tcPr>
                    <a:solidFill>
                      <a:srgbClr val="0078D4"/>
                    </a:solidFill>
                  </a:tcPr>
                </a:tc>
                <a:tc>
                  <a:txBody>
                    <a:bodyPr/>
                    <a:lstStyle/>
                    <a:p>
                      <a:pPr algn="ctr"/>
                      <a:r>
                        <a:rPr b="1" sz="1300">
                          <a:solidFill>
                            <a:srgbClr val="FFFFFF"/>
                          </a:solidFill>
                        </a:rPr>
                        <a:t>Examples</a:t>
                      </a:r>
                    </a:p>
                  </a:txBody>
                  <a:tcPr>
                    <a:solidFill>
                      <a:srgbClr val="0078D4"/>
                    </a:solidFill>
                  </a:tcPr>
                </a:tc>
                <a:tc>
                  <a:txBody>
                    <a:bodyPr/>
                    <a:lstStyle/>
                    <a:p>
                      <a:pPr algn="ctr"/>
                      <a:r>
                        <a:rPr b="1" sz="1300">
                          <a:solidFill>
                            <a:srgbClr val="FFFFFF"/>
                          </a:solidFill>
                        </a:rPr>
                        <a:t>Gap vs SAGE</a:t>
                      </a:r>
                    </a:p>
                  </a:txBody>
                  <a:tcPr>
                    <a:solidFill>
                      <a:srgbClr val="0078D4"/>
                    </a:solidFill>
                  </a:tcPr>
                </a:tc>
              </a:tr>
              <a:tr h="475488">
                <a:tc>
                  <a:txBody>
                    <a:bodyPr/>
                    <a:lstStyle/>
                    <a:p>
                      <a:pPr algn="l"/>
                      <a:r>
                        <a:rPr sz="1200">
                          <a:solidFill>
                            <a:srgbClr val="0D1B2A"/>
                          </a:solidFill>
                        </a:rPr>
                        <a:t>General AI coding assistants</a:t>
                      </a:r>
                    </a:p>
                  </a:txBody>
                  <a:tcPr>
                    <a:solidFill>
                      <a:srgbClr val="F0F4F8"/>
                    </a:solidFill>
                  </a:tcPr>
                </a:tc>
                <a:tc>
                  <a:txBody>
                    <a:bodyPr/>
                    <a:lstStyle/>
                    <a:p>
                      <a:pPr algn="l"/>
                      <a:r>
                        <a:rPr sz="1200">
                          <a:solidFill>
                            <a:srgbClr val="0D1B2A"/>
                          </a:solidFill>
                        </a:rPr>
                        <a:t>GitHub Copilot, Cursor, Codeium</a:t>
                      </a:r>
                    </a:p>
                  </a:txBody>
                  <a:tcPr>
                    <a:solidFill>
                      <a:srgbClr val="F0F4F8"/>
                    </a:solidFill>
                  </a:tcPr>
                </a:tc>
                <a:tc>
                  <a:txBody>
                    <a:bodyPr/>
                    <a:lstStyle/>
                    <a:p>
                      <a:pPr algn="l"/>
                      <a:r>
                        <a:rPr sz="1200">
                          <a:solidFill>
                            <a:srgbClr val="0D1B2A"/>
                          </a:solidFill>
                        </a:rPr>
                        <a:t>No audit trail, no compliance gate, no domain memory</a:t>
                      </a:r>
                    </a:p>
                  </a:txBody>
                  <a:tcPr>
                    <a:solidFill>
                      <a:srgbClr val="F0F4F8"/>
                    </a:solidFill>
                  </a:tcPr>
                </a:tc>
              </a:tr>
              <a:tr h="475488">
                <a:tc>
                  <a:txBody>
                    <a:bodyPr/>
                    <a:lstStyle/>
                    <a:p>
                      <a:pPr algn="l"/>
                      <a:r>
                        <a:rPr sz="1200">
                          <a:solidFill>
                            <a:srgbClr val="0D1B2A"/>
                          </a:solidFill>
                        </a:rPr>
                        <a:t>Enterprise LLM platforms</a:t>
                      </a:r>
                    </a:p>
                  </a:txBody>
                  <a:tcPr>
                    <a:solidFill>
                      <a:srgbClr val="FFFFFF"/>
                    </a:solidFill>
                  </a:tcPr>
                </a:tc>
                <a:tc>
                  <a:txBody>
                    <a:bodyPr/>
                    <a:lstStyle/>
                    <a:p>
                      <a:pPr algn="l"/>
                      <a:r>
                        <a:rPr sz="1200">
                          <a:solidFill>
                            <a:srgbClr val="0D1B2A"/>
                          </a:solidFill>
                        </a:rPr>
                        <a:t>Azure OpenAI, AWS Bedrock</a:t>
                      </a:r>
                    </a:p>
                  </a:txBody>
                  <a:tcPr>
                    <a:solidFill>
                      <a:srgbClr val="FFFFFF"/>
                    </a:solidFill>
                  </a:tcPr>
                </a:tc>
                <a:tc>
                  <a:txBody>
                    <a:bodyPr/>
                    <a:lstStyle/>
                    <a:p>
                      <a:pPr algn="l"/>
                      <a:r>
                        <a:rPr sz="1200">
                          <a:solidFill>
                            <a:srgbClr val="0D1B2A"/>
                          </a:solidFill>
                        </a:rPr>
                        <a:t>Infrastructure only — no agent logic, no approval workflow</a:t>
                      </a:r>
                    </a:p>
                  </a:txBody>
                  <a:tcPr>
                    <a:solidFill>
                      <a:srgbClr val="FFFFFF"/>
                    </a:solidFill>
                  </a:tcPr>
                </a:tc>
              </a:tr>
              <a:tr h="475488">
                <a:tc>
                  <a:txBody>
                    <a:bodyPr/>
                    <a:lstStyle/>
                    <a:p>
                      <a:pPr algn="l"/>
                      <a:r>
                        <a:rPr sz="1200">
                          <a:solidFill>
                            <a:srgbClr val="0D1B2A"/>
                          </a:solidFill>
                        </a:rPr>
                        <a:t>AI workflow automation</a:t>
                      </a:r>
                    </a:p>
                  </a:txBody>
                  <a:tcPr>
                    <a:solidFill>
                      <a:srgbClr val="F0F4F8"/>
                    </a:solidFill>
                  </a:tcPr>
                </a:tc>
                <a:tc>
                  <a:txBody>
                    <a:bodyPr/>
                    <a:lstStyle/>
                    <a:p>
                      <a:pPr algn="l"/>
                      <a:r>
                        <a:rPr sz="1200">
                          <a:solidFill>
                            <a:srgbClr val="0D1B2A"/>
                          </a:solidFill>
                        </a:rPr>
                        <a:t>n8n, Zapier AI, Make</a:t>
                      </a:r>
                    </a:p>
                  </a:txBody>
                  <a:tcPr>
                    <a:solidFill>
                      <a:srgbClr val="F0F4F8"/>
                    </a:solidFill>
                  </a:tcPr>
                </a:tc>
                <a:tc>
                  <a:txBody>
                    <a:bodyPr/>
                    <a:lstStyle/>
                    <a:p>
                      <a:pPr algn="l"/>
                      <a:r>
                        <a:rPr sz="1200">
                          <a:solidFill>
                            <a:srgbClr val="0D1B2A"/>
                          </a:solidFill>
                        </a:rPr>
                        <a:t>No domain intelligence, no vector memory, no compliance layer</a:t>
                      </a:r>
                    </a:p>
                  </a:txBody>
                  <a:tcPr>
                    <a:solidFill>
                      <a:srgbClr val="F0F4F8"/>
                    </a:solidFill>
                  </a:tcPr>
                </a:tc>
              </a:tr>
              <a:tr h="475488">
                <a:tc>
                  <a:txBody>
                    <a:bodyPr/>
                    <a:lstStyle/>
                    <a:p>
                      <a:pPr algn="l"/>
                      <a:r>
                        <a:rPr sz="1200">
                          <a:solidFill>
                            <a:srgbClr val="0D1B2A"/>
                          </a:solidFill>
                        </a:rPr>
                        <a:t>Vertical AI point solutions</a:t>
                      </a:r>
                    </a:p>
                  </a:txBody>
                  <a:tcPr>
                    <a:solidFill>
                      <a:srgbClr val="FFFFFF"/>
                    </a:solidFill>
                  </a:tcPr>
                </a:tc>
                <a:tc>
                  <a:txBody>
                    <a:bodyPr/>
                    <a:lstStyle/>
                    <a:p>
                      <a:pPr algn="l"/>
                      <a:r>
                        <a:rPr sz="1200">
                          <a:solidFill>
                            <a:srgbClr val="0D1B2A"/>
                          </a:solidFill>
                        </a:rPr>
                        <a:t>Veeva, Sparta Systems TrackWise</a:t>
                      </a:r>
                    </a:p>
                  </a:txBody>
                  <a:tcPr>
                    <a:solidFill>
                      <a:srgbClr val="FFFFFF"/>
                    </a:solidFill>
                  </a:tcPr>
                </a:tc>
                <a:tc>
                  <a:txBody>
                    <a:bodyPr/>
                    <a:lstStyle/>
                    <a:p>
                      <a:pPr algn="l"/>
                      <a:r>
                        <a:rPr sz="1200">
                          <a:solidFill>
                            <a:srgbClr val="0D1B2A"/>
                          </a:solidFill>
                        </a:rPr>
                        <a:t>Single-function, expensive, not extensible to engineering workflows</a:t>
                      </a:r>
                    </a:p>
                  </a:txBody>
                  <a:tcPr>
                    <a:solidFill>
                      <a:srgbClr val="FFFFFF"/>
                    </a:solidFill>
                  </a:tcPr>
                </a:tc>
              </a:tr>
              <a:tr h="475488">
                <a:tc>
                  <a:txBody>
                    <a:bodyPr/>
                    <a:lstStyle/>
                    <a:p>
                      <a:pPr algn="l"/>
                      <a:r>
                        <a:rPr sz="1200">
                          <a:solidFill>
                            <a:srgbClr val="0D1B2A"/>
                          </a:solidFill>
                        </a:rPr>
                        <a:t>Open-source agent frameworks</a:t>
                      </a:r>
                    </a:p>
                  </a:txBody>
                  <a:tcPr>
                    <a:solidFill>
                      <a:srgbClr val="F0F4F8"/>
                    </a:solidFill>
                  </a:tcPr>
                </a:tc>
                <a:tc>
                  <a:txBody>
                    <a:bodyPr/>
                    <a:lstStyle/>
                    <a:p>
                      <a:pPr algn="l"/>
                      <a:r>
                        <a:rPr sz="1200">
                          <a:solidFill>
                            <a:srgbClr val="0D1B2A"/>
                          </a:solidFill>
                        </a:rPr>
                        <a:t>LangChain, AutoGen, CrewAI</a:t>
                      </a:r>
                    </a:p>
                  </a:txBody>
                  <a:tcPr>
                    <a:solidFill>
                      <a:srgbClr val="F0F4F8"/>
                    </a:solidFill>
                  </a:tcPr>
                </a:tc>
                <a:tc>
                  <a:txBody>
                    <a:bodyPr/>
                    <a:lstStyle/>
                    <a:p>
                      <a:pPr algn="l"/>
                      <a:r>
                        <a:rPr sz="1200">
                          <a:solidFill>
                            <a:srgbClr val="0D1B2A"/>
                          </a:solidFill>
                        </a:rPr>
                        <a:t>No production harness, no compliance, no UI — integration required</a:t>
                      </a:r>
                    </a:p>
                  </a:txBody>
                  <a:tcPr>
                    <a:solidFill>
                      <a:srgbClr val="F0F4F8"/>
                    </a:solidFill>
                  </a:tcPr>
                </a:tc>
              </a:tr>
              <a:tr h="475488">
                <a:tc>
                  <a:txBody>
                    <a:bodyPr/>
                    <a:lstStyle/>
                    <a:p>
                      <a:pPr algn="l"/>
                      <a:r>
                        <a:rPr sz="1200">
                          <a:solidFill>
                            <a:srgbClr val="0D1B2A"/>
                          </a:solidFill>
                        </a:rPr>
                        <a:t>SAGE Framework</a:t>
                      </a:r>
                    </a:p>
                  </a:txBody>
                  <a:tcPr>
                    <a:solidFill>
                      <a:srgbClr val="FFFFFF"/>
                    </a:solidFill>
                  </a:tcPr>
                </a:tc>
                <a:tc>
                  <a:txBody>
                    <a:bodyPr/>
                    <a:lstStyle/>
                    <a:p>
                      <a:pPr algn="l"/>
                      <a:r>
                        <a:rPr sz="1200">
                          <a:solidFill>
                            <a:srgbClr val="0D1B2A"/>
                          </a:solidFill>
                        </a:rPr>
                        <a:t>Purpose-built for regulated engineering</a:t>
                      </a:r>
                    </a:p>
                  </a:txBody>
                  <a:tcPr>
                    <a:solidFill>
                      <a:srgbClr val="FFFFFF"/>
                    </a:solidFill>
                  </a:tcPr>
                </a:tc>
                <a:tc>
                  <a:txBody>
                    <a:bodyPr/>
                    <a:lstStyle/>
                    <a:p>
                      <a:pPr algn="l"/>
                      <a:r>
                        <a:rPr sz="1200">
                          <a:solidFill>
                            <a:srgbClr val="0D1B2A"/>
                          </a:solidFill>
                        </a:rPr>
                        <a:t>Full stack: compliance, agents, memory, UI, no API key required</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Go-to-Market Strategy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Land in regulated engineering teams, expand across the organisation, grow vertically</a:t>
            </a:r>
          </a:p>
        </p:txBody>
      </p:sp>
      <p:sp>
        <p:nvSpPr>
          <p:cNvPr id="5" name="Rectangle 4"/>
          <p:cNvSpPr/>
          <p:nvPr/>
        </p:nvSpPr>
        <p:spPr>
          <a:xfrm>
            <a:off x="365760" y="1600200"/>
            <a:ext cx="3611880" cy="36576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37360"/>
            <a:ext cx="3337560" cy="502920"/>
          </a:xfrm>
          <a:prstGeom prst="rect">
            <a:avLst/>
          </a:prstGeom>
          <a:noFill/>
        </p:spPr>
        <p:txBody>
          <a:bodyPr wrap="square">
            <a:spAutoFit/>
          </a:bodyPr>
          <a:lstStyle/>
          <a:p>
            <a:pPr algn="ctr"/>
            <a:r>
              <a:rPr sz="1500" b="1" i="0">
                <a:solidFill>
                  <a:srgbClr val="FFFFFF"/>
                </a:solidFill>
              </a:rPr>
              <a:t>Phase 1: Land</a:t>
            </a:r>
          </a:p>
        </p:txBody>
      </p:sp>
      <p:sp>
        <p:nvSpPr>
          <p:cNvPr id="7" name="TextBox 6"/>
          <p:cNvSpPr txBox="1"/>
          <p:nvPr/>
        </p:nvSpPr>
        <p:spPr>
          <a:xfrm>
            <a:off x="502920" y="2331720"/>
            <a:ext cx="3337560" cy="2560320"/>
          </a:xfrm>
          <a:prstGeom prst="rect">
            <a:avLst/>
          </a:prstGeom>
          <a:noFill/>
        </p:spPr>
        <p:txBody>
          <a:bodyPr wrap="square">
            <a:spAutoFit/>
          </a:bodyPr>
          <a:lstStyle/>
          <a:p>
            <a:pPr algn="l"/>
            <a:r>
              <a:rPr sz="1200" b="0" i="0">
                <a:solidFill>
                  <a:srgbClr val="FFFFFF"/>
                </a:solidFill>
              </a:rPr>
              <a:t>Target regulated engineering teams in medical devices, aerospace, and pharma. Pilot pricing is a fixed 90-day engagement. Success metric: 40% manual work reduction measured and validated.</a:t>
            </a:r>
          </a:p>
        </p:txBody>
      </p:sp>
      <p:sp>
        <p:nvSpPr>
          <p:cNvPr id="8" name="Rectangle 7"/>
          <p:cNvSpPr/>
          <p:nvPr/>
        </p:nvSpPr>
        <p:spPr>
          <a:xfrm>
            <a:off x="4343399" y="1600200"/>
            <a:ext cx="3611880" cy="36576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737360"/>
            <a:ext cx="3337560" cy="502920"/>
          </a:xfrm>
          <a:prstGeom prst="rect">
            <a:avLst/>
          </a:prstGeom>
          <a:noFill/>
        </p:spPr>
        <p:txBody>
          <a:bodyPr wrap="square">
            <a:spAutoFit/>
          </a:bodyPr>
          <a:lstStyle/>
          <a:p>
            <a:pPr algn="ctr"/>
            <a:r>
              <a:rPr sz="1500" b="1" i="0">
                <a:solidFill>
                  <a:srgbClr val="FFFFFF"/>
                </a:solidFill>
              </a:rPr>
              <a:t>Phase 2: Expand</a:t>
            </a:r>
          </a:p>
        </p:txBody>
      </p:sp>
      <p:sp>
        <p:nvSpPr>
          <p:cNvPr id="10" name="TextBox 9"/>
          <p:cNvSpPr txBox="1"/>
          <p:nvPr/>
        </p:nvSpPr>
        <p:spPr>
          <a:xfrm>
            <a:off x="4480559" y="2331720"/>
            <a:ext cx="3337560" cy="2560320"/>
          </a:xfrm>
          <a:prstGeom prst="rect">
            <a:avLst/>
          </a:prstGeom>
          <a:noFill/>
        </p:spPr>
        <p:txBody>
          <a:bodyPr wrap="square">
            <a:spAutoFit/>
          </a:bodyPr>
          <a:lstStyle/>
          <a:p>
            <a:pPr algn="l"/>
            <a:r>
              <a:rPr sz="1200" b="0" i="0">
                <a:solidFill>
                  <a:srgbClr val="FFFFFF"/>
                </a:solidFill>
              </a:rPr>
              <a:t>Cross-sell multi-tenant to adjacent teams in the same organisation. Add Spira, Jira, and ServiceNow connectors. Upsell advanced eval and Temporal workflow modules.</a:t>
            </a:r>
          </a:p>
        </p:txBody>
      </p:sp>
      <p:sp>
        <p:nvSpPr>
          <p:cNvPr id="11" name="Rectangle 10"/>
          <p:cNvSpPr/>
          <p:nvPr/>
        </p:nvSpPr>
        <p:spPr>
          <a:xfrm>
            <a:off x="8321038" y="1600200"/>
            <a:ext cx="3611880" cy="36576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198" y="1737360"/>
            <a:ext cx="3337560" cy="502920"/>
          </a:xfrm>
          <a:prstGeom prst="rect">
            <a:avLst/>
          </a:prstGeom>
          <a:noFill/>
        </p:spPr>
        <p:txBody>
          <a:bodyPr wrap="square">
            <a:spAutoFit/>
          </a:bodyPr>
          <a:lstStyle/>
          <a:p>
            <a:pPr algn="ctr"/>
            <a:r>
              <a:rPr sz="1500" b="1" i="0">
                <a:solidFill>
                  <a:srgbClr val="FFFFFF"/>
                </a:solidFill>
              </a:rPr>
              <a:t>Phase 3: Scale</a:t>
            </a:r>
          </a:p>
        </p:txBody>
      </p:sp>
      <p:sp>
        <p:nvSpPr>
          <p:cNvPr id="13" name="TextBox 12"/>
          <p:cNvSpPr txBox="1"/>
          <p:nvPr/>
        </p:nvSpPr>
        <p:spPr>
          <a:xfrm>
            <a:off x="8458198" y="2331720"/>
            <a:ext cx="3337560" cy="2560320"/>
          </a:xfrm>
          <a:prstGeom prst="rect">
            <a:avLst/>
          </a:prstGeom>
          <a:noFill/>
        </p:spPr>
        <p:txBody>
          <a:bodyPr wrap="square">
            <a:spAutoFit/>
          </a:bodyPr>
          <a:lstStyle/>
          <a:p>
            <a:pPr algn="l"/>
            <a:r>
              <a:rPr sz="1200" b="0" i="0">
                <a:solidFill>
                  <a:srgbClr val="FFFFFF"/>
                </a:solidFill>
              </a:rPr>
              <a:t>Partner with system integrators and QMS consultancies. OEM licensing to compliance software vendors. Open-source community flywheel for non-regulated verticals.</a:t>
            </a: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Traction — Platform Complete, Pilots Underway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shipped, test suite green, first regulated deployment in progress</a:t>
            </a:r>
          </a:p>
        </p:txBody>
      </p:sp>
      <p:sp>
        <p:nvSpPr>
          <p:cNvPr id="5" name="Rectangle 4"/>
          <p:cNvSpPr/>
          <p:nvPr/>
        </p:nvSpPr>
        <p:spPr>
          <a:xfrm>
            <a:off x="457200" y="1508760"/>
            <a:ext cx="3566160" cy="25603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3383280" cy="868680"/>
          </a:xfrm>
          <a:prstGeom prst="rect">
            <a:avLst/>
          </a:prstGeom>
          <a:noFill/>
        </p:spPr>
        <p:txBody>
          <a:bodyPr wrap="square">
            <a:spAutoFit/>
          </a:bodyPr>
          <a:lstStyle/>
          <a:p>
            <a:pPr algn="ctr"/>
            <a:r>
              <a:rPr sz="4400" b="1" i="0">
                <a:solidFill>
                  <a:srgbClr val="FFFFFF"/>
                </a:solidFill>
              </a:rPr>
              <a:t>12</a:t>
            </a:r>
          </a:p>
        </p:txBody>
      </p:sp>
      <p:sp>
        <p:nvSpPr>
          <p:cNvPr id="7" name="TextBox 6"/>
          <p:cNvSpPr txBox="1"/>
          <p:nvPr/>
        </p:nvSpPr>
        <p:spPr>
          <a:xfrm>
            <a:off x="548640" y="2560320"/>
            <a:ext cx="3383280" cy="457200"/>
          </a:xfrm>
          <a:prstGeom prst="rect">
            <a:avLst/>
          </a:prstGeom>
          <a:noFill/>
        </p:spPr>
        <p:txBody>
          <a:bodyPr wrap="square">
            <a:spAutoFit/>
          </a:bodyPr>
          <a:lstStyle/>
          <a:p>
            <a:pPr algn="ctr"/>
            <a:r>
              <a:rPr sz="1300" b="1" i="0">
                <a:solidFill>
                  <a:srgbClr val="FFFFFF"/>
                </a:solidFill>
              </a:rPr>
              <a:t>Integration phases complete</a:t>
            </a:r>
          </a:p>
        </p:txBody>
      </p:sp>
      <p:sp>
        <p:nvSpPr>
          <p:cNvPr id="8" name="TextBox 7"/>
          <p:cNvSpPr txBox="1"/>
          <p:nvPr/>
        </p:nvSpPr>
        <p:spPr>
          <a:xfrm>
            <a:off x="548640" y="3017520"/>
            <a:ext cx="3383280" cy="411480"/>
          </a:xfrm>
          <a:prstGeom prst="rect">
            <a:avLst/>
          </a:prstGeom>
          <a:noFill/>
        </p:spPr>
        <p:txBody>
          <a:bodyPr wrap="square">
            <a:spAutoFit/>
          </a:bodyPr>
          <a:lstStyle/>
          <a:p>
            <a:pPr algn="ctr"/>
            <a:r>
              <a:rPr sz="1100" b="0" i="1">
                <a:solidFill>
                  <a:srgbClr val="F0F4F8"/>
                </a:solidFill>
              </a:rPr>
              <a:t>Phases 0-11 all production-ready</a:t>
            </a:r>
          </a:p>
        </p:txBody>
      </p:sp>
      <p:sp>
        <p:nvSpPr>
          <p:cNvPr id="9" name="Rectangle 8"/>
          <p:cNvSpPr/>
          <p:nvPr/>
        </p:nvSpPr>
        <p:spPr>
          <a:xfrm>
            <a:off x="4389120" y="1508760"/>
            <a:ext cx="3566160" cy="25603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45920"/>
            <a:ext cx="3383280" cy="868680"/>
          </a:xfrm>
          <a:prstGeom prst="rect">
            <a:avLst/>
          </a:prstGeom>
          <a:noFill/>
        </p:spPr>
        <p:txBody>
          <a:bodyPr wrap="square">
            <a:spAutoFit/>
          </a:bodyPr>
          <a:lstStyle/>
          <a:p>
            <a:pPr algn="ctr"/>
            <a:r>
              <a:rPr sz="4400" b="1" i="0">
                <a:solidFill>
                  <a:srgbClr val="FFFFFF"/>
                </a:solidFill>
              </a:rPr>
              <a:t>383+</a:t>
            </a:r>
          </a:p>
        </p:txBody>
      </p:sp>
      <p:sp>
        <p:nvSpPr>
          <p:cNvPr id="11" name="TextBox 10"/>
          <p:cNvSpPr txBox="1"/>
          <p:nvPr/>
        </p:nvSpPr>
        <p:spPr>
          <a:xfrm>
            <a:off x="4480560" y="2560320"/>
            <a:ext cx="3383280" cy="457200"/>
          </a:xfrm>
          <a:prstGeom prst="rect">
            <a:avLst/>
          </a:prstGeom>
          <a:noFill/>
        </p:spPr>
        <p:txBody>
          <a:bodyPr wrap="square">
            <a:spAutoFit/>
          </a:bodyPr>
          <a:lstStyle/>
          <a:p>
            <a:pPr algn="ctr"/>
            <a:r>
              <a:rPr sz="1300" b="1" i="0">
                <a:solidFill>
                  <a:srgbClr val="FFFFFF"/>
                </a:solidFill>
              </a:rPr>
              <a:t>Automated tests passing</a:t>
            </a:r>
          </a:p>
        </p:txBody>
      </p:sp>
      <p:sp>
        <p:nvSpPr>
          <p:cNvPr id="12" name="TextBox 11"/>
          <p:cNvSpPr txBox="1"/>
          <p:nvPr/>
        </p:nvSpPr>
        <p:spPr>
          <a:xfrm>
            <a:off x="4480560" y="3017520"/>
            <a:ext cx="3383280" cy="411480"/>
          </a:xfrm>
          <a:prstGeom prst="rect">
            <a:avLst/>
          </a:prstGeom>
          <a:noFill/>
        </p:spPr>
        <p:txBody>
          <a:bodyPr wrap="square">
            <a:spAutoFit/>
          </a:bodyPr>
          <a:lstStyle/>
          <a:p>
            <a:pPr algn="ctr"/>
            <a:r>
              <a:rPr sz="1100" b="0" i="1">
                <a:solidFill>
                  <a:srgbClr val="F0F4F8"/>
                </a:solidFill>
              </a:rPr>
              <a:t>Framework and all solution test suites</a:t>
            </a:r>
          </a:p>
        </p:txBody>
      </p:sp>
      <p:sp>
        <p:nvSpPr>
          <p:cNvPr id="13" name="Rectangle 12"/>
          <p:cNvSpPr/>
          <p:nvPr/>
        </p:nvSpPr>
        <p:spPr>
          <a:xfrm>
            <a:off x="8321040" y="1508760"/>
            <a:ext cx="3566160" cy="25603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645920"/>
            <a:ext cx="3383280" cy="868680"/>
          </a:xfrm>
          <a:prstGeom prst="rect">
            <a:avLst/>
          </a:prstGeom>
          <a:noFill/>
        </p:spPr>
        <p:txBody>
          <a:bodyPr wrap="square">
            <a:spAutoFit/>
          </a:bodyPr>
          <a:lstStyle/>
          <a:p>
            <a:pPr algn="ctr"/>
            <a:r>
              <a:rPr sz="4400" b="1" i="0">
                <a:solidFill>
                  <a:srgbClr val="FFFFFF"/>
                </a:solidFill>
              </a:rPr>
              <a:t>5</a:t>
            </a:r>
          </a:p>
        </p:txBody>
      </p:sp>
      <p:sp>
        <p:nvSpPr>
          <p:cNvPr id="15" name="TextBox 14"/>
          <p:cNvSpPr txBox="1"/>
          <p:nvPr/>
        </p:nvSpPr>
        <p:spPr>
          <a:xfrm>
            <a:off x="8412480" y="2560320"/>
            <a:ext cx="3383280" cy="457200"/>
          </a:xfrm>
          <a:prstGeom prst="rect">
            <a:avLst/>
          </a:prstGeom>
          <a:noFill/>
        </p:spPr>
        <p:txBody>
          <a:bodyPr wrap="square">
            <a:spAutoFit/>
          </a:bodyPr>
          <a:lstStyle/>
          <a:p>
            <a:pPr algn="ctr"/>
            <a:r>
              <a:rPr sz="1300" b="1" i="0">
                <a:solidFill>
                  <a:srgbClr val="FFFFFF"/>
                </a:solidFill>
              </a:rPr>
              <a:t>LLM providers supported</a:t>
            </a:r>
          </a:p>
        </p:txBody>
      </p:sp>
      <p:sp>
        <p:nvSpPr>
          <p:cNvPr id="16" name="TextBox 15"/>
          <p:cNvSpPr txBox="1"/>
          <p:nvPr/>
        </p:nvSpPr>
        <p:spPr>
          <a:xfrm>
            <a:off x="8412480" y="3017520"/>
            <a:ext cx="3383280" cy="411480"/>
          </a:xfrm>
          <a:prstGeom prst="rect">
            <a:avLst/>
          </a:prstGeom>
          <a:noFill/>
        </p:spPr>
        <p:txBody>
          <a:bodyPr wrap="square">
            <a:spAutoFit/>
          </a:bodyPr>
          <a:lstStyle/>
          <a:p>
            <a:pPr algn="ctr"/>
            <a:r>
              <a:rPr sz="1100" b="0" i="1">
                <a:solidFill>
                  <a:srgbClr val="F0F4F8"/>
                </a:solidFill>
              </a:rPr>
              <a:t>All without API keys — zero credential risk</a:t>
            </a:r>
          </a:p>
        </p:txBody>
      </p:sp>
      <p:sp>
        <p:nvSpPr>
          <p:cNvPr id="17" name="TextBox 16"/>
          <p:cNvSpPr txBox="1"/>
          <p:nvPr/>
        </p:nvSpPr>
        <p:spPr>
          <a:xfrm>
            <a:off x="502920" y="4251960"/>
            <a:ext cx="11155680" cy="347472"/>
          </a:xfrm>
          <a:prstGeom prst="rect">
            <a:avLst/>
          </a:prstGeom>
          <a:noFill/>
        </p:spPr>
        <p:txBody>
          <a:bodyPr wrap="square">
            <a:spAutoFit/>
          </a:bodyPr>
          <a:lstStyle/>
          <a:p>
            <a:pPr algn="l"/>
            <a:r>
              <a:rPr sz="1300" b="0" i="0">
                <a:solidFill>
                  <a:srgbClr val="0D1B2A"/>
                </a:solidFill>
              </a:rPr>
              <a:t>Core framework complete: agents, API, audit log, vector memory, web dashboard</a:t>
            </a:r>
          </a:p>
        </p:txBody>
      </p:sp>
      <p:sp>
        <p:nvSpPr>
          <p:cNvPr id="18" name="TextBox 17"/>
          <p:cNvSpPr txBox="1"/>
          <p:nvPr/>
        </p:nvSpPr>
        <p:spPr>
          <a:xfrm>
            <a:off x="502920" y="4672584"/>
            <a:ext cx="11155680" cy="347472"/>
          </a:xfrm>
          <a:prstGeom prst="rect">
            <a:avLst/>
          </a:prstGeom>
          <a:noFill/>
        </p:spPr>
        <p:txBody>
          <a:bodyPr wrap="square">
            <a:spAutoFit/>
          </a:bodyPr>
          <a:lstStyle/>
          <a:p>
            <a:pPr algn="l"/>
            <a:r>
              <a:rPr sz="1300" b="0" i="0">
                <a:solidFill>
                  <a:srgbClr val="0D1B2A"/>
                </a:solidFill>
              </a:rPr>
              <a:t>New capabilities live: Composio (100+ tool integrations), Hire Agent (web UI role creation), conversational onboarding wizard, solution theming system</a:t>
            </a:r>
          </a:p>
        </p:txBody>
      </p:sp>
      <p:sp>
        <p:nvSpPr>
          <p:cNvPr id="19" name="TextBox 18"/>
          <p:cNvSpPr txBox="1"/>
          <p:nvPr/>
        </p:nvSpPr>
        <p:spPr>
          <a:xfrm>
            <a:off x="502920" y="5093208"/>
            <a:ext cx="11155680" cy="347472"/>
          </a:xfrm>
          <a:prstGeom prst="rect">
            <a:avLst/>
          </a:prstGeom>
          <a:noFill/>
        </p:spPr>
        <p:txBody>
          <a:bodyPr wrap="square">
            <a:spAutoFit/>
          </a:bodyPr>
          <a:lstStyle/>
          <a:p>
            <a:pPr algn="l"/>
            <a:r>
              <a:rPr sz="1300" b="0" i="0">
                <a:solidFill>
                  <a:srgbClr val="0D1B2A"/>
                </a:solidFill>
              </a:rPr>
              <a:t>Solutions active: medtech (ISO 13485), poseengine (ML/mobile), kappture (human tracking)</a:t>
            </a:r>
          </a:p>
        </p:txBody>
      </p:sp>
      <p:sp>
        <p:nvSpPr>
          <p:cNvPr id="20" name="TextBox 19"/>
          <p:cNvSpPr txBox="1"/>
          <p:nvPr/>
        </p:nvSpPr>
        <p:spPr>
          <a:xfrm>
            <a:off x="502920" y="5513832"/>
            <a:ext cx="11155680" cy="347472"/>
          </a:xfrm>
          <a:prstGeom prst="rect">
            <a:avLst/>
          </a:prstGeom>
          <a:noFill/>
        </p:spPr>
        <p:txBody>
          <a:bodyPr wrap="square">
            <a:spAutoFit/>
          </a:bodyPr>
          <a:lstStyle/>
          <a:p>
            <a:pPr algn="l"/>
            <a:r>
              <a:rPr sz="1300" b="0" i="0">
                <a:solidFill>
                  <a:srgbClr val="0D1B2A"/>
                </a:solidFill>
              </a:rPr>
              <a:t>Pilot in progress: regulated engineering team, first KPI measurement expected Q2 2026</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Financial Projections — Three-Year Model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estimates based on industry benchmarks — all figures assumption-based*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3200400"/>
                <a:gridCol w="2194560"/>
                <a:gridCol w="2194560"/>
                <a:gridCol w="36576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Year 1</a:t>
                      </a:r>
                    </a:p>
                  </a:txBody>
                  <a:tcPr>
                    <a:solidFill>
                      <a:srgbClr val="0078D4"/>
                    </a:solidFill>
                  </a:tcPr>
                </a:tc>
                <a:tc>
                  <a:txBody>
                    <a:bodyPr/>
                    <a:lstStyle/>
                    <a:p>
                      <a:pPr algn="ctr"/>
                      <a:r>
                        <a:rPr b="1" sz="1300">
                          <a:solidFill>
                            <a:srgbClr val="FFFFFF"/>
                          </a:solidFill>
                        </a:rPr>
                        <a:t>Year 2</a:t>
                      </a:r>
                    </a:p>
                  </a:txBody>
                  <a:tcPr>
                    <a:solidFill>
                      <a:srgbClr val="0078D4"/>
                    </a:solidFill>
                  </a:tcPr>
                </a:tc>
                <a:tc>
                  <a:txBody>
                    <a:bodyPr/>
                    <a:lstStyle/>
                    <a:p>
                      <a:pPr algn="ctr"/>
                      <a:r>
                        <a:rPr b="1" sz="1300">
                          <a:solidFill>
                            <a:srgbClr val="FFFFFF"/>
                          </a:solidFill>
                        </a:rPr>
                        <a:t>Year 3</a:t>
                      </a:r>
                    </a:p>
                  </a:txBody>
                  <a:tcPr>
                    <a:solidFill>
                      <a:srgbClr val="0078D4"/>
                    </a:solidFill>
                  </a:tcPr>
                </a:tc>
              </a:tr>
              <a:tr h="475488">
                <a:tc>
                  <a:txBody>
                    <a:bodyPr/>
                    <a:lstStyle/>
                    <a:p>
                      <a:pPr algn="l"/>
                      <a:r>
                        <a:rPr sz="1200">
                          <a:solidFill>
                            <a:srgbClr val="0D1B2A"/>
                          </a:solidFill>
                        </a:rPr>
                        <a:t>Customers (deployments)</a:t>
                      </a:r>
                    </a:p>
                  </a:txBody>
                  <a:tcPr>
                    <a:solidFill>
                      <a:srgbClr val="F0F4F8"/>
                    </a:solidFill>
                  </a:tcPr>
                </a:tc>
                <a:tc>
                  <a:txBody>
                    <a:bodyPr/>
                    <a:lstStyle/>
                    <a:p>
                      <a:pPr algn="l"/>
                      <a:r>
                        <a:rPr sz="1200">
                          <a:solidFill>
                            <a:srgbClr val="0D1B2A"/>
                          </a:solidFill>
                        </a:rPr>
                        <a:t>3-5 pilots</a:t>
                      </a:r>
                    </a:p>
                  </a:txBody>
                  <a:tcPr>
                    <a:solidFill>
                      <a:srgbClr val="F0F4F8"/>
                    </a:solidFill>
                  </a:tcPr>
                </a:tc>
                <a:tc>
                  <a:txBody>
                    <a:bodyPr/>
                    <a:lstStyle/>
                    <a:p>
                      <a:pPr algn="l"/>
                      <a:r>
                        <a:rPr sz="1200">
                          <a:solidFill>
                            <a:srgbClr val="0D1B2A"/>
                          </a:solidFill>
                        </a:rPr>
                        <a:t>15-25</a:t>
                      </a:r>
                    </a:p>
                  </a:txBody>
                  <a:tcPr>
                    <a:solidFill>
                      <a:srgbClr val="F0F4F8"/>
                    </a:solidFill>
                  </a:tcPr>
                </a:tc>
                <a:tc>
                  <a:txBody>
                    <a:bodyPr/>
                    <a:lstStyle/>
                    <a:p>
                      <a:pPr algn="l"/>
                      <a:r>
                        <a:rPr sz="1200">
                          <a:solidFill>
                            <a:srgbClr val="0D1B2A"/>
                          </a:solidFill>
                        </a:rPr>
                        <a:t>50-80</a:t>
                      </a:r>
                    </a:p>
                  </a:txBody>
                  <a:tcPr>
                    <a:solidFill>
                      <a:srgbClr val="F0F4F8"/>
                    </a:solidFill>
                  </a:tcPr>
                </a:tc>
              </a:tr>
              <a:tr h="475488">
                <a:tc>
                  <a:txBody>
                    <a:bodyPr/>
                    <a:lstStyle/>
                    <a:p>
                      <a:pPr algn="l"/>
                      <a:r>
                        <a:rPr sz="1200">
                          <a:solidFill>
                            <a:srgbClr val="0D1B2A"/>
                          </a:solidFill>
                        </a:rPr>
                        <a:t>Average Contract Value</a:t>
                      </a:r>
                    </a:p>
                  </a:txBody>
                  <a:tcPr>
                    <a:solidFill>
                      <a:srgbClr val="FFFFFF"/>
                    </a:solidFill>
                  </a:tcPr>
                </a:tc>
                <a:tc>
                  <a:txBody>
                    <a:bodyPr/>
                    <a:lstStyle/>
                    <a:p>
                      <a:pPr algn="l"/>
                      <a:r>
                        <a:rPr sz="1200">
                          <a:solidFill>
                            <a:srgbClr val="0D1B2A"/>
                          </a:solidFill>
                        </a:rPr>
                        <a:t>$45K ARR</a:t>
                      </a:r>
                    </a:p>
                  </a:txBody>
                  <a:tcPr>
                    <a:solidFill>
                      <a:srgbClr val="FFFFFF"/>
                    </a:solidFill>
                  </a:tcPr>
                </a:tc>
                <a:tc>
                  <a:txBody>
                    <a:bodyPr/>
                    <a:lstStyle/>
                    <a:p>
                      <a:pPr algn="l"/>
                      <a:r>
                        <a:rPr sz="1200">
                          <a:solidFill>
                            <a:srgbClr val="0D1B2A"/>
                          </a:solidFill>
                        </a:rPr>
                        <a:t>$65K ARR</a:t>
                      </a:r>
                    </a:p>
                  </a:txBody>
                  <a:tcPr>
                    <a:solidFill>
                      <a:srgbClr val="FFFFFF"/>
                    </a:solidFill>
                  </a:tcPr>
                </a:tc>
                <a:tc>
                  <a:txBody>
                    <a:bodyPr/>
                    <a:lstStyle/>
                    <a:p>
                      <a:pPr algn="l"/>
                      <a:r>
                        <a:rPr sz="1200">
                          <a:solidFill>
                            <a:srgbClr val="0D1B2A"/>
                          </a:solidFill>
                        </a:rPr>
                        <a:t>$85K ARR</a:t>
                      </a:r>
                    </a:p>
                  </a:txBody>
                  <a:tcPr>
                    <a:solidFill>
                      <a:srgbClr val="FFFFFF"/>
                    </a:solidFill>
                  </a:tcPr>
                </a:tc>
              </a:tr>
              <a:tr h="475488">
                <a:tc>
                  <a:txBody>
                    <a:bodyPr/>
                    <a:lstStyle/>
                    <a:p>
                      <a:pPr algn="l"/>
                      <a:r>
                        <a:rPr sz="1200">
                          <a:solidFill>
                            <a:srgbClr val="0D1B2A"/>
                          </a:solidFill>
                        </a:rPr>
                        <a:t>Annual Recurring Revenue</a:t>
                      </a:r>
                    </a:p>
                  </a:txBody>
                  <a:tcPr>
                    <a:solidFill>
                      <a:srgbClr val="F0F4F8"/>
                    </a:solidFill>
                  </a:tcPr>
                </a:tc>
                <a:tc>
                  <a:txBody>
                    <a:bodyPr/>
                    <a:lstStyle/>
                    <a:p>
                      <a:pPr algn="l"/>
                      <a:r>
                        <a:rPr sz="1200">
                          <a:solidFill>
                            <a:srgbClr val="0D1B2A"/>
                          </a:solidFill>
                        </a:rPr>
                        <a:t>$180K</a:t>
                      </a:r>
                    </a:p>
                  </a:txBody>
                  <a:tcPr>
                    <a:solidFill>
                      <a:srgbClr val="F0F4F8"/>
                    </a:solidFill>
                  </a:tcPr>
                </a:tc>
                <a:tc>
                  <a:txBody>
                    <a:bodyPr/>
                    <a:lstStyle/>
                    <a:p>
                      <a:pPr algn="l"/>
                      <a:r>
                        <a:rPr sz="1200">
                          <a:solidFill>
                            <a:srgbClr val="0D1B2A"/>
                          </a:solidFill>
                        </a:rPr>
                        <a:t>$1.3M</a:t>
                      </a:r>
                    </a:p>
                  </a:txBody>
                  <a:tcPr>
                    <a:solidFill>
                      <a:srgbClr val="F0F4F8"/>
                    </a:solidFill>
                  </a:tcPr>
                </a:tc>
                <a:tc>
                  <a:txBody>
                    <a:bodyPr/>
                    <a:lstStyle/>
                    <a:p>
                      <a:pPr algn="l"/>
                      <a:r>
                        <a:rPr sz="1200">
                          <a:solidFill>
                            <a:srgbClr val="0D1B2A"/>
                          </a:solidFill>
                        </a:rPr>
                        <a:t>$5.5M</a:t>
                      </a:r>
                    </a:p>
                  </a:txBody>
                  <a:tcPr>
                    <a:solidFill>
                      <a:srgbClr val="F0F4F8"/>
                    </a:solidFill>
                  </a:tcPr>
                </a:tc>
              </a:tr>
              <a:tr h="475488">
                <a:tc>
                  <a:txBody>
                    <a:bodyPr/>
                    <a:lstStyle/>
                    <a:p>
                      <a:pPr algn="l"/>
                      <a:r>
                        <a:rPr sz="1200">
                          <a:solidFill>
                            <a:srgbClr val="0D1B2A"/>
                          </a:solidFill>
                        </a:rPr>
                        <a:t>Professional Services</a:t>
                      </a:r>
                    </a:p>
                  </a:txBody>
                  <a:tcPr>
                    <a:solidFill>
                      <a:srgbClr val="FFFFFF"/>
                    </a:solidFill>
                  </a:tcPr>
                </a:tc>
                <a:tc>
                  <a:txBody>
                    <a:bodyPr/>
                    <a:lstStyle/>
                    <a:p>
                      <a:pPr algn="l"/>
                      <a:r>
                        <a:rPr sz="1200">
                          <a:solidFill>
                            <a:srgbClr val="0D1B2A"/>
                          </a:solidFill>
                        </a:rPr>
                        <a:t>$150K</a:t>
                      </a:r>
                    </a:p>
                  </a:txBody>
                  <a:tcPr>
                    <a:solidFill>
                      <a:srgbClr val="FFFFFF"/>
                    </a:solidFill>
                  </a:tcPr>
                </a:tc>
                <a:tc>
                  <a:txBody>
                    <a:bodyPr/>
                    <a:lstStyle/>
                    <a:p>
                      <a:pPr algn="l"/>
                      <a:r>
                        <a:rPr sz="1200">
                          <a:solidFill>
                            <a:srgbClr val="0D1B2A"/>
                          </a:solidFill>
                        </a:rPr>
                        <a:t>$400K</a:t>
                      </a:r>
                    </a:p>
                  </a:txBody>
                  <a:tcPr>
                    <a:solidFill>
                      <a:srgbClr val="FFFFFF"/>
                    </a:solidFill>
                  </a:tcPr>
                </a:tc>
                <a:tc>
                  <a:txBody>
                    <a:bodyPr/>
                    <a:lstStyle/>
                    <a:p>
                      <a:pPr algn="l"/>
                      <a:r>
                        <a:rPr sz="1200">
                          <a:solidFill>
                            <a:srgbClr val="0D1B2A"/>
                          </a:solidFill>
                        </a:rPr>
                        <a:t>$800K</a:t>
                      </a:r>
                    </a:p>
                  </a:txBody>
                  <a:tcPr>
                    <a:solidFill>
                      <a:srgbClr val="FFFFFF"/>
                    </a:solidFill>
                  </a:tcPr>
                </a:tc>
              </a:tr>
              <a:tr h="475488">
                <a:tc>
                  <a:txBody>
                    <a:bodyPr/>
                    <a:lstStyle/>
                    <a:p>
                      <a:pPr algn="l"/>
                      <a:r>
                        <a:rPr sz="1200">
                          <a:solidFill>
                            <a:srgbClr val="0D1B2A"/>
                          </a:solidFill>
                        </a:rPr>
                        <a:t>Total Revenue</a:t>
                      </a:r>
                    </a:p>
                  </a:txBody>
                  <a:tcPr>
                    <a:solidFill>
                      <a:srgbClr val="F0F4F8"/>
                    </a:solidFill>
                  </a:tcPr>
                </a:tc>
                <a:tc>
                  <a:txBody>
                    <a:bodyPr/>
                    <a:lstStyle/>
                    <a:p>
                      <a:pPr algn="l"/>
                      <a:r>
                        <a:rPr sz="1200">
                          <a:solidFill>
                            <a:srgbClr val="0D1B2A"/>
                          </a:solidFill>
                        </a:rPr>
                        <a:t>$330K</a:t>
                      </a:r>
                    </a:p>
                  </a:txBody>
                  <a:tcPr>
                    <a:solidFill>
                      <a:srgbClr val="F0F4F8"/>
                    </a:solidFill>
                  </a:tcPr>
                </a:tc>
                <a:tc>
                  <a:txBody>
                    <a:bodyPr/>
                    <a:lstStyle/>
                    <a:p>
                      <a:pPr algn="l"/>
                      <a:r>
                        <a:rPr sz="1200">
                          <a:solidFill>
                            <a:srgbClr val="0D1B2A"/>
                          </a:solidFill>
                        </a:rPr>
                        <a:t>$1.7M</a:t>
                      </a:r>
                    </a:p>
                  </a:txBody>
                  <a:tcPr>
                    <a:solidFill>
                      <a:srgbClr val="F0F4F8"/>
                    </a:solidFill>
                  </a:tcPr>
                </a:tc>
                <a:tc>
                  <a:txBody>
                    <a:bodyPr/>
                    <a:lstStyle/>
                    <a:p>
                      <a:pPr algn="l"/>
                      <a:r>
                        <a:rPr sz="1200">
                          <a:solidFill>
                            <a:srgbClr val="0D1B2A"/>
                          </a:solidFill>
                        </a:rPr>
                        <a:t>$6.3M</a:t>
                      </a:r>
                    </a:p>
                  </a:txBody>
                  <a:tcPr>
                    <a:solidFill>
                      <a:srgbClr val="F0F4F8"/>
                    </a:solidFill>
                  </a:tcPr>
                </a:tc>
              </a:tr>
              <a:tr h="475488">
                <a:tc>
                  <a:txBody>
                    <a:bodyPr/>
                    <a:lstStyle/>
                    <a:p>
                      <a:pPr algn="l"/>
                      <a:r>
                        <a:rPr sz="1200">
                          <a:solidFill>
                            <a:srgbClr val="0D1B2A"/>
                          </a:solidFill>
                        </a:rPr>
                        <a:t>Gross Margin (blended)</a:t>
                      </a:r>
                    </a:p>
                  </a:txBody>
                  <a:tcPr>
                    <a:solidFill>
                      <a:srgbClr val="FFFFFF"/>
                    </a:solidFill>
                  </a:tcPr>
                </a:tc>
                <a:tc>
                  <a:txBody>
                    <a:bodyPr/>
                    <a:lstStyle/>
                    <a:p>
                      <a:pPr algn="l"/>
                      <a:r>
                        <a:rPr sz="1200">
                          <a:solidFill>
                            <a:srgbClr val="0D1B2A"/>
                          </a:solidFill>
                        </a:rPr>
                        <a:t>55%</a:t>
                      </a:r>
                    </a:p>
                  </a:txBody>
                  <a:tcPr>
                    <a:solidFill>
                      <a:srgbClr val="FFFFFF"/>
                    </a:solidFill>
                  </a:tcPr>
                </a:tc>
                <a:tc>
                  <a:txBody>
                    <a:bodyPr/>
                    <a:lstStyle/>
                    <a:p>
                      <a:pPr algn="l"/>
                      <a:r>
                        <a:rPr sz="1200">
                          <a:solidFill>
                            <a:srgbClr val="0D1B2A"/>
                          </a:solidFill>
                        </a:rPr>
                        <a:t>62%</a:t>
                      </a:r>
                    </a:p>
                  </a:txBody>
                  <a:tcPr>
                    <a:solidFill>
                      <a:srgbClr val="FFFFFF"/>
                    </a:solidFill>
                  </a:tcPr>
                </a:tc>
                <a:tc>
                  <a:txBody>
                    <a:bodyPr/>
                    <a:lstStyle/>
                    <a:p>
                      <a:pPr algn="l"/>
                      <a:r>
                        <a:rPr sz="1200">
                          <a:solidFill>
                            <a:srgbClr val="0D1B2A"/>
                          </a:solidFill>
                        </a:rPr>
                        <a:t>68%</a:t>
                      </a:r>
                    </a:p>
                  </a:txBody>
                  <a:tcPr>
                    <a:solidFill>
                      <a:srgbClr val="FFFFFF"/>
                    </a:solidFill>
                  </a:tcPr>
                </a:tc>
              </a:tr>
              <a:tr h="475488">
                <a:tc>
                  <a:txBody>
                    <a:bodyPr/>
                    <a:lstStyle/>
                    <a:p>
                      <a:pPr algn="l"/>
                      <a:r>
                        <a:rPr sz="1200">
                          <a:solidFill>
                            <a:srgbClr val="0D1B2A"/>
                          </a:solidFill>
                        </a:rPr>
                        <a:t>Headcount</a:t>
                      </a:r>
                    </a:p>
                  </a:txBody>
                  <a:tcPr>
                    <a:solidFill>
                      <a:srgbClr val="F0F4F8"/>
                    </a:solidFill>
                  </a:tcPr>
                </a:tc>
                <a:tc>
                  <a:txBody>
                    <a:bodyPr/>
                    <a:lstStyle/>
                    <a:p>
                      <a:pPr algn="l"/>
                      <a:r>
                        <a:rPr sz="1200">
                          <a:solidFill>
                            <a:srgbClr val="0D1B2A"/>
                          </a:solidFill>
                        </a:rPr>
                        <a:t>4</a:t>
                      </a:r>
                    </a:p>
                  </a:txBody>
                  <a:tcPr>
                    <a:solidFill>
                      <a:srgbClr val="F0F4F8"/>
                    </a:solidFill>
                  </a:tcPr>
                </a:tc>
                <a:tc>
                  <a:txBody>
                    <a:bodyPr/>
                    <a:lstStyle/>
                    <a:p>
                      <a:pPr algn="l"/>
                      <a:r>
                        <a:rPr sz="1200">
                          <a:solidFill>
                            <a:srgbClr val="0D1B2A"/>
                          </a:solidFill>
                        </a:rPr>
                        <a:t>12</a:t>
                      </a:r>
                    </a:p>
                  </a:txBody>
                  <a:tcPr>
                    <a:solidFill>
                      <a:srgbClr val="F0F4F8"/>
                    </a:solidFill>
                  </a:tcPr>
                </a:tc>
                <a:tc>
                  <a:txBody>
                    <a:bodyPr/>
                    <a:lstStyle/>
                    <a:p>
                      <a:pPr algn="l"/>
                      <a:r>
                        <a:rPr sz="1200">
                          <a:solidFill>
                            <a:srgbClr val="0D1B2A"/>
                          </a:solidFill>
                        </a:rPr>
                        <a:t>25</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projections are assumption-based. Replace with validated data before any investment decision.</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Ask — Series A: $4.5M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18-month runway to first significant revenue and an enterprise customer base</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Use of Funds</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How the capital is deployed</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300" b="0" i="0">
                <a:solidFill>
                  <a:srgbClr val="FFFFFF"/>
                </a:solidFill>
              </a:rPr>
              <a:t>Engineering and Product  —  45%  ($2.0M)</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300" b="0" i="0">
                <a:solidFill>
                  <a:srgbClr val="FFFFFF"/>
                </a:solidFill>
              </a:rPr>
              <a:t>Sales and Marketing      —  30%  ($1.35M)</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300" b="0" i="0">
                <a:solidFill>
                  <a:srgbClr val="FFFFFF"/>
                </a:solidFill>
              </a:rPr>
              <a:t>Operations and G&amp;A       —  15%  ($0.68M)</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300" b="0" i="0">
                <a:solidFill>
                  <a:srgbClr val="FFFFFF"/>
                </a:solidFill>
              </a:rPr>
              <a:t>Reserve and Contingency  —  10%  ($0.45M)</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18-Month Milestones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What the investment delivers</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300" b="0" i="0">
                <a:solidFill>
                  <a:srgbClr val="FFFFFF"/>
                </a:solidFill>
              </a:rPr>
              <a:t>3 paying enterprise customers by Month 6</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300" b="0" i="0">
                <a:solidFill>
                  <a:srgbClr val="FFFFFF"/>
                </a:solidFill>
              </a:rPr>
              <a:t>$1M ARR by Month 12</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300" b="0" i="0">
                <a:solidFill>
                  <a:srgbClr val="FFFFFF"/>
                </a:solidFill>
              </a:rPr>
              <a:t>Partner channel live by Month 14</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300" b="0" i="0">
                <a:solidFill>
                  <a:srgbClr val="FFFFFF"/>
                </a:solidFill>
              </a:rPr>
              <a:t>$2.5M ARR by Month 18</a:t>
            </a:r>
          </a:p>
        </p:txBody>
      </p:sp>
      <p:sp>
        <p:nvSpPr>
          <p:cNvPr id="19" name="TextBox 18"/>
          <p:cNvSpPr txBox="1"/>
          <p:nvPr/>
        </p:nvSpPr>
        <p:spPr>
          <a:xfrm>
            <a:off x="6583680" y="4407408"/>
            <a:ext cx="4846320" cy="347472"/>
          </a:xfrm>
          <a:prstGeom prst="rect">
            <a:avLst/>
          </a:prstGeom>
          <a:noFill/>
        </p:spPr>
        <p:txBody>
          <a:bodyPr wrap="square">
            <a:spAutoFit/>
          </a:bodyPr>
          <a:lstStyle/>
          <a:p>
            <a:pPr algn="l"/>
            <a:r>
              <a:rPr sz="1300" b="0" i="0">
                <a:solidFill>
                  <a:srgbClr val="FFFFFF"/>
                </a:solidFill>
              </a:rPr>
              <a:t>Series B ready: $10M+ ARR trajectory</a:t>
            </a:r>
          </a:p>
        </p:txBody>
      </p:sp>
      <p:sp>
        <p:nvSpPr>
          <p:cNvPr id="20" name="TextBox 19"/>
          <p:cNvSpPr txBox="1"/>
          <p:nvPr/>
        </p:nvSpPr>
        <p:spPr>
          <a:xfrm>
            <a:off x="457200" y="5833872"/>
            <a:ext cx="11247120" cy="347472"/>
          </a:xfrm>
          <a:prstGeom prst="rect">
            <a:avLst/>
          </a:prstGeom>
          <a:noFill/>
        </p:spPr>
        <p:txBody>
          <a:bodyPr wrap="square">
            <a:spAutoFit/>
          </a:bodyPr>
          <a:lstStyle/>
          <a:p>
            <a:pPr algn="ctr"/>
            <a:r>
              <a:rPr sz="1000" b="0" i="1">
                <a:solidFill>
                  <a:srgbClr val="647487"/>
                </a:solidFill>
              </a:rPr>
              <a:t>All financial projections are assumptions — validate before any investment decision.</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49039"/>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698480" cy="868680"/>
          </a:xfrm>
          <a:prstGeom prst="rect">
            <a:avLst/>
          </a:prstGeom>
          <a:noFill/>
        </p:spPr>
        <p:txBody>
          <a:bodyPr wrap="square">
            <a:spAutoFit/>
          </a:bodyPr>
          <a:lstStyle/>
          <a:p>
            <a:pPr algn="ctr"/>
            <a:r>
              <a:rPr sz="4600" b="1" i="0">
                <a:solidFill>
                  <a:srgbClr val="FFFFFF"/>
                </a:solidFill>
              </a:rPr>
              <a:t>SAGE Framework</a:t>
            </a:r>
          </a:p>
        </p:txBody>
      </p:sp>
      <p:sp>
        <p:nvSpPr>
          <p:cNvPr id="6" name="TextBox 5"/>
          <p:cNvSpPr txBox="1"/>
          <p:nvPr/>
        </p:nvSpPr>
        <p:spPr>
          <a:xfrm>
            <a:off x="731520" y="1783080"/>
            <a:ext cx="10698480" cy="640080"/>
          </a:xfrm>
          <a:prstGeom prst="rect">
            <a:avLst/>
          </a:prstGeom>
          <a:noFill/>
        </p:spPr>
        <p:txBody>
          <a:bodyPr wrap="square">
            <a:spAutoFit/>
          </a:bodyPr>
          <a:lstStyle/>
          <a:p>
            <a:pPr algn="ctr"/>
            <a:r>
              <a:rPr sz="2000" b="0" i="0">
                <a:solidFill>
                  <a:srgbClr val="00B4D8"/>
                </a:solidFill>
              </a:rPr>
              <a:t>The infrastructure layer for AI-augmented engineering in regulated industries.</a:t>
            </a:r>
          </a:p>
        </p:txBody>
      </p:sp>
      <p:sp>
        <p:nvSpPr>
          <p:cNvPr id="7" name="TextBox 6"/>
          <p:cNvSpPr txBox="1"/>
          <p:nvPr/>
        </p:nvSpPr>
        <p:spPr>
          <a:xfrm>
            <a:off x="731520" y="2514600"/>
            <a:ext cx="10698480" cy="914400"/>
          </a:xfrm>
          <a:prstGeom prst="rect">
            <a:avLst/>
          </a:prstGeom>
          <a:noFill/>
        </p:spPr>
        <p:txBody>
          <a:bodyPr wrap="square">
            <a:spAutoFit/>
          </a:bodyPr>
          <a:lstStyle/>
          <a:p>
            <a:pPr algn="ctr"/>
            <a:r>
              <a:rPr sz="1700" b="0" i="1">
                <a:solidFill>
                  <a:srgbClr val="647487"/>
                </a:solidFill>
              </a:rPr>
              <a:t>Lean development at machine speed.
Compliant by design. Human judgment always in the loop.</a:t>
            </a:r>
          </a:p>
        </p:txBody>
      </p:sp>
      <p:sp>
        <p:nvSpPr>
          <p:cNvPr id="8" name="TextBox 7"/>
          <p:cNvSpPr txBox="1"/>
          <p:nvPr/>
        </p:nvSpPr>
        <p:spPr>
          <a:xfrm>
            <a:off x="2286000" y="3977639"/>
            <a:ext cx="7589520" cy="384048"/>
          </a:xfrm>
          <a:prstGeom prst="rect">
            <a:avLst/>
          </a:prstGeom>
          <a:noFill/>
        </p:spPr>
        <p:txBody>
          <a:bodyPr wrap="square">
            <a:spAutoFit/>
          </a:bodyPr>
          <a:lstStyle/>
          <a:p>
            <a:pPr algn="ctr"/>
            <a:r>
              <a:rPr sz="1400" b="0" i="0">
                <a:solidFill>
                  <a:srgbClr val="FFFFFF"/>
                </a:solidFill>
              </a:rPr>
              <a:t>github.com/your-org/sage</a:t>
            </a:r>
          </a:p>
        </p:txBody>
      </p:sp>
      <p:sp>
        <p:nvSpPr>
          <p:cNvPr id="9" name="TextBox 8"/>
          <p:cNvSpPr txBox="1"/>
          <p:nvPr/>
        </p:nvSpPr>
        <p:spPr>
          <a:xfrm>
            <a:off x="2286000" y="4434839"/>
            <a:ext cx="7589520" cy="384048"/>
          </a:xfrm>
          <a:prstGeom prst="rect">
            <a:avLst/>
          </a:prstGeom>
          <a:noFill/>
        </p:spPr>
        <p:txBody>
          <a:bodyPr wrap="square">
            <a:spAutoFit/>
          </a:bodyPr>
          <a:lstStyle/>
          <a:p>
            <a:pPr algn="ctr"/>
            <a:r>
              <a:rPr sz="1400" b="0" i="0">
                <a:solidFill>
                  <a:srgbClr val="FFFFFF"/>
                </a:solidFill>
              </a:rPr>
              <a:t>contact@sage-framework.ai</a:t>
            </a:r>
          </a:p>
        </p:txBody>
      </p:sp>
      <p:sp>
        <p:nvSpPr>
          <p:cNvPr id="10" name="TextBox 9"/>
          <p:cNvSpPr txBox="1"/>
          <p:nvPr/>
        </p:nvSpPr>
        <p:spPr>
          <a:xfrm>
            <a:off x="2286000" y="4892039"/>
            <a:ext cx="7589520" cy="384048"/>
          </a:xfrm>
          <a:prstGeom prst="rect">
            <a:avLst/>
          </a:prstGeom>
          <a:noFill/>
        </p:spPr>
        <p:txBody>
          <a:bodyPr wrap="square">
            <a:spAutoFit/>
          </a:bodyPr>
          <a:lstStyle/>
          <a:p>
            <a:pPr algn="ctr"/>
            <a:r>
              <a:rPr sz="1400" b="0" i="0">
                <a:solidFill>
                  <a:srgbClr val="FFFFFF"/>
                </a:solidFill>
              </a:rPr>
              <a:t>/docs — SETUP.md, API_REFERENCE.md, USER_GUIDE.md</a:t>
            </a:r>
          </a:p>
        </p:txBody>
      </p:sp>
      <p:sp>
        <p:nvSpPr>
          <p:cNvPr id="11" name="TextBox 10"/>
          <p:cNvSpPr txBox="1"/>
          <p:nvPr/>
        </p:nvSpPr>
        <p:spPr>
          <a:xfrm>
            <a:off x="1371600" y="5989320"/>
            <a:ext cx="9418320" cy="411480"/>
          </a:xfrm>
          <a:prstGeom prst="rect">
            <a:avLst/>
          </a:prstGeom>
          <a:noFill/>
        </p:spPr>
        <p:txBody>
          <a:bodyPr wrap="square">
            <a:spAutoFit/>
          </a:bodyPr>
          <a:lstStyle/>
          <a:p>
            <a:pPr algn="ctr"/>
            <a:r>
              <a:rPr sz="1000" b="0" i="1">
                <a:solidFill>
                  <a:srgbClr val="647487"/>
                </a:solidFill>
              </a:rPr>
              <a:t>All financial estimates and projections are assumption-based. Validate with actual data before any investment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