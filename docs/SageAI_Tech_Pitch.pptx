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9" r:id="rId30"/>
    <p:sldId id="280" r:id="rId31"/>
    <p:sldId id="277" r:id="rId28"/>
    <p:sldId id="278"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3776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914400"/>
            <a:ext cx="10058400" cy="1097280"/>
          </a:xfrm>
          <a:prstGeom prst="rect">
            <a:avLst/>
          </a:prstGeom>
          <a:noFill/>
        </p:spPr>
        <p:txBody>
          <a:bodyPr wrap="square">
            <a:spAutoFit/>
          </a:bodyPr>
          <a:lstStyle/>
          <a:p>
            <a:pPr algn="ctr"/>
            <a:r>
              <a:rPr sz="5800" b="1" i="0">
                <a:solidFill>
                  <a:srgbClr val="FFFFFF"/>
                </a:solidFill>
              </a:rPr>
              <a:t>SAGE Framework</a:t>
            </a:r>
          </a:p>
        </p:txBody>
      </p:sp>
      <p:sp>
        <p:nvSpPr>
          <p:cNvPr id="6" name="TextBox 5"/>
          <p:cNvSpPr txBox="1"/>
          <p:nvPr/>
        </p:nvSpPr>
        <p:spPr>
          <a:xfrm>
            <a:off x="914400" y="2103120"/>
            <a:ext cx="10058400" cy="594360"/>
          </a:xfrm>
          <a:prstGeom prst="rect">
            <a:avLst/>
          </a:prstGeom>
          <a:noFill/>
        </p:spPr>
        <p:txBody>
          <a:bodyPr wrap="square">
            <a:spAutoFit/>
          </a:bodyPr>
          <a:lstStyle/>
          <a:p>
            <a:pPr algn="ctr"/>
            <a:r>
              <a:rPr sz="2400" b="0" i="0">
                <a:solidFill>
                  <a:srgbClr val="00B4D8"/>
                </a:solidFill>
              </a:rPr>
              <a:t>Smart Agentic-Guided Empowerment</a:t>
            </a:r>
          </a:p>
        </p:txBody>
      </p:sp>
      <p:sp>
        <p:nvSpPr>
          <p:cNvPr id="7" name="TextBox 6"/>
          <p:cNvSpPr txBox="1"/>
          <p:nvPr/>
        </p:nvSpPr>
        <p:spPr>
          <a:xfrm>
            <a:off x="1371600" y="2834640"/>
            <a:ext cx="9144000" cy="822960"/>
          </a:xfrm>
          <a:prstGeom prst="rect">
            <a:avLst/>
          </a:prstGeom>
          <a:noFill/>
        </p:spPr>
        <p:txBody>
          <a:bodyPr wrap="square">
            <a:spAutoFit/>
          </a:bodyPr>
          <a:lstStyle/>
          <a:p>
            <a:pPr algn="ctr"/>
            <a:r>
              <a:rPr sz="1700" b="0" i="1">
                <a:solidFill>
                  <a:srgbClr val="647487"/>
                </a:solidFill>
              </a:rPr>
              <a:t>A modular autonomous AI agent framework
built on lean development methodology at machine speed</a:t>
            </a:r>
          </a:p>
        </p:txBody>
      </p:sp>
      <p:sp>
        <p:nvSpPr>
          <p:cNvPr id="8" name="TextBox 7"/>
          <p:cNvSpPr txBox="1"/>
          <p:nvPr/>
        </p:nvSpPr>
        <p:spPr>
          <a:xfrm>
            <a:off x="914400" y="5212080"/>
            <a:ext cx="10058400" cy="411480"/>
          </a:xfrm>
          <a:prstGeom prst="rect">
            <a:avLst/>
          </a:prstGeom>
          <a:noFill/>
        </p:spPr>
        <p:txBody>
          <a:bodyPr wrap="square">
            <a:spAutoFit/>
          </a:bodyPr>
          <a:lstStyle/>
          <a:p>
            <a:pPr algn="ctr"/>
            <a:r>
              <a:rPr sz="1400" b="0" i="0">
                <a:solidFill>
                  <a:srgbClr val="647487"/>
                </a:solidFill>
              </a:rPr>
              <a:t>Technical Platform Overview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The Core Thesis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Lean development is the natural pairing for agentic AI</a:t>
            </a:r>
          </a:p>
        </p:txBody>
      </p:sp>
      <p:sp>
        <p:nvSpPr>
          <p:cNvPr id="5" name="Rectangle 4"/>
          <p:cNvSpPr/>
          <p:nvPr/>
        </p:nvSpPr>
        <p:spPr>
          <a:xfrm>
            <a:off x="411480" y="1600200"/>
            <a:ext cx="109728" cy="7315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0200"/>
            <a:ext cx="10515600" cy="347472"/>
          </a:xfrm>
          <a:prstGeom prst="rect">
            <a:avLst/>
          </a:prstGeom>
          <a:noFill/>
        </p:spPr>
        <p:txBody>
          <a:bodyPr wrap="square">
            <a:spAutoFit/>
          </a:bodyPr>
          <a:lstStyle/>
          <a:p>
            <a:pPr algn="l"/>
            <a:r>
              <a:rPr sz="1500" b="1" i="0">
                <a:solidFill>
                  <a:srgbClr val="0078D4"/>
                </a:solidFill>
              </a:rPr>
              <a:t>Eliminate Waste</a:t>
            </a:r>
          </a:p>
        </p:txBody>
      </p:sp>
      <p:sp>
        <p:nvSpPr>
          <p:cNvPr id="7" name="TextBox 6"/>
          <p:cNvSpPr txBox="1"/>
          <p:nvPr/>
        </p:nvSpPr>
        <p:spPr>
          <a:xfrm>
            <a:off x="685800" y="1920240"/>
            <a:ext cx="10515600" cy="347472"/>
          </a:xfrm>
          <a:prstGeom prst="rect">
            <a:avLst/>
          </a:prstGeom>
          <a:noFill/>
        </p:spPr>
        <p:txBody>
          <a:bodyPr wrap="square">
            <a:spAutoFit/>
          </a:bodyPr>
          <a:lstStyle/>
          <a:p>
            <a:pPr algn="l"/>
            <a:r>
              <a:rPr sz="1300" b="0" i="0">
                <a:solidFill>
                  <a:srgbClr val="0D1B2A"/>
                </a:solidFill>
              </a:rPr>
              <a:t>Agents handle the repetitive — humans handle the judgment</a:t>
            </a:r>
          </a:p>
        </p:txBody>
      </p:sp>
      <p:sp>
        <p:nvSpPr>
          <p:cNvPr id="8" name="Rectangle 7"/>
          <p:cNvSpPr/>
          <p:nvPr/>
        </p:nvSpPr>
        <p:spPr>
          <a:xfrm>
            <a:off x="411480" y="2560320"/>
            <a:ext cx="109728" cy="7315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60320"/>
            <a:ext cx="10515600" cy="347472"/>
          </a:xfrm>
          <a:prstGeom prst="rect">
            <a:avLst/>
          </a:prstGeom>
          <a:noFill/>
        </p:spPr>
        <p:txBody>
          <a:bodyPr wrap="square">
            <a:spAutoFit/>
          </a:bodyPr>
          <a:lstStyle/>
          <a:p>
            <a:pPr algn="l"/>
            <a:r>
              <a:rPr sz="1500" b="1" i="0">
                <a:solidFill>
                  <a:srgbClr val="0078D4"/>
                </a:solidFill>
              </a:rPr>
              <a:t>Shorten Feedback Loops</a:t>
            </a:r>
          </a:p>
        </p:txBody>
      </p:sp>
      <p:sp>
        <p:nvSpPr>
          <p:cNvPr id="10" name="TextBox 9"/>
          <p:cNvSpPr txBox="1"/>
          <p:nvPr/>
        </p:nvSpPr>
        <p:spPr>
          <a:xfrm>
            <a:off x="685800" y="2880360"/>
            <a:ext cx="10515600" cy="347472"/>
          </a:xfrm>
          <a:prstGeom prst="rect">
            <a:avLst/>
          </a:prstGeom>
          <a:noFill/>
        </p:spPr>
        <p:txBody>
          <a:bodyPr wrap="square">
            <a:spAutoFit/>
          </a:bodyPr>
          <a:lstStyle/>
          <a:p>
            <a:pPr algn="l"/>
            <a:r>
              <a:rPr sz="1300" b="0" i="0">
                <a:solidFill>
                  <a:srgbClr val="0D1B2A"/>
                </a:solidFill>
              </a:rPr>
              <a:t>Surface → Propose → Decide → Compound in seconds, not days</a:t>
            </a:r>
          </a:p>
        </p:txBody>
      </p:sp>
      <p:sp>
        <p:nvSpPr>
          <p:cNvPr id="11" name="Rectangle 10"/>
          <p:cNvSpPr/>
          <p:nvPr/>
        </p:nvSpPr>
        <p:spPr>
          <a:xfrm>
            <a:off x="411480" y="3520440"/>
            <a:ext cx="109728" cy="7315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20440"/>
            <a:ext cx="10515600" cy="347472"/>
          </a:xfrm>
          <a:prstGeom prst="rect">
            <a:avLst/>
          </a:prstGeom>
          <a:noFill/>
        </p:spPr>
        <p:txBody>
          <a:bodyPr wrap="square">
            <a:spAutoFit/>
          </a:bodyPr>
          <a:lstStyle/>
          <a:p>
            <a:pPr algn="l"/>
            <a:r>
              <a:rPr sz="1500" b="1" i="0">
                <a:solidFill>
                  <a:srgbClr val="0078D4"/>
                </a:solidFill>
              </a:rPr>
              <a:t>Amplify Human Judgment</a:t>
            </a:r>
          </a:p>
        </p:txBody>
      </p:sp>
      <p:sp>
        <p:nvSpPr>
          <p:cNvPr id="13" name="TextBox 12"/>
          <p:cNvSpPr txBox="1"/>
          <p:nvPr/>
        </p:nvSpPr>
        <p:spPr>
          <a:xfrm>
            <a:off x="685800" y="3840480"/>
            <a:ext cx="10515600" cy="347472"/>
          </a:xfrm>
          <a:prstGeom prst="rect">
            <a:avLst/>
          </a:prstGeom>
          <a:noFill/>
        </p:spPr>
        <p:txBody>
          <a:bodyPr wrap="square">
            <a:spAutoFit/>
          </a:bodyPr>
          <a:lstStyle/>
          <a:p>
            <a:pPr algn="l"/>
            <a:r>
              <a:rPr sz="1300" b="0" i="0">
                <a:solidFill>
                  <a:srgbClr val="0D1B2A"/>
                </a:solidFill>
              </a:rPr>
              <a:t>Every proposal waits for a human gate — compliance guaranteed</a:t>
            </a:r>
          </a:p>
        </p:txBody>
      </p:sp>
      <p:sp>
        <p:nvSpPr>
          <p:cNvPr id="14" name="Rectangle 13"/>
          <p:cNvSpPr/>
          <p:nvPr/>
        </p:nvSpPr>
        <p:spPr>
          <a:xfrm>
            <a:off x="411480" y="4480560"/>
            <a:ext cx="109728" cy="7315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480560"/>
            <a:ext cx="10515600" cy="347472"/>
          </a:xfrm>
          <a:prstGeom prst="rect">
            <a:avLst/>
          </a:prstGeom>
          <a:noFill/>
        </p:spPr>
        <p:txBody>
          <a:bodyPr wrap="square">
            <a:spAutoFit/>
          </a:bodyPr>
          <a:lstStyle/>
          <a:p>
            <a:pPr algn="l"/>
            <a:r>
              <a:rPr sz="1500" b="1" i="0">
                <a:solidFill>
                  <a:srgbClr val="0078D4"/>
                </a:solidFill>
              </a:rPr>
              <a:t>Compound Intelligence</a:t>
            </a:r>
          </a:p>
        </p:txBody>
      </p:sp>
      <p:sp>
        <p:nvSpPr>
          <p:cNvPr id="16" name="TextBox 15"/>
          <p:cNvSpPr txBox="1"/>
          <p:nvPr/>
        </p:nvSpPr>
        <p:spPr>
          <a:xfrm>
            <a:off x="685800" y="4800600"/>
            <a:ext cx="10515600" cy="347472"/>
          </a:xfrm>
          <a:prstGeom prst="rect">
            <a:avLst/>
          </a:prstGeom>
          <a:noFill/>
        </p:spPr>
        <p:txBody>
          <a:bodyPr wrap="square">
            <a:spAutoFit/>
          </a:bodyPr>
          <a:lstStyle/>
          <a:p>
            <a:pPr algn="l"/>
            <a:r>
              <a:rPr sz="1300" b="0" i="0">
                <a:solidFill>
                  <a:srgbClr val="0D1B2A"/>
                </a:solidFill>
              </a:rPr>
              <a:t>Every correction feeds the vector store — the system gets smarter with use</a:t>
            </a:r>
          </a:p>
        </p:txBody>
      </p:sp>
      <p:sp>
        <p:nvSpPr>
          <p:cNvPr id="17" name="Rectangle 16"/>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The SAGE Lean Loop</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Every task follows this five-phase cycle — no phase is skippable</a:t>
            </a:r>
          </a:p>
        </p:txBody>
      </p:sp>
      <p:sp>
        <p:nvSpPr>
          <p:cNvPr id="5" name="Rectangle 4"/>
          <p:cNvSpPr/>
          <p:nvPr/>
        </p:nvSpPr>
        <p:spPr>
          <a:xfrm>
            <a:off x="228600" y="1645920"/>
            <a:ext cx="2194560" cy="34747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737360"/>
            <a:ext cx="2011680" cy="822960"/>
          </a:xfrm>
          <a:prstGeom prst="rect">
            <a:avLst/>
          </a:prstGeom>
          <a:noFill/>
        </p:spPr>
        <p:txBody>
          <a:bodyPr wrap="square">
            <a:spAutoFit/>
          </a:bodyPr>
          <a:lstStyle/>
          <a:p>
            <a:pPr algn="ctr"/>
            <a:r>
              <a:rPr sz="1400" b="1" i="0">
                <a:solidFill>
                  <a:srgbClr val="FFFFFF"/>
                </a:solidFill>
              </a:rPr>
              <a:t>1
SURFACE</a:t>
            </a:r>
          </a:p>
        </p:txBody>
      </p:sp>
      <p:sp>
        <p:nvSpPr>
          <p:cNvPr id="7" name="TextBox 6"/>
          <p:cNvSpPr txBox="1"/>
          <p:nvPr/>
        </p:nvSpPr>
        <p:spPr>
          <a:xfrm>
            <a:off x="320040" y="2651760"/>
            <a:ext cx="2011680" cy="1828800"/>
          </a:xfrm>
          <a:prstGeom prst="rect">
            <a:avLst/>
          </a:prstGeom>
          <a:noFill/>
        </p:spPr>
        <p:txBody>
          <a:bodyPr wrap="square">
            <a:spAutoFit/>
          </a:bodyPr>
          <a:lstStyle/>
          <a:p>
            <a:pPr algn="ctr"/>
            <a:r>
              <a:rPr sz="1200" b="0" i="0">
                <a:solidFill>
                  <a:srgbClr val="FFFFFF"/>
                </a:solidFill>
              </a:rPr>
              <a:t>Agent detects or receives signal
(log, webhook, trigger)</a:t>
            </a:r>
          </a:p>
        </p:txBody>
      </p:sp>
      <p:sp>
        <p:nvSpPr>
          <p:cNvPr id="8" name="TextBox 7"/>
          <p:cNvSpPr txBox="1"/>
          <p:nvPr/>
        </p:nvSpPr>
        <p:spPr>
          <a:xfrm>
            <a:off x="2423160" y="2926080"/>
            <a:ext cx="274320" cy="457200"/>
          </a:xfrm>
          <a:prstGeom prst="rect">
            <a:avLst/>
          </a:prstGeom>
          <a:noFill/>
        </p:spPr>
        <p:txBody>
          <a:bodyPr wrap="square">
            <a:spAutoFit/>
          </a:bodyPr>
          <a:lstStyle/>
          <a:p>
            <a:pPr algn="ctr"/>
            <a:r>
              <a:rPr sz="2200" b="1" i="0">
                <a:solidFill>
                  <a:srgbClr val="0D1B2A"/>
                </a:solidFill>
              </a:rPr>
              <a:t>→</a:t>
            </a:r>
          </a:p>
        </p:txBody>
      </p:sp>
      <p:sp>
        <p:nvSpPr>
          <p:cNvPr id="9" name="Rectangle 8"/>
          <p:cNvSpPr/>
          <p:nvPr/>
        </p:nvSpPr>
        <p:spPr>
          <a:xfrm>
            <a:off x="2679192" y="1645920"/>
            <a:ext cx="2194560" cy="3474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70632" y="1737360"/>
            <a:ext cx="2011680" cy="822960"/>
          </a:xfrm>
          <a:prstGeom prst="rect">
            <a:avLst/>
          </a:prstGeom>
          <a:noFill/>
        </p:spPr>
        <p:txBody>
          <a:bodyPr wrap="square">
            <a:spAutoFit/>
          </a:bodyPr>
          <a:lstStyle/>
          <a:p>
            <a:pPr algn="ctr"/>
            <a:r>
              <a:rPr sz="1400" b="1" i="0">
                <a:solidFill>
                  <a:srgbClr val="FFFFFF"/>
                </a:solidFill>
              </a:rPr>
              <a:t>2
CONTEXTUALIZE</a:t>
            </a:r>
          </a:p>
        </p:txBody>
      </p:sp>
      <p:sp>
        <p:nvSpPr>
          <p:cNvPr id="11" name="TextBox 10"/>
          <p:cNvSpPr txBox="1"/>
          <p:nvPr/>
        </p:nvSpPr>
        <p:spPr>
          <a:xfrm>
            <a:off x="2770632" y="2651760"/>
            <a:ext cx="2011680" cy="1828800"/>
          </a:xfrm>
          <a:prstGeom prst="rect">
            <a:avLst/>
          </a:prstGeom>
          <a:noFill/>
        </p:spPr>
        <p:txBody>
          <a:bodyPr wrap="square">
            <a:spAutoFit/>
          </a:bodyPr>
          <a:lstStyle/>
          <a:p>
            <a:pPr algn="ctr"/>
            <a:r>
              <a:rPr sz="1200" b="0" i="0">
                <a:solidFill>
                  <a:srgbClr val="FFFFFF"/>
                </a:solidFill>
              </a:rPr>
              <a:t>Vector memory searched;
prior decisions retrieved</a:t>
            </a:r>
          </a:p>
        </p:txBody>
      </p:sp>
      <p:sp>
        <p:nvSpPr>
          <p:cNvPr id="12" name="TextBox 11"/>
          <p:cNvSpPr txBox="1"/>
          <p:nvPr/>
        </p:nvSpPr>
        <p:spPr>
          <a:xfrm>
            <a:off x="4873752" y="2926080"/>
            <a:ext cx="274320" cy="457200"/>
          </a:xfrm>
          <a:prstGeom prst="rect">
            <a:avLst/>
          </a:prstGeom>
          <a:noFill/>
        </p:spPr>
        <p:txBody>
          <a:bodyPr wrap="square">
            <a:spAutoFit/>
          </a:bodyPr>
          <a:lstStyle/>
          <a:p>
            <a:pPr algn="ctr"/>
            <a:r>
              <a:rPr sz="2200" b="1" i="0">
                <a:solidFill>
                  <a:srgbClr val="0D1B2A"/>
                </a:solidFill>
              </a:rPr>
              <a:t>→</a:t>
            </a:r>
          </a:p>
        </p:txBody>
      </p:sp>
      <p:sp>
        <p:nvSpPr>
          <p:cNvPr id="13" name="Rectangle 12"/>
          <p:cNvSpPr/>
          <p:nvPr/>
        </p:nvSpPr>
        <p:spPr>
          <a:xfrm>
            <a:off x="5129784" y="1645920"/>
            <a:ext cx="2194560" cy="3474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21224" y="1737360"/>
            <a:ext cx="2011680" cy="822960"/>
          </a:xfrm>
          <a:prstGeom prst="rect">
            <a:avLst/>
          </a:prstGeom>
          <a:noFill/>
        </p:spPr>
        <p:txBody>
          <a:bodyPr wrap="square">
            <a:spAutoFit/>
          </a:bodyPr>
          <a:lstStyle/>
          <a:p>
            <a:pPr algn="ctr"/>
            <a:r>
              <a:rPr sz="1400" b="1" i="0">
                <a:solidFill>
                  <a:srgbClr val="FFFFFF"/>
                </a:solidFill>
              </a:rPr>
              <a:t>3
PROPOSE</a:t>
            </a:r>
          </a:p>
        </p:txBody>
      </p:sp>
      <p:sp>
        <p:nvSpPr>
          <p:cNvPr id="15" name="TextBox 14"/>
          <p:cNvSpPr txBox="1"/>
          <p:nvPr/>
        </p:nvSpPr>
        <p:spPr>
          <a:xfrm>
            <a:off x="5221224" y="2651760"/>
            <a:ext cx="2011680" cy="1828800"/>
          </a:xfrm>
          <a:prstGeom prst="rect">
            <a:avLst/>
          </a:prstGeom>
          <a:noFill/>
        </p:spPr>
        <p:txBody>
          <a:bodyPr wrap="square">
            <a:spAutoFit/>
          </a:bodyPr>
          <a:lstStyle/>
          <a:p>
            <a:pPr algn="ctr"/>
            <a:r>
              <a:rPr sz="1200" b="0" i="0">
                <a:solidFill>
                  <a:srgbClr val="FFFFFF"/>
                </a:solidFill>
              </a:rPr>
              <a:t>LLM generates action proposal
with trace_id</a:t>
            </a:r>
          </a:p>
        </p:txBody>
      </p:sp>
      <p:sp>
        <p:nvSpPr>
          <p:cNvPr id="16" name="TextBox 15"/>
          <p:cNvSpPr txBox="1"/>
          <p:nvPr/>
        </p:nvSpPr>
        <p:spPr>
          <a:xfrm>
            <a:off x="7324344" y="2926080"/>
            <a:ext cx="274320" cy="457200"/>
          </a:xfrm>
          <a:prstGeom prst="rect">
            <a:avLst/>
          </a:prstGeom>
          <a:noFill/>
        </p:spPr>
        <p:txBody>
          <a:bodyPr wrap="square">
            <a:spAutoFit/>
          </a:bodyPr>
          <a:lstStyle/>
          <a:p>
            <a:pPr algn="ctr"/>
            <a:r>
              <a:rPr sz="2200" b="1" i="0">
                <a:solidFill>
                  <a:srgbClr val="0D1B2A"/>
                </a:solidFill>
              </a:rPr>
              <a:t>→</a:t>
            </a:r>
          </a:p>
        </p:txBody>
      </p:sp>
      <p:sp>
        <p:nvSpPr>
          <p:cNvPr id="17" name="Rectangle 16"/>
          <p:cNvSpPr/>
          <p:nvPr/>
        </p:nvSpPr>
        <p:spPr>
          <a:xfrm>
            <a:off x="7580376" y="1645920"/>
            <a:ext cx="2194560" cy="347472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1737360"/>
            <a:ext cx="2011680" cy="822960"/>
          </a:xfrm>
          <a:prstGeom prst="rect">
            <a:avLst/>
          </a:prstGeom>
          <a:noFill/>
        </p:spPr>
        <p:txBody>
          <a:bodyPr wrap="square">
            <a:spAutoFit/>
          </a:bodyPr>
          <a:lstStyle/>
          <a:p>
            <a:pPr algn="ctr"/>
            <a:r>
              <a:rPr sz="1400" b="1" i="0">
                <a:solidFill>
                  <a:srgbClr val="FFFFFF"/>
                </a:solidFill>
              </a:rPr>
              <a:t>4
DECIDE</a:t>
            </a:r>
          </a:p>
        </p:txBody>
      </p:sp>
      <p:sp>
        <p:nvSpPr>
          <p:cNvPr id="19" name="TextBox 18"/>
          <p:cNvSpPr txBox="1"/>
          <p:nvPr/>
        </p:nvSpPr>
        <p:spPr>
          <a:xfrm>
            <a:off x="7671816" y="2651760"/>
            <a:ext cx="2011680" cy="1828800"/>
          </a:xfrm>
          <a:prstGeom prst="rect">
            <a:avLst/>
          </a:prstGeom>
          <a:noFill/>
        </p:spPr>
        <p:txBody>
          <a:bodyPr wrap="square">
            <a:spAutoFit/>
          </a:bodyPr>
          <a:lstStyle/>
          <a:p>
            <a:pPr algn="ctr"/>
            <a:r>
              <a:rPr sz="1200" b="0" i="0">
                <a:solidFill>
                  <a:srgbClr val="FFFFFF"/>
                </a:solidFill>
              </a:rPr>
              <a:t>Human reviews, approves
or rejects with feedback</a:t>
            </a:r>
          </a:p>
        </p:txBody>
      </p:sp>
      <p:sp>
        <p:nvSpPr>
          <p:cNvPr id="20" name="TextBox 19"/>
          <p:cNvSpPr txBox="1"/>
          <p:nvPr/>
        </p:nvSpPr>
        <p:spPr>
          <a:xfrm>
            <a:off x="9774936" y="2926080"/>
            <a:ext cx="274320" cy="457200"/>
          </a:xfrm>
          <a:prstGeom prst="rect">
            <a:avLst/>
          </a:prstGeom>
          <a:noFill/>
        </p:spPr>
        <p:txBody>
          <a:bodyPr wrap="square">
            <a:spAutoFit/>
          </a:bodyPr>
          <a:lstStyle/>
          <a:p>
            <a:pPr algn="ctr"/>
            <a:r>
              <a:rPr sz="2200" b="1" i="0">
                <a:solidFill>
                  <a:srgbClr val="0D1B2A"/>
                </a:solidFill>
              </a:rPr>
              <a:t>→</a:t>
            </a:r>
          </a:p>
        </p:txBody>
      </p:sp>
      <p:sp>
        <p:nvSpPr>
          <p:cNvPr id="21" name="Rectangle 20"/>
          <p:cNvSpPr/>
          <p:nvPr/>
        </p:nvSpPr>
        <p:spPr>
          <a:xfrm>
            <a:off x="10030968" y="1645920"/>
            <a:ext cx="2194560" cy="3474720"/>
          </a:xfrm>
          <a:prstGeom prst="rect">
            <a:avLst/>
          </a:prstGeom>
          <a:solidFill>
            <a:srgbClr val="21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22408" y="1737360"/>
            <a:ext cx="2011680" cy="822960"/>
          </a:xfrm>
          <a:prstGeom prst="rect">
            <a:avLst/>
          </a:prstGeom>
          <a:noFill/>
        </p:spPr>
        <p:txBody>
          <a:bodyPr wrap="square">
            <a:spAutoFit/>
          </a:bodyPr>
          <a:lstStyle/>
          <a:p>
            <a:pPr algn="ctr"/>
            <a:r>
              <a:rPr sz="1400" b="1" i="0">
                <a:solidFill>
                  <a:srgbClr val="FFFFFF"/>
                </a:solidFill>
              </a:rPr>
              <a:t>5
COMPOUND</a:t>
            </a:r>
          </a:p>
        </p:txBody>
      </p:sp>
      <p:sp>
        <p:nvSpPr>
          <p:cNvPr id="23" name="TextBox 22"/>
          <p:cNvSpPr txBox="1"/>
          <p:nvPr/>
        </p:nvSpPr>
        <p:spPr>
          <a:xfrm>
            <a:off x="10122408" y="2651760"/>
            <a:ext cx="2011680" cy="1828800"/>
          </a:xfrm>
          <a:prstGeom prst="rect">
            <a:avLst/>
          </a:prstGeom>
          <a:noFill/>
        </p:spPr>
        <p:txBody>
          <a:bodyPr wrap="square">
            <a:spAutoFit/>
          </a:bodyPr>
          <a:lstStyle/>
          <a:p>
            <a:pPr algn="ctr"/>
            <a:r>
              <a:rPr sz="1200" b="0" i="0">
                <a:solidFill>
                  <a:srgbClr val="FFFFFF"/>
                </a:solidFill>
              </a:rPr>
              <a:t>Feedback ingested into vector store;
audit log updated</a:t>
            </a:r>
          </a:p>
        </p:txBody>
      </p:sp>
      <p:sp>
        <p:nvSpPr>
          <p:cNvPr id="24" name="TextBox 23"/>
          <p:cNvSpPr txBox="1"/>
          <p:nvPr/>
        </p:nvSpPr>
        <p:spPr>
          <a:xfrm>
            <a:off x="457200" y="5349240"/>
            <a:ext cx="11247120" cy="411480"/>
          </a:xfrm>
          <a:prstGeom prst="rect">
            <a:avLst/>
          </a:prstGeom>
          <a:noFill/>
        </p:spPr>
        <p:txBody>
          <a:bodyPr wrap="square">
            <a:spAutoFit/>
          </a:bodyPr>
          <a:lstStyle/>
          <a:p>
            <a:pPr algn="ctr"/>
            <a:r>
              <a:rPr sz="1300" b="1" i="1">
                <a:solidFill>
                  <a:srgbClr val="0078D4"/>
                </a:solidFill>
              </a:rPr>
              <a:t>Phase 5 feeds Phase 2 for every future task — this is compounding intelligence.</a:t>
            </a:r>
          </a:p>
        </p:txBody>
      </p:sp>
      <p:sp>
        <p:nvSpPr>
          <p:cNvPr id="25" name="Rectangle 24"/>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Architecture Overview</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Framework is domain-blind — solutions are YAML configs, not code</a:t>
            </a:r>
          </a:p>
        </p:txBody>
      </p:sp>
      <p:sp>
        <p:nvSpPr>
          <p:cNvPr id="5" name="Rectangle 4"/>
          <p:cNvSpPr/>
          <p:nvPr/>
        </p:nvSpPr>
        <p:spPr>
          <a:xfrm>
            <a:off x="365760" y="1463040"/>
            <a:ext cx="2286000" cy="548640"/>
          </a:xfrm>
          <a:prstGeom prst="rect">
            <a:avLst/>
          </a:prstGeom>
          <a:solidFill>
            <a:srgbClr val="21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08760"/>
            <a:ext cx="2194560" cy="457200"/>
          </a:xfrm>
          <a:prstGeom prst="rect">
            <a:avLst/>
          </a:prstGeom>
          <a:noFill/>
        </p:spPr>
        <p:txBody>
          <a:bodyPr wrap="square">
            <a:spAutoFit/>
          </a:bodyPr>
          <a:lstStyle/>
          <a:p>
            <a:pPr algn="ctr"/>
            <a:r>
              <a:rPr sz="1200" b="1" i="0">
                <a:solidFill>
                  <a:srgbClr val="FFFFFF"/>
                </a:solidFill>
              </a:rPr>
              <a:t>solutions/&lt;name&gt;/</a:t>
            </a:r>
          </a:p>
        </p:txBody>
      </p:sp>
      <p:sp>
        <p:nvSpPr>
          <p:cNvPr id="7" name="TextBox 6"/>
          <p:cNvSpPr txBox="1"/>
          <p:nvPr/>
        </p:nvSpPr>
        <p:spPr>
          <a:xfrm>
            <a:off x="2834640" y="1554480"/>
            <a:ext cx="8961120" cy="384048"/>
          </a:xfrm>
          <a:prstGeom prst="rect">
            <a:avLst/>
          </a:prstGeom>
          <a:noFill/>
        </p:spPr>
        <p:txBody>
          <a:bodyPr wrap="square">
            <a:spAutoFit/>
          </a:bodyPr>
          <a:lstStyle/>
          <a:p>
            <a:pPr algn="l"/>
            <a:r>
              <a:rPr sz="1300" b="0" i="0">
                <a:solidFill>
                  <a:srgbClr val="0D1B2A"/>
                </a:solidFill>
              </a:rPr>
              <a:t>3 YAML files · tests · tools — fully replaceable per domain</a:t>
            </a:r>
          </a:p>
        </p:txBody>
      </p:sp>
      <p:sp>
        <p:nvSpPr>
          <p:cNvPr id="8" name="Rectangle 7"/>
          <p:cNvSpPr/>
          <p:nvPr/>
        </p:nvSpPr>
        <p:spPr>
          <a:xfrm>
            <a:off x="365760" y="2148840"/>
            <a:ext cx="2286000" cy="548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194560"/>
            <a:ext cx="2194560" cy="457200"/>
          </a:xfrm>
          <a:prstGeom prst="rect">
            <a:avLst/>
          </a:prstGeom>
          <a:noFill/>
        </p:spPr>
        <p:txBody>
          <a:bodyPr wrap="square">
            <a:spAutoFit/>
          </a:bodyPr>
          <a:lstStyle/>
          <a:p>
            <a:pPr algn="ctr"/>
            <a:r>
              <a:rPr sz="1200" b="1" i="0">
                <a:solidFill>
                  <a:srgbClr val="FFFFFF"/>
                </a:solidFill>
              </a:rPr>
              <a:t>src/core/</a:t>
            </a:r>
          </a:p>
        </p:txBody>
      </p:sp>
      <p:sp>
        <p:nvSpPr>
          <p:cNvPr id="10" name="TextBox 9"/>
          <p:cNvSpPr txBox="1"/>
          <p:nvPr/>
        </p:nvSpPr>
        <p:spPr>
          <a:xfrm>
            <a:off x="2834640" y="2240280"/>
            <a:ext cx="8961120" cy="384048"/>
          </a:xfrm>
          <a:prstGeom prst="rect">
            <a:avLst/>
          </a:prstGeom>
          <a:noFill/>
        </p:spPr>
        <p:txBody>
          <a:bodyPr wrap="square">
            <a:spAutoFit/>
          </a:bodyPr>
          <a:lstStyle/>
          <a:p>
            <a:pPr algn="l"/>
            <a:r>
              <a:rPr sz="1300" b="0" i="0">
                <a:solidFill>
                  <a:srgbClr val="0D1B2A"/>
                </a:solidFill>
              </a:rPr>
              <a:t>LLM gateway · queue · project loader · memory — the brain</a:t>
            </a:r>
          </a:p>
        </p:txBody>
      </p:sp>
      <p:sp>
        <p:nvSpPr>
          <p:cNvPr id="11" name="Rectangle 10"/>
          <p:cNvSpPr/>
          <p:nvPr/>
        </p:nvSpPr>
        <p:spPr>
          <a:xfrm>
            <a:off x="365760" y="2834640"/>
            <a:ext cx="2286000" cy="548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880360"/>
            <a:ext cx="2194560" cy="457200"/>
          </a:xfrm>
          <a:prstGeom prst="rect">
            <a:avLst/>
          </a:prstGeom>
          <a:noFill/>
        </p:spPr>
        <p:txBody>
          <a:bodyPr wrap="square">
            <a:spAutoFit/>
          </a:bodyPr>
          <a:lstStyle/>
          <a:p>
            <a:pPr algn="ctr"/>
            <a:r>
              <a:rPr sz="1200" b="1" i="0">
                <a:solidFill>
                  <a:srgbClr val="FFFFFF"/>
                </a:solidFill>
              </a:rPr>
              <a:t>src/agents/</a:t>
            </a:r>
          </a:p>
        </p:txBody>
      </p:sp>
      <p:sp>
        <p:nvSpPr>
          <p:cNvPr id="13" name="TextBox 12"/>
          <p:cNvSpPr txBox="1"/>
          <p:nvPr/>
        </p:nvSpPr>
        <p:spPr>
          <a:xfrm>
            <a:off x="2834640" y="2926080"/>
            <a:ext cx="8961120" cy="384048"/>
          </a:xfrm>
          <a:prstGeom prst="rect">
            <a:avLst/>
          </a:prstGeom>
          <a:noFill/>
        </p:spPr>
        <p:txBody>
          <a:bodyPr wrap="square">
            <a:spAutoFit/>
          </a:bodyPr>
          <a:lstStyle/>
          <a:p>
            <a:pPr algn="l"/>
            <a:r>
              <a:rPr sz="1300" b="0" i="0">
                <a:solidFill>
                  <a:srgbClr val="0D1B2A"/>
                </a:solidFill>
              </a:rPr>
              <a:t>Analyst · Developer · Monitor · Planner · Universal — the workers</a:t>
            </a:r>
          </a:p>
        </p:txBody>
      </p:sp>
      <p:sp>
        <p:nvSpPr>
          <p:cNvPr id="14" name="Rectangle 13"/>
          <p:cNvSpPr/>
          <p:nvPr/>
        </p:nvSpPr>
        <p:spPr>
          <a:xfrm>
            <a:off x="365760" y="3520440"/>
            <a:ext cx="2286000"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566160"/>
            <a:ext cx="2194560" cy="457200"/>
          </a:xfrm>
          <a:prstGeom prst="rect">
            <a:avLst/>
          </a:prstGeom>
          <a:noFill/>
        </p:spPr>
        <p:txBody>
          <a:bodyPr wrap="square">
            <a:spAutoFit/>
          </a:bodyPr>
          <a:lstStyle/>
          <a:p>
            <a:pPr algn="ctr"/>
            <a:r>
              <a:rPr sz="1200" b="1" i="0">
                <a:solidFill>
                  <a:srgbClr val="FFFFFF"/>
                </a:solidFill>
              </a:rPr>
              <a:t>src/interface/</a:t>
            </a:r>
          </a:p>
        </p:txBody>
      </p:sp>
      <p:sp>
        <p:nvSpPr>
          <p:cNvPr id="16" name="TextBox 15"/>
          <p:cNvSpPr txBox="1"/>
          <p:nvPr/>
        </p:nvSpPr>
        <p:spPr>
          <a:xfrm>
            <a:off x="2834640" y="3611880"/>
            <a:ext cx="8961120" cy="384048"/>
          </a:xfrm>
          <a:prstGeom prst="rect">
            <a:avLst/>
          </a:prstGeom>
          <a:noFill/>
        </p:spPr>
        <p:txBody>
          <a:bodyPr wrap="square">
            <a:spAutoFit/>
          </a:bodyPr>
          <a:lstStyle/>
          <a:p>
            <a:pPr algn="l"/>
            <a:r>
              <a:rPr sz="1300" b="0" i="0">
                <a:solidFill>
                  <a:srgbClr val="0D1B2A"/>
                </a:solidFill>
              </a:rPr>
              <a:t>FastAPI — the only public interface (UI never calls agents directly)</a:t>
            </a:r>
          </a:p>
        </p:txBody>
      </p:sp>
      <p:sp>
        <p:nvSpPr>
          <p:cNvPr id="17" name="Rectangle 16"/>
          <p:cNvSpPr/>
          <p:nvPr/>
        </p:nvSpPr>
        <p:spPr>
          <a:xfrm>
            <a:off x="365760" y="4206240"/>
            <a:ext cx="2286000"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251960"/>
            <a:ext cx="2194560" cy="457200"/>
          </a:xfrm>
          <a:prstGeom prst="rect">
            <a:avLst/>
          </a:prstGeom>
          <a:noFill/>
        </p:spPr>
        <p:txBody>
          <a:bodyPr wrap="square">
            <a:spAutoFit/>
          </a:bodyPr>
          <a:lstStyle/>
          <a:p>
            <a:pPr algn="ctr"/>
            <a:r>
              <a:rPr sz="1200" b="1" i="0">
                <a:solidFill>
                  <a:srgbClr val="FFFFFF"/>
                </a:solidFill>
              </a:rPr>
              <a:t>src/memory/</a:t>
            </a:r>
          </a:p>
        </p:txBody>
      </p:sp>
      <p:sp>
        <p:nvSpPr>
          <p:cNvPr id="19" name="TextBox 18"/>
          <p:cNvSpPr txBox="1"/>
          <p:nvPr/>
        </p:nvSpPr>
        <p:spPr>
          <a:xfrm>
            <a:off x="2834640" y="4297680"/>
            <a:ext cx="8961120" cy="384048"/>
          </a:xfrm>
          <a:prstGeom prst="rect">
            <a:avLst/>
          </a:prstGeom>
          <a:noFill/>
        </p:spPr>
        <p:txBody>
          <a:bodyPr wrap="square">
            <a:spAutoFit/>
          </a:bodyPr>
          <a:lstStyle/>
          <a:p>
            <a:pPr algn="l"/>
            <a:r>
              <a:rPr sz="1300" b="0" i="0">
                <a:solidFill>
                  <a:srgbClr val="0D1B2A"/>
                </a:solidFill>
              </a:rPr>
              <a:t>Audit log (compliance + training signal) · vector store (RAG)</a:t>
            </a:r>
          </a:p>
        </p:txBody>
      </p:sp>
      <p:sp>
        <p:nvSpPr>
          <p:cNvPr id="20" name="Rectangle 19"/>
          <p:cNvSpPr/>
          <p:nvPr/>
        </p:nvSpPr>
        <p:spPr>
          <a:xfrm>
            <a:off x="365760" y="4892040"/>
            <a:ext cx="2286000" cy="548640"/>
          </a:xfrm>
          <a:prstGeom prst="rect">
            <a:avLst/>
          </a:prstGeom>
          <a:solidFill>
            <a:srgbClr val="FF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937760"/>
            <a:ext cx="2194560" cy="457200"/>
          </a:xfrm>
          <a:prstGeom prst="rect">
            <a:avLst/>
          </a:prstGeom>
          <a:noFill/>
        </p:spPr>
        <p:txBody>
          <a:bodyPr wrap="square">
            <a:spAutoFit/>
          </a:bodyPr>
          <a:lstStyle/>
          <a:p>
            <a:pPr algn="ctr"/>
            <a:r>
              <a:rPr sz="1200" b="1" i="0">
                <a:solidFill>
                  <a:srgbClr val="FFFFFF"/>
                </a:solidFill>
              </a:rPr>
              <a:t>web/src/</a:t>
            </a:r>
          </a:p>
        </p:txBody>
      </p:sp>
      <p:sp>
        <p:nvSpPr>
          <p:cNvPr id="22" name="TextBox 21"/>
          <p:cNvSpPr txBox="1"/>
          <p:nvPr/>
        </p:nvSpPr>
        <p:spPr>
          <a:xfrm>
            <a:off x="2834640" y="4983480"/>
            <a:ext cx="8961120" cy="384048"/>
          </a:xfrm>
          <a:prstGeom prst="rect">
            <a:avLst/>
          </a:prstGeom>
          <a:noFill/>
        </p:spPr>
        <p:txBody>
          <a:bodyPr wrap="square">
            <a:spAutoFit/>
          </a:bodyPr>
          <a:lstStyle/>
          <a:p>
            <a:pPr algn="l"/>
            <a:r>
              <a:rPr sz="1300" b="0" i="0">
                <a:solidFill>
                  <a:srgbClr val="0D1B2A"/>
                </a:solidFill>
              </a:rPr>
              <a:t>React 18 + TypeScript — reads from the API door only</a:t>
            </a:r>
          </a:p>
        </p:txBody>
      </p:sp>
      <p:sp>
        <p:nvSpPr>
          <p:cNvPr id="23" name="Rectangle 22"/>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YAML-First Design — Solutions Are Config, Not Code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A new domain requires zero Python changes</a:t>
            </a:r>
          </a:p>
        </p:txBody>
      </p:sp>
      <p:sp>
        <p:nvSpPr>
          <p:cNvPr id="5" name="Rectangle 4"/>
          <p:cNvSpPr/>
          <p:nvPr/>
        </p:nvSpPr>
        <p:spPr>
          <a:xfrm>
            <a:off x="365760" y="1600200"/>
            <a:ext cx="3657600" cy="4114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91640"/>
            <a:ext cx="3383280" cy="502920"/>
          </a:xfrm>
          <a:prstGeom prst="rect">
            <a:avLst/>
          </a:prstGeom>
          <a:noFill/>
        </p:spPr>
        <p:txBody>
          <a:bodyPr wrap="square">
            <a:spAutoFit/>
          </a:bodyPr>
          <a:lstStyle/>
          <a:p>
            <a:pPr algn="ctr"/>
            <a:r>
              <a:rPr sz="1800" b="1" i="0">
                <a:solidFill>
                  <a:srgbClr val="00B4D8"/>
                </a:solidFill>
              </a:rPr>
              <a:t>project.yaml</a:t>
            </a:r>
          </a:p>
        </p:txBody>
      </p:sp>
      <p:sp>
        <p:nvSpPr>
          <p:cNvPr id="7" name="TextBox 6"/>
          <p:cNvSpPr txBox="1"/>
          <p:nvPr/>
        </p:nvSpPr>
        <p:spPr>
          <a:xfrm>
            <a:off x="502920" y="2286000"/>
            <a:ext cx="3383280" cy="365760"/>
          </a:xfrm>
          <a:prstGeom prst="rect">
            <a:avLst/>
          </a:prstGeom>
          <a:noFill/>
        </p:spPr>
        <p:txBody>
          <a:bodyPr wrap="square">
            <a:spAutoFit/>
          </a:bodyPr>
          <a:lstStyle/>
          <a:p>
            <a:pPr algn="ctr"/>
            <a:r>
              <a:rPr sz="1300" b="1" i="1">
                <a:solidFill>
                  <a:srgbClr val="FFB700"/>
                </a:solidFill>
              </a:rPr>
              <a:t>What this domain IS</a:t>
            </a:r>
          </a:p>
        </p:txBody>
      </p:sp>
      <p:sp>
        <p:nvSpPr>
          <p:cNvPr id="8" name="TextBox 7"/>
          <p:cNvSpPr txBox="1"/>
          <p:nvPr/>
        </p:nvSpPr>
        <p:spPr>
          <a:xfrm>
            <a:off x="502920" y="2743200"/>
            <a:ext cx="3383280" cy="2560320"/>
          </a:xfrm>
          <a:prstGeom prst="rect">
            <a:avLst/>
          </a:prstGeom>
          <a:noFill/>
        </p:spPr>
        <p:txBody>
          <a:bodyPr wrap="square">
            <a:spAutoFit/>
          </a:bodyPr>
          <a:lstStyle/>
          <a:p>
            <a:pPr algn="l"/>
            <a:r>
              <a:rPr sz="1200" b="0" i="0">
                <a:solidFill>
                  <a:srgbClr val="FFFFFF"/>
                </a:solidFill>
              </a:rPr>
              <a:t>Declarative agent manifest: project name, active modules,
integrations, team structure, compliance standards</a:t>
            </a:r>
          </a:p>
        </p:txBody>
      </p:sp>
      <p:sp>
        <p:nvSpPr>
          <p:cNvPr id="9" name="Rectangle 8"/>
          <p:cNvSpPr/>
          <p:nvPr/>
        </p:nvSpPr>
        <p:spPr>
          <a:xfrm>
            <a:off x="4453128" y="1600200"/>
            <a:ext cx="3657600" cy="4114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691640"/>
            <a:ext cx="3383280" cy="502920"/>
          </a:xfrm>
          <a:prstGeom prst="rect">
            <a:avLst/>
          </a:prstGeom>
          <a:noFill/>
        </p:spPr>
        <p:txBody>
          <a:bodyPr wrap="square">
            <a:spAutoFit/>
          </a:bodyPr>
          <a:lstStyle/>
          <a:p>
            <a:pPr algn="ctr"/>
            <a:r>
              <a:rPr sz="1800" b="1" i="0">
                <a:solidFill>
                  <a:srgbClr val="00B4D8"/>
                </a:solidFill>
              </a:rPr>
              <a:t>prompts.yaml</a:t>
            </a:r>
          </a:p>
        </p:txBody>
      </p:sp>
      <p:sp>
        <p:nvSpPr>
          <p:cNvPr id="11" name="TextBox 10"/>
          <p:cNvSpPr txBox="1"/>
          <p:nvPr/>
        </p:nvSpPr>
        <p:spPr>
          <a:xfrm>
            <a:off x="4590288" y="2286000"/>
            <a:ext cx="3383280" cy="365760"/>
          </a:xfrm>
          <a:prstGeom prst="rect">
            <a:avLst/>
          </a:prstGeom>
          <a:noFill/>
        </p:spPr>
        <p:txBody>
          <a:bodyPr wrap="square">
            <a:spAutoFit/>
          </a:bodyPr>
          <a:lstStyle/>
          <a:p>
            <a:pPr algn="ctr"/>
            <a:r>
              <a:rPr sz="1300" b="1" i="1">
                <a:solidFill>
                  <a:srgbClr val="FFB700"/>
                </a:solidFill>
              </a:rPr>
              <a:t>How agents THINK</a:t>
            </a:r>
          </a:p>
        </p:txBody>
      </p:sp>
      <p:sp>
        <p:nvSpPr>
          <p:cNvPr id="12" name="TextBox 11"/>
          <p:cNvSpPr txBox="1"/>
          <p:nvPr/>
        </p:nvSpPr>
        <p:spPr>
          <a:xfrm>
            <a:off x="4590288" y="2743200"/>
            <a:ext cx="3383280" cy="2560320"/>
          </a:xfrm>
          <a:prstGeom prst="rect">
            <a:avLst/>
          </a:prstGeom>
          <a:noFill/>
        </p:spPr>
        <p:txBody>
          <a:bodyPr wrap="square">
            <a:spAutoFit/>
          </a:bodyPr>
          <a:lstStyle/>
          <a:p>
            <a:pPr algn="l"/>
            <a:r>
              <a:rPr sz="1200" b="0" i="0">
                <a:solidFill>
                  <a:srgbClr val="FFFFFF"/>
                </a:solidFill>
              </a:rPr>
              <a:t>Role definitions + system prompts per agent role.
Add a new role = add a YAML block. No Python file.</a:t>
            </a:r>
          </a:p>
        </p:txBody>
      </p:sp>
      <p:sp>
        <p:nvSpPr>
          <p:cNvPr id="13" name="Rectangle 12"/>
          <p:cNvSpPr/>
          <p:nvPr/>
        </p:nvSpPr>
        <p:spPr>
          <a:xfrm>
            <a:off x="8540496" y="1600200"/>
            <a:ext cx="3657600" cy="4114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77656" y="1691640"/>
            <a:ext cx="3383280" cy="502920"/>
          </a:xfrm>
          <a:prstGeom prst="rect">
            <a:avLst/>
          </a:prstGeom>
          <a:noFill/>
        </p:spPr>
        <p:txBody>
          <a:bodyPr wrap="square">
            <a:spAutoFit/>
          </a:bodyPr>
          <a:lstStyle/>
          <a:p>
            <a:pPr algn="ctr"/>
            <a:r>
              <a:rPr sz="1800" b="1" i="0">
                <a:solidFill>
                  <a:srgbClr val="00B4D8"/>
                </a:solidFill>
              </a:rPr>
              <a:t>tasks.yaml</a:t>
            </a:r>
          </a:p>
        </p:txBody>
      </p:sp>
      <p:sp>
        <p:nvSpPr>
          <p:cNvPr id="15" name="TextBox 14"/>
          <p:cNvSpPr txBox="1"/>
          <p:nvPr/>
        </p:nvSpPr>
        <p:spPr>
          <a:xfrm>
            <a:off x="8677656" y="2286000"/>
            <a:ext cx="3383280" cy="365760"/>
          </a:xfrm>
          <a:prstGeom prst="rect">
            <a:avLst/>
          </a:prstGeom>
          <a:noFill/>
        </p:spPr>
        <p:txBody>
          <a:bodyPr wrap="square">
            <a:spAutoFit/>
          </a:bodyPr>
          <a:lstStyle/>
          <a:p>
            <a:pPr algn="ctr"/>
            <a:r>
              <a:rPr sz="1300" b="1" i="1">
                <a:solidFill>
                  <a:srgbClr val="FFB700"/>
                </a:solidFill>
              </a:rPr>
              <a:t>What agents CAN DO</a:t>
            </a:r>
          </a:p>
        </p:txBody>
      </p:sp>
      <p:sp>
        <p:nvSpPr>
          <p:cNvPr id="16" name="TextBox 15"/>
          <p:cNvSpPr txBox="1"/>
          <p:nvPr/>
        </p:nvSpPr>
        <p:spPr>
          <a:xfrm>
            <a:off x="8677656" y="2743200"/>
            <a:ext cx="3383280" cy="2560320"/>
          </a:xfrm>
          <a:prstGeom prst="rect">
            <a:avLst/>
          </a:prstGeom>
          <a:noFill/>
        </p:spPr>
        <p:txBody>
          <a:bodyPr wrap="square">
            <a:spAutoFit/>
          </a:bodyPr>
          <a:lstStyle/>
          <a:p>
            <a:pPr algn="l"/>
            <a:r>
              <a:rPr sz="1200" b="0" i="0">
                <a:solidFill>
                  <a:srgbClr val="FFFFFF"/>
                </a:solidFill>
              </a:rPr>
              <a:t>Task type registry: routing rules, output schemas,
verification steps, approval requirements.</a:t>
            </a:r>
          </a:p>
        </p:txBody>
      </p:sp>
      <p:sp>
        <p:nvSpPr>
          <p:cNvPr id="17" name="TextBox 16"/>
          <p:cNvSpPr txBox="1"/>
          <p:nvPr/>
        </p:nvSpPr>
        <p:spPr>
          <a:xfrm>
            <a:off x="457200" y="5897880"/>
            <a:ext cx="11247120" cy="411480"/>
          </a:xfrm>
          <a:prstGeom prst="rect">
            <a:avLst/>
          </a:prstGeom>
          <a:noFill/>
        </p:spPr>
        <p:txBody>
          <a:bodyPr wrap="square">
            <a:spAutoFit/>
          </a:bodyPr>
          <a:lstStyle/>
          <a:p>
            <a:pPr algn="ctr"/>
            <a:r>
              <a:rPr sz="1300" b="0" i="1">
                <a:solidFill>
                  <a:srgbClr val="0078D4"/>
                </a:solidFill>
              </a:rPr>
              <a:t>Separation of concerns is sacred — the framework knows nothing specific about any industry.</a:t>
            </a:r>
          </a:p>
        </p:txBody>
      </p:sp>
      <p:sp>
        <p:nvSpPr>
          <p:cNvPr id="18" name="Rectangle 17"/>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Agent Architecture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Role-based, not function-based — roles are YAML, not Python classes</a:t>
            </a:r>
          </a:p>
        </p:txBody>
      </p:sp>
      <p:graphicFrame>
        <p:nvGraphicFramePr>
          <p:cNvPr id="5" name="Table 4"/>
          <p:cNvGraphicFramePr>
            <a:graphicFrameLocks noGrp="1"/>
          </p:cNvGraphicFramePr>
          <p:nvPr/>
        </p:nvGraphicFramePr>
        <p:xfrm>
          <a:off x="457200" y="1508760"/>
          <a:ext cx="11247120" cy="2852928"/>
        </p:xfrm>
        <a:graphic>
          <a:graphicData uri="http://schemas.openxmlformats.org/drawingml/2006/table">
            <a:tbl>
              <a:tblPr firstRow="1" bandRow="1">
                <a:tableStyleId>{5C22544A-7EE6-4342-B048-85BDC9FD1C3A}</a:tableStyleId>
              </a:tblPr>
              <a:tblGrid>
                <a:gridCol w="1828800"/>
                <a:gridCol w="2011680"/>
                <a:gridCol w="7406640"/>
              </a:tblGrid>
              <a:tr h="475488">
                <a:tc>
                  <a:txBody>
                    <a:bodyPr/>
                    <a:lstStyle/>
                    <a:p>
                      <a:pPr algn="ctr"/>
                      <a:r>
                        <a:rPr b="1" sz="1300">
                          <a:solidFill>
                            <a:srgbClr val="FFFFFF"/>
                          </a:solidFill>
                        </a:rPr>
                        <a:t>Agent</a:t>
                      </a:r>
                    </a:p>
                  </a:txBody>
                  <a:tcPr>
                    <a:solidFill>
                      <a:srgbClr val="0078D4"/>
                    </a:solidFill>
                  </a:tcPr>
                </a:tc>
                <a:tc>
                  <a:txBody>
                    <a:bodyPr/>
                    <a:lstStyle/>
                    <a:p>
                      <a:pPr algn="ctr"/>
                      <a:r>
                        <a:rPr b="1" sz="1300">
                          <a:solidFill>
                            <a:srgbClr val="FFFFFF"/>
                          </a:solidFill>
                        </a:rPr>
                        <a:t>Role</a:t>
                      </a:r>
                    </a:p>
                  </a:txBody>
                  <a:tcPr>
                    <a:solidFill>
                      <a:srgbClr val="0078D4"/>
                    </a:solidFill>
                  </a:tcPr>
                </a:tc>
                <a:tc>
                  <a:txBody>
                    <a:bodyPr/>
                    <a:lstStyle/>
                    <a:p>
                      <a:pPr algn="ctr"/>
                      <a:r>
                        <a:rPr b="1" sz="1300">
                          <a:solidFill>
                            <a:srgbClr val="FFFFFF"/>
                          </a:solidFill>
                        </a:rPr>
                        <a:t>Key Capabilities</a:t>
                      </a:r>
                    </a:p>
                  </a:txBody>
                  <a:tcPr>
                    <a:solidFill>
                      <a:srgbClr val="0078D4"/>
                    </a:solidFill>
                  </a:tcPr>
                </a:tc>
              </a:tr>
              <a:tr h="475488">
                <a:tc>
                  <a:txBody>
                    <a:bodyPr/>
                    <a:lstStyle/>
                    <a:p>
                      <a:pPr algn="l"/>
                      <a:r>
                        <a:rPr sz="1200">
                          <a:solidFill>
                            <a:srgbClr val="0D1B2A"/>
                          </a:solidFill>
                        </a:rPr>
                        <a:t>AnalystAgent</a:t>
                      </a:r>
                    </a:p>
                  </a:txBody>
                  <a:tcPr>
                    <a:solidFill>
                      <a:srgbClr val="F0F4F8"/>
                    </a:solidFill>
                  </a:tcPr>
                </a:tc>
                <a:tc>
                  <a:txBody>
                    <a:bodyPr/>
                    <a:lstStyle/>
                    <a:p>
                      <a:pPr algn="l"/>
                      <a:r>
                        <a:rPr sz="1200">
                          <a:solidFill>
                            <a:srgbClr val="0D1B2A"/>
                          </a:solidFill>
                        </a:rPr>
                        <a:t>Signal intelligence</a:t>
                      </a:r>
                    </a:p>
                  </a:txBody>
                  <a:tcPr>
                    <a:solidFill>
                      <a:srgbClr val="F0F4F8"/>
                    </a:solidFill>
                  </a:tcPr>
                </a:tc>
                <a:tc>
                  <a:txBody>
                    <a:bodyPr/>
                    <a:lstStyle/>
                    <a:p>
                      <a:pPr algn="l"/>
                      <a:r>
                        <a:rPr sz="1200">
                          <a:solidFill>
                            <a:srgbClr val="0D1B2A"/>
                          </a:solidFill>
                        </a:rPr>
                        <a:t>Log triage · severity scoring · root-cause reasoning · ReAct loop</a:t>
                      </a:r>
                    </a:p>
                  </a:txBody>
                  <a:tcPr>
                    <a:solidFill>
                      <a:srgbClr val="F0F4F8"/>
                    </a:solidFill>
                  </a:tcPr>
                </a:tc>
              </a:tr>
              <a:tr h="475488">
                <a:tc>
                  <a:txBody>
                    <a:bodyPr/>
                    <a:lstStyle/>
                    <a:p>
                      <a:pPr algn="l"/>
                      <a:r>
                        <a:rPr sz="1200">
                          <a:solidFill>
                            <a:srgbClr val="0D1B2A"/>
                          </a:solidFill>
                        </a:rPr>
                        <a:t>DeveloperAgent</a:t>
                      </a:r>
                    </a:p>
                  </a:txBody>
                  <a:tcPr>
                    <a:solidFill>
                      <a:srgbClr val="FFFFFF"/>
                    </a:solidFill>
                  </a:tcPr>
                </a:tc>
                <a:tc>
                  <a:txBody>
                    <a:bodyPr/>
                    <a:lstStyle/>
                    <a:p>
                      <a:pPr algn="l"/>
                      <a:r>
                        <a:rPr sz="1200">
                          <a:solidFill>
                            <a:srgbClr val="0D1B2A"/>
                          </a:solidFill>
                        </a:rPr>
                        <a:t>Code intelligence</a:t>
                      </a:r>
                    </a:p>
                  </a:txBody>
                  <a:tcPr>
                    <a:solidFill>
                      <a:srgbClr val="FFFFFF"/>
                    </a:solidFill>
                  </a:tcPr>
                </a:tc>
                <a:tc>
                  <a:txBody>
                    <a:bodyPr/>
                    <a:lstStyle/>
                    <a:p>
                      <a:pPr algn="l"/>
                      <a:r>
                        <a:rPr sz="1200">
                          <a:solidFill>
                            <a:srgbClr val="0D1B2A"/>
                          </a:solidFill>
                        </a:rPr>
                        <a:t>Code review · MR creation · pipeline status · diff analysis</a:t>
                      </a:r>
                    </a:p>
                  </a:txBody>
                  <a:tcPr>
                    <a:solidFill>
                      <a:srgbClr val="FFFFFF"/>
                    </a:solidFill>
                  </a:tcPr>
                </a:tc>
              </a:tr>
              <a:tr h="475488">
                <a:tc>
                  <a:txBody>
                    <a:bodyPr/>
                    <a:lstStyle/>
                    <a:p>
                      <a:pPr algn="l"/>
                      <a:r>
                        <a:rPr sz="1200">
                          <a:solidFill>
                            <a:srgbClr val="0D1B2A"/>
                          </a:solidFill>
                        </a:rPr>
                        <a:t>MonitorAgent</a:t>
                      </a:r>
                    </a:p>
                  </a:txBody>
                  <a:tcPr>
                    <a:solidFill>
                      <a:srgbClr val="F0F4F8"/>
                    </a:solidFill>
                  </a:tcPr>
                </a:tc>
                <a:tc>
                  <a:txBody>
                    <a:bodyPr/>
                    <a:lstStyle/>
                    <a:p>
                      <a:pPr algn="l"/>
                      <a:r>
                        <a:rPr sz="1200">
                          <a:solidFill>
                            <a:srgbClr val="0D1B2A"/>
                          </a:solidFill>
                        </a:rPr>
                        <a:t>Event surveillance</a:t>
                      </a:r>
                    </a:p>
                  </a:txBody>
                  <a:tcPr>
                    <a:solidFill>
                      <a:srgbClr val="F0F4F8"/>
                    </a:solidFill>
                  </a:tcPr>
                </a:tc>
                <a:tc>
                  <a:txBody>
                    <a:bodyPr/>
                    <a:lstStyle/>
                    <a:p>
                      <a:pPr algn="l"/>
                      <a:r>
                        <a:rPr sz="1200">
                          <a:solidFill>
                            <a:srgbClr val="0D1B2A"/>
                          </a:solidFill>
                        </a:rPr>
                        <a:t>Teams · Metabase · GitLab polling · real-time event routing</a:t>
                      </a:r>
                    </a:p>
                  </a:txBody>
                  <a:tcPr>
                    <a:solidFill>
                      <a:srgbClr val="F0F4F8"/>
                    </a:solidFill>
                  </a:tcPr>
                </a:tc>
              </a:tr>
              <a:tr h="475488">
                <a:tc>
                  <a:txBody>
                    <a:bodyPr/>
                    <a:lstStyle/>
                    <a:p>
                      <a:pPr algn="l"/>
                      <a:r>
                        <a:rPr sz="1200">
                          <a:solidFill>
                            <a:srgbClr val="0D1B2A"/>
                          </a:solidFill>
                        </a:rPr>
                        <a:t>PlannerAgent</a:t>
                      </a:r>
                    </a:p>
                  </a:txBody>
                  <a:tcPr>
                    <a:solidFill>
                      <a:srgbClr val="FFFFFF"/>
                    </a:solidFill>
                  </a:tcPr>
                </a:tc>
                <a:tc>
                  <a:txBody>
                    <a:bodyPr/>
                    <a:lstStyle/>
                    <a:p>
                      <a:pPr algn="l"/>
                      <a:r>
                        <a:rPr sz="1200">
                          <a:solidFill>
                            <a:srgbClr val="0D1B2A"/>
                          </a:solidFill>
                        </a:rPr>
                        <a:t>Task orchestration</a:t>
                      </a:r>
                    </a:p>
                  </a:txBody>
                  <a:tcPr>
                    <a:solidFill>
                      <a:srgbClr val="FFFFFF"/>
                    </a:solidFill>
                  </a:tcPr>
                </a:tc>
                <a:tc>
                  <a:txBody>
                    <a:bodyPr/>
                    <a:lstStyle/>
                    <a:p>
                      <a:pPr algn="l"/>
                      <a:r>
                        <a:rPr sz="1200">
                          <a:solidFill>
                            <a:srgbClr val="0D1B2A"/>
                          </a:solidFill>
                        </a:rPr>
                        <a:t>Backlog decomposition · wave scheduling · dependency resolution</a:t>
                      </a:r>
                    </a:p>
                  </a:txBody>
                  <a:tcPr>
                    <a:solidFill>
                      <a:srgbClr val="FFFFFF"/>
                    </a:solidFill>
                  </a:tcPr>
                </a:tc>
              </a:tr>
              <a:tr h="475488">
                <a:tc>
                  <a:txBody>
                    <a:bodyPr/>
                    <a:lstStyle/>
                    <a:p>
                      <a:pPr algn="l"/>
                      <a:r>
                        <a:rPr sz="1200">
                          <a:solidFill>
                            <a:srgbClr val="0D1B2A"/>
                          </a:solidFill>
                        </a:rPr>
                        <a:t>UniversalAgent</a:t>
                      </a:r>
                    </a:p>
                  </a:txBody>
                  <a:tcPr>
                    <a:solidFill>
                      <a:srgbClr val="F0F4F8"/>
                    </a:solidFill>
                  </a:tcPr>
                </a:tc>
                <a:tc>
                  <a:txBody>
                    <a:bodyPr/>
                    <a:lstStyle/>
                    <a:p>
                      <a:pPr algn="l"/>
                      <a:r>
                        <a:rPr sz="1200">
                          <a:solidFill>
                            <a:srgbClr val="0D1B2A"/>
                          </a:solidFill>
                        </a:rPr>
                        <a:t>Routing &amp; fallback</a:t>
                      </a:r>
                    </a:p>
                  </a:txBody>
                  <a:tcPr>
                    <a:solidFill>
                      <a:srgbClr val="F0F4F8"/>
                    </a:solidFill>
                  </a:tcPr>
                </a:tc>
                <a:tc>
                  <a:txBody>
                    <a:bodyPr/>
                    <a:lstStyle/>
                    <a:p>
                      <a:pPr algn="l"/>
                      <a:r>
                        <a:rPr sz="1200">
                          <a:solidFill>
                            <a:srgbClr val="0D1B2A"/>
                          </a:solidFill>
                        </a:rPr>
                        <a:t>Dispatches to the correct role; handles new YAML-defined roles</a:t>
                      </a:r>
                    </a:p>
                  </a:txBody>
                  <a:tcPr>
                    <a:solidFill>
                      <a:srgbClr val="F0F4F8"/>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Two-Layer Memory Architecture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Compliance record + compounding intelligence in one design</a:t>
            </a:r>
          </a:p>
        </p:txBody>
      </p:sp>
      <p:sp>
        <p:nvSpPr>
          <p:cNvPr id="5" name="Rectangle 4"/>
          <p:cNvSpPr/>
          <p:nvPr/>
        </p:nvSpPr>
        <p:spPr>
          <a:xfrm>
            <a:off x="365760" y="1600200"/>
            <a:ext cx="5394960" cy="43891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029200" cy="457200"/>
          </a:xfrm>
          <a:prstGeom prst="rect">
            <a:avLst/>
          </a:prstGeom>
          <a:noFill/>
        </p:spPr>
        <p:txBody>
          <a:bodyPr wrap="square">
            <a:spAutoFit/>
          </a:bodyPr>
          <a:lstStyle/>
          <a:p>
            <a:pPr algn="l"/>
            <a:r>
              <a:rPr sz="1800" b="1" i="0">
                <a:solidFill>
                  <a:srgbClr val="FFFFFF"/>
                </a:solidFill>
              </a:rPr>
              <a:t>SQLite Audit Log</a:t>
            </a:r>
          </a:p>
        </p:txBody>
      </p:sp>
      <p:sp>
        <p:nvSpPr>
          <p:cNvPr id="7" name="TextBox 6"/>
          <p:cNvSpPr txBox="1"/>
          <p:nvPr/>
        </p:nvSpPr>
        <p:spPr>
          <a:xfrm>
            <a:off x="548640" y="2194560"/>
            <a:ext cx="5029200" cy="365760"/>
          </a:xfrm>
          <a:prstGeom prst="rect">
            <a:avLst/>
          </a:prstGeom>
          <a:noFill/>
        </p:spPr>
        <p:txBody>
          <a:bodyPr wrap="square">
            <a:spAutoFit/>
          </a:bodyPr>
          <a:lstStyle/>
          <a:p>
            <a:pPr algn="l"/>
            <a:r>
              <a:rPr sz="1300" b="0" i="1">
                <a:solidFill>
                  <a:srgbClr val="00B4D8"/>
                </a:solidFill>
              </a:rPr>
              <a:t>Compliance record &amp; training signal</a:t>
            </a:r>
          </a:p>
        </p:txBody>
      </p:sp>
      <p:sp>
        <p:nvSpPr>
          <p:cNvPr id="8" name="TextBox 7"/>
          <p:cNvSpPr txBox="1"/>
          <p:nvPr/>
        </p:nvSpPr>
        <p:spPr>
          <a:xfrm>
            <a:off x="640080" y="2651760"/>
            <a:ext cx="4846320" cy="347472"/>
          </a:xfrm>
          <a:prstGeom prst="rect">
            <a:avLst/>
          </a:prstGeom>
          <a:noFill/>
        </p:spPr>
        <p:txBody>
          <a:bodyPr wrap="square">
            <a:spAutoFit/>
          </a:bodyPr>
          <a:lstStyle/>
          <a:p>
            <a:pPr algn="l"/>
            <a:r>
              <a:rPr sz="1200" b="0" i="0">
                <a:solidFill>
                  <a:srgbClr val="FFFFFF"/>
                </a:solidFill>
              </a:rPr>
              <a:t>Append-only — no deletes, ever</a:t>
            </a:r>
          </a:p>
        </p:txBody>
      </p:sp>
      <p:sp>
        <p:nvSpPr>
          <p:cNvPr id="9" name="TextBox 8"/>
          <p:cNvSpPr txBox="1"/>
          <p:nvPr/>
        </p:nvSpPr>
        <p:spPr>
          <a:xfrm>
            <a:off x="640080" y="3063240"/>
            <a:ext cx="4846320" cy="347472"/>
          </a:xfrm>
          <a:prstGeom prst="rect">
            <a:avLst/>
          </a:prstGeom>
          <a:noFill/>
        </p:spPr>
        <p:txBody>
          <a:bodyPr wrap="square">
            <a:spAutoFit/>
          </a:bodyPr>
          <a:lstStyle/>
          <a:p>
            <a:pPr algn="l"/>
            <a:r>
              <a:rPr sz="1200" b="0" i="0">
                <a:solidFill>
                  <a:srgbClr val="FFFFFF"/>
                </a:solidFill>
              </a:rPr>
              <a:t>UUID trace_id on every AI decision</a:t>
            </a:r>
          </a:p>
        </p:txBody>
      </p:sp>
      <p:sp>
        <p:nvSpPr>
          <p:cNvPr id="10" name="TextBox 9"/>
          <p:cNvSpPr txBox="1"/>
          <p:nvPr/>
        </p:nvSpPr>
        <p:spPr>
          <a:xfrm>
            <a:off x="640080" y="3474720"/>
            <a:ext cx="4846320" cy="347472"/>
          </a:xfrm>
          <a:prstGeom prst="rect">
            <a:avLst/>
          </a:prstGeom>
          <a:noFill/>
        </p:spPr>
        <p:txBody>
          <a:bodyPr wrap="square">
            <a:spAutoFit/>
          </a:bodyPr>
          <a:lstStyle/>
          <a:p>
            <a:pPr algn="l"/>
            <a:r>
              <a:rPr sz="1200" b="0" i="0">
                <a:solidFill>
                  <a:srgbClr val="FFFFFF"/>
                </a:solidFill>
              </a:rPr>
              <a:t>Full event: input · output · approval · feedback</a:t>
            </a:r>
          </a:p>
        </p:txBody>
      </p:sp>
      <p:sp>
        <p:nvSpPr>
          <p:cNvPr id="11" name="TextBox 10"/>
          <p:cNvSpPr txBox="1"/>
          <p:nvPr/>
        </p:nvSpPr>
        <p:spPr>
          <a:xfrm>
            <a:off x="640080" y="3886200"/>
            <a:ext cx="4846320" cy="347472"/>
          </a:xfrm>
          <a:prstGeom prst="rect">
            <a:avLst/>
          </a:prstGeom>
          <a:noFill/>
        </p:spPr>
        <p:txBody>
          <a:bodyPr wrap="square">
            <a:spAutoFit/>
          </a:bodyPr>
          <a:lstStyle/>
          <a:p>
            <a:pPr algn="l"/>
            <a:r>
              <a:rPr sz="1200" b="0" i="0">
                <a:solidFill>
                  <a:srgbClr val="FFFFFF"/>
                </a:solidFill>
              </a:rPr>
              <a:t>Queryable for KPI dashboards</a:t>
            </a:r>
          </a:p>
        </p:txBody>
      </p:sp>
      <p:sp>
        <p:nvSpPr>
          <p:cNvPr id="12" name="TextBox 11"/>
          <p:cNvSpPr txBox="1"/>
          <p:nvPr/>
        </p:nvSpPr>
        <p:spPr>
          <a:xfrm>
            <a:off x="640080" y="4297680"/>
            <a:ext cx="4846320" cy="347472"/>
          </a:xfrm>
          <a:prstGeom prst="rect">
            <a:avLst/>
          </a:prstGeom>
          <a:noFill/>
        </p:spPr>
        <p:txBody>
          <a:bodyPr wrap="square">
            <a:spAutoFit/>
          </a:bodyPr>
          <a:lstStyle/>
          <a:p>
            <a:pPr algn="l"/>
            <a:r>
              <a:rPr sz="1200" b="0" i="0">
                <a:solidFill>
                  <a:srgbClr val="FFFFFF"/>
                </a:solidFill>
              </a:rPr>
              <a:t>FDA 21 CFR Part 11 / ISO 13485 compliant</a:t>
            </a:r>
          </a:p>
        </p:txBody>
      </p:sp>
      <p:sp>
        <p:nvSpPr>
          <p:cNvPr id="13" name="Rectangle 12"/>
          <p:cNvSpPr/>
          <p:nvPr/>
        </p:nvSpPr>
        <p:spPr>
          <a:xfrm>
            <a:off x="6309360" y="1600200"/>
            <a:ext cx="5394960" cy="43891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691640"/>
            <a:ext cx="5029200" cy="457200"/>
          </a:xfrm>
          <a:prstGeom prst="rect">
            <a:avLst/>
          </a:prstGeom>
          <a:noFill/>
        </p:spPr>
        <p:txBody>
          <a:bodyPr wrap="square">
            <a:spAutoFit/>
          </a:bodyPr>
          <a:lstStyle/>
          <a:p>
            <a:pPr algn="l"/>
            <a:r>
              <a:rPr sz="1800" b="1" i="0">
                <a:solidFill>
                  <a:srgbClr val="FFFFFF"/>
                </a:solidFill>
              </a:rPr>
              <a:t>ChromaDB Vector Store</a:t>
            </a:r>
          </a:p>
        </p:txBody>
      </p:sp>
      <p:sp>
        <p:nvSpPr>
          <p:cNvPr id="15" name="TextBox 14"/>
          <p:cNvSpPr txBox="1"/>
          <p:nvPr/>
        </p:nvSpPr>
        <p:spPr>
          <a:xfrm>
            <a:off x="6492240" y="2194560"/>
            <a:ext cx="5029200" cy="365760"/>
          </a:xfrm>
          <a:prstGeom prst="rect">
            <a:avLst/>
          </a:prstGeom>
          <a:noFill/>
        </p:spPr>
        <p:txBody>
          <a:bodyPr wrap="square">
            <a:spAutoFit/>
          </a:bodyPr>
          <a:lstStyle/>
          <a:p>
            <a:pPr algn="l"/>
            <a:r>
              <a:rPr sz="1300" b="0" i="1">
                <a:solidFill>
                  <a:srgbClr val="00B4D8"/>
                </a:solidFill>
              </a:rPr>
              <a:t>Compounding intelligence via RAG</a:t>
            </a:r>
          </a:p>
        </p:txBody>
      </p:sp>
      <p:sp>
        <p:nvSpPr>
          <p:cNvPr id="16" name="TextBox 15"/>
          <p:cNvSpPr txBox="1"/>
          <p:nvPr/>
        </p:nvSpPr>
        <p:spPr>
          <a:xfrm>
            <a:off x="6583680" y="2651760"/>
            <a:ext cx="4846320" cy="347472"/>
          </a:xfrm>
          <a:prstGeom prst="rect">
            <a:avLst/>
          </a:prstGeom>
          <a:noFill/>
        </p:spPr>
        <p:txBody>
          <a:bodyPr wrap="square">
            <a:spAutoFit/>
          </a:bodyPr>
          <a:lstStyle/>
          <a:p>
            <a:pPr algn="l"/>
            <a:r>
              <a:rPr sz="1200" b="0" i="0">
                <a:solidFill>
                  <a:srgbClr val="FFFFFF"/>
                </a:solidFill>
              </a:rPr>
              <a:t>Prior analyses stored as embeddings</a:t>
            </a:r>
          </a:p>
        </p:txBody>
      </p:sp>
      <p:sp>
        <p:nvSpPr>
          <p:cNvPr id="17" name="TextBox 16"/>
          <p:cNvSpPr txBox="1"/>
          <p:nvPr/>
        </p:nvSpPr>
        <p:spPr>
          <a:xfrm>
            <a:off x="6583680" y="3063240"/>
            <a:ext cx="4846320" cy="347472"/>
          </a:xfrm>
          <a:prstGeom prst="rect">
            <a:avLst/>
          </a:prstGeom>
          <a:noFill/>
        </p:spPr>
        <p:txBody>
          <a:bodyPr wrap="square">
            <a:spAutoFit/>
          </a:bodyPr>
          <a:lstStyle/>
          <a:p>
            <a:pPr algn="l"/>
            <a:r>
              <a:rPr sz="1200" b="0" i="0">
                <a:solidFill>
                  <a:srgbClr val="FFFFFF"/>
                </a:solidFill>
              </a:rPr>
              <a:t>Searched before every LLM call</a:t>
            </a:r>
          </a:p>
        </p:txBody>
      </p:sp>
      <p:sp>
        <p:nvSpPr>
          <p:cNvPr id="18" name="TextBox 17"/>
          <p:cNvSpPr txBox="1"/>
          <p:nvPr/>
        </p:nvSpPr>
        <p:spPr>
          <a:xfrm>
            <a:off x="6583680" y="3474720"/>
            <a:ext cx="4846320" cy="347472"/>
          </a:xfrm>
          <a:prstGeom prst="rect">
            <a:avLst/>
          </a:prstGeom>
          <a:noFill/>
        </p:spPr>
        <p:txBody>
          <a:bodyPr wrap="square">
            <a:spAutoFit/>
          </a:bodyPr>
          <a:lstStyle/>
          <a:p>
            <a:pPr algn="l"/>
            <a:r>
              <a:rPr sz="1200" b="0" i="0">
                <a:solidFill>
                  <a:srgbClr val="FFFFFF"/>
                </a:solidFill>
              </a:rPr>
              <a:t>Updated after every human correction</a:t>
            </a:r>
          </a:p>
        </p:txBody>
      </p:sp>
      <p:sp>
        <p:nvSpPr>
          <p:cNvPr id="19" name="TextBox 18"/>
          <p:cNvSpPr txBox="1"/>
          <p:nvPr/>
        </p:nvSpPr>
        <p:spPr>
          <a:xfrm>
            <a:off x="6583680" y="3886200"/>
            <a:ext cx="4846320" cy="347472"/>
          </a:xfrm>
          <a:prstGeom prst="rect">
            <a:avLst/>
          </a:prstGeom>
          <a:noFill/>
        </p:spPr>
        <p:txBody>
          <a:bodyPr wrap="square">
            <a:spAutoFit/>
          </a:bodyPr>
          <a:lstStyle/>
          <a:p>
            <a:pPr algn="l"/>
            <a:r>
              <a:rPr sz="1200" b="0" i="0">
                <a:solidFill>
                  <a:srgbClr val="FFFFFF"/>
                </a:solidFill>
              </a:rPr>
              <a:t>No model retraining — behavioral improvement via retrieval</a:t>
            </a:r>
          </a:p>
        </p:txBody>
      </p:sp>
      <p:sp>
        <p:nvSpPr>
          <p:cNvPr id="20" name="TextBox 19"/>
          <p:cNvSpPr txBox="1"/>
          <p:nvPr/>
        </p:nvSpPr>
        <p:spPr>
          <a:xfrm>
            <a:off x="6583680" y="4297680"/>
            <a:ext cx="4846320" cy="347472"/>
          </a:xfrm>
          <a:prstGeom prst="rect">
            <a:avLst/>
          </a:prstGeom>
          <a:noFill/>
        </p:spPr>
        <p:txBody>
          <a:bodyPr wrap="square">
            <a:spAutoFit/>
          </a:bodyPr>
          <a:lstStyle/>
          <a:p>
            <a:pPr algn="l"/>
            <a:r>
              <a:rPr sz="1200" b="0" i="0">
                <a:solidFill>
                  <a:srgbClr val="FFFFFF"/>
                </a:solidFill>
              </a:rPr>
              <a:t>Memento principle: policy improves, LLM stays frozen</a:t>
            </a:r>
          </a:p>
        </p:txBody>
      </p:sp>
      <p:sp>
        <p:nvSpPr>
          <p:cNvPr id="21" name="TextBox 20"/>
          <p:cNvSpPr txBox="1"/>
          <p:nvPr/>
        </p:nvSpPr>
        <p:spPr>
          <a:xfrm>
            <a:off x="5623560" y="3474720"/>
            <a:ext cx="548640" cy="365760"/>
          </a:xfrm>
          <a:prstGeom prst="rect">
            <a:avLst/>
          </a:prstGeom>
          <a:noFill/>
        </p:spPr>
        <p:txBody>
          <a:bodyPr wrap="square">
            <a:spAutoFit/>
          </a:bodyPr>
          <a:lstStyle/>
          <a:p>
            <a:pPr algn="ctr"/>
            <a:r>
              <a:rPr sz="1000" b="0" i="0">
                <a:solidFill>
                  <a:srgbClr val="647487"/>
                </a:solidFill>
              </a:rPr>
              <a:t>|</a:t>
            </a:r>
          </a:p>
        </p:txBody>
      </p:sp>
      <p:sp>
        <p:nvSpPr>
          <p:cNvPr id="22" name="Rectangle 21"/>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Integration Surface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Everything your team already uses — all live, no API keys required</a:t>
            </a:r>
          </a:p>
        </p:txBody>
      </p:sp>
      <p:graphicFrame>
        <p:nvGraphicFramePr>
          <p:cNvPr id="5" name="Table 4"/>
          <p:cNvGraphicFramePr>
            <a:graphicFrameLocks noGrp="1"/>
          </p:cNvGraphicFramePr>
          <p:nvPr/>
        </p:nvGraphicFramePr>
        <p:xfrm>
          <a:off x="457200" y="1508760"/>
          <a:ext cx="11247120" cy="5230368"/>
        </p:xfrm>
        <a:graphic>
          <a:graphicData uri="http://schemas.openxmlformats.org/drawingml/2006/table">
            <a:tbl>
              <a:tblPr firstRow="1" bandRow="1">
                <a:tableStyleId>{5C22544A-7EE6-4342-B048-85BDC9FD1C3A}</a:tableStyleId>
              </a:tblPr>
              <a:tblGrid>
                <a:gridCol w="2103120"/>
                <a:gridCol w="6217920"/>
                <a:gridCol w="2926080"/>
              </a:tblGrid>
              <a:tr h="475488">
                <a:tc>
                  <a:txBody>
                    <a:bodyPr/>
                    <a:lstStyle/>
                    <a:p>
                      <a:pPr algn="ctr"/>
                      <a:r>
                        <a:rPr b="1" sz="1300">
                          <a:solidFill>
                            <a:srgbClr val="FFFFFF"/>
                          </a:solidFill>
                        </a:rPr>
                        <a:t>Category</a:t>
                      </a:r>
                    </a:p>
                  </a:txBody>
                  <a:tcPr>
                    <a:solidFill>
                      <a:srgbClr val="0078D4"/>
                    </a:solidFill>
                  </a:tcPr>
                </a:tc>
                <a:tc>
                  <a:txBody>
                    <a:bodyPr/>
                    <a:lstStyle/>
                    <a:p>
                      <a:pPr algn="ctr"/>
                      <a:r>
                        <a:rPr b="1" sz="1300">
                          <a:solidFill>
                            <a:srgbClr val="FFFFFF"/>
                          </a:solidFill>
                        </a:rPr>
                        <a:t>Tools / Protocols</a:t>
                      </a:r>
                    </a:p>
                  </a:txBody>
                  <a:tcPr>
                    <a:solidFill>
                      <a:srgbClr val="0078D4"/>
                    </a:solidFill>
                  </a:tcPr>
                </a:tc>
                <a:tc>
                  <a:txBody>
                    <a:bodyPr/>
                    <a:lstStyle/>
                    <a:p>
                      <a:pPr algn="ctr"/>
                      <a:r>
                        <a:rPr b="1" sz="1300">
                          <a:solidFill>
                            <a:srgbClr val="FFFFFF"/>
                          </a:solidFill>
                        </a:rPr>
                        <a:t>Status</a:t>
                      </a:r>
                    </a:p>
                  </a:txBody>
                  <a:tcPr>
                    <a:solidFill>
                      <a:srgbClr val="0078D4"/>
                    </a:solidFill>
                  </a:tcPr>
                </a:tc>
              </a:tr>
              <a:tr h="475488">
                <a:tc>
                  <a:txBody>
                    <a:bodyPr/>
                    <a:lstStyle/>
                    <a:p>
                      <a:pPr algn="l"/>
                      <a:r>
                        <a:rPr sz="1200">
                          <a:solidFill>
                            <a:srgbClr val="0D1B2A"/>
                          </a:solidFill>
                        </a:rPr>
                        <a:t>Source Control</a:t>
                      </a:r>
                    </a:p>
                  </a:txBody>
                  <a:tcPr>
                    <a:solidFill>
                      <a:srgbClr val="F0F4F8"/>
                    </a:solidFill>
                  </a:tcPr>
                </a:tc>
                <a:tc>
                  <a:txBody>
                    <a:bodyPr/>
                    <a:lstStyle/>
                    <a:p>
                      <a:pPr algn="l"/>
                      <a:r>
                        <a:rPr sz="1200">
                          <a:solidFill>
                            <a:srgbClr val="0D1B2A"/>
                          </a:solidFill>
                        </a:rPr>
                        <a:t>GitLab (MRs, Issues, Pipelines, CI status)</a:t>
                      </a:r>
                    </a:p>
                  </a:txBody>
                  <a:tcPr>
                    <a:solidFill>
                      <a:srgbClr val="F0F4F8"/>
                    </a:solidFill>
                  </a:tcPr>
                </a:tc>
                <a:tc>
                  <a:txBody>
                    <a:bodyPr/>
                    <a:lstStyle/>
                    <a:p>
                      <a:pPr algn="l"/>
                      <a:r>
                        <a:rPr sz="1200">
                          <a:solidFill>
                            <a:srgbClr val="0D1B2A"/>
                          </a:solidFill>
                        </a:rPr>
                        <a:t>Live</a:t>
                      </a:r>
                    </a:p>
                  </a:txBody>
                  <a:tcPr>
                    <a:solidFill>
                      <a:srgbClr val="F0F4F8"/>
                    </a:solidFill>
                  </a:tcPr>
                </a:tc>
              </a:tr>
              <a:tr h="475488">
                <a:tc>
                  <a:txBody>
                    <a:bodyPr/>
                    <a:lstStyle/>
                    <a:p>
                      <a:pPr algn="l"/>
                      <a:r>
                        <a:rPr sz="1200">
                          <a:solidFill>
                            <a:srgbClr val="0D1B2A"/>
                          </a:solidFill>
                        </a:rPr>
                        <a:t>Communication</a:t>
                      </a:r>
                    </a:p>
                  </a:txBody>
                  <a:tcPr>
                    <a:solidFill>
                      <a:srgbClr val="FFFFFF"/>
                    </a:solidFill>
                  </a:tcPr>
                </a:tc>
                <a:tc>
                  <a:txBody>
                    <a:bodyPr/>
                    <a:lstStyle/>
                    <a:p>
                      <a:pPr algn="l"/>
                      <a:r>
                        <a:rPr sz="1200">
                          <a:solidFill>
                            <a:srgbClr val="0D1B2A"/>
                          </a:solidFill>
                        </a:rPr>
                        <a:t>Microsoft Teams, Slack (Block Kit approvals, callbacks)</a:t>
                      </a:r>
                    </a:p>
                  </a:txBody>
                  <a:tcPr>
                    <a:solidFill>
                      <a:srgbClr val="FFFFFF"/>
                    </a:solidFill>
                  </a:tcPr>
                </a:tc>
                <a:tc>
                  <a:txBody>
                    <a:bodyPr/>
                    <a:lstStyle/>
                    <a:p>
                      <a:pPr algn="l"/>
                      <a:r>
                        <a:rPr sz="1200">
                          <a:solidFill>
                            <a:srgbClr val="0D1B2A"/>
                          </a:solidFill>
                        </a:rPr>
                        <a:t>Live</a:t>
                      </a:r>
                    </a:p>
                  </a:txBody>
                  <a:tcPr>
                    <a:solidFill>
                      <a:srgbClr val="FFFFFF"/>
                    </a:solidFill>
                  </a:tcPr>
                </a:tc>
              </a:tr>
              <a:tr h="475488">
                <a:tc>
                  <a:txBody>
                    <a:bodyPr/>
                    <a:lstStyle/>
                    <a:p>
                      <a:pPr algn="l"/>
                      <a:r>
                        <a:rPr sz="1200">
                          <a:solidFill>
                            <a:srgbClr val="0D1B2A"/>
                          </a:solidFill>
                        </a:rPr>
                        <a:t>Analytics</a:t>
                      </a:r>
                    </a:p>
                  </a:txBody>
                  <a:tcPr>
                    <a:solidFill>
                      <a:srgbClr val="F0F4F8"/>
                    </a:solidFill>
                  </a:tcPr>
                </a:tc>
                <a:tc>
                  <a:txBody>
                    <a:bodyPr/>
                    <a:lstStyle/>
                    <a:p>
                      <a:pPr algn="l"/>
                      <a:r>
                        <a:rPr sz="1200">
                          <a:solidFill>
                            <a:srgbClr val="0D1B2A"/>
                          </a:solidFill>
                        </a:rPr>
                        <a:t>Metabase (dashboard event detection)</a:t>
                      </a:r>
                    </a:p>
                  </a:txBody>
                  <a:tcPr>
                    <a:solidFill>
                      <a:srgbClr val="F0F4F8"/>
                    </a:solidFill>
                  </a:tcPr>
                </a:tc>
                <a:tc>
                  <a:txBody>
                    <a:bodyPr/>
                    <a:lstStyle/>
                    <a:p>
                      <a:pPr algn="l"/>
                      <a:r>
                        <a:rPr sz="1200">
                          <a:solidFill>
                            <a:srgbClr val="0D1B2A"/>
                          </a:solidFill>
                        </a:rPr>
                        <a:t>Live</a:t>
                      </a:r>
                    </a:p>
                  </a:txBody>
                  <a:tcPr>
                    <a:solidFill>
                      <a:srgbClr val="F0F4F8"/>
                    </a:solidFill>
                  </a:tcPr>
                </a:tc>
              </a:tr>
              <a:tr h="475488">
                <a:tc>
                  <a:txBody>
                    <a:bodyPr/>
                    <a:lstStyle/>
                    <a:p>
                      <a:pPr algn="l"/>
                      <a:r>
                        <a:rPr sz="1200">
                          <a:solidFill>
                            <a:srgbClr val="0D1B2A"/>
                          </a:solidFill>
                        </a:rPr>
                        <a:t>LLM Providers</a:t>
                      </a:r>
                    </a:p>
                  </a:txBody>
                  <a:tcPr>
                    <a:solidFill>
                      <a:srgbClr val="FFFFFF"/>
                    </a:solidFill>
                  </a:tcPr>
                </a:tc>
                <a:tc>
                  <a:txBody>
                    <a:bodyPr/>
                    <a:lstStyle/>
                    <a:p>
                      <a:pPr algn="l"/>
                      <a:r>
                        <a:rPr sz="1200">
                          <a:solidFill>
                            <a:srgbClr val="0D1B2A"/>
                          </a:solidFill>
                        </a:rPr>
                        <a:t>Gemini CLI, Claude Code, Ollama, local, GenericCLI</a:t>
                      </a:r>
                    </a:p>
                  </a:txBody>
                  <a:tcPr>
                    <a:solidFill>
                      <a:srgbClr val="FFFFFF"/>
                    </a:solidFill>
                  </a:tcPr>
                </a:tc>
                <a:tc>
                  <a:txBody>
                    <a:bodyPr/>
                    <a:lstStyle/>
                    <a:p>
                      <a:pPr algn="l"/>
                      <a:r>
                        <a:rPr sz="1200">
                          <a:solidFill>
                            <a:srgbClr val="0D1B2A"/>
                          </a:solidFill>
                        </a:rPr>
                        <a:t>No API key</a:t>
                      </a:r>
                    </a:p>
                  </a:txBody>
                  <a:tcPr>
                    <a:solidFill>
                      <a:srgbClr val="FFFFFF"/>
                    </a:solidFill>
                  </a:tcPr>
                </a:tc>
              </a:tr>
              <a:tr h="475488">
                <a:tc>
                  <a:txBody>
                    <a:bodyPr/>
                    <a:lstStyle/>
                    <a:p>
                      <a:pPr algn="l"/>
                      <a:r>
                        <a:rPr sz="1200">
                          <a:solidFill>
                            <a:srgbClr val="0D1B2A"/>
                          </a:solidFill>
                        </a:rPr>
                        <a:t>Automation</a:t>
                      </a:r>
                    </a:p>
                  </a:txBody>
                  <a:tcPr>
                    <a:solidFill>
                      <a:srgbClr val="F0F4F8"/>
                    </a:solidFill>
                  </a:tcPr>
                </a:tc>
                <a:tc>
                  <a:txBody>
                    <a:bodyPr/>
                    <a:lstStyle/>
                    <a:p>
                      <a:pPr algn="l"/>
                      <a:r>
                        <a:rPr sz="1200">
                          <a:solidFill>
                            <a:srgbClr val="0D1B2A"/>
                          </a:solidFill>
                        </a:rPr>
                        <a:t>n8n webhook to SAGE task routing (HMAC-verified)</a:t>
                      </a:r>
                    </a:p>
                  </a:txBody>
                  <a:tcPr>
                    <a:solidFill>
                      <a:srgbClr val="F0F4F8"/>
                    </a:solidFill>
                  </a:tcPr>
                </a:tc>
                <a:tc>
                  <a:txBody>
                    <a:bodyPr/>
                    <a:lstStyle/>
                    <a:p>
                      <a:pPr algn="l"/>
                      <a:r>
                        <a:rPr sz="1200">
                          <a:solidFill>
                            <a:srgbClr val="0D1B2A"/>
                          </a:solidFill>
                        </a:rPr>
                        <a:t>Live</a:t>
                      </a:r>
                    </a:p>
                  </a:txBody>
                  <a:tcPr>
                    <a:solidFill>
                      <a:srgbClr val="F0F4F8"/>
                    </a:solidFill>
                  </a:tcPr>
                </a:tc>
              </a:tr>
              <a:tr h="475488">
                <a:tc>
                  <a:txBody>
                    <a:bodyPr/>
                    <a:lstStyle/>
                    <a:p>
                      <a:pPr algn="l"/>
                      <a:r>
                        <a:rPr sz="1200">
                          <a:solidFill>
                            <a:srgbClr val="0D1B2A"/>
                          </a:solidFill>
                        </a:rPr>
                        <a:t>Workflow Engine</a:t>
                      </a:r>
                    </a:p>
                  </a:txBody>
                  <a:tcPr>
                    <a:solidFill>
                      <a:srgbClr val="FFFFFF"/>
                    </a:solidFill>
                  </a:tcPr>
                </a:tc>
                <a:tc>
                  <a:txBody>
                    <a:bodyPr/>
                    <a:lstStyle/>
                    <a:p>
                      <a:pPr algn="l"/>
                      <a:r>
                        <a:rPr sz="1200">
                          <a:solidFill>
                            <a:srgbClr val="0D1B2A"/>
                          </a:solidFill>
                        </a:rPr>
                        <a:t>LangGraph (interrupt/resume), Temporal (durable)</a:t>
                      </a:r>
                    </a:p>
                  </a:txBody>
                  <a:tcPr>
                    <a:solidFill>
                      <a:srgbClr val="FFFFFF"/>
                    </a:solidFill>
                  </a:tcPr>
                </a:tc>
                <a:tc>
                  <a:txBody>
                    <a:bodyPr/>
                    <a:lstStyle/>
                    <a:p>
                      <a:pPr algn="l"/>
                      <a:r>
                        <a:rPr sz="1200">
                          <a:solidFill>
                            <a:srgbClr val="0D1B2A"/>
                          </a:solidFill>
                        </a:rPr>
                        <a:t>Live</a:t>
                      </a:r>
                    </a:p>
                  </a:txBody>
                  <a:tcPr>
                    <a:solidFill>
                      <a:srgbClr val="FFFFFF"/>
                    </a:solidFill>
                  </a:tcPr>
                </a:tc>
              </a:tr>
              <a:tr h="475488">
                <a:tc>
                  <a:txBody>
                    <a:bodyPr/>
                    <a:lstStyle/>
                    <a:p>
                      <a:pPr algn="l"/>
                      <a:r>
                        <a:rPr sz="1200">
                          <a:solidFill>
                            <a:srgbClr val="0D1B2A"/>
                          </a:solidFill>
                        </a:rPr>
                        <a:t>Code Execution</a:t>
                      </a:r>
                    </a:p>
                  </a:txBody>
                  <a:tcPr>
                    <a:solidFill>
                      <a:srgbClr val="F0F4F8"/>
                    </a:solidFill>
                  </a:tcPr>
                </a:tc>
                <a:tc>
                  <a:txBody>
                    <a:bodyPr/>
                    <a:lstStyle/>
                    <a:p>
                      <a:pPr algn="l"/>
                      <a:r>
                        <a:rPr sz="1200">
                          <a:solidFill>
                            <a:srgbClr val="0D1B2A"/>
                          </a:solidFill>
                        </a:rPr>
                        <a:t>AutoGen plan, approve, execute in Docker sandbox</a:t>
                      </a:r>
                    </a:p>
                  </a:txBody>
                  <a:tcPr>
                    <a:solidFill>
                      <a:srgbClr val="F0F4F8"/>
                    </a:solidFill>
                  </a:tcPr>
                </a:tc>
                <a:tc>
                  <a:txBody>
                    <a:bodyPr/>
                    <a:lstStyle/>
                    <a:p>
                      <a:pPr algn="l"/>
                      <a:r>
                        <a:rPr sz="1200">
                          <a:solidFill>
                            <a:srgbClr val="0D1B2A"/>
                          </a:solidFill>
                        </a:rPr>
                        <a:t>Live</a:t>
                      </a:r>
                    </a:p>
                  </a:txBody>
                  <a:tcPr>
                    <a:solidFill>
                      <a:srgbClr val="F0F4F8"/>
                    </a:solidFill>
                  </a:tcPr>
                </a:tc>
              </a:tr>
              <a:tr h="475488">
                <a:tc>
                  <a:txBody>
                    <a:bodyPr/>
                    <a:lstStyle/>
                    <a:p>
                      <a:pPr algn="l"/>
                      <a:r>
                        <a:rPr sz="1200">
                          <a:solidFill>
                            <a:srgbClr val="0D1B2A"/>
                          </a:solidFill>
                        </a:rPr>
                        <a:t>Compliance</a:t>
                      </a:r>
                    </a:p>
                  </a:txBody>
                  <a:tcPr>
                    <a:solidFill>
                      <a:srgbClr val="FFFFFF"/>
                    </a:solidFill>
                  </a:tcPr>
                </a:tc>
                <a:tc>
                  <a:txBody>
                    <a:bodyPr/>
                    <a:lstStyle/>
                    <a:p>
                      <a:pPr algn="l"/>
                      <a:r>
                        <a:rPr sz="1200">
                          <a:solidFill>
                            <a:srgbClr val="0D1B2A"/>
                          </a:solidFill>
                        </a:rPr>
                        <a:t>Spira TM, REST webhook adapters</a:t>
                      </a:r>
                    </a:p>
                  </a:txBody>
                  <a:tcPr>
                    <a:solidFill>
                      <a:srgbClr val="FFFFFF"/>
                    </a:solidFill>
                  </a:tcPr>
                </a:tc>
                <a:tc>
                  <a:txBody>
                    <a:bodyPr/>
                    <a:lstStyle/>
                    <a:p>
                      <a:pPr algn="l"/>
                      <a:r>
                        <a:rPr sz="1200">
                          <a:solidFill>
                            <a:srgbClr val="0D1B2A"/>
                          </a:solidFill>
                        </a:rPr>
                        <a:t>Live</a:t>
                      </a:r>
                    </a:p>
                  </a:txBody>
                  <a:tcPr>
                    <a:solidFill>
                      <a:srgbClr val="FFFFFF"/>
                    </a:solidFill>
                  </a:tcPr>
                </a:tc>
              </a:tr>
              <a:tr h="475488">
                <a:tc>
                  <a:txBody>
                    <a:bodyPr/>
                    <a:lstStyle/>
                    <a:p>
                      <a:pPr algn="l"/>
                      <a:r>
                        <a:rPr sz="1200">
                          <a:solidFill>
                            <a:srgbClr val="0D1B2A"/>
                          </a:solidFill>
                        </a:rPr>
                        <a:t>Multi-Tenant</a:t>
                      </a:r>
                    </a:p>
                  </a:txBody>
                  <a:tcPr>
                    <a:solidFill>
                      <a:srgbClr val="F0F4F8"/>
                    </a:solidFill>
                  </a:tcPr>
                </a:tc>
                <a:tc>
                  <a:txBody>
                    <a:bodyPr/>
                    <a:lstStyle/>
                    <a:p>
                      <a:pPr algn="l"/>
                      <a:r>
                        <a:rPr sz="1200">
                          <a:solidFill>
                            <a:srgbClr val="0D1B2A"/>
                          </a:solidFill>
                        </a:rPr>
                        <a:t>X-SAGE-Tenant header, per-team collection isolation</a:t>
                      </a:r>
                    </a:p>
                  </a:txBody>
                  <a:tcPr>
                    <a:solidFill>
                      <a:srgbClr val="F0F4F8"/>
                    </a:solidFill>
                  </a:tcPr>
                </a:tc>
                <a:tc>
                  <a:txBody>
                    <a:bodyPr/>
                    <a:lstStyle/>
                    <a:p>
                      <a:pPr algn="l"/>
                      <a:r>
                        <a:rPr sz="1200">
                          <a:solidFill>
                            <a:srgbClr val="0D1B2A"/>
                          </a:solidFill>
                        </a:rPr>
                        <a:t>Live</a:t>
                      </a:r>
                    </a:p>
                  </a:txBody>
                  <a:tcPr>
                    <a:solidFill>
                      <a:srgbClr val="F0F4F8"/>
                    </a:solidFill>
                  </a:tcPr>
                </a:tc>
              </a:tr>
              <a:tr h="475488">
                <a:tc>
                  <a:txBody>
                    <a:bodyPr/>
                    <a:lstStyle/>
                    <a:p>
                      <a:pPr algn="l"/>
                      <a:r>
                        <a:rPr sz="1200">
                          <a:solidFill>
                            <a:srgbClr val="0D1B2A"/>
                          </a:solidFill>
                        </a:rPr>
                        <a:t>MCP Servers</a:t>
                      </a:r>
                    </a:p>
                  </a:txBody>
                  <a:tcPr>
                    <a:solidFill>
                      <a:srgbClr val="FFFFFF"/>
                    </a:solidFill>
                  </a:tcPr>
                </a:tc>
                <a:tc>
                  <a:txBody>
                    <a:bodyPr/>
                    <a:lstStyle/>
                    <a:p>
                      <a:pPr algn="l"/>
                      <a:r>
                        <a:rPr sz="1200">
                          <a:solidFill>
                            <a:srgbClr val="0D1B2A"/>
                          </a:solidFill>
                        </a:rPr>
                        <a:t>Model Context Protocol — plug-in tool ecosystem</a:t>
                      </a:r>
                    </a:p>
                  </a:txBody>
                  <a:tcPr>
                    <a:solidFill>
                      <a:srgbClr val="FFFFFF"/>
                    </a:solidFill>
                  </a:tcPr>
                </a:tc>
                <a:tc>
                  <a:txBody>
                    <a:bodyPr/>
                    <a:lstStyle/>
                    <a:p>
                      <a:pPr algn="l"/>
                      <a:r>
                        <a:rPr sz="1200">
                          <a:solidFill>
                            <a:srgbClr val="0D1B2A"/>
                          </a:solidFill>
                        </a:rPr>
                        <a:t>Ready</a:t>
                      </a:r>
                    </a:p>
                  </a:txBody>
                  <a:tcPr>
                    <a:solidFill>
                      <a:srgbClr val="FFFFFF"/>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LLM Gateway Design</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Provider-agnostic, thread-safe, single-lane inference</a:t>
            </a:r>
          </a:p>
        </p:txBody>
      </p:sp>
      <p:sp>
        <p:nvSpPr>
          <p:cNvPr id="5" name="Rectangle 4"/>
          <p:cNvSpPr/>
          <p:nvPr/>
        </p:nvSpPr>
        <p:spPr>
          <a:xfrm>
            <a:off x="365760" y="1600200"/>
            <a:ext cx="320040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691640"/>
            <a:ext cx="3108960" cy="457200"/>
          </a:xfrm>
          <a:prstGeom prst="rect">
            <a:avLst/>
          </a:prstGeom>
          <a:noFill/>
        </p:spPr>
        <p:txBody>
          <a:bodyPr wrap="square">
            <a:spAutoFit/>
          </a:bodyPr>
          <a:lstStyle/>
          <a:p>
            <a:pPr algn="ctr"/>
            <a:r>
              <a:rPr sz="1300" b="1" i="0">
                <a:solidFill>
                  <a:srgbClr val="FFFFFF"/>
                </a:solidFill>
              </a:rPr>
              <a:t>No API Key Needed</a:t>
            </a:r>
          </a:p>
        </p:txBody>
      </p:sp>
      <p:sp>
        <p:nvSpPr>
          <p:cNvPr id="7" name="TextBox 6"/>
          <p:cNvSpPr txBox="1"/>
          <p:nvPr/>
        </p:nvSpPr>
        <p:spPr>
          <a:xfrm>
            <a:off x="3749039" y="1709928"/>
            <a:ext cx="8046720" cy="457200"/>
          </a:xfrm>
          <a:prstGeom prst="rect">
            <a:avLst/>
          </a:prstGeom>
          <a:noFill/>
        </p:spPr>
        <p:txBody>
          <a:bodyPr wrap="square">
            <a:spAutoFit/>
          </a:bodyPr>
          <a:lstStyle/>
          <a:p>
            <a:pPr algn="l"/>
            <a:r>
              <a:rPr sz="1300" b="0" i="0">
                <a:solidFill>
                  <a:srgbClr val="0D1B2A"/>
                </a:solidFill>
              </a:rPr>
              <a:t>5 providers require zero credential management — login once or run fully local</a:t>
            </a:r>
          </a:p>
        </p:txBody>
      </p:sp>
      <p:sp>
        <p:nvSpPr>
          <p:cNvPr id="8" name="Rectangle 7"/>
          <p:cNvSpPr/>
          <p:nvPr/>
        </p:nvSpPr>
        <p:spPr>
          <a:xfrm>
            <a:off x="365760" y="2377440"/>
            <a:ext cx="320040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468880"/>
            <a:ext cx="3108960" cy="457200"/>
          </a:xfrm>
          <a:prstGeom prst="rect">
            <a:avLst/>
          </a:prstGeom>
          <a:noFill/>
        </p:spPr>
        <p:txBody>
          <a:bodyPr wrap="square">
            <a:spAutoFit/>
          </a:bodyPr>
          <a:lstStyle/>
          <a:p>
            <a:pPr algn="ctr"/>
            <a:r>
              <a:rPr sz="1300" b="1" i="0">
                <a:solidFill>
                  <a:srgbClr val="FFFFFF"/>
                </a:solidFill>
              </a:rPr>
              <a:t>Gemini CLI</a:t>
            </a:r>
          </a:p>
        </p:txBody>
      </p:sp>
      <p:sp>
        <p:nvSpPr>
          <p:cNvPr id="10" name="TextBox 9"/>
          <p:cNvSpPr txBox="1"/>
          <p:nvPr/>
        </p:nvSpPr>
        <p:spPr>
          <a:xfrm>
            <a:off x="3749039" y="2487168"/>
            <a:ext cx="8046720" cy="457200"/>
          </a:xfrm>
          <a:prstGeom prst="rect">
            <a:avLst/>
          </a:prstGeom>
          <a:noFill/>
        </p:spPr>
        <p:txBody>
          <a:bodyPr wrap="square">
            <a:spAutoFit/>
          </a:bodyPr>
          <a:lstStyle/>
          <a:p>
            <a:pPr algn="l"/>
            <a:r>
              <a:rPr sz="1300" b="0" i="0">
                <a:solidFill>
                  <a:srgbClr val="0D1B2A"/>
                </a:solidFill>
              </a:rPr>
              <a:t>npm install -g @google/gemini-cli · browser login once · gemini-2.5-flash</a:t>
            </a:r>
          </a:p>
        </p:txBody>
      </p:sp>
      <p:sp>
        <p:nvSpPr>
          <p:cNvPr id="11" name="Rectangle 10"/>
          <p:cNvSpPr/>
          <p:nvPr/>
        </p:nvSpPr>
        <p:spPr>
          <a:xfrm>
            <a:off x="365760" y="3154680"/>
            <a:ext cx="320040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246120"/>
            <a:ext cx="3108960" cy="457200"/>
          </a:xfrm>
          <a:prstGeom prst="rect">
            <a:avLst/>
          </a:prstGeom>
          <a:noFill/>
        </p:spPr>
        <p:txBody>
          <a:bodyPr wrap="square">
            <a:spAutoFit/>
          </a:bodyPr>
          <a:lstStyle/>
          <a:p>
            <a:pPr algn="ctr"/>
            <a:r>
              <a:rPr sz="1300" b="1" i="0">
                <a:solidFill>
                  <a:srgbClr val="FFFFFF"/>
                </a:solidFill>
              </a:rPr>
              <a:t>Claude Code CLI</a:t>
            </a:r>
          </a:p>
        </p:txBody>
      </p:sp>
      <p:sp>
        <p:nvSpPr>
          <p:cNvPr id="13" name="TextBox 12"/>
          <p:cNvSpPr txBox="1"/>
          <p:nvPr/>
        </p:nvSpPr>
        <p:spPr>
          <a:xfrm>
            <a:off x="3749039" y="3264408"/>
            <a:ext cx="8046720" cy="457200"/>
          </a:xfrm>
          <a:prstGeom prst="rect">
            <a:avLst/>
          </a:prstGeom>
          <a:noFill/>
        </p:spPr>
        <p:txBody>
          <a:bodyPr wrap="square">
            <a:spAutoFit/>
          </a:bodyPr>
          <a:lstStyle/>
          <a:p>
            <a:pPr algn="l"/>
            <a:r>
              <a:rPr sz="1300" b="0" i="0">
                <a:solidFill>
                  <a:srgbClr val="0D1B2A"/>
                </a:solidFill>
              </a:rPr>
              <a:t>npm install -g @anthropic-ai/claude-code · Anthropic auth once · sonnet-4-6</a:t>
            </a:r>
          </a:p>
        </p:txBody>
      </p:sp>
      <p:sp>
        <p:nvSpPr>
          <p:cNvPr id="14" name="Rectangle 13"/>
          <p:cNvSpPr/>
          <p:nvPr/>
        </p:nvSpPr>
        <p:spPr>
          <a:xfrm>
            <a:off x="365760" y="3931920"/>
            <a:ext cx="320040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4023360"/>
            <a:ext cx="3108960" cy="457200"/>
          </a:xfrm>
          <a:prstGeom prst="rect">
            <a:avLst/>
          </a:prstGeom>
          <a:noFill/>
        </p:spPr>
        <p:txBody>
          <a:bodyPr wrap="square">
            <a:spAutoFit/>
          </a:bodyPr>
          <a:lstStyle/>
          <a:p>
            <a:pPr algn="ctr"/>
            <a:r>
              <a:rPr sz="1300" b="1" i="0">
                <a:solidFill>
                  <a:srgbClr val="FFFFFF"/>
                </a:solidFill>
              </a:rPr>
              <a:t>Ollama (local)</a:t>
            </a:r>
          </a:p>
        </p:txBody>
      </p:sp>
      <p:sp>
        <p:nvSpPr>
          <p:cNvPr id="16" name="TextBox 15"/>
          <p:cNvSpPr txBox="1"/>
          <p:nvPr/>
        </p:nvSpPr>
        <p:spPr>
          <a:xfrm>
            <a:off x="3749039" y="4041648"/>
            <a:ext cx="8046720" cy="457200"/>
          </a:xfrm>
          <a:prstGeom prst="rect">
            <a:avLst/>
          </a:prstGeom>
          <a:noFill/>
        </p:spPr>
        <p:txBody>
          <a:bodyPr wrap="square">
            <a:spAutoFit/>
          </a:bodyPr>
          <a:lstStyle/>
          <a:p>
            <a:pPr algn="l"/>
            <a:r>
              <a:rPr sz="1300" b="0" i="0">
                <a:solidFill>
                  <a:srgbClr val="0D1B2A"/>
                </a:solidFill>
              </a:rPr>
              <a:t>ollama serve + ollama pull llama3.2 — fully offline, CUDA-accelerated option</a:t>
            </a:r>
          </a:p>
        </p:txBody>
      </p:sp>
      <p:sp>
        <p:nvSpPr>
          <p:cNvPr id="17" name="Rectangle 16"/>
          <p:cNvSpPr/>
          <p:nvPr/>
        </p:nvSpPr>
        <p:spPr>
          <a:xfrm>
            <a:off x="365760" y="4709160"/>
            <a:ext cx="320040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800600"/>
            <a:ext cx="3108960" cy="457200"/>
          </a:xfrm>
          <a:prstGeom prst="rect">
            <a:avLst/>
          </a:prstGeom>
          <a:noFill/>
        </p:spPr>
        <p:txBody>
          <a:bodyPr wrap="square">
            <a:spAutoFit/>
          </a:bodyPr>
          <a:lstStyle/>
          <a:p>
            <a:pPr algn="ctr"/>
            <a:r>
              <a:rPr sz="1300" b="1" i="0">
                <a:solidFill>
                  <a:srgbClr val="FFFFFF"/>
                </a:solidFill>
              </a:rPr>
              <a:t>Generic CLI</a:t>
            </a:r>
          </a:p>
        </p:txBody>
      </p:sp>
      <p:sp>
        <p:nvSpPr>
          <p:cNvPr id="19" name="TextBox 18"/>
          <p:cNvSpPr txBox="1"/>
          <p:nvPr/>
        </p:nvSpPr>
        <p:spPr>
          <a:xfrm>
            <a:off x="3749039" y="4818888"/>
            <a:ext cx="8046720" cy="457200"/>
          </a:xfrm>
          <a:prstGeom prst="rect">
            <a:avLst/>
          </a:prstGeom>
          <a:noFill/>
        </p:spPr>
        <p:txBody>
          <a:bodyPr wrap="square">
            <a:spAutoFit/>
          </a:bodyPr>
          <a:lstStyle/>
          <a:p>
            <a:pPr algn="l"/>
            <a:r>
              <a:rPr sz="1300" b="0" i="0">
                <a:solidFill>
                  <a:srgbClr val="0D1B2A"/>
                </a:solidFill>
              </a:rPr>
              <a:t>Any CLI tool via configurable path + {prompt} arg — Aider, LM Studio, etc.</a:t>
            </a:r>
          </a:p>
        </p:txBody>
      </p:sp>
      <p:sp>
        <p:nvSpPr>
          <p:cNvPr id="20" name="Rectangle 19"/>
          <p:cNvSpPr/>
          <p:nvPr/>
        </p:nvSpPr>
        <p:spPr>
          <a:xfrm>
            <a:off x="365760" y="5486400"/>
            <a:ext cx="320040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5577840"/>
            <a:ext cx="3108960" cy="457200"/>
          </a:xfrm>
          <a:prstGeom prst="rect">
            <a:avLst/>
          </a:prstGeom>
          <a:noFill/>
        </p:spPr>
        <p:txBody>
          <a:bodyPr wrap="square">
            <a:spAutoFit/>
          </a:bodyPr>
          <a:lstStyle/>
          <a:p>
            <a:pPr algn="ctr"/>
            <a:r>
              <a:rPr sz="1300" b="1" i="0">
                <a:solidFill>
                  <a:srgbClr val="FFFFFF"/>
                </a:solidFill>
              </a:rPr>
              <a:t>Thread-Safe + Stream</a:t>
            </a:r>
          </a:p>
        </p:txBody>
      </p:sp>
      <p:sp>
        <p:nvSpPr>
          <p:cNvPr id="22" name="TextBox 21"/>
          <p:cNvSpPr txBox="1"/>
          <p:nvPr/>
        </p:nvSpPr>
        <p:spPr>
          <a:xfrm>
            <a:off x="3749039" y="5596128"/>
            <a:ext cx="8046720" cy="457200"/>
          </a:xfrm>
          <a:prstGeom prst="rect">
            <a:avLst/>
          </a:prstGeom>
          <a:noFill/>
        </p:spPr>
        <p:txBody>
          <a:bodyPr wrap="square">
            <a:spAutoFit/>
          </a:bodyPr>
          <a:lstStyle/>
          <a:p>
            <a:pPr algn="l"/>
            <a:r>
              <a:rPr sz="1300" b="0" i="0">
                <a:solidFill>
                  <a:srgbClr val="0D1B2A"/>
                </a:solidFill>
              </a:rPr>
              <a:t>threading.Lock on generate() · SSE streaming via generate_stream() for all providers</a:t>
            </a:r>
          </a:p>
        </p:txBody>
      </p:sp>
      <p:sp>
        <p:nvSpPr>
          <p:cNvPr id="23" name="Rectangle 22"/>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Security &amp; Compliance Architecture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Designed for regulated environments — not retrofitted</a:t>
            </a:r>
          </a:p>
        </p:txBody>
      </p:sp>
      <p:graphicFrame>
        <p:nvGraphicFramePr>
          <p:cNvPr id="5" name="Table 4"/>
          <p:cNvGraphicFramePr>
            <a:graphicFrameLocks noGrp="1"/>
          </p:cNvGraphicFramePr>
          <p:nvPr/>
        </p:nvGraphicFramePr>
        <p:xfrm>
          <a:off x="457200" y="1508760"/>
          <a:ext cx="11247120" cy="3328416"/>
        </p:xfrm>
        <a:graphic>
          <a:graphicData uri="http://schemas.openxmlformats.org/drawingml/2006/table">
            <a:tbl>
              <a:tblPr firstRow="1" bandRow="1">
                <a:tableStyleId>{5C22544A-7EE6-4342-B048-85BDC9FD1C3A}</a:tableStyleId>
              </a:tblPr>
              <a:tblGrid>
                <a:gridCol w="2286000"/>
                <a:gridCol w="5303520"/>
                <a:gridCol w="3657600"/>
              </a:tblGrid>
              <a:tr h="475488">
                <a:tc>
                  <a:txBody>
                    <a:bodyPr/>
                    <a:lstStyle/>
                    <a:p>
                      <a:pPr algn="ctr"/>
                      <a:r>
                        <a:rPr b="1" sz="1300">
                          <a:solidFill>
                            <a:srgbClr val="FFFFFF"/>
                          </a:solidFill>
                        </a:rPr>
                        <a:t>Control</a:t>
                      </a:r>
                    </a:p>
                  </a:txBody>
                  <a:tcPr>
                    <a:solidFill>
                      <a:srgbClr val="0078D4"/>
                    </a:solidFill>
                  </a:tcPr>
                </a:tc>
                <a:tc>
                  <a:txBody>
                    <a:bodyPr/>
                    <a:lstStyle/>
                    <a:p>
                      <a:pPr algn="ctr"/>
                      <a:r>
                        <a:rPr b="1" sz="1300">
                          <a:solidFill>
                            <a:srgbClr val="FFFFFF"/>
                          </a:solidFill>
                        </a:rPr>
                        <a:t>Implementation</a:t>
                      </a:r>
                    </a:p>
                  </a:txBody>
                  <a:tcPr>
                    <a:solidFill>
                      <a:srgbClr val="0078D4"/>
                    </a:solidFill>
                  </a:tcPr>
                </a:tc>
                <a:tc>
                  <a:txBody>
                    <a:bodyPr/>
                    <a:lstStyle/>
                    <a:p>
                      <a:pPr algn="ctr"/>
                      <a:r>
                        <a:rPr b="1" sz="1300">
                          <a:solidFill>
                            <a:srgbClr val="FFFFFF"/>
                          </a:solidFill>
                        </a:rPr>
                        <a:t>Standard</a:t>
                      </a:r>
                    </a:p>
                  </a:txBody>
                  <a:tcPr>
                    <a:solidFill>
                      <a:srgbClr val="0078D4"/>
                    </a:solidFill>
                  </a:tcPr>
                </a:tc>
              </a:tr>
              <a:tr h="475488">
                <a:tc>
                  <a:txBody>
                    <a:bodyPr/>
                    <a:lstStyle/>
                    <a:p>
                      <a:pPr algn="l"/>
                      <a:r>
                        <a:rPr sz="1200">
                          <a:solidFill>
                            <a:srgbClr val="0D1B2A"/>
                          </a:solidFill>
                        </a:rPr>
                        <a:t>Audit Log Integrity</a:t>
                      </a:r>
                    </a:p>
                  </a:txBody>
                  <a:tcPr>
                    <a:solidFill>
                      <a:srgbClr val="F0F4F8"/>
                    </a:solidFill>
                  </a:tcPr>
                </a:tc>
                <a:tc>
                  <a:txBody>
                    <a:bodyPr/>
                    <a:lstStyle/>
                    <a:p>
                      <a:pPr algn="l"/>
                      <a:r>
                        <a:rPr sz="1200">
                          <a:solidFill>
                            <a:srgbClr val="0D1B2A"/>
                          </a:solidFill>
                        </a:rPr>
                        <a:t>Append-only SQLite; no UPDATE/DELETE exposed</a:t>
                      </a:r>
                    </a:p>
                  </a:txBody>
                  <a:tcPr>
                    <a:solidFill>
                      <a:srgbClr val="F0F4F8"/>
                    </a:solidFill>
                  </a:tcPr>
                </a:tc>
                <a:tc>
                  <a:txBody>
                    <a:bodyPr/>
                    <a:lstStyle/>
                    <a:p>
                      <a:pPr algn="l"/>
                      <a:r>
                        <a:rPr sz="1200">
                          <a:solidFill>
                            <a:srgbClr val="0D1B2A"/>
                          </a:solidFill>
                        </a:rPr>
                        <a:t>ISO 13485 · FDA 21 CFR Part 11</a:t>
                      </a:r>
                    </a:p>
                  </a:txBody>
                  <a:tcPr>
                    <a:solidFill>
                      <a:srgbClr val="F0F4F8"/>
                    </a:solidFill>
                  </a:tcPr>
                </a:tc>
              </a:tr>
              <a:tr h="475488">
                <a:tc>
                  <a:txBody>
                    <a:bodyPr/>
                    <a:lstStyle/>
                    <a:p>
                      <a:pPr algn="l"/>
                      <a:r>
                        <a:rPr sz="1200">
                          <a:solidFill>
                            <a:srgbClr val="0D1B2A"/>
                          </a:solidFill>
                        </a:rPr>
                        <a:t>Decision Traceability</a:t>
                      </a:r>
                    </a:p>
                  </a:txBody>
                  <a:tcPr>
                    <a:solidFill>
                      <a:srgbClr val="FFFFFF"/>
                    </a:solidFill>
                  </a:tcPr>
                </a:tc>
                <a:tc>
                  <a:txBody>
                    <a:bodyPr/>
                    <a:lstStyle/>
                    <a:p>
                      <a:pPr algn="l"/>
                      <a:r>
                        <a:rPr sz="1200">
                          <a:solidFill>
                            <a:srgbClr val="0D1B2A"/>
                          </a:solidFill>
                        </a:rPr>
                        <a:t>UUID trace_id on every LLM call + human action</a:t>
                      </a:r>
                    </a:p>
                  </a:txBody>
                  <a:tcPr>
                    <a:solidFill>
                      <a:srgbClr val="FFFFFF"/>
                    </a:solidFill>
                  </a:tcPr>
                </a:tc>
                <a:tc>
                  <a:txBody>
                    <a:bodyPr/>
                    <a:lstStyle/>
                    <a:p>
                      <a:pPr algn="l"/>
                      <a:r>
                        <a:rPr sz="1200">
                          <a:solidFill>
                            <a:srgbClr val="0D1B2A"/>
                          </a:solidFill>
                        </a:rPr>
                        <a:t>IEC 62304 · ISO 14971</a:t>
                      </a:r>
                    </a:p>
                  </a:txBody>
                  <a:tcPr>
                    <a:solidFill>
                      <a:srgbClr val="FFFFFF"/>
                    </a:solidFill>
                  </a:tcPr>
                </a:tc>
              </a:tr>
              <a:tr h="475488">
                <a:tc>
                  <a:txBody>
                    <a:bodyPr/>
                    <a:lstStyle/>
                    <a:p>
                      <a:pPr algn="l"/>
                      <a:r>
                        <a:rPr sz="1200">
                          <a:solidFill>
                            <a:srgbClr val="0D1B2A"/>
                          </a:solidFill>
                        </a:rPr>
                        <a:t>Human Gate</a:t>
                      </a:r>
                    </a:p>
                  </a:txBody>
                  <a:tcPr>
                    <a:solidFill>
                      <a:srgbClr val="F0F4F8"/>
                    </a:solidFill>
                  </a:tcPr>
                </a:tc>
                <a:tc>
                  <a:txBody>
                    <a:bodyPr/>
                    <a:lstStyle/>
                    <a:p>
                      <a:pPr algn="l"/>
                      <a:r>
                        <a:rPr sz="1200">
                          <a:solidFill>
                            <a:srgbClr val="0D1B2A"/>
                          </a:solidFill>
                        </a:rPr>
                        <a:t>Approval endpoint required before any action executes</a:t>
                      </a:r>
                    </a:p>
                  </a:txBody>
                  <a:tcPr>
                    <a:solidFill>
                      <a:srgbClr val="F0F4F8"/>
                    </a:solidFill>
                  </a:tcPr>
                </a:tc>
                <a:tc>
                  <a:txBody>
                    <a:bodyPr/>
                    <a:lstStyle/>
                    <a:p>
                      <a:pPr algn="l"/>
                      <a:r>
                        <a:rPr sz="1200">
                          <a:solidFill>
                            <a:srgbClr val="0D1B2A"/>
                          </a:solidFill>
                        </a:rPr>
                        <a:t>ISO 13485 §8.5 CAPA</a:t>
                      </a:r>
                    </a:p>
                  </a:txBody>
                  <a:tcPr>
                    <a:solidFill>
                      <a:srgbClr val="F0F4F8"/>
                    </a:solidFill>
                  </a:tcPr>
                </a:tc>
              </a:tr>
              <a:tr h="475488">
                <a:tc>
                  <a:txBody>
                    <a:bodyPr/>
                    <a:lstStyle/>
                    <a:p>
                      <a:pPr algn="l"/>
                      <a:r>
                        <a:rPr sz="1200">
                          <a:solidFill>
                            <a:srgbClr val="0D1B2A"/>
                          </a:solidFill>
                        </a:rPr>
                        <a:t>Access Control</a:t>
                      </a:r>
                    </a:p>
                  </a:txBody>
                  <a:tcPr>
                    <a:solidFill>
                      <a:srgbClr val="FFFFFF"/>
                    </a:solidFill>
                  </a:tcPr>
                </a:tc>
                <a:tc>
                  <a:txBody>
                    <a:bodyPr/>
                    <a:lstStyle/>
                    <a:p>
                      <a:pPr algn="l"/>
                      <a:r>
                        <a:rPr sz="1200">
                          <a:solidFill>
                            <a:srgbClr val="0D1B2A"/>
                          </a:solidFill>
                        </a:rPr>
                        <a:t>JWT auth · role-based permissions (roadmap Phase 7)</a:t>
                      </a:r>
                    </a:p>
                  </a:txBody>
                  <a:tcPr>
                    <a:solidFill>
                      <a:srgbClr val="FFFFFF"/>
                    </a:solidFill>
                  </a:tcPr>
                </a:tc>
                <a:tc>
                  <a:txBody>
                    <a:bodyPr/>
                    <a:lstStyle/>
                    <a:p>
                      <a:pPr algn="l"/>
                      <a:r>
                        <a:rPr sz="1200">
                          <a:solidFill>
                            <a:srgbClr val="0D1B2A"/>
                          </a:solidFill>
                        </a:rPr>
                        <a:t>FDA Cybersecurity 2023</a:t>
                      </a:r>
                    </a:p>
                  </a:txBody>
                  <a:tcPr>
                    <a:solidFill>
                      <a:srgbClr val="FFFFFF"/>
                    </a:solidFill>
                  </a:tcPr>
                </a:tc>
              </a:tr>
              <a:tr h="475488">
                <a:tc>
                  <a:txBody>
                    <a:bodyPr/>
                    <a:lstStyle/>
                    <a:p>
                      <a:pPr algn="l"/>
                      <a:r>
                        <a:rPr sz="1200">
                          <a:solidFill>
                            <a:srgbClr val="0D1B2A"/>
                          </a:solidFill>
                        </a:rPr>
                        <a:t>Data Residency</a:t>
                      </a:r>
                    </a:p>
                  </a:txBody>
                  <a:tcPr>
                    <a:solidFill>
                      <a:srgbClr val="F0F4F8"/>
                    </a:solidFill>
                  </a:tcPr>
                </a:tc>
                <a:tc>
                  <a:txBody>
                    <a:bodyPr/>
                    <a:lstStyle/>
                    <a:p>
                      <a:pPr algn="l"/>
                      <a:r>
                        <a:rPr sz="1200">
                          <a:solidFill>
                            <a:srgbClr val="0D1B2A"/>
                          </a:solidFill>
                        </a:rPr>
                        <a:t>Air-gapped Ollama option; no cloud egress required</a:t>
                      </a:r>
                    </a:p>
                  </a:txBody>
                  <a:tcPr>
                    <a:solidFill>
                      <a:srgbClr val="F0F4F8"/>
                    </a:solidFill>
                  </a:tcPr>
                </a:tc>
                <a:tc>
                  <a:txBody>
                    <a:bodyPr/>
                    <a:lstStyle/>
                    <a:p>
                      <a:pPr algn="l"/>
                      <a:r>
                        <a:rPr sz="1200">
                          <a:solidFill>
                            <a:srgbClr val="0D1B2A"/>
                          </a:solidFill>
                        </a:rPr>
                        <a:t>GDPR · HIPAA ready</a:t>
                      </a:r>
                    </a:p>
                  </a:txBody>
                  <a:tcPr>
                    <a:solidFill>
                      <a:srgbClr val="F0F4F8"/>
                    </a:solidFill>
                  </a:tcPr>
                </a:tc>
              </a:tr>
              <a:tr h="475488">
                <a:tc>
                  <a:txBody>
                    <a:bodyPr/>
                    <a:lstStyle/>
                    <a:p>
                      <a:pPr algn="l"/>
                      <a:r>
                        <a:rPr sz="1200">
                          <a:solidFill>
                            <a:srgbClr val="0D1B2A"/>
                          </a:solidFill>
                        </a:rPr>
                        <a:t>SOUP Inventory</a:t>
                      </a:r>
                    </a:p>
                  </a:txBody>
                  <a:tcPr>
                    <a:solidFill>
                      <a:srgbClr val="FFFFFF"/>
                    </a:solidFill>
                  </a:tcPr>
                </a:tc>
                <a:tc>
                  <a:txBody>
                    <a:bodyPr/>
                    <a:lstStyle/>
                    <a:p>
                      <a:pPr algn="l"/>
                      <a:r>
                        <a:rPr sz="1200">
                          <a:solidFill>
                            <a:srgbClr val="0D1B2A"/>
                          </a:solidFill>
                        </a:rPr>
                        <a:t>All third-party libs documented; pinned versions</a:t>
                      </a:r>
                    </a:p>
                  </a:txBody>
                  <a:tcPr>
                    <a:solidFill>
                      <a:srgbClr val="FFFFFF"/>
                    </a:solidFill>
                  </a:tcPr>
                </a:tc>
                <a:tc>
                  <a:txBody>
                    <a:bodyPr/>
                    <a:lstStyle/>
                    <a:p>
                      <a:pPr algn="l"/>
                      <a:r>
                        <a:rPr sz="1200">
                          <a:solidFill>
                            <a:srgbClr val="0D1B2A"/>
                          </a:solidFill>
                        </a:rPr>
                        <a:t>IEC 62304 §8.1.2</a:t>
                      </a:r>
                    </a:p>
                  </a:txBody>
                  <a:tcPr>
                    <a:solidFill>
                      <a:srgbClr val="FFFFFF"/>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Developer Experience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From zero to running agent in minutes</a:t>
            </a:r>
          </a:p>
        </p:txBody>
      </p:sp>
      <p:sp>
        <p:nvSpPr>
          <p:cNvPr id="5" name="Rectangle 4"/>
          <p:cNvSpPr/>
          <p:nvPr/>
        </p:nvSpPr>
        <p:spPr>
          <a:xfrm>
            <a:off x="365760" y="1554480"/>
            <a:ext cx="11338560" cy="356616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1463040" cy="384048"/>
          </a:xfrm>
          <a:prstGeom prst="rect">
            <a:avLst/>
          </a:prstGeom>
          <a:noFill/>
        </p:spPr>
        <p:txBody>
          <a:bodyPr wrap="square">
            <a:spAutoFit/>
          </a:bodyPr>
          <a:lstStyle/>
          <a:p>
            <a:pPr algn="l"/>
            <a:r>
              <a:rPr sz="1200" b="0" i="0">
                <a:solidFill>
                  <a:srgbClr val="647487"/>
                </a:solidFill>
              </a:rPr>
              <a:t># Setup</a:t>
            </a:r>
          </a:p>
        </p:txBody>
      </p:sp>
      <p:sp>
        <p:nvSpPr>
          <p:cNvPr id="7" name="TextBox 6"/>
          <p:cNvSpPr txBox="1"/>
          <p:nvPr/>
        </p:nvSpPr>
        <p:spPr>
          <a:xfrm>
            <a:off x="2103120" y="1691640"/>
            <a:ext cx="9326880" cy="384048"/>
          </a:xfrm>
          <a:prstGeom prst="rect">
            <a:avLst/>
          </a:prstGeom>
          <a:noFill/>
        </p:spPr>
        <p:txBody>
          <a:bodyPr wrap="square">
            <a:spAutoFit/>
          </a:bodyPr>
          <a:lstStyle/>
          <a:p>
            <a:pPr algn="l"/>
            <a:r>
              <a:rPr sz="1200" b="0" i="0">
                <a:solidFill>
                  <a:srgbClr val="21C55D"/>
                </a:solidFill>
              </a:rPr>
              <a:t>make venv              # Create .venv, install all deps</a:t>
            </a:r>
          </a:p>
        </p:txBody>
      </p:sp>
      <p:sp>
        <p:nvSpPr>
          <p:cNvPr id="8" name="TextBox 7"/>
          <p:cNvSpPr txBox="1"/>
          <p:nvPr/>
        </p:nvSpPr>
        <p:spPr>
          <a:xfrm>
            <a:off x="640080" y="2167128"/>
            <a:ext cx="1463040" cy="384048"/>
          </a:xfrm>
          <a:prstGeom prst="rect">
            <a:avLst/>
          </a:prstGeom>
          <a:noFill/>
        </p:spPr>
        <p:txBody>
          <a:bodyPr wrap="square">
            <a:spAutoFit/>
          </a:bodyPr>
          <a:lstStyle/>
          <a:p>
            <a:pPr algn="l"/>
            <a:r>
              <a:rPr sz="1200" b="0" i="0">
                <a:solidFill>
                  <a:srgbClr val="647487"/>
                </a:solidFill>
              </a:rPr>
              <a:t># Low-RAM</a:t>
            </a:r>
          </a:p>
        </p:txBody>
      </p:sp>
      <p:sp>
        <p:nvSpPr>
          <p:cNvPr id="9" name="TextBox 8"/>
          <p:cNvSpPr txBox="1"/>
          <p:nvPr/>
        </p:nvSpPr>
        <p:spPr>
          <a:xfrm>
            <a:off x="2103120" y="2167128"/>
            <a:ext cx="9326880" cy="384048"/>
          </a:xfrm>
          <a:prstGeom prst="rect">
            <a:avLst/>
          </a:prstGeom>
          <a:noFill/>
        </p:spPr>
        <p:txBody>
          <a:bodyPr wrap="square">
            <a:spAutoFit/>
          </a:bodyPr>
          <a:lstStyle/>
          <a:p>
            <a:pPr algn="l"/>
            <a:r>
              <a:rPr sz="1200" b="0" i="0">
                <a:solidFill>
                  <a:srgbClr val="21C55D"/>
                </a:solidFill>
              </a:rPr>
              <a:t>make venv-minimal      # Skip ChromaDB/embeddings</a:t>
            </a:r>
          </a:p>
        </p:txBody>
      </p:sp>
      <p:sp>
        <p:nvSpPr>
          <p:cNvPr id="10" name="TextBox 9"/>
          <p:cNvSpPr txBox="1"/>
          <p:nvPr/>
        </p:nvSpPr>
        <p:spPr>
          <a:xfrm>
            <a:off x="640080" y="2642616"/>
            <a:ext cx="1463040" cy="384048"/>
          </a:xfrm>
          <a:prstGeom prst="rect">
            <a:avLst/>
          </a:prstGeom>
          <a:noFill/>
        </p:spPr>
        <p:txBody>
          <a:bodyPr wrap="square">
            <a:spAutoFit/>
          </a:bodyPr>
          <a:lstStyle/>
          <a:p>
            <a:pPr algn="l"/>
            <a:r>
              <a:rPr sz="1200" b="0" i="0">
                <a:solidFill>
                  <a:srgbClr val="647487"/>
                </a:solidFill>
              </a:rPr>
              <a:t># Run backend</a:t>
            </a:r>
          </a:p>
        </p:txBody>
      </p:sp>
      <p:sp>
        <p:nvSpPr>
          <p:cNvPr id="11" name="TextBox 10"/>
          <p:cNvSpPr txBox="1"/>
          <p:nvPr/>
        </p:nvSpPr>
        <p:spPr>
          <a:xfrm>
            <a:off x="2103120" y="2642616"/>
            <a:ext cx="9326880" cy="384048"/>
          </a:xfrm>
          <a:prstGeom prst="rect">
            <a:avLst/>
          </a:prstGeom>
          <a:noFill/>
        </p:spPr>
        <p:txBody>
          <a:bodyPr wrap="square">
            <a:spAutoFit/>
          </a:bodyPr>
          <a:lstStyle/>
          <a:p>
            <a:pPr algn="l"/>
            <a:r>
              <a:rPr sz="1200" b="0" i="0">
                <a:solidFill>
                  <a:srgbClr val="21C55D"/>
                </a:solidFill>
              </a:rPr>
              <a:t>make run PROJECT=medtech  # FastAPI on :8000</a:t>
            </a:r>
          </a:p>
        </p:txBody>
      </p:sp>
      <p:sp>
        <p:nvSpPr>
          <p:cNvPr id="12" name="TextBox 11"/>
          <p:cNvSpPr txBox="1"/>
          <p:nvPr/>
        </p:nvSpPr>
        <p:spPr>
          <a:xfrm>
            <a:off x="640080" y="3118104"/>
            <a:ext cx="1463040" cy="384048"/>
          </a:xfrm>
          <a:prstGeom prst="rect">
            <a:avLst/>
          </a:prstGeom>
          <a:noFill/>
        </p:spPr>
        <p:txBody>
          <a:bodyPr wrap="square">
            <a:spAutoFit/>
          </a:bodyPr>
          <a:lstStyle/>
          <a:p>
            <a:pPr algn="l"/>
            <a:r>
              <a:rPr sz="1200" b="0" i="0">
                <a:solidFill>
                  <a:srgbClr val="647487"/>
                </a:solidFill>
              </a:rPr>
              <a:t># Run UI</a:t>
            </a:r>
          </a:p>
        </p:txBody>
      </p:sp>
      <p:sp>
        <p:nvSpPr>
          <p:cNvPr id="13" name="TextBox 12"/>
          <p:cNvSpPr txBox="1"/>
          <p:nvPr/>
        </p:nvSpPr>
        <p:spPr>
          <a:xfrm>
            <a:off x="2103120" y="3118104"/>
            <a:ext cx="9326880" cy="384048"/>
          </a:xfrm>
          <a:prstGeom prst="rect">
            <a:avLst/>
          </a:prstGeom>
          <a:noFill/>
        </p:spPr>
        <p:txBody>
          <a:bodyPr wrap="square">
            <a:spAutoFit/>
          </a:bodyPr>
          <a:lstStyle/>
          <a:p>
            <a:pPr algn="l"/>
            <a:r>
              <a:rPr sz="1200" b="0" i="0">
                <a:solidFill>
                  <a:srgbClr val="21C55D"/>
                </a:solidFill>
              </a:rPr>
              <a:t>make ui                # Vite frontend on :5173</a:t>
            </a:r>
          </a:p>
        </p:txBody>
      </p:sp>
      <p:sp>
        <p:nvSpPr>
          <p:cNvPr id="14" name="TextBox 13"/>
          <p:cNvSpPr txBox="1"/>
          <p:nvPr/>
        </p:nvSpPr>
        <p:spPr>
          <a:xfrm>
            <a:off x="640080" y="3593592"/>
            <a:ext cx="1463040" cy="384048"/>
          </a:xfrm>
          <a:prstGeom prst="rect">
            <a:avLst/>
          </a:prstGeom>
          <a:noFill/>
        </p:spPr>
        <p:txBody>
          <a:bodyPr wrap="square">
            <a:spAutoFit/>
          </a:bodyPr>
          <a:lstStyle/>
          <a:p>
            <a:pPr algn="l"/>
            <a:r>
              <a:rPr sz="1200" b="0" i="0">
                <a:solidFill>
                  <a:srgbClr val="647487"/>
                </a:solidFill>
              </a:rPr>
              <a:t># Test</a:t>
            </a:r>
          </a:p>
        </p:txBody>
      </p:sp>
      <p:sp>
        <p:nvSpPr>
          <p:cNvPr id="15" name="TextBox 14"/>
          <p:cNvSpPr txBox="1"/>
          <p:nvPr/>
        </p:nvSpPr>
        <p:spPr>
          <a:xfrm>
            <a:off x="2103120" y="3593592"/>
            <a:ext cx="9326880" cy="384048"/>
          </a:xfrm>
          <a:prstGeom prst="rect">
            <a:avLst/>
          </a:prstGeom>
          <a:noFill/>
        </p:spPr>
        <p:txBody>
          <a:bodyPr wrap="square">
            <a:spAutoFit/>
          </a:bodyPr>
          <a:lstStyle/>
          <a:p>
            <a:pPr algn="l"/>
            <a:r>
              <a:rPr sz="1200" b="0" i="0">
                <a:solidFill>
                  <a:srgbClr val="21C55D"/>
                </a:solidFill>
              </a:rPr>
              <a:t>make test              # Framework unit tests</a:t>
            </a:r>
          </a:p>
        </p:txBody>
      </p:sp>
      <p:sp>
        <p:nvSpPr>
          <p:cNvPr id="16" name="TextBox 15"/>
          <p:cNvSpPr txBox="1"/>
          <p:nvPr/>
        </p:nvSpPr>
        <p:spPr>
          <a:xfrm>
            <a:off x="640080" y="4069080"/>
            <a:ext cx="1463040" cy="384048"/>
          </a:xfrm>
          <a:prstGeom prst="rect">
            <a:avLst/>
          </a:prstGeom>
          <a:noFill/>
        </p:spPr>
        <p:txBody>
          <a:bodyPr wrap="square">
            <a:spAutoFit/>
          </a:bodyPr>
          <a:lstStyle/>
          <a:p>
            <a:pPr algn="l"/>
            <a:r>
              <a:rPr sz="1200" b="0" i="0">
                <a:solidFill>
                  <a:srgbClr val="647487"/>
                </a:solidFill>
              </a:rPr>
              <a:t># Test all</a:t>
            </a:r>
          </a:p>
        </p:txBody>
      </p:sp>
      <p:sp>
        <p:nvSpPr>
          <p:cNvPr id="17" name="TextBox 16"/>
          <p:cNvSpPr txBox="1"/>
          <p:nvPr/>
        </p:nvSpPr>
        <p:spPr>
          <a:xfrm>
            <a:off x="2103120" y="4069080"/>
            <a:ext cx="9326880" cy="384048"/>
          </a:xfrm>
          <a:prstGeom prst="rect">
            <a:avLst/>
          </a:prstGeom>
          <a:noFill/>
        </p:spPr>
        <p:txBody>
          <a:bodyPr wrap="square">
            <a:spAutoFit/>
          </a:bodyPr>
          <a:lstStyle/>
          <a:p>
            <a:pPr algn="l"/>
            <a:r>
              <a:rPr sz="1200" b="0" i="0">
                <a:solidFill>
                  <a:srgbClr val="21C55D"/>
                </a:solidFill>
              </a:rPr>
              <a:t>make test-all          # Framework + all solutions</a:t>
            </a:r>
          </a:p>
        </p:txBody>
      </p:sp>
      <p:sp>
        <p:nvSpPr>
          <p:cNvPr id="18" name="TextBox 17"/>
          <p:cNvSpPr txBox="1"/>
          <p:nvPr/>
        </p:nvSpPr>
        <p:spPr>
          <a:xfrm>
            <a:off x="457200" y="5349240"/>
            <a:ext cx="11247120" cy="320040"/>
          </a:xfrm>
          <a:prstGeom prst="rect">
            <a:avLst/>
          </a:prstGeom>
          <a:noFill/>
        </p:spPr>
        <p:txBody>
          <a:bodyPr wrap="square">
            <a:spAutoFit/>
          </a:bodyPr>
          <a:lstStyle/>
          <a:p>
            <a:pPr algn="l"/>
            <a:r>
              <a:rPr sz="1200" b="0" i="0">
                <a:solidFill>
                  <a:srgbClr val="0D1B2A"/>
                </a:solidFill>
              </a:rPr>
              <a:t>New solution in &lt; 5 min: copy medtech/ · edit 3 YAML files · run make run PROJECT=&lt;name&gt;</a:t>
            </a:r>
          </a:p>
        </p:txBody>
      </p:sp>
      <p:sp>
        <p:nvSpPr>
          <p:cNvPr id="19" name="TextBox 18"/>
          <p:cNvSpPr txBox="1"/>
          <p:nvPr/>
        </p:nvSpPr>
        <p:spPr>
          <a:xfrm>
            <a:off x="457200" y="5733288"/>
            <a:ext cx="11247120" cy="320040"/>
          </a:xfrm>
          <a:prstGeom prst="rect">
            <a:avLst/>
          </a:prstGeom>
          <a:noFill/>
        </p:spPr>
        <p:txBody>
          <a:bodyPr wrap="square">
            <a:spAutoFit/>
          </a:bodyPr>
          <a:lstStyle/>
          <a:p>
            <a:pPr algn="l"/>
            <a:r>
              <a:rPr sz="1200" b="0" i="0">
                <a:solidFill>
                  <a:srgbClr val="0D1B2A"/>
                </a:solidFill>
              </a:rPr>
              <a:t>New agent role: add YAML block to prompts.yaml + entry to tasks.yaml — no Python required — or use Hire Agent in the web UI, no YAML editing required</a:t>
            </a:r>
          </a:p>
        </p:txBody>
      </p:sp>
      <p:sp>
        <p:nvSpPr>
          <p:cNvPr id="20" name="TextBox 19"/>
          <p:cNvSpPr txBox="1"/>
          <p:nvPr/>
        </p:nvSpPr>
        <p:spPr>
          <a:xfrm>
            <a:off x="457200" y="6117336"/>
            <a:ext cx="11247120" cy="320040"/>
          </a:xfrm>
          <a:prstGeom prst="rect">
            <a:avLst/>
          </a:prstGeom>
          <a:noFill/>
        </p:spPr>
        <p:txBody>
          <a:bodyPr wrap="square">
            <a:spAutoFit/>
          </a:bodyPr>
          <a:lstStyle/>
          <a:p>
            <a:pPr algn="l"/>
            <a:r>
              <a:rPr sz="1200" b="0" i="0">
                <a:solidFill>
                  <a:srgbClr val="0D1B2A"/>
                </a:solidFill>
              </a:rPr>
              <a:t>Hot-reload YAML via /edit-solution-yaml skill — backend reloads without restart | Solution theming: add theme: block to project.yaml — sidebar, buttons, badges update instantly</a:t>
            </a:r>
          </a:p>
        </p:txBody>
      </p:sp>
      <p:sp>
        <p:nvSpPr>
          <p:cNvPr id="21" name="Rectangle 20"/>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Performance Characteristics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Benchmarks are assumption-based — validate with your workload</a:t>
            </a:r>
          </a:p>
        </p:txBody>
      </p:sp>
      <p:graphicFrame>
        <p:nvGraphicFramePr>
          <p:cNvPr id="5" name="Table 4"/>
          <p:cNvGraphicFramePr>
            <a:graphicFrameLocks noGrp="1"/>
          </p:cNvGraphicFramePr>
          <p:nvPr/>
        </p:nvGraphicFramePr>
        <p:xfrm>
          <a:off x="457200" y="1508760"/>
          <a:ext cx="11247120" cy="3803904"/>
        </p:xfrm>
        <a:graphic>
          <a:graphicData uri="http://schemas.openxmlformats.org/drawingml/2006/table">
            <a:tbl>
              <a:tblPr firstRow="1" bandRow="1">
                <a:tableStyleId>{5C22544A-7EE6-4342-B048-85BDC9FD1C3A}</a:tableStyleId>
              </a:tblPr>
              <a:tblGrid>
                <a:gridCol w="2743200"/>
                <a:gridCol w="3017520"/>
                <a:gridCol w="5486400"/>
              </a:tblGrid>
              <a:tr h="475488">
                <a:tc>
                  <a:txBody>
                    <a:bodyPr/>
                    <a:lstStyle/>
                    <a:p>
                      <a:pPr algn="ctr"/>
                      <a:r>
                        <a:rPr b="1" sz="1300">
                          <a:solidFill>
                            <a:srgbClr val="FFFFFF"/>
                          </a:solidFill>
                        </a:rPr>
                        <a:t>Metric</a:t>
                      </a:r>
                    </a:p>
                  </a:txBody>
                  <a:tcPr>
                    <a:solidFill>
                      <a:srgbClr val="0078D4"/>
                    </a:solidFill>
                  </a:tcPr>
                </a:tc>
                <a:tc>
                  <a:txBody>
                    <a:bodyPr/>
                    <a:lstStyle/>
                    <a:p>
                      <a:pPr algn="ctr"/>
                      <a:r>
                        <a:rPr b="1" sz="1300">
                          <a:solidFill>
                            <a:srgbClr val="FFFFFF"/>
                          </a:solidFill>
                        </a:rPr>
                        <a:t>Baseline Target*</a:t>
                      </a:r>
                    </a:p>
                  </a:txBody>
                  <a:tcPr>
                    <a:solidFill>
                      <a:srgbClr val="0078D4"/>
                    </a:solidFill>
                  </a:tcPr>
                </a:tc>
                <a:tc>
                  <a:txBody>
                    <a:bodyPr/>
                    <a:lstStyle/>
                    <a:p>
                      <a:pPr algn="ctr"/>
                      <a:r>
                        <a:rPr b="1" sz="1300">
                          <a:solidFill>
                            <a:srgbClr val="FFFFFF"/>
                          </a:solidFill>
                        </a:rPr>
                        <a:t>Notes</a:t>
                      </a:r>
                    </a:p>
                  </a:txBody>
                  <a:tcPr>
                    <a:solidFill>
                      <a:srgbClr val="0078D4"/>
                    </a:solidFill>
                  </a:tcPr>
                </a:tc>
              </a:tr>
              <a:tr h="475488">
                <a:tc>
                  <a:txBody>
                    <a:bodyPr/>
                    <a:lstStyle/>
                    <a:p>
                      <a:pPr algn="l"/>
                      <a:r>
                        <a:rPr sz="1200">
                          <a:solidFill>
                            <a:srgbClr val="0D1B2A"/>
                          </a:solidFill>
                        </a:rPr>
                        <a:t>Log analysis latency</a:t>
                      </a:r>
                    </a:p>
                  </a:txBody>
                  <a:tcPr>
                    <a:solidFill>
                      <a:srgbClr val="F0F4F8"/>
                    </a:solidFill>
                  </a:tcPr>
                </a:tc>
                <a:tc>
                  <a:txBody>
                    <a:bodyPr/>
                    <a:lstStyle/>
                    <a:p>
                      <a:pPr algn="l"/>
                      <a:r>
                        <a:rPr sz="1200">
                          <a:solidFill>
                            <a:srgbClr val="0D1B2A"/>
                          </a:solidFill>
                        </a:rPr>
                        <a:t>&lt; 60 seconds end-to-end</a:t>
                      </a:r>
                    </a:p>
                  </a:txBody>
                  <a:tcPr>
                    <a:solidFill>
                      <a:srgbClr val="F0F4F8"/>
                    </a:solidFill>
                  </a:tcPr>
                </a:tc>
                <a:tc>
                  <a:txBody>
                    <a:bodyPr/>
                    <a:lstStyle/>
                    <a:p>
                      <a:pPr algn="l"/>
                      <a:r>
                        <a:rPr sz="1200">
                          <a:solidFill>
                            <a:srgbClr val="0D1B2A"/>
                          </a:solidFill>
                        </a:rPr>
                        <a:t>LLM call + RAG retrieval + audit write</a:t>
                      </a:r>
                    </a:p>
                  </a:txBody>
                  <a:tcPr>
                    <a:solidFill>
                      <a:srgbClr val="F0F4F8"/>
                    </a:solidFill>
                  </a:tcPr>
                </a:tc>
              </a:tr>
              <a:tr h="475488">
                <a:tc>
                  <a:txBody>
                    <a:bodyPr/>
                    <a:lstStyle/>
                    <a:p>
                      <a:pPr algn="l"/>
                      <a:r>
                        <a:rPr sz="1200">
                          <a:solidFill>
                            <a:srgbClr val="0D1B2A"/>
                          </a:solidFill>
                        </a:rPr>
                        <a:t>Code review latency</a:t>
                      </a:r>
                    </a:p>
                  </a:txBody>
                  <a:tcPr>
                    <a:solidFill>
                      <a:srgbClr val="FFFFFF"/>
                    </a:solidFill>
                  </a:tcPr>
                </a:tc>
                <a:tc>
                  <a:txBody>
                    <a:bodyPr/>
                    <a:lstStyle/>
                    <a:p>
                      <a:pPr algn="l"/>
                      <a:r>
                        <a:rPr sz="1200">
                          <a:solidFill>
                            <a:srgbClr val="0D1B2A"/>
                          </a:solidFill>
                        </a:rPr>
                        <a:t>&lt; 3 minutes per MR</a:t>
                      </a:r>
                    </a:p>
                  </a:txBody>
                  <a:tcPr>
                    <a:solidFill>
                      <a:srgbClr val="FFFFFF"/>
                    </a:solidFill>
                  </a:tcPr>
                </a:tc>
                <a:tc>
                  <a:txBody>
                    <a:bodyPr/>
                    <a:lstStyle/>
                    <a:p>
                      <a:pPr algn="l"/>
                      <a:r>
                        <a:rPr sz="1200">
                          <a:solidFill>
                            <a:srgbClr val="0D1B2A"/>
                          </a:solidFill>
                        </a:rPr>
                        <a:t>ReAct loop: up to 5 reasoning steps</a:t>
                      </a:r>
                    </a:p>
                  </a:txBody>
                  <a:tcPr>
                    <a:solidFill>
                      <a:srgbClr val="FFFFFF"/>
                    </a:solidFill>
                  </a:tcPr>
                </a:tc>
              </a:tr>
              <a:tr h="475488">
                <a:tc>
                  <a:txBody>
                    <a:bodyPr/>
                    <a:lstStyle/>
                    <a:p>
                      <a:pPr algn="l"/>
                      <a:r>
                        <a:rPr sz="1200">
                          <a:solidFill>
                            <a:srgbClr val="0D1B2A"/>
                          </a:solidFill>
                        </a:rPr>
                        <a:t>Task queue throughput</a:t>
                      </a:r>
                    </a:p>
                  </a:txBody>
                  <a:tcPr>
                    <a:solidFill>
                      <a:srgbClr val="F0F4F8"/>
                    </a:solidFill>
                  </a:tcPr>
                </a:tc>
                <a:tc>
                  <a:txBody>
                    <a:bodyPr/>
                    <a:lstStyle/>
                    <a:p>
                      <a:pPr algn="l"/>
                      <a:r>
                        <a:rPr sz="1200">
                          <a:solidFill>
                            <a:srgbClr val="0D1B2A"/>
                          </a:solidFill>
                        </a:rPr>
                        <a:t>~10–20 tasks/hour single-lane</a:t>
                      </a:r>
                    </a:p>
                  </a:txBody>
                  <a:tcPr>
                    <a:solidFill>
                      <a:srgbClr val="F0F4F8"/>
                    </a:solidFill>
                  </a:tcPr>
                </a:tc>
                <a:tc>
                  <a:txBody>
                    <a:bodyPr/>
                    <a:lstStyle/>
                    <a:p>
                      <a:pPr algn="l"/>
                      <a:r>
                        <a:rPr sz="1200">
                          <a:solidFill>
                            <a:srgbClr val="0D1B2A"/>
                          </a:solidFill>
                        </a:rPr>
                        <a:t>threading.Lock serializes LLM calls</a:t>
                      </a:r>
                    </a:p>
                  </a:txBody>
                  <a:tcPr>
                    <a:solidFill>
                      <a:srgbClr val="F0F4F8"/>
                    </a:solidFill>
                  </a:tcPr>
                </a:tc>
              </a:tr>
              <a:tr h="475488">
                <a:tc>
                  <a:txBody>
                    <a:bodyPr/>
                    <a:lstStyle/>
                    <a:p>
                      <a:pPr algn="l"/>
                      <a:r>
                        <a:rPr sz="1200">
                          <a:solidFill>
                            <a:srgbClr val="0D1B2A"/>
                          </a:solidFill>
                        </a:rPr>
                        <a:t>Vector search</a:t>
                      </a:r>
                    </a:p>
                  </a:txBody>
                  <a:tcPr>
                    <a:solidFill>
                      <a:srgbClr val="FFFFFF"/>
                    </a:solidFill>
                  </a:tcPr>
                </a:tc>
                <a:tc>
                  <a:txBody>
                    <a:bodyPr/>
                    <a:lstStyle/>
                    <a:p>
                      <a:pPr algn="l"/>
                      <a:r>
                        <a:rPr sz="1200">
                          <a:solidFill>
                            <a:srgbClr val="0D1B2A"/>
                          </a:solidFill>
                        </a:rPr>
                        <a:t>&lt; 200 ms for top-5 results</a:t>
                      </a:r>
                    </a:p>
                  </a:txBody>
                  <a:tcPr>
                    <a:solidFill>
                      <a:srgbClr val="FFFFFF"/>
                    </a:solidFill>
                  </a:tcPr>
                </a:tc>
                <a:tc>
                  <a:txBody>
                    <a:bodyPr/>
                    <a:lstStyle/>
                    <a:p>
                      <a:pPr algn="l"/>
                      <a:r>
                        <a:rPr sz="1200">
                          <a:solidFill>
                            <a:srgbClr val="0D1B2A"/>
                          </a:solidFill>
                        </a:rPr>
                        <a:t>ChromaDB in-process, local embeddings</a:t>
                      </a:r>
                    </a:p>
                  </a:txBody>
                  <a:tcPr>
                    <a:solidFill>
                      <a:srgbClr val="FFFFFF"/>
                    </a:solidFill>
                  </a:tcPr>
                </a:tc>
              </a:tr>
              <a:tr h="475488">
                <a:tc>
                  <a:txBody>
                    <a:bodyPr/>
                    <a:lstStyle/>
                    <a:p>
                      <a:pPr algn="l"/>
                      <a:r>
                        <a:rPr sz="1200">
                          <a:solidFill>
                            <a:srgbClr val="0D1B2A"/>
                          </a:solidFill>
                        </a:rPr>
                        <a:t>Audit log write</a:t>
                      </a:r>
                    </a:p>
                  </a:txBody>
                  <a:tcPr>
                    <a:solidFill>
                      <a:srgbClr val="F0F4F8"/>
                    </a:solidFill>
                  </a:tcPr>
                </a:tc>
                <a:tc>
                  <a:txBody>
                    <a:bodyPr/>
                    <a:lstStyle/>
                    <a:p>
                      <a:pPr algn="l"/>
                      <a:r>
                        <a:rPr sz="1200">
                          <a:solidFill>
                            <a:srgbClr val="0D1B2A"/>
                          </a:solidFill>
                        </a:rPr>
                        <a:t>&lt; 5 ms per event</a:t>
                      </a:r>
                    </a:p>
                  </a:txBody>
                  <a:tcPr>
                    <a:solidFill>
                      <a:srgbClr val="F0F4F8"/>
                    </a:solidFill>
                  </a:tcPr>
                </a:tc>
                <a:tc>
                  <a:txBody>
                    <a:bodyPr/>
                    <a:lstStyle/>
                    <a:p>
                      <a:pPr algn="l"/>
                      <a:r>
                        <a:rPr sz="1200">
                          <a:solidFill>
                            <a:srgbClr val="0D1B2A"/>
                          </a:solidFill>
                        </a:rPr>
                        <a:t>SQLite WAL mode, append-only</a:t>
                      </a:r>
                    </a:p>
                  </a:txBody>
                  <a:tcPr>
                    <a:solidFill>
                      <a:srgbClr val="F0F4F8"/>
                    </a:solidFill>
                  </a:tcPr>
                </a:tc>
              </a:tr>
              <a:tr h="475488">
                <a:tc>
                  <a:txBody>
                    <a:bodyPr/>
                    <a:lstStyle/>
                    <a:p>
                      <a:pPr algn="l"/>
                      <a:r>
                        <a:rPr sz="1200">
                          <a:solidFill>
                            <a:srgbClr val="0D1B2A"/>
                          </a:solidFill>
                        </a:rPr>
                        <a:t>API response (non-LLM)</a:t>
                      </a:r>
                    </a:p>
                  </a:txBody>
                  <a:tcPr>
                    <a:solidFill>
                      <a:srgbClr val="FFFFFF"/>
                    </a:solidFill>
                  </a:tcPr>
                </a:tc>
                <a:tc>
                  <a:txBody>
                    <a:bodyPr/>
                    <a:lstStyle/>
                    <a:p>
                      <a:pPr algn="l"/>
                      <a:r>
                        <a:rPr sz="1200">
                          <a:solidFill>
                            <a:srgbClr val="0D1B2A"/>
                          </a:solidFill>
                        </a:rPr>
                        <a:t>&lt; 50 ms p99</a:t>
                      </a:r>
                    </a:p>
                  </a:txBody>
                  <a:tcPr>
                    <a:solidFill>
                      <a:srgbClr val="FFFFFF"/>
                    </a:solidFill>
                  </a:tcPr>
                </a:tc>
                <a:tc>
                  <a:txBody>
                    <a:bodyPr/>
                    <a:lstStyle/>
                    <a:p>
                      <a:pPr algn="l"/>
                      <a:r>
                        <a:rPr sz="1200">
                          <a:solidFill>
                            <a:srgbClr val="0D1B2A"/>
                          </a:solidFill>
                        </a:rPr>
                        <a:t>FastAPI + uvicorn, no DB round-trip</a:t>
                      </a:r>
                    </a:p>
                  </a:txBody>
                  <a:tcPr>
                    <a:solidFill>
                      <a:srgbClr val="FFFFFF"/>
                    </a:solidFill>
                  </a:tcPr>
                </a:tc>
              </a:tr>
              <a:tr h="475488">
                <a:tc>
                  <a:txBody>
                    <a:bodyPr/>
                    <a:lstStyle/>
                    <a:p>
                      <a:pPr algn="l"/>
                      <a:r>
                        <a:rPr sz="1200">
                          <a:solidFill>
                            <a:srgbClr val="0D1B2A"/>
                          </a:solidFill>
                        </a:rPr>
                        <a:t>Min hardware (pilot)</a:t>
                      </a:r>
                    </a:p>
                  </a:txBody>
                  <a:tcPr>
                    <a:solidFill>
                      <a:srgbClr val="F0F4F8"/>
                    </a:solidFill>
                  </a:tcPr>
                </a:tc>
                <a:tc>
                  <a:txBody>
                    <a:bodyPr/>
                    <a:lstStyle/>
                    <a:p>
                      <a:pPr algn="l"/>
                      <a:r>
                        <a:rPr sz="1200">
                          <a:solidFill>
                            <a:srgbClr val="0D1B2A"/>
                          </a:solidFill>
                        </a:rPr>
                        <a:t>8-core CPU · 32 GB RAM</a:t>
                      </a:r>
                    </a:p>
                  </a:txBody>
                  <a:tcPr>
                    <a:solidFill>
                      <a:srgbClr val="F0F4F8"/>
                    </a:solidFill>
                  </a:tcPr>
                </a:tc>
                <a:tc>
                  <a:txBody>
                    <a:bodyPr/>
                    <a:lstStyle/>
                    <a:p>
                      <a:pPr algn="l"/>
                      <a:r>
                        <a:rPr sz="1200">
                          <a:solidFill>
                            <a:srgbClr val="0D1B2A"/>
                          </a:solidFill>
                        </a:rPr>
                        <a:t>GPU optional — Ollama benefits from CUDA</a:t>
                      </a:r>
                    </a:p>
                  </a:txBody>
                  <a:tcPr>
                    <a:solidFill>
                      <a:srgbClr val="F0F4F8"/>
                    </a:solidFill>
                  </a:tcPr>
                </a:tc>
              </a:tr>
            </a:tbl>
          </a:graphicData>
        </a:graphic>
      </p:graphicFrame>
      <p:sp>
        <p:nvSpPr>
          <p:cNvPr id="6" name="TextBox 5"/>
          <p:cNvSpPr txBox="1"/>
          <p:nvPr/>
        </p:nvSpPr>
        <p:spPr>
          <a:xfrm>
            <a:off x="457200" y="5404104"/>
            <a:ext cx="11247120" cy="365760"/>
          </a:xfrm>
          <a:prstGeom prst="rect">
            <a:avLst/>
          </a:prstGeom>
          <a:noFill/>
        </p:spPr>
        <p:txBody>
          <a:bodyPr wrap="square">
            <a:spAutoFit/>
          </a:bodyPr>
          <a:lstStyle/>
          <a:p>
            <a:pPr algn="l"/>
            <a:r>
              <a:rPr sz="1100" b="0" i="1">
                <a:solidFill>
                  <a:srgbClr val="647487"/>
                </a:solidFill>
              </a:rPr>
              <a:t>* All latency targets are assumption-based estimates. Replace with measured values from your environment.</a:t>
            </a:r>
          </a:p>
        </p:txBody>
      </p:sp>
      <p:sp>
        <p:nvSpPr>
          <p:cNvPr id="7" name="Rectangle 6"/>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9" name="Rectangle 8"/>
          <p:cNvSpPr/>
          <p:nvPr/>
        </p:nvSpPr>
        <p:spPr>
          <a:xfrm>
            <a:off x="0" y="5989320"/>
            <a:ext cx="12188952" cy="5303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007608"/>
            <a:ext cx="11612880" cy="493776"/>
          </a:xfrm>
          <a:prstGeom prst="rect">
            <a:avLst/>
          </a:prstGeom>
          <a:noFill/>
        </p:spPr>
        <p:txBody>
          <a:bodyPr wrap="square">
            <a:spAutoFit/>
          </a:bodyPr>
          <a:lstStyle/>
          <a:p>
            <a:pPr algn="l"/>
            <a:r>
              <a:rPr sz="850" b="0" i="1">
                <a:solidFill>
                  <a:srgbClr val="7B4F00"/>
                </a:solidFill>
              </a:rPr>
              <a:t>IMPORTANT: All financial figures, FTE savings, and ROI estimates on this slide are based on internal assumptions and industry benchmarks. They must be validated and replaced with actual measured data before any business decision is made.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Two Backlogs — One Platform</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SAGE serves both solution teams and the open-source community</a:t>
            </a:r>
          </a:p>
        </p:txBody>
      </p:sp>
      <p:sp>
        <p:nvSpPr>
          <p:cNvPr id="5" name="Rectangle 4"/>
          <p:cNvSpPr/>
          <p:nvPr/>
        </p:nvSpPr>
        <p:spPr>
          <a:xfrm>
            <a:off x="365760" y="1600200"/>
            <a:ext cx="5394960" cy="43891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029200" cy="457200"/>
          </a:xfrm>
          <a:prstGeom prst="rect">
            <a:avLst/>
          </a:prstGeom>
          <a:noFill/>
        </p:spPr>
        <p:txBody>
          <a:bodyPr wrap="square">
            <a:spAutoFit/>
          </a:bodyPr>
          <a:lstStyle/>
          <a:p>
            <a:pPr algn="l"/>
            <a:r>
              <a:rPr sz="1800" b="1" i="0">
                <a:solidFill>
                  <a:srgbClr val="FFFFFF"/>
                </a:solidFill>
              </a:rPr>
              <a:t>Solution Backlog</a:t>
            </a:r>
          </a:p>
        </p:txBody>
      </p:sp>
      <p:sp>
        <p:nvSpPr>
          <p:cNvPr id="7" name="TextBox 6"/>
          <p:cNvSpPr txBox="1"/>
          <p:nvPr/>
        </p:nvSpPr>
        <p:spPr>
          <a:xfrm>
            <a:off x="548640" y="2194560"/>
            <a:ext cx="5029200" cy="347472"/>
          </a:xfrm>
          <a:prstGeom prst="rect">
            <a:avLst/>
          </a:prstGeom>
          <a:noFill/>
        </p:spPr>
        <p:txBody>
          <a:bodyPr wrap="square">
            <a:spAutoFit/>
          </a:bodyPr>
          <a:lstStyle/>
          <a:p>
            <a:pPr algn="l"/>
            <a:r>
              <a:rPr sz="1200" b="0" i="1">
                <a:solidFill>
                  <a:srgbClr val="00B4D8"/>
                </a:solidFill>
              </a:rPr>
              <a:t>scope: "solution"</a:t>
            </a:r>
          </a:p>
        </p:txBody>
      </p:sp>
      <p:sp>
        <p:nvSpPr>
          <p:cNvPr id="8" name="TextBox 7"/>
          <p:cNvSpPr txBox="1"/>
          <p:nvPr/>
        </p:nvSpPr>
        <p:spPr>
          <a:xfrm>
            <a:off x="640080" y="2651760"/>
            <a:ext cx="4846320" cy="347472"/>
          </a:xfrm>
          <a:prstGeom prst="rect">
            <a:avLst/>
          </a:prstGeom>
          <a:noFill/>
        </p:spPr>
        <p:txBody>
          <a:bodyPr wrap="square">
            <a:spAutoFit/>
          </a:bodyPr>
          <a:lstStyle/>
          <a:p>
            <a:pPr algn="l"/>
            <a:r>
              <a:rPr sz="1200" b="0" i="0">
                <a:solidFill>
                  <a:srgbClr val="FFFFFF"/>
                </a:solidFill>
              </a:rPr>
              <a:t>Features to build inside your application</a:t>
            </a:r>
          </a:p>
        </p:txBody>
      </p:sp>
      <p:sp>
        <p:nvSpPr>
          <p:cNvPr id="9" name="TextBox 8"/>
          <p:cNvSpPr txBox="1"/>
          <p:nvPr/>
        </p:nvSpPr>
        <p:spPr>
          <a:xfrm>
            <a:off x="640080" y="3063240"/>
            <a:ext cx="4846320" cy="347472"/>
          </a:xfrm>
          <a:prstGeom prst="rect">
            <a:avLst/>
          </a:prstGeom>
          <a:noFill/>
        </p:spPr>
        <p:txBody>
          <a:bodyPr wrap="square">
            <a:spAutoFit/>
          </a:bodyPr>
          <a:lstStyle/>
          <a:p>
            <a:pPr algn="l"/>
            <a:r>
              <a:rPr sz="1200" b="0" i="0">
                <a:solidFill>
                  <a:srgbClr val="FFFFFF"/>
                </a:solidFill>
              </a:rPr>
              <a:t>Owned by the builder's team</a:t>
            </a:r>
          </a:p>
        </p:txBody>
      </p:sp>
      <p:sp>
        <p:nvSpPr>
          <p:cNvPr id="10" name="TextBox 9"/>
          <p:cNvSpPr txBox="1"/>
          <p:nvPr/>
        </p:nvSpPr>
        <p:spPr>
          <a:xfrm>
            <a:off x="640080" y="3474720"/>
            <a:ext cx="4846320" cy="347472"/>
          </a:xfrm>
          <a:prstGeom prst="rect">
            <a:avLst/>
          </a:prstGeom>
          <a:noFill/>
        </p:spPr>
        <p:txBody>
          <a:bodyPr wrap="square">
            <a:spAutoFit/>
          </a:bodyPr>
          <a:lstStyle/>
          <a:p>
            <a:pPr algn="l"/>
            <a:r>
              <a:rPr sz="1200" b="0" i="0">
                <a:solidFill>
                  <a:srgbClr val="FFFFFF"/>
                </a:solidFill>
              </a:rPr>
              <a:t>Full SAGE workflow: Log → AI plan → Approve → Implement</a:t>
            </a:r>
          </a:p>
        </p:txBody>
      </p:sp>
      <p:sp>
        <p:nvSpPr>
          <p:cNvPr id="11" name="TextBox 10"/>
          <p:cNvSpPr txBox="1"/>
          <p:nvPr/>
        </p:nvSpPr>
        <p:spPr>
          <a:xfrm>
            <a:off x="640080" y="3886200"/>
            <a:ext cx="4846320" cy="347472"/>
          </a:xfrm>
          <a:prstGeom prst="rect">
            <a:avLst/>
          </a:prstGeom>
          <a:noFill/>
        </p:spPr>
        <p:txBody>
          <a:bodyPr wrap="square">
            <a:spAutoFit/>
          </a:bodyPr>
          <a:lstStyle/>
          <a:p>
            <a:pPr algn="l"/>
            <a:r>
              <a:rPr sz="1200" b="0" i="0">
                <a:solidFill>
                  <a:srgbClr val="FFFFFF"/>
                </a:solidFill>
              </a:rPr>
              <a:t>Planner Agent decomposes and prioritises</a:t>
            </a:r>
          </a:p>
        </p:txBody>
      </p:sp>
      <p:sp>
        <p:nvSpPr>
          <p:cNvPr id="12" name="TextBox 11"/>
          <p:cNvSpPr txBox="1"/>
          <p:nvPr/>
        </p:nvSpPr>
        <p:spPr>
          <a:xfrm>
            <a:off x="640080" y="4297680"/>
            <a:ext cx="4846320" cy="347472"/>
          </a:xfrm>
          <a:prstGeom prst="rect">
            <a:avLst/>
          </a:prstGeom>
          <a:noFill/>
        </p:spPr>
        <p:txBody>
          <a:bodyPr wrap="square">
            <a:spAutoFit/>
          </a:bodyPr>
          <a:lstStyle/>
          <a:p>
            <a:pPr algn="l"/>
            <a:r>
              <a:rPr sz="1200" b="0" i="0">
                <a:solidFill>
                  <a:srgbClr val="FFFFFF"/>
                </a:solidFill>
              </a:rPr>
              <a:t>Visible in: Improvements → Solution Backlog tab</a:t>
            </a:r>
          </a:p>
        </p:txBody>
      </p:sp>
      <p:sp>
        <p:nvSpPr>
          <p:cNvPr id="13" name="Rectangle 12"/>
          <p:cNvSpPr/>
          <p:nvPr/>
        </p:nvSpPr>
        <p:spPr>
          <a:xfrm>
            <a:off x="6309360" y="1600200"/>
            <a:ext cx="5394960" cy="43891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691640"/>
            <a:ext cx="5029200" cy="457200"/>
          </a:xfrm>
          <a:prstGeom prst="rect">
            <a:avLst/>
          </a:prstGeom>
          <a:noFill/>
        </p:spPr>
        <p:txBody>
          <a:bodyPr wrap="square">
            <a:spAutoFit/>
          </a:bodyPr>
          <a:lstStyle/>
          <a:p>
            <a:pPr algn="l"/>
            <a:r>
              <a:rPr sz="1800" b="1" i="0">
                <a:solidFill>
                  <a:srgbClr val="FFFFFF"/>
                </a:solidFill>
              </a:rPr>
              <a:t>SAGE Framework Ideas</a:t>
            </a:r>
          </a:p>
        </p:txBody>
      </p:sp>
      <p:sp>
        <p:nvSpPr>
          <p:cNvPr id="15" name="TextBox 14"/>
          <p:cNvSpPr txBox="1"/>
          <p:nvPr/>
        </p:nvSpPr>
        <p:spPr>
          <a:xfrm>
            <a:off x="6492240" y="2194560"/>
            <a:ext cx="5029200" cy="347472"/>
          </a:xfrm>
          <a:prstGeom prst="rect">
            <a:avLst/>
          </a:prstGeom>
          <a:noFill/>
        </p:spPr>
        <p:txBody>
          <a:bodyPr wrap="square">
            <a:spAutoFit/>
          </a:bodyPr>
          <a:lstStyle/>
          <a:p>
            <a:pPr algn="l"/>
            <a:r>
              <a:rPr sz="1200" b="0" i="1">
                <a:solidFill>
                  <a:srgbClr val="00B4D8"/>
                </a:solidFill>
              </a:rPr>
              <a:t>scope: "sage"</a:t>
            </a:r>
          </a:p>
        </p:txBody>
      </p:sp>
      <p:sp>
        <p:nvSpPr>
          <p:cNvPr id="16" name="TextBox 15"/>
          <p:cNvSpPr txBox="1"/>
          <p:nvPr/>
        </p:nvSpPr>
        <p:spPr>
          <a:xfrm>
            <a:off x="6583680" y="2651760"/>
            <a:ext cx="4846320" cy="347472"/>
          </a:xfrm>
          <a:prstGeom prst="rect">
            <a:avLst/>
          </a:prstGeom>
          <a:noFill/>
        </p:spPr>
        <p:txBody>
          <a:bodyPr wrap="square">
            <a:spAutoFit/>
          </a:bodyPr>
          <a:lstStyle/>
          <a:p>
            <a:pPr algn="l"/>
            <a:r>
              <a:rPr sz="1200" b="0" i="0">
                <a:solidFill>
                  <a:srgbClr val="FFFFFF"/>
                </a:solidFill>
              </a:rPr>
              <a:t>Improvements to the SAGE platform itself</a:t>
            </a:r>
          </a:p>
        </p:txBody>
      </p:sp>
      <p:sp>
        <p:nvSpPr>
          <p:cNvPr id="17" name="TextBox 16"/>
          <p:cNvSpPr txBox="1"/>
          <p:nvPr/>
        </p:nvSpPr>
        <p:spPr>
          <a:xfrm>
            <a:off x="6583680" y="3063240"/>
            <a:ext cx="4846320" cy="347472"/>
          </a:xfrm>
          <a:prstGeom prst="rect">
            <a:avLst/>
          </a:prstGeom>
          <a:noFill/>
        </p:spPr>
        <p:txBody>
          <a:bodyPr wrap="square">
            <a:spAutoFit/>
          </a:bodyPr>
          <a:lstStyle/>
          <a:p>
            <a:pPr algn="l"/>
            <a:r>
              <a:rPr sz="1200" b="0" i="0">
                <a:solidFill>
                  <a:srgbClr val="FFFFFF"/>
                </a:solidFill>
              </a:rPr>
              <a:t>Community contributions</a:t>
            </a:r>
          </a:p>
        </p:txBody>
      </p:sp>
      <p:sp>
        <p:nvSpPr>
          <p:cNvPr id="18" name="TextBox 17"/>
          <p:cNvSpPr txBox="1"/>
          <p:nvPr/>
        </p:nvSpPr>
        <p:spPr>
          <a:xfrm>
            <a:off x="6583680" y="3474720"/>
            <a:ext cx="4846320" cy="347472"/>
          </a:xfrm>
          <a:prstGeom prst="rect">
            <a:avLst/>
          </a:prstGeom>
          <a:noFill/>
        </p:spPr>
        <p:txBody>
          <a:bodyPr wrap="square">
            <a:spAutoFit/>
          </a:bodyPr>
          <a:lstStyle/>
          <a:p>
            <a:pPr algn="l"/>
            <a:r>
              <a:rPr sz="1200" b="0" i="0">
                <a:solidFill>
                  <a:srgbClr val="FFFFFF"/>
                </a:solidFill>
              </a:rPr>
              <a:t>Raised as GitHub Issues on the SAGE repo</a:t>
            </a:r>
          </a:p>
        </p:txBody>
      </p:sp>
      <p:sp>
        <p:nvSpPr>
          <p:cNvPr id="19" name="TextBox 18"/>
          <p:cNvSpPr txBox="1"/>
          <p:nvPr/>
        </p:nvSpPr>
        <p:spPr>
          <a:xfrm>
            <a:off x="6583680" y="3886200"/>
            <a:ext cx="4846320" cy="347472"/>
          </a:xfrm>
          <a:prstGeom prst="rect">
            <a:avLst/>
          </a:prstGeom>
          <a:noFill/>
        </p:spPr>
        <p:txBody>
          <a:bodyPr wrap="square">
            <a:spAutoFit/>
          </a:bodyPr>
          <a:lstStyle/>
          <a:p>
            <a:pPr algn="l"/>
            <a:r>
              <a:rPr sz="1200" b="0" i="0">
                <a:solidFill>
                  <a:srgbClr val="FFFFFF"/>
                </a:solidFill>
              </a:rPr>
              <a:t>Open-source community picks them up</a:t>
            </a:r>
          </a:p>
        </p:txBody>
      </p:sp>
      <p:sp>
        <p:nvSpPr>
          <p:cNvPr id="20" name="TextBox 19"/>
          <p:cNvSpPr txBox="1"/>
          <p:nvPr/>
        </p:nvSpPr>
        <p:spPr>
          <a:xfrm>
            <a:off x="6583680" y="4297680"/>
            <a:ext cx="4846320" cy="347472"/>
          </a:xfrm>
          <a:prstGeom prst="rect">
            <a:avLst/>
          </a:prstGeom>
          <a:noFill/>
        </p:spPr>
        <p:txBody>
          <a:bodyPr wrap="square">
            <a:spAutoFit/>
          </a:bodyPr>
          <a:lstStyle/>
          <a:p>
            <a:pPr algn="l"/>
            <a:r>
              <a:rPr sz="1200" b="0" i="0">
                <a:solidFill>
                  <a:srgbClr val="FFFFFF"/>
                </a:solidFill>
              </a:rPr>
              <a:t>Visible in: Improvements → SAGE Framework Ideas tab</a:t>
            </a:r>
          </a:p>
        </p:txBody>
      </p:sp>
      <p:sp>
        <p:nvSpPr>
          <p:cNvPr id="21" name="TextBox 20"/>
          <p:cNvSpPr txBox="1"/>
          <p:nvPr/>
        </p:nvSpPr>
        <p:spPr>
          <a:xfrm>
            <a:off x="457200" y="6236208"/>
            <a:ext cx="11247120" cy="347472"/>
          </a:xfrm>
          <a:prstGeom prst="rect">
            <a:avLst/>
          </a:prstGeom>
          <a:noFill/>
        </p:spPr>
        <p:txBody>
          <a:bodyPr wrap="square">
            <a:spAutoFit/>
          </a:bodyPr>
          <a:lstStyle/>
          <a:p>
            <a:pPr algn="ctr"/>
            <a:r>
              <a:rPr sz="1100" b="1" i="1">
                <a:solidFill>
                  <a:srgbClr val="0D1B2A"/>
                </a:solidFill>
              </a:rPr>
              <a:t>Never mix the two backlogs — the scope field on every FeatureRequest enforces this in code.</a:t>
            </a:r>
          </a:p>
        </p:txBody>
      </p:sp>
      <p:sp>
        <p:nvSpPr>
          <p:cNvPr id="22" name="Rectangle 21"/>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Deployment Options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From laptop to air-gapped production server</a:t>
            </a:r>
          </a:p>
        </p:txBody>
      </p:sp>
      <p:graphicFrame>
        <p:nvGraphicFramePr>
          <p:cNvPr id="5" name="Table 4"/>
          <p:cNvGraphicFramePr>
            <a:graphicFrameLocks noGrp="1"/>
          </p:cNvGraphicFramePr>
          <p:nvPr/>
        </p:nvGraphicFramePr>
        <p:xfrm>
          <a:off x="457200" y="1508760"/>
          <a:ext cx="11247120" cy="2377440"/>
        </p:xfrm>
        <a:graphic>
          <a:graphicData uri="http://schemas.openxmlformats.org/drawingml/2006/table">
            <a:tbl>
              <a:tblPr firstRow="1" bandRow="1">
                <a:tableStyleId>{5C22544A-7EE6-4342-B048-85BDC9FD1C3A}</a:tableStyleId>
              </a:tblPr>
              <a:tblGrid>
                <a:gridCol w="1828800"/>
                <a:gridCol w="2560320"/>
                <a:gridCol w="3200400"/>
                <a:gridCol w="3657600"/>
              </a:tblGrid>
              <a:tr h="475488">
                <a:tc>
                  <a:txBody>
                    <a:bodyPr/>
                    <a:lstStyle/>
                    <a:p>
                      <a:pPr algn="ctr"/>
                      <a:r>
                        <a:rPr b="1" sz="1300">
                          <a:solidFill>
                            <a:srgbClr val="FFFFFF"/>
                          </a:solidFill>
                        </a:rPr>
                        <a:t>Mode</a:t>
                      </a:r>
                    </a:p>
                  </a:txBody>
                  <a:tcPr>
                    <a:solidFill>
                      <a:srgbClr val="0078D4"/>
                    </a:solidFill>
                  </a:tcPr>
                </a:tc>
                <a:tc>
                  <a:txBody>
                    <a:bodyPr/>
                    <a:lstStyle/>
                    <a:p>
                      <a:pPr algn="ctr"/>
                      <a:r>
                        <a:rPr b="1" sz="1300">
                          <a:solidFill>
                            <a:srgbClr val="FFFFFF"/>
                          </a:solidFill>
                        </a:rPr>
                        <a:t>LLM</a:t>
                      </a:r>
                    </a:p>
                  </a:txBody>
                  <a:tcPr>
                    <a:solidFill>
                      <a:srgbClr val="0078D4"/>
                    </a:solidFill>
                  </a:tcPr>
                </a:tc>
                <a:tc>
                  <a:txBody>
                    <a:bodyPr/>
                    <a:lstStyle/>
                    <a:p>
                      <a:pPr algn="ctr"/>
                      <a:r>
                        <a:rPr b="1" sz="1300">
                          <a:solidFill>
                            <a:srgbClr val="FFFFFF"/>
                          </a:solidFill>
                        </a:rPr>
                        <a:t>Storage</a:t>
                      </a:r>
                    </a:p>
                  </a:txBody>
                  <a:tcPr>
                    <a:solidFill>
                      <a:srgbClr val="0078D4"/>
                    </a:solidFill>
                  </a:tcPr>
                </a:tc>
                <a:tc>
                  <a:txBody>
                    <a:bodyPr/>
                    <a:lstStyle/>
                    <a:p>
                      <a:pPr algn="ctr"/>
                      <a:r>
                        <a:rPr b="1" sz="1300">
                          <a:solidFill>
                            <a:srgbClr val="FFFFFF"/>
                          </a:solidFill>
                        </a:rPr>
                        <a:t>Best For</a:t>
                      </a:r>
                    </a:p>
                  </a:txBody>
                  <a:tcPr>
                    <a:solidFill>
                      <a:srgbClr val="0078D4"/>
                    </a:solidFill>
                  </a:tcPr>
                </a:tc>
              </a:tr>
              <a:tr h="475488">
                <a:tc>
                  <a:txBody>
                    <a:bodyPr/>
                    <a:lstStyle/>
                    <a:p>
                      <a:pPr algn="l"/>
                      <a:r>
                        <a:rPr sz="1200">
                          <a:solidFill>
                            <a:srgbClr val="0D1B2A"/>
                          </a:solidFill>
                        </a:rPr>
                        <a:t>Local dev</a:t>
                      </a:r>
                    </a:p>
                  </a:txBody>
                  <a:tcPr>
                    <a:solidFill>
                      <a:srgbClr val="F0F4F8"/>
                    </a:solidFill>
                  </a:tcPr>
                </a:tc>
                <a:tc>
                  <a:txBody>
                    <a:bodyPr/>
                    <a:lstStyle/>
                    <a:p>
                      <a:pPr algn="l"/>
                      <a:r>
                        <a:rPr sz="1200">
                          <a:solidFill>
                            <a:srgbClr val="0D1B2A"/>
                          </a:solidFill>
                        </a:rPr>
                        <a:t>Ollama (local)</a:t>
                      </a:r>
                    </a:p>
                  </a:txBody>
                  <a:tcPr>
                    <a:solidFill>
                      <a:srgbClr val="F0F4F8"/>
                    </a:solidFill>
                  </a:tcPr>
                </a:tc>
                <a:tc>
                  <a:txBody>
                    <a:bodyPr/>
                    <a:lstStyle/>
                    <a:p>
                      <a:pPr algn="l"/>
                      <a:r>
                        <a:rPr sz="1200">
                          <a:solidFill>
                            <a:srgbClr val="0D1B2A"/>
                          </a:solidFill>
                        </a:rPr>
                        <a:t>SQLite + ChromaDB local</a:t>
                      </a:r>
                    </a:p>
                  </a:txBody>
                  <a:tcPr>
                    <a:solidFill>
                      <a:srgbClr val="F0F4F8"/>
                    </a:solidFill>
                  </a:tcPr>
                </a:tc>
                <a:tc>
                  <a:txBody>
                    <a:bodyPr/>
                    <a:lstStyle/>
                    <a:p>
                      <a:pPr algn="l"/>
                      <a:r>
                        <a:rPr sz="1200">
                          <a:solidFill>
                            <a:srgbClr val="0D1B2A"/>
                          </a:solidFill>
                        </a:rPr>
                        <a:t>Developer machine, no internet needed</a:t>
                      </a:r>
                    </a:p>
                  </a:txBody>
                  <a:tcPr>
                    <a:solidFill>
                      <a:srgbClr val="F0F4F8"/>
                    </a:solidFill>
                  </a:tcPr>
                </a:tc>
              </a:tr>
              <a:tr h="475488">
                <a:tc>
                  <a:txBody>
                    <a:bodyPr/>
                    <a:lstStyle/>
                    <a:p>
                      <a:pPr algn="l"/>
                      <a:r>
                        <a:rPr sz="1200">
                          <a:solidFill>
                            <a:srgbClr val="0D1B2A"/>
                          </a:solidFill>
                        </a:rPr>
                        <a:t>Cloud (SaaS LLM)</a:t>
                      </a:r>
                    </a:p>
                  </a:txBody>
                  <a:tcPr>
                    <a:solidFill>
                      <a:srgbClr val="FFFFFF"/>
                    </a:solidFill>
                  </a:tcPr>
                </a:tc>
                <a:tc>
                  <a:txBody>
                    <a:bodyPr/>
                    <a:lstStyle/>
                    <a:p>
                      <a:pPr algn="l"/>
                      <a:r>
                        <a:rPr sz="1200">
                          <a:solidFill>
                            <a:srgbClr val="0D1B2A"/>
                          </a:solidFill>
                        </a:rPr>
                        <a:t>OpenAI / Azure</a:t>
                      </a:r>
                    </a:p>
                  </a:txBody>
                  <a:tcPr>
                    <a:solidFill>
                      <a:srgbClr val="FFFFFF"/>
                    </a:solidFill>
                  </a:tcPr>
                </a:tc>
                <a:tc>
                  <a:txBody>
                    <a:bodyPr/>
                    <a:lstStyle/>
                    <a:p>
                      <a:pPr algn="l"/>
                      <a:r>
                        <a:rPr sz="1200">
                          <a:solidFill>
                            <a:srgbClr val="0D1B2A"/>
                          </a:solidFill>
                        </a:rPr>
                        <a:t>SQLite + ChromaDB local</a:t>
                      </a:r>
                    </a:p>
                  </a:txBody>
                  <a:tcPr>
                    <a:solidFill>
                      <a:srgbClr val="FFFFFF"/>
                    </a:solidFill>
                  </a:tcPr>
                </a:tc>
                <a:tc>
                  <a:txBody>
                    <a:bodyPr/>
                    <a:lstStyle/>
                    <a:p>
                      <a:pPr algn="l"/>
                      <a:r>
                        <a:rPr sz="1200">
                          <a:solidFill>
                            <a:srgbClr val="0D1B2A"/>
                          </a:solidFill>
                        </a:rPr>
                        <a:t>Small team, fastest setup</a:t>
                      </a:r>
                    </a:p>
                  </a:txBody>
                  <a:tcPr>
                    <a:solidFill>
                      <a:srgbClr val="FFFFFF"/>
                    </a:solidFill>
                  </a:tcPr>
                </a:tc>
              </a:tr>
              <a:tr h="475488">
                <a:tc>
                  <a:txBody>
                    <a:bodyPr/>
                    <a:lstStyle/>
                    <a:p>
                      <a:pPr algn="l"/>
                      <a:r>
                        <a:rPr sz="1200">
                          <a:solidFill>
                            <a:srgbClr val="0D1B2A"/>
                          </a:solidFill>
                        </a:rPr>
                        <a:t>On-premise</a:t>
                      </a:r>
                    </a:p>
                  </a:txBody>
                  <a:tcPr>
                    <a:solidFill>
                      <a:srgbClr val="F0F4F8"/>
                    </a:solidFill>
                  </a:tcPr>
                </a:tc>
                <a:tc>
                  <a:txBody>
                    <a:bodyPr/>
                    <a:lstStyle/>
                    <a:p>
                      <a:pPr algn="l"/>
                      <a:r>
                        <a:rPr sz="1200">
                          <a:solidFill>
                            <a:srgbClr val="0D1B2A"/>
                          </a:solidFill>
                        </a:rPr>
                        <a:t>Azure OpenAI / Ollama</a:t>
                      </a:r>
                    </a:p>
                  </a:txBody>
                  <a:tcPr>
                    <a:solidFill>
                      <a:srgbClr val="F0F4F8"/>
                    </a:solidFill>
                  </a:tcPr>
                </a:tc>
                <a:tc>
                  <a:txBody>
                    <a:bodyPr/>
                    <a:lstStyle/>
                    <a:p>
                      <a:pPr algn="l"/>
                      <a:r>
                        <a:rPr sz="1200">
                          <a:solidFill>
                            <a:srgbClr val="0D1B2A"/>
                          </a:solidFill>
                        </a:rPr>
                        <a:t>SQLite + ChromaDB server</a:t>
                      </a:r>
                    </a:p>
                  </a:txBody>
                  <a:tcPr>
                    <a:solidFill>
                      <a:srgbClr val="F0F4F8"/>
                    </a:solidFill>
                  </a:tcPr>
                </a:tc>
                <a:tc>
                  <a:txBody>
                    <a:bodyPr/>
                    <a:lstStyle/>
                    <a:p>
                      <a:pPr algn="l"/>
                      <a:r>
                        <a:rPr sz="1200">
                          <a:solidFill>
                            <a:srgbClr val="0D1B2A"/>
                          </a:solidFill>
                        </a:rPr>
                        <a:t>Regulated, data-sovereignty required</a:t>
                      </a:r>
                    </a:p>
                  </a:txBody>
                  <a:tcPr>
                    <a:solidFill>
                      <a:srgbClr val="F0F4F8"/>
                    </a:solidFill>
                  </a:tcPr>
                </a:tc>
              </a:tr>
              <a:tr h="475488">
                <a:tc>
                  <a:txBody>
                    <a:bodyPr/>
                    <a:lstStyle/>
                    <a:p>
                      <a:pPr algn="l"/>
                      <a:r>
                        <a:rPr sz="1200">
                          <a:solidFill>
                            <a:srgbClr val="0D1B2A"/>
                          </a:solidFill>
                        </a:rPr>
                        <a:t>Air-gapped</a:t>
                      </a:r>
                    </a:p>
                  </a:txBody>
                  <a:tcPr>
                    <a:solidFill>
                      <a:srgbClr val="FFFFFF"/>
                    </a:solidFill>
                  </a:tcPr>
                </a:tc>
                <a:tc>
                  <a:txBody>
                    <a:bodyPr/>
                    <a:lstStyle/>
                    <a:p>
                      <a:pPr algn="l"/>
                      <a:r>
                        <a:rPr sz="1200">
                          <a:solidFill>
                            <a:srgbClr val="0D1B2A"/>
                          </a:solidFill>
                        </a:rPr>
                        <a:t>Ollama only</a:t>
                      </a:r>
                    </a:p>
                  </a:txBody>
                  <a:tcPr>
                    <a:solidFill>
                      <a:srgbClr val="FFFFFF"/>
                    </a:solidFill>
                  </a:tcPr>
                </a:tc>
                <a:tc>
                  <a:txBody>
                    <a:bodyPr/>
                    <a:lstStyle/>
                    <a:p>
                      <a:pPr algn="l"/>
                      <a:r>
                        <a:rPr sz="1200">
                          <a:solidFill>
                            <a:srgbClr val="0D1B2A"/>
                          </a:solidFill>
                        </a:rPr>
                        <a:t>SQLite + ChromaDB server</a:t>
                      </a:r>
                    </a:p>
                  </a:txBody>
                  <a:tcPr>
                    <a:solidFill>
                      <a:srgbClr val="FFFFFF"/>
                    </a:solidFill>
                  </a:tcPr>
                </a:tc>
                <a:tc>
                  <a:txBody>
                    <a:bodyPr/>
                    <a:lstStyle/>
                    <a:p>
                      <a:pPr algn="l"/>
                      <a:r>
                        <a:rPr sz="1200">
                          <a:solidFill>
                            <a:srgbClr val="0D1B2A"/>
                          </a:solidFill>
                        </a:rPr>
                        <a:t>Classified / no-network environments</a:t>
                      </a:r>
                    </a:p>
                  </a:txBody>
                  <a:tcPr>
                    <a:solidFill>
                      <a:srgbClr val="FFFFFF"/>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Real-Time Token Streaming (Phase 5)</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Server-Sent Events for progressive AI output — every provider, no API key required</a:t>
            </a:r>
          </a:p>
        </p:txBody>
      </p:sp>
      <p:sp>
        <p:nvSpPr>
          <p:cNvPr id="5" name="Rectangle 4"/>
          <p:cNvSpPr/>
          <p:nvPr/>
        </p:nvSpPr>
        <p:spPr>
          <a:xfrm>
            <a:off x="365760" y="1600200"/>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673352"/>
            <a:ext cx="3291840" cy="457200"/>
          </a:xfrm>
          <a:prstGeom prst="rect">
            <a:avLst/>
          </a:prstGeom>
          <a:noFill/>
        </p:spPr>
        <p:txBody>
          <a:bodyPr wrap="square">
            <a:spAutoFit/>
          </a:bodyPr>
          <a:lstStyle/>
          <a:p>
            <a:pPr algn="ctr"/>
            <a:r>
              <a:rPr sz="1200" b="1" i="0">
                <a:solidFill>
                  <a:srgbClr val="FFFFFF"/>
                </a:solidFill>
              </a:rPr>
              <a:t>FastAPI StreamingResponse</a:t>
            </a:r>
          </a:p>
        </p:txBody>
      </p:sp>
      <p:sp>
        <p:nvSpPr>
          <p:cNvPr id="7" name="TextBox 6"/>
          <p:cNvSpPr txBox="1"/>
          <p:nvPr/>
        </p:nvSpPr>
        <p:spPr>
          <a:xfrm>
            <a:off x="3931920" y="1691640"/>
            <a:ext cx="7955279" cy="457200"/>
          </a:xfrm>
          <a:prstGeom prst="rect">
            <a:avLst/>
          </a:prstGeom>
          <a:noFill/>
        </p:spPr>
        <p:txBody>
          <a:bodyPr wrap="square">
            <a:spAutoFit/>
          </a:bodyPr>
          <a:lstStyle/>
          <a:p>
            <a:pPr algn="l"/>
            <a:r>
              <a:rPr sz="1300" b="0" i="0">
                <a:solidFill>
                  <a:srgbClr val="0D1B2A"/>
                </a:solidFill>
              </a:rPr>
              <a:t>text/event-stream content-type; browser-native SSE protocol</a:t>
            </a:r>
          </a:p>
        </p:txBody>
      </p:sp>
      <p:sp>
        <p:nvSpPr>
          <p:cNvPr id="8" name="Rectangle 7"/>
          <p:cNvSpPr/>
          <p:nvPr/>
        </p:nvSpPr>
        <p:spPr>
          <a:xfrm>
            <a:off x="365760" y="2350008"/>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423160"/>
            <a:ext cx="3291840" cy="457200"/>
          </a:xfrm>
          <a:prstGeom prst="rect">
            <a:avLst/>
          </a:prstGeom>
          <a:noFill/>
        </p:spPr>
        <p:txBody>
          <a:bodyPr wrap="square">
            <a:spAutoFit/>
          </a:bodyPr>
          <a:lstStyle/>
          <a:p>
            <a:pPr algn="ctr"/>
            <a:r>
              <a:rPr sz="1200" b="1" i="0">
                <a:solidFill>
                  <a:srgbClr val="FFFFFF"/>
                </a:solidFill>
              </a:rPr>
              <a:t>generate_stream() method</a:t>
            </a:r>
          </a:p>
        </p:txBody>
      </p:sp>
      <p:sp>
        <p:nvSpPr>
          <p:cNvPr id="10" name="TextBox 9"/>
          <p:cNvSpPr txBox="1"/>
          <p:nvPr/>
        </p:nvSpPr>
        <p:spPr>
          <a:xfrm>
            <a:off x="3931920" y="2441448"/>
            <a:ext cx="7955279" cy="457200"/>
          </a:xfrm>
          <a:prstGeom prst="rect">
            <a:avLst/>
          </a:prstGeom>
          <a:noFill/>
        </p:spPr>
        <p:txBody>
          <a:bodyPr wrap="square">
            <a:spAutoFit/>
          </a:bodyPr>
          <a:lstStyle/>
          <a:p>
            <a:pPr algn="l"/>
            <a:r>
              <a:rPr sz="1300" b="0" i="0">
                <a:solidFill>
                  <a:srgbClr val="0D1B2A"/>
                </a:solidFill>
              </a:rPr>
              <a:t>Yields chunks from LLMGateway — same thread-safe singleton, streaming path</a:t>
            </a:r>
          </a:p>
        </p:txBody>
      </p:sp>
      <p:sp>
        <p:nvSpPr>
          <p:cNvPr id="11" name="Rectangle 10"/>
          <p:cNvSpPr/>
          <p:nvPr/>
        </p:nvSpPr>
        <p:spPr>
          <a:xfrm>
            <a:off x="365760" y="3099816"/>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172968"/>
            <a:ext cx="3291840" cy="457200"/>
          </a:xfrm>
          <a:prstGeom prst="rect">
            <a:avLst/>
          </a:prstGeom>
          <a:noFill/>
        </p:spPr>
        <p:txBody>
          <a:bodyPr wrap="square">
            <a:spAutoFit/>
          </a:bodyPr>
          <a:lstStyle/>
          <a:p>
            <a:pPr algn="ctr"/>
            <a:r>
              <a:rPr sz="1200" b="1" i="0">
                <a:solidFill>
                  <a:srgbClr val="FFFFFF"/>
                </a:solidFill>
              </a:rPr>
              <a:t>Claude API provider</a:t>
            </a:r>
          </a:p>
        </p:txBody>
      </p:sp>
      <p:sp>
        <p:nvSpPr>
          <p:cNvPr id="13" name="TextBox 12"/>
          <p:cNvSpPr txBox="1"/>
          <p:nvPr/>
        </p:nvSpPr>
        <p:spPr>
          <a:xfrm>
            <a:off x="3931920" y="3191256"/>
            <a:ext cx="7955279" cy="457200"/>
          </a:xfrm>
          <a:prstGeom prst="rect">
            <a:avLst/>
          </a:prstGeom>
          <a:noFill/>
        </p:spPr>
        <p:txBody>
          <a:bodyPr wrap="square">
            <a:spAutoFit/>
          </a:bodyPr>
          <a:lstStyle/>
          <a:p>
            <a:pPr algn="l"/>
            <a:r>
              <a:rPr sz="1300" b="0" i="0">
                <a:solidFill>
                  <a:srgbClr val="0D1B2A"/>
                </a:solidFill>
              </a:rPr>
              <a:t>Native token-by-token streaming via Anthropic SDK stream context</a:t>
            </a:r>
          </a:p>
        </p:txBody>
      </p:sp>
      <p:sp>
        <p:nvSpPr>
          <p:cNvPr id="14" name="Rectangle 13"/>
          <p:cNvSpPr/>
          <p:nvPr/>
        </p:nvSpPr>
        <p:spPr>
          <a:xfrm>
            <a:off x="365760" y="3849624"/>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922776"/>
            <a:ext cx="3291840" cy="457200"/>
          </a:xfrm>
          <a:prstGeom prst="rect">
            <a:avLst/>
          </a:prstGeom>
          <a:noFill/>
        </p:spPr>
        <p:txBody>
          <a:bodyPr wrap="square">
            <a:spAutoFit/>
          </a:bodyPr>
          <a:lstStyle/>
          <a:p>
            <a:pPr algn="ctr"/>
            <a:r>
              <a:rPr sz="1200" b="1" i="0">
                <a:solidFill>
                  <a:srgbClr val="FFFFFF"/>
                </a:solidFill>
              </a:rPr>
              <a:t>CLI providers (Gemini, etc)</a:t>
            </a:r>
          </a:p>
        </p:txBody>
      </p:sp>
      <p:sp>
        <p:nvSpPr>
          <p:cNvPr id="16" name="TextBox 15"/>
          <p:cNvSpPr txBox="1"/>
          <p:nvPr/>
        </p:nvSpPr>
        <p:spPr>
          <a:xfrm>
            <a:off x="3931920" y="3941064"/>
            <a:ext cx="7955279" cy="457200"/>
          </a:xfrm>
          <a:prstGeom prst="rect">
            <a:avLst/>
          </a:prstGeom>
          <a:noFill/>
        </p:spPr>
        <p:txBody>
          <a:bodyPr wrap="square">
            <a:spAutoFit/>
          </a:bodyPr>
          <a:lstStyle/>
          <a:p>
            <a:pPr algn="l"/>
            <a:r>
              <a:rPr sz="1300" b="0" i="0">
                <a:solidFill>
                  <a:srgbClr val="0D1B2A"/>
                </a:solidFill>
              </a:rPr>
              <a:t>Full generation runs then output is split into 4-word chunks — progressive feel</a:t>
            </a:r>
          </a:p>
        </p:txBody>
      </p:sp>
      <p:sp>
        <p:nvSpPr>
          <p:cNvPr id="17" name="Rectangle 16"/>
          <p:cNvSpPr/>
          <p:nvPr/>
        </p:nvSpPr>
        <p:spPr>
          <a:xfrm>
            <a:off x="365760" y="4599432"/>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672584"/>
            <a:ext cx="3291840" cy="457200"/>
          </a:xfrm>
          <a:prstGeom prst="rect">
            <a:avLst/>
          </a:prstGeom>
          <a:noFill/>
        </p:spPr>
        <p:txBody>
          <a:bodyPr wrap="square">
            <a:spAutoFit/>
          </a:bodyPr>
          <a:lstStyle/>
          <a:p>
            <a:pPr algn="ctr"/>
            <a:r>
              <a:rPr sz="1200" b="1" i="0">
                <a:solidFill>
                  <a:srgbClr val="FFFFFF"/>
                </a:solidFill>
              </a:rPr>
              <a:t>Ollama provider</a:t>
            </a:r>
          </a:p>
        </p:txBody>
      </p:sp>
      <p:sp>
        <p:nvSpPr>
          <p:cNvPr id="19" name="TextBox 18"/>
          <p:cNvSpPr txBox="1"/>
          <p:nvPr/>
        </p:nvSpPr>
        <p:spPr>
          <a:xfrm>
            <a:off x="3931920" y="4690872"/>
            <a:ext cx="7955279" cy="457200"/>
          </a:xfrm>
          <a:prstGeom prst="rect">
            <a:avLst/>
          </a:prstGeom>
          <a:noFill/>
        </p:spPr>
        <p:txBody>
          <a:bodyPr wrap="square">
            <a:spAutoFit/>
          </a:bodyPr>
          <a:lstStyle/>
          <a:p>
            <a:pPr algn="l"/>
            <a:r>
              <a:rPr sz="1300" b="0" i="0">
                <a:solidFill>
                  <a:srgbClr val="0D1B2A"/>
                </a:solidFill>
              </a:rPr>
              <a:t>stream=True to local REST API — true token-level streaming offline</a:t>
            </a:r>
          </a:p>
        </p:txBody>
      </p:sp>
      <p:sp>
        <p:nvSpPr>
          <p:cNvPr id="20" name="Rectangle 19"/>
          <p:cNvSpPr/>
          <p:nvPr/>
        </p:nvSpPr>
        <p:spPr>
          <a:xfrm>
            <a:off x="365760" y="5349240"/>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5422392"/>
            <a:ext cx="3291840" cy="457200"/>
          </a:xfrm>
          <a:prstGeom prst="rect">
            <a:avLst/>
          </a:prstGeom>
          <a:noFill/>
        </p:spPr>
        <p:txBody>
          <a:bodyPr wrap="square">
            <a:spAutoFit/>
          </a:bodyPr>
          <a:lstStyle/>
          <a:p>
            <a:pPr algn="ctr"/>
            <a:r>
              <a:rPr sz="1200" b="1" i="0">
                <a:solidFill>
                  <a:srgbClr val="FFFFFF"/>
                </a:solidFill>
              </a:rPr>
              <a:t>Two endpoints</a:t>
            </a:r>
          </a:p>
        </p:txBody>
      </p:sp>
      <p:sp>
        <p:nvSpPr>
          <p:cNvPr id="22" name="TextBox 21"/>
          <p:cNvSpPr txBox="1"/>
          <p:nvPr/>
        </p:nvSpPr>
        <p:spPr>
          <a:xfrm>
            <a:off x="3931920" y="5440680"/>
            <a:ext cx="7955279" cy="457200"/>
          </a:xfrm>
          <a:prstGeom prst="rect">
            <a:avLst/>
          </a:prstGeom>
          <a:noFill/>
        </p:spPr>
        <p:txBody>
          <a:bodyPr wrap="square">
            <a:spAutoFit/>
          </a:bodyPr>
          <a:lstStyle/>
          <a:p>
            <a:pPr algn="l"/>
            <a:r>
              <a:rPr sz="1300" b="0" i="0">
                <a:solidFill>
                  <a:srgbClr val="0D1B2A"/>
                </a:solidFill>
              </a:rPr>
              <a:t>POST /analyze/stream · POST /agent/stream — both support X-SAGE-Tenant</a:t>
            </a:r>
          </a:p>
        </p:txBody>
      </p:sp>
      <p:sp>
        <p:nvSpPr>
          <p:cNvPr id="23" name="Rectangle 22"/>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Onboarding Wizard — New Solution in 60 Seconds (Phase 6)</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Plain language → production-ready YAML configs via AI generation</a:t>
            </a:r>
          </a:p>
        </p:txBody>
      </p:sp>
      <p:sp>
        <p:nvSpPr>
          <p:cNvPr id="5" name="Rectangle 4"/>
          <p:cNvSpPr/>
          <p:nvPr/>
        </p:nvSpPr>
        <p:spPr>
          <a:xfrm>
            <a:off x="228600" y="1691640"/>
            <a:ext cx="2743200" cy="3108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783080"/>
            <a:ext cx="2560320" cy="502920"/>
          </a:xfrm>
          <a:prstGeom prst="rect">
            <a:avLst/>
          </a:prstGeom>
          <a:noFill/>
        </p:spPr>
        <p:txBody>
          <a:bodyPr wrap="square">
            <a:spAutoFit/>
          </a:bodyPr>
          <a:lstStyle/>
          <a:p>
            <a:pPr algn="ctr"/>
            <a:r>
              <a:rPr sz="1300" b="1" i="0">
                <a:solidFill>
                  <a:srgbClr val="FFFFFF"/>
                </a:solidFill>
              </a:rPr>
              <a:t>1  DESCRIBE</a:t>
            </a:r>
          </a:p>
        </p:txBody>
      </p:sp>
      <p:sp>
        <p:nvSpPr>
          <p:cNvPr id="7" name="TextBox 6"/>
          <p:cNvSpPr txBox="1"/>
          <p:nvPr/>
        </p:nvSpPr>
        <p:spPr>
          <a:xfrm>
            <a:off x="320040" y="2377440"/>
            <a:ext cx="2560320" cy="1828800"/>
          </a:xfrm>
          <a:prstGeom prst="rect">
            <a:avLst/>
          </a:prstGeom>
          <a:noFill/>
        </p:spPr>
        <p:txBody>
          <a:bodyPr wrap="square">
            <a:spAutoFit/>
          </a:bodyPr>
          <a:lstStyle/>
          <a:p>
            <a:pPr algn="ctr"/>
            <a:r>
              <a:rPr sz="1100" b="0" i="0">
                <a:solidFill>
                  <a:srgbClr val="FFFFFF"/>
                </a:solidFill>
              </a:rPr>
              <a:t>POST /onboarding/generate with a plain-language description + compliance standards | Web UI path: visit /onboarding — guided multi-turn conversation, LLM extracts domain info, Generate Solution button appears when ready</a:t>
            </a:r>
          </a:p>
        </p:txBody>
      </p:sp>
      <p:sp>
        <p:nvSpPr>
          <p:cNvPr id="8" name="TextBox 7"/>
          <p:cNvSpPr txBox="1"/>
          <p:nvPr/>
        </p:nvSpPr>
        <p:spPr>
          <a:xfrm>
            <a:off x="2971800" y="2926080"/>
            <a:ext cx="228600" cy="457200"/>
          </a:xfrm>
          <a:prstGeom prst="rect">
            <a:avLst/>
          </a:prstGeom>
          <a:noFill/>
        </p:spPr>
        <p:txBody>
          <a:bodyPr wrap="square">
            <a:spAutoFit/>
          </a:bodyPr>
          <a:lstStyle/>
          <a:p>
            <a:pPr algn="ctr"/>
            <a:r>
              <a:rPr sz="2200" b="1" i="0">
                <a:solidFill>
                  <a:srgbClr val="0D1B2A"/>
                </a:solidFill>
              </a:rPr>
              <a:t>→</a:t>
            </a:r>
          </a:p>
        </p:txBody>
      </p:sp>
      <p:sp>
        <p:nvSpPr>
          <p:cNvPr id="9" name="Rectangle 8"/>
          <p:cNvSpPr/>
          <p:nvPr/>
        </p:nvSpPr>
        <p:spPr>
          <a:xfrm>
            <a:off x="3218688" y="1691640"/>
            <a:ext cx="2743200" cy="31089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783080"/>
            <a:ext cx="2560320" cy="502920"/>
          </a:xfrm>
          <a:prstGeom prst="rect">
            <a:avLst/>
          </a:prstGeom>
          <a:noFill/>
        </p:spPr>
        <p:txBody>
          <a:bodyPr wrap="square">
            <a:spAutoFit/>
          </a:bodyPr>
          <a:lstStyle/>
          <a:p>
            <a:pPr algn="ctr"/>
            <a:r>
              <a:rPr sz="1300" b="1" i="0">
                <a:solidFill>
                  <a:srgbClr val="FFFFFF"/>
                </a:solidFill>
              </a:rPr>
              <a:t>2  GENERATE</a:t>
            </a:r>
          </a:p>
        </p:txBody>
      </p:sp>
      <p:sp>
        <p:nvSpPr>
          <p:cNvPr id="11" name="TextBox 10"/>
          <p:cNvSpPr txBox="1"/>
          <p:nvPr/>
        </p:nvSpPr>
        <p:spPr>
          <a:xfrm>
            <a:off x="3310128" y="2377440"/>
            <a:ext cx="2560320" cy="1828800"/>
          </a:xfrm>
          <a:prstGeom prst="rect">
            <a:avLst/>
          </a:prstGeom>
          <a:noFill/>
        </p:spPr>
        <p:txBody>
          <a:bodyPr wrap="square">
            <a:spAutoFit/>
          </a:bodyPr>
          <a:lstStyle/>
          <a:p>
            <a:pPr algn="ctr"/>
            <a:r>
              <a:rPr sz="1100" b="0" i="0">
                <a:solidFill>
                  <a:srgbClr val="FFFFFF"/>
                </a:solidFill>
              </a:rPr>
              <a:t>LLM produces project.yaml · prompts.yaml · tasks.yaml tailored to your domain</a:t>
            </a:r>
          </a:p>
        </p:txBody>
      </p:sp>
      <p:sp>
        <p:nvSpPr>
          <p:cNvPr id="12" name="TextBox 11"/>
          <p:cNvSpPr txBox="1"/>
          <p:nvPr/>
        </p:nvSpPr>
        <p:spPr>
          <a:xfrm>
            <a:off x="5961888" y="2926080"/>
            <a:ext cx="228600" cy="457200"/>
          </a:xfrm>
          <a:prstGeom prst="rect">
            <a:avLst/>
          </a:prstGeom>
          <a:noFill/>
        </p:spPr>
        <p:txBody>
          <a:bodyPr wrap="square">
            <a:spAutoFit/>
          </a:bodyPr>
          <a:lstStyle/>
          <a:p>
            <a:pPr algn="ctr"/>
            <a:r>
              <a:rPr sz="2200" b="1" i="0">
                <a:solidFill>
                  <a:srgbClr val="0D1B2A"/>
                </a:solidFill>
              </a:rPr>
              <a:t>→</a:t>
            </a:r>
          </a:p>
        </p:txBody>
      </p:sp>
      <p:sp>
        <p:nvSpPr>
          <p:cNvPr id="13" name="Rectangle 12"/>
          <p:cNvSpPr/>
          <p:nvPr/>
        </p:nvSpPr>
        <p:spPr>
          <a:xfrm>
            <a:off x="6208776" y="1691640"/>
            <a:ext cx="2743200" cy="31089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216" y="1783080"/>
            <a:ext cx="2560320" cy="502920"/>
          </a:xfrm>
          <a:prstGeom prst="rect">
            <a:avLst/>
          </a:prstGeom>
          <a:noFill/>
        </p:spPr>
        <p:txBody>
          <a:bodyPr wrap="square">
            <a:spAutoFit/>
          </a:bodyPr>
          <a:lstStyle/>
          <a:p>
            <a:pPr algn="ctr"/>
            <a:r>
              <a:rPr sz="1300" b="1" i="0">
                <a:solidFill>
                  <a:srgbClr val="FFFFFF"/>
                </a:solidFill>
              </a:rPr>
              <a:t>3  SCAFFOLD</a:t>
            </a:r>
          </a:p>
        </p:txBody>
      </p:sp>
      <p:sp>
        <p:nvSpPr>
          <p:cNvPr id="15" name="TextBox 14"/>
          <p:cNvSpPr txBox="1"/>
          <p:nvPr/>
        </p:nvSpPr>
        <p:spPr>
          <a:xfrm>
            <a:off x="6300216" y="2377440"/>
            <a:ext cx="2560320" cy="1828800"/>
          </a:xfrm>
          <a:prstGeom prst="rect">
            <a:avLst/>
          </a:prstGeom>
          <a:noFill/>
        </p:spPr>
        <p:txBody>
          <a:bodyPr wrap="square">
            <a:spAutoFit/>
          </a:bodyPr>
          <a:lstStyle/>
          <a:p>
            <a:pPr algn="ctr"/>
            <a:r>
              <a:rPr sz="1100" b="0" i="0">
                <a:solidFill>
                  <a:srgbClr val="FFFFFF"/>
                </a:solidFill>
              </a:rPr>
              <a:t>solutions/&lt;name&gt;/ created with workflows/ · mcp_servers/ · evals/ subdirs</a:t>
            </a:r>
          </a:p>
        </p:txBody>
      </p:sp>
      <p:sp>
        <p:nvSpPr>
          <p:cNvPr id="16" name="TextBox 15"/>
          <p:cNvSpPr txBox="1"/>
          <p:nvPr/>
        </p:nvSpPr>
        <p:spPr>
          <a:xfrm>
            <a:off x="8951976" y="2926080"/>
            <a:ext cx="228600" cy="457200"/>
          </a:xfrm>
          <a:prstGeom prst="rect">
            <a:avLst/>
          </a:prstGeom>
          <a:noFill/>
        </p:spPr>
        <p:txBody>
          <a:bodyPr wrap="square">
            <a:spAutoFit/>
          </a:bodyPr>
          <a:lstStyle/>
          <a:p>
            <a:pPr algn="ctr"/>
            <a:r>
              <a:rPr sz="2200" b="1" i="0">
                <a:solidFill>
                  <a:srgbClr val="0D1B2A"/>
                </a:solidFill>
              </a:rPr>
              <a:t>→</a:t>
            </a:r>
          </a:p>
        </p:txBody>
      </p:sp>
      <p:sp>
        <p:nvSpPr>
          <p:cNvPr id="17" name="Rectangle 16"/>
          <p:cNvSpPr/>
          <p:nvPr/>
        </p:nvSpPr>
        <p:spPr>
          <a:xfrm>
            <a:off x="9198864" y="1691640"/>
            <a:ext cx="2743200" cy="3108960"/>
          </a:xfrm>
          <a:prstGeom prst="rect">
            <a:avLst/>
          </a:prstGeom>
          <a:solidFill>
            <a:srgbClr val="21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0304" y="1783080"/>
            <a:ext cx="2560320" cy="502920"/>
          </a:xfrm>
          <a:prstGeom prst="rect">
            <a:avLst/>
          </a:prstGeom>
          <a:noFill/>
        </p:spPr>
        <p:txBody>
          <a:bodyPr wrap="square">
            <a:spAutoFit/>
          </a:bodyPr>
          <a:lstStyle/>
          <a:p>
            <a:pPr algn="ctr"/>
            <a:r>
              <a:rPr sz="1300" b="1" i="0">
                <a:solidFill>
                  <a:srgbClr val="FFFFFF"/>
                </a:solidFill>
              </a:rPr>
              <a:t>4  RUN</a:t>
            </a:r>
          </a:p>
        </p:txBody>
      </p:sp>
      <p:sp>
        <p:nvSpPr>
          <p:cNvPr id="19" name="TextBox 18"/>
          <p:cNvSpPr txBox="1"/>
          <p:nvPr/>
        </p:nvSpPr>
        <p:spPr>
          <a:xfrm>
            <a:off x="9290304" y="2377440"/>
            <a:ext cx="2560320" cy="1828800"/>
          </a:xfrm>
          <a:prstGeom prst="rect">
            <a:avLst/>
          </a:prstGeom>
          <a:noFill/>
        </p:spPr>
        <p:txBody>
          <a:bodyPr wrap="square">
            <a:spAutoFit/>
          </a:bodyPr>
          <a:lstStyle/>
          <a:p>
            <a:pPr algn="ctr"/>
            <a:r>
              <a:rPr sz="1100" b="0" i="0">
                <a:solidFill>
                  <a:srgbClr val="FFFFFF"/>
                </a:solidFill>
              </a:rPr>
              <a:t>make run PROJECT=&lt;name&gt; — agents immediately operational with domain context</a:t>
            </a:r>
          </a:p>
        </p:txBody>
      </p:sp>
      <p:sp>
        <p:nvSpPr>
          <p:cNvPr id="20" name="TextBox 19"/>
          <p:cNvSpPr txBox="1"/>
          <p:nvPr/>
        </p:nvSpPr>
        <p:spPr>
          <a:xfrm>
            <a:off x="457200" y="5074920"/>
            <a:ext cx="11247120" cy="411480"/>
          </a:xfrm>
          <a:prstGeom prst="rect">
            <a:avLst/>
          </a:prstGeom>
          <a:noFill/>
        </p:spPr>
        <p:txBody>
          <a:bodyPr wrap="square">
            <a:spAutoFit/>
          </a:bodyPr>
          <a:lstStyle/>
          <a:p>
            <a:pPr algn="ctr"/>
            <a:r>
              <a:rPr sz="1300" b="0" i="1">
                <a:solidFill>
                  <a:srgbClr val="0078D4"/>
                </a:solidFill>
              </a:rPr>
              <a:t>Templates available at GET /onboarding/templates — or describe any domain from scratch.</a:t>
            </a:r>
          </a:p>
        </p:txBody>
      </p:sp>
      <p:sp>
        <p:nvSpPr>
          <p:cNvPr id="21" name="Rectangle 20"/>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Knowledge Base CRUD API (Phase 7)</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Full lifecycle management for the RAG vector store — list, add, delete, bulk import, search</a:t>
            </a:r>
          </a:p>
        </p:txBody>
      </p:sp>
      <p:graphicFrame>
        <p:nvGraphicFramePr>
          <p:cNvPr id="5" name="Table 4"/>
          <p:cNvGraphicFramePr>
            <a:graphicFrameLocks noGrp="1"/>
          </p:cNvGraphicFramePr>
          <p:nvPr/>
        </p:nvGraphicFramePr>
        <p:xfrm>
          <a:off x="457200" y="1508760"/>
          <a:ext cx="11247120" cy="2852928"/>
        </p:xfrm>
        <a:graphic>
          <a:graphicData uri="http://schemas.openxmlformats.org/drawingml/2006/table">
            <a:tbl>
              <a:tblPr firstRow="1" bandRow="1">
                <a:tableStyleId>{5C22544A-7EE6-4342-B048-85BDC9FD1C3A}</a:tableStyleId>
              </a:tblPr>
              <a:tblGrid>
                <a:gridCol w="3200400"/>
                <a:gridCol w="1371600"/>
                <a:gridCol w="6675120"/>
              </a:tblGrid>
              <a:tr h="475488">
                <a:tc>
                  <a:txBody>
                    <a:bodyPr/>
                    <a:lstStyle/>
                    <a:p>
                      <a:pPr algn="ctr"/>
                      <a:r>
                        <a:rPr b="1" sz="1300">
                          <a:solidFill>
                            <a:srgbClr val="FFFFFF"/>
                          </a:solidFill>
                        </a:rPr>
                        <a:t>Endpoint</a:t>
                      </a:r>
                    </a:p>
                  </a:txBody>
                  <a:tcPr>
                    <a:solidFill>
                      <a:srgbClr val="0078D4"/>
                    </a:solidFill>
                  </a:tcPr>
                </a:tc>
                <a:tc>
                  <a:txBody>
                    <a:bodyPr/>
                    <a:lstStyle/>
                    <a:p>
                      <a:pPr algn="ctr"/>
                      <a:r>
                        <a:rPr b="1" sz="1300">
                          <a:solidFill>
                            <a:srgbClr val="FFFFFF"/>
                          </a:solidFill>
                        </a:rPr>
                        <a:t>Method</a:t>
                      </a:r>
                    </a:p>
                  </a:txBody>
                  <a:tcPr>
                    <a:solidFill>
                      <a:srgbClr val="0078D4"/>
                    </a:solidFill>
                  </a:tcPr>
                </a:tc>
                <a:tc>
                  <a:txBody>
                    <a:bodyPr/>
                    <a:lstStyle/>
                    <a:p>
                      <a:pPr algn="ctr"/>
                      <a:r>
                        <a:rPr b="1" sz="1300">
                          <a:solidFill>
                            <a:srgbClr val="FFFFFF"/>
                          </a:solidFill>
                        </a:rPr>
                        <a:t>Description</a:t>
                      </a:r>
                    </a:p>
                  </a:txBody>
                  <a:tcPr>
                    <a:solidFill>
                      <a:srgbClr val="0078D4"/>
                    </a:solidFill>
                  </a:tcPr>
                </a:tc>
              </a:tr>
              <a:tr h="475488">
                <a:tc>
                  <a:txBody>
                    <a:bodyPr/>
                    <a:lstStyle/>
                    <a:p>
                      <a:pPr algn="l"/>
                      <a:r>
                        <a:rPr sz="1200">
                          <a:solidFill>
                            <a:srgbClr val="0D1B2A"/>
                          </a:solidFill>
                        </a:rPr>
                        <a:t>GET  /knowledge/entries</a:t>
                      </a:r>
                    </a:p>
                  </a:txBody>
                  <a:tcPr>
                    <a:solidFill>
                      <a:srgbClr val="F0F4F8"/>
                    </a:solidFill>
                  </a:tcPr>
                </a:tc>
                <a:tc>
                  <a:txBody>
                    <a:bodyPr/>
                    <a:lstStyle/>
                    <a:p>
                      <a:pPr algn="l"/>
                      <a:r>
                        <a:rPr sz="1200">
                          <a:solidFill>
                            <a:srgbClr val="0D1B2A"/>
                          </a:solidFill>
                        </a:rPr>
                        <a:t>List</a:t>
                      </a:r>
                    </a:p>
                  </a:txBody>
                  <a:tcPr>
                    <a:solidFill>
                      <a:srgbClr val="F0F4F8"/>
                    </a:solidFill>
                  </a:tcPr>
                </a:tc>
                <a:tc>
                  <a:txBody>
                    <a:bodyPr/>
                    <a:lstStyle/>
                    <a:p>
                      <a:pPr algn="l"/>
                      <a:r>
                        <a:rPr sz="1200">
                          <a:solidFill>
                            <a:srgbClr val="0D1B2A"/>
                          </a:solidFill>
                        </a:rPr>
                        <a:t>Paginated entries from ChromaDB with metadata</a:t>
                      </a:r>
                    </a:p>
                  </a:txBody>
                  <a:tcPr>
                    <a:solidFill>
                      <a:srgbClr val="F0F4F8"/>
                    </a:solidFill>
                  </a:tcPr>
                </a:tc>
              </a:tr>
              <a:tr h="475488">
                <a:tc>
                  <a:txBody>
                    <a:bodyPr/>
                    <a:lstStyle/>
                    <a:p>
                      <a:pPr algn="l"/>
                      <a:r>
                        <a:rPr sz="1200">
                          <a:solidFill>
                            <a:srgbClr val="0D1B2A"/>
                          </a:solidFill>
                        </a:rPr>
                        <a:t>POST /knowledge/add</a:t>
                      </a:r>
                    </a:p>
                  </a:txBody>
                  <a:tcPr>
                    <a:solidFill>
                      <a:srgbClr val="FFFFFF"/>
                    </a:solidFill>
                  </a:tcPr>
                </a:tc>
                <a:tc>
                  <a:txBody>
                    <a:bodyPr/>
                    <a:lstStyle/>
                    <a:p>
                      <a:pPr algn="l"/>
                      <a:r>
                        <a:rPr sz="1200">
                          <a:solidFill>
                            <a:srgbClr val="0D1B2A"/>
                          </a:solidFill>
                        </a:rPr>
                        <a:t>Add</a:t>
                      </a:r>
                    </a:p>
                  </a:txBody>
                  <a:tcPr>
                    <a:solidFill>
                      <a:srgbClr val="FFFFFF"/>
                    </a:solidFill>
                  </a:tcPr>
                </a:tc>
                <a:tc>
                  <a:txBody>
                    <a:bodyPr/>
                    <a:lstStyle/>
                    <a:p>
                      <a:pPr algn="l"/>
                      <a:r>
                        <a:rPr sz="1200">
                          <a:solidFill>
                            <a:srgbClr val="0D1B2A"/>
                          </a:solidFill>
                        </a:rPr>
                        <a:t>Single entry with text + arbitrary metadata dict</a:t>
                      </a:r>
                    </a:p>
                  </a:txBody>
                  <a:tcPr>
                    <a:solidFill>
                      <a:srgbClr val="FFFFFF"/>
                    </a:solidFill>
                  </a:tcPr>
                </a:tc>
              </a:tr>
              <a:tr h="475488">
                <a:tc>
                  <a:txBody>
                    <a:bodyPr/>
                    <a:lstStyle/>
                    <a:p>
                      <a:pPr algn="l"/>
                      <a:r>
                        <a:rPr sz="1200">
                          <a:solidFill>
                            <a:srgbClr val="0D1B2A"/>
                          </a:solidFill>
                        </a:rPr>
                        <a:t>DELETE /knowledge/entry/{id}</a:t>
                      </a:r>
                    </a:p>
                  </a:txBody>
                  <a:tcPr>
                    <a:solidFill>
                      <a:srgbClr val="F0F4F8"/>
                    </a:solidFill>
                  </a:tcPr>
                </a:tc>
                <a:tc>
                  <a:txBody>
                    <a:bodyPr/>
                    <a:lstStyle/>
                    <a:p>
                      <a:pPr algn="l"/>
                      <a:r>
                        <a:rPr sz="1200">
                          <a:solidFill>
                            <a:srgbClr val="0D1B2A"/>
                          </a:solidFill>
                        </a:rPr>
                        <a:t>Delete</a:t>
                      </a:r>
                    </a:p>
                  </a:txBody>
                  <a:tcPr>
                    <a:solidFill>
                      <a:srgbClr val="F0F4F8"/>
                    </a:solidFill>
                  </a:tcPr>
                </a:tc>
                <a:tc>
                  <a:txBody>
                    <a:bodyPr/>
                    <a:lstStyle/>
                    <a:p>
                      <a:pPr algn="l"/>
                      <a:r>
                        <a:rPr sz="1200">
                          <a:solidFill>
                            <a:srgbClr val="0D1B2A"/>
                          </a:solidFill>
                        </a:rPr>
                        <a:t>Remove by entry UUID — audit-logged</a:t>
                      </a:r>
                    </a:p>
                  </a:txBody>
                  <a:tcPr>
                    <a:solidFill>
                      <a:srgbClr val="F0F4F8"/>
                    </a:solidFill>
                  </a:tcPr>
                </a:tc>
              </a:tr>
              <a:tr h="475488">
                <a:tc>
                  <a:txBody>
                    <a:bodyPr/>
                    <a:lstStyle/>
                    <a:p>
                      <a:pPr algn="l"/>
                      <a:r>
                        <a:rPr sz="1200">
                          <a:solidFill>
                            <a:srgbClr val="0D1B2A"/>
                          </a:solidFill>
                        </a:rPr>
                        <a:t>POST /knowledge/import</a:t>
                      </a:r>
                    </a:p>
                  </a:txBody>
                  <a:tcPr>
                    <a:solidFill>
                      <a:srgbClr val="FFFFFF"/>
                    </a:solidFill>
                  </a:tcPr>
                </a:tc>
                <a:tc>
                  <a:txBody>
                    <a:bodyPr/>
                    <a:lstStyle/>
                    <a:p>
                      <a:pPr algn="l"/>
                      <a:r>
                        <a:rPr sz="1200">
                          <a:solidFill>
                            <a:srgbClr val="0D1B2A"/>
                          </a:solidFill>
                        </a:rPr>
                        <a:t>Bulk import</a:t>
                      </a:r>
                    </a:p>
                  </a:txBody>
                  <a:tcPr>
                    <a:solidFill>
                      <a:srgbClr val="FFFFFF"/>
                    </a:solidFill>
                  </a:tcPr>
                </a:tc>
                <a:tc>
                  <a:txBody>
                    <a:bodyPr/>
                    <a:lstStyle/>
                    <a:p>
                      <a:pPr algn="l"/>
                      <a:r>
                        <a:rPr sz="1200">
                          <a:solidFill>
                            <a:srgbClr val="0D1B2A"/>
                          </a:solidFill>
                        </a:rPr>
                        <a:t>JSON array of entries — batch ingest from external knowledge base</a:t>
                      </a:r>
                    </a:p>
                  </a:txBody>
                  <a:tcPr>
                    <a:solidFill>
                      <a:srgbClr val="FFFFFF"/>
                    </a:solidFill>
                  </a:tcPr>
                </a:tc>
              </a:tr>
              <a:tr h="475488">
                <a:tc>
                  <a:txBody>
                    <a:bodyPr/>
                    <a:lstStyle/>
                    <a:p>
                      <a:pPr algn="l"/>
                      <a:r>
                        <a:rPr sz="1200">
                          <a:solidFill>
                            <a:srgbClr val="0D1B2A"/>
                          </a:solidFill>
                        </a:rPr>
                        <a:t>POST /knowledge/search</a:t>
                      </a:r>
                    </a:p>
                  </a:txBody>
                  <a:tcPr>
                    <a:solidFill>
                      <a:srgbClr val="F0F4F8"/>
                    </a:solidFill>
                  </a:tcPr>
                </a:tc>
                <a:tc>
                  <a:txBody>
                    <a:bodyPr/>
                    <a:lstStyle/>
                    <a:p>
                      <a:pPr algn="l"/>
                      <a:r>
                        <a:rPr sz="1200">
                          <a:solidFill>
                            <a:srgbClr val="0D1B2A"/>
                          </a:solidFill>
                        </a:rPr>
                        <a:t>Semantic</a:t>
                      </a:r>
                    </a:p>
                  </a:txBody>
                  <a:tcPr>
                    <a:solidFill>
                      <a:srgbClr val="F0F4F8"/>
                    </a:solidFill>
                  </a:tcPr>
                </a:tc>
                <a:tc>
                  <a:txBody>
                    <a:bodyPr/>
                    <a:lstStyle/>
                    <a:p>
                      <a:pPr algn="l"/>
                      <a:r>
                        <a:rPr sz="1200">
                          <a:solidFill>
                            <a:srgbClr val="0D1B2A"/>
                          </a:solidFill>
                        </a:rPr>
                        <a:t>query + k → top-k cosine-similarity results</a:t>
                      </a:r>
                    </a:p>
                  </a:txBody>
                  <a:tcPr>
                    <a:solidFill>
                      <a:srgbClr val="F0F4F8"/>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Slack Two-Way Approval Loop (Phase 8)</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Proposals delivered as Block Kit messages — approve or reject from Slack without leaving the app</a:t>
            </a:r>
          </a:p>
        </p:txBody>
      </p:sp>
      <p:sp>
        <p:nvSpPr>
          <p:cNvPr id="5" name="Rectangle 4"/>
          <p:cNvSpPr/>
          <p:nvPr/>
        </p:nvSpPr>
        <p:spPr>
          <a:xfrm>
            <a:off x="365760" y="160020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3017520" cy="320040"/>
          </a:xfrm>
          <a:prstGeom prst="rect">
            <a:avLst/>
          </a:prstGeom>
          <a:noFill/>
        </p:spPr>
        <p:txBody>
          <a:bodyPr wrap="square">
            <a:spAutoFit/>
          </a:bodyPr>
          <a:lstStyle/>
          <a:p>
            <a:pPr algn="l"/>
            <a:r>
              <a:rPr sz="1300" b="1" i="0">
                <a:solidFill>
                  <a:srgbClr val="0078D4"/>
                </a:solidFill>
              </a:rPr>
              <a:t>Agent proposes</a:t>
            </a:r>
          </a:p>
        </p:txBody>
      </p:sp>
      <p:sp>
        <p:nvSpPr>
          <p:cNvPr id="7" name="TextBox 6"/>
          <p:cNvSpPr txBox="1"/>
          <p:nvPr/>
        </p:nvSpPr>
        <p:spPr>
          <a:xfrm>
            <a:off x="594360" y="1901952"/>
            <a:ext cx="10972800" cy="320040"/>
          </a:xfrm>
          <a:prstGeom prst="rect">
            <a:avLst/>
          </a:prstGeom>
          <a:noFill/>
        </p:spPr>
        <p:txBody>
          <a:bodyPr wrap="square">
            <a:spAutoFit/>
          </a:bodyPr>
          <a:lstStyle/>
          <a:p>
            <a:pPr algn="l"/>
            <a:r>
              <a:rPr sz="1200" b="0" i="0">
                <a:solidFill>
                  <a:srgbClr val="0D1B2A"/>
                </a:solidFill>
              </a:rPr>
              <a:t>SAGE generates proposal → POST /slack/send-proposal</a:t>
            </a:r>
          </a:p>
        </p:txBody>
      </p:sp>
      <p:sp>
        <p:nvSpPr>
          <p:cNvPr id="8" name="Rectangle 7"/>
          <p:cNvSpPr/>
          <p:nvPr/>
        </p:nvSpPr>
        <p:spPr>
          <a:xfrm>
            <a:off x="365760" y="228600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86000"/>
            <a:ext cx="3017520" cy="320040"/>
          </a:xfrm>
          <a:prstGeom prst="rect">
            <a:avLst/>
          </a:prstGeom>
          <a:noFill/>
        </p:spPr>
        <p:txBody>
          <a:bodyPr wrap="square">
            <a:spAutoFit/>
          </a:bodyPr>
          <a:lstStyle/>
          <a:p>
            <a:pPr algn="l"/>
            <a:r>
              <a:rPr sz="1300" b="1" i="0">
                <a:solidFill>
                  <a:srgbClr val="0078D4"/>
                </a:solidFill>
              </a:rPr>
              <a:t>Block Kit message</a:t>
            </a:r>
          </a:p>
        </p:txBody>
      </p:sp>
      <p:sp>
        <p:nvSpPr>
          <p:cNvPr id="10" name="TextBox 9"/>
          <p:cNvSpPr txBox="1"/>
          <p:nvPr/>
        </p:nvSpPr>
        <p:spPr>
          <a:xfrm>
            <a:off x="594360" y="2587752"/>
            <a:ext cx="10972800" cy="320040"/>
          </a:xfrm>
          <a:prstGeom prst="rect">
            <a:avLst/>
          </a:prstGeom>
          <a:noFill/>
        </p:spPr>
        <p:txBody>
          <a:bodyPr wrap="square">
            <a:spAutoFit/>
          </a:bodyPr>
          <a:lstStyle/>
          <a:p>
            <a:pPr algn="l"/>
            <a:r>
              <a:rPr sz="1200" b="0" i="0">
                <a:solidFill>
                  <a:srgbClr val="0D1B2A"/>
                </a:solidFill>
              </a:rPr>
              <a:t>Approve + Reject buttons sent to #sage-approvals channel</a:t>
            </a:r>
          </a:p>
        </p:txBody>
      </p:sp>
      <p:sp>
        <p:nvSpPr>
          <p:cNvPr id="11" name="Rectangle 10"/>
          <p:cNvSpPr/>
          <p:nvPr/>
        </p:nvSpPr>
        <p:spPr>
          <a:xfrm>
            <a:off x="365760" y="297180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971800"/>
            <a:ext cx="3017520" cy="320040"/>
          </a:xfrm>
          <a:prstGeom prst="rect">
            <a:avLst/>
          </a:prstGeom>
          <a:noFill/>
        </p:spPr>
        <p:txBody>
          <a:bodyPr wrap="square">
            <a:spAutoFit/>
          </a:bodyPr>
          <a:lstStyle/>
          <a:p>
            <a:pPr algn="l"/>
            <a:r>
              <a:rPr sz="1300" b="1" i="0">
                <a:solidFill>
                  <a:srgbClr val="0078D4"/>
                </a:solidFill>
              </a:rPr>
              <a:t>Engineer clicks</a:t>
            </a:r>
          </a:p>
        </p:txBody>
      </p:sp>
      <p:sp>
        <p:nvSpPr>
          <p:cNvPr id="13" name="TextBox 12"/>
          <p:cNvSpPr txBox="1"/>
          <p:nvPr/>
        </p:nvSpPr>
        <p:spPr>
          <a:xfrm>
            <a:off x="594360" y="3273552"/>
            <a:ext cx="10972800" cy="320040"/>
          </a:xfrm>
          <a:prstGeom prst="rect">
            <a:avLst/>
          </a:prstGeom>
          <a:noFill/>
        </p:spPr>
        <p:txBody>
          <a:bodyPr wrap="square">
            <a:spAutoFit/>
          </a:bodyPr>
          <a:lstStyle/>
          <a:p>
            <a:pPr algn="l"/>
            <a:r>
              <a:rPr sz="1200" b="0" i="0">
                <a:solidFill>
                  <a:srgbClr val="0D1B2A"/>
                </a:solidFill>
              </a:rPr>
              <a:t>Slack POSTs interactive payload to POST /webhook/slack</a:t>
            </a:r>
          </a:p>
        </p:txBody>
      </p:sp>
      <p:sp>
        <p:nvSpPr>
          <p:cNvPr id="14" name="Rectangle 13"/>
          <p:cNvSpPr/>
          <p:nvPr/>
        </p:nvSpPr>
        <p:spPr>
          <a:xfrm>
            <a:off x="365760" y="365760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657600"/>
            <a:ext cx="3017520" cy="320040"/>
          </a:xfrm>
          <a:prstGeom prst="rect">
            <a:avLst/>
          </a:prstGeom>
          <a:noFill/>
        </p:spPr>
        <p:txBody>
          <a:bodyPr wrap="square">
            <a:spAutoFit/>
          </a:bodyPr>
          <a:lstStyle/>
          <a:p>
            <a:pPr algn="l"/>
            <a:r>
              <a:rPr sz="1300" b="1" i="0">
                <a:solidFill>
                  <a:srgbClr val="0078D4"/>
                </a:solidFill>
              </a:rPr>
              <a:t>HMAC verification</a:t>
            </a:r>
          </a:p>
        </p:txBody>
      </p:sp>
      <p:sp>
        <p:nvSpPr>
          <p:cNvPr id="16" name="TextBox 15"/>
          <p:cNvSpPr txBox="1"/>
          <p:nvPr/>
        </p:nvSpPr>
        <p:spPr>
          <a:xfrm>
            <a:off x="594360" y="3959352"/>
            <a:ext cx="10972800" cy="320040"/>
          </a:xfrm>
          <a:prstGeom prst="rect">
            <a:avLst/>
          </a:prstGeom>
          <a:noFill/>
        </p:spPr>
        <p:txBody>
          <a:bodyPr wrap="square">
            <a:spAutoFit/>
          </a:bodyPr>
          <a:lstStyle/>
          <a:p>
            <a:pPr algn="l"/>
            <a:r>
              <a:rPr sz="1200" b="0" i="0">
                <a:solidFill>
                  <a:srgbClr val="0D1B2A"/>
                </a:solidFill>
              </a:rPr>
              <a:t>X-Slack-Signature checked — replays rejected, 5-min window enforced</a:t>
            </a:r>
          </a:p>
        </p:txBody>
      </p:sp>
      <p:sp>
        <p:nvSpPr>
          <p:cNvPr id="17" name="Rectangle 16"/>
          <p:cNvSpPr/>
          <p:nvPr/>
        </p:nvSpPr>
        <p:spPr>
          <a:xfrm>
            <a:off x="365760" y="434340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343400"/>
            <a:ext cx="3017520" cy="320040"/>
          </a:xfrm>
          <a:prstGeom prst="rect">
            <a:avLst/>
          </a:prstGeom>
          <a:noFill/>
        </p:spPr>
        <p:txBody>
          <a:bodyPr wrap="square">
            <a:spAutoFit/>
          </a:bodyPr>
          <a:lstStyle/>
          <a:p>
            <a:pPr algn="l"/>
            <a:r>
              <a:rPr sz="1300" b="1" i="0">
                <a:solidFill>
                  <a:srgbClr val="0078D4"/>
                </a:solidFill>
              </a:rPr>
              <a:t>Audit log updated</a:t>
            </a:r>
          </a:p>
        </p:txBody>
      </p:sp>
      <p:sp>
        <p:nvSpPr>
          <p:cNvPr id="19" name="TextBox 18"/>
          <p:cNvSpPr txBox="1"/>
          <p:nvPr/>
        </p:nvSpPr>
        <p:spPr>
          <a:xfrm>
            <a:off x="594360" y="4645152"/>
            <a:ext cx="10972800" cy="320040"/>
          </a:xfrm>
          <a:prstGeom prst="rect">
            <a:avLst/>
          </a:prstGeom>
          <a:noFill/>
        </p:spPr>
        <p:txBody>
          <a:bodyPr wrap="square">
            <a:spAutoFit/>
          </a:bodyPr>
          <a:lstStyle/>
          <a:p>
            <a:pPr algn="l"/>
            <a:r>
              <a:rPr sz="1200" b="0" i="0">
                <a:solidFill>
                  <a:srgbClr val="0D1B2A"/>
                </a:solidFill>
              </a:rPr>
              <a:t>Decision + Slack user ID written to SQLite audit trail</a:t>
            </a:r>
          </a:p>
        </p:txBody>
      </p:sp>
      <p:sp>
        <p:nvSpPr>
          <p:cNvPr id="20" name="Rectangle 19"/>
          <p:cNvSpPr/>
          <p:nvPr/>
        </p:nvSpPr>
        <p:spPr>
          <a:xfrm>
            <a:off x="365760" y="502920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029200"/>
            <a:ext cx="3017520" cy="320040"/>
          </a:xfrm>
          <a:prstGeom prst="rect">
            <a:avLst/>
          </a:prstGeom>
          <a:noFill/>
        </p:spPr>
        <p:txBody>
          <a:bodyPr wrap="square">
            <a:spAutoFit/>
          </a:bodyPr>
          <a:lstStyle/>
          <a:p>
            <a:pPr algn="l"/>
            <a:r>
              <a:rPr sz="1300" b="1" i="0">
                <a:solidFill>
                  <a:srgbClr val="0078D4"/>
                </a:solidFill>
              </a:rPr>
              <a:t>Vector store updated</a:t>
            </a:r>
          </a:p>
        </p:txBody>
      </p:sp>
      <p:sp>
        <p:nvSpPr>
          <p:cNvPr id="22" name="TextBox 21"/>
          <p:cNvSpPr txBox="1"/>
          <p:nvPr/>
        </p:nvSpPr>
        <p:spPr>
          <a:xfrm>
            <a:off x="594360" y="5330952"/>
            <a:ext cx="10972800" cy="320040"/>
          </a:xfrm>
          <a:prstGeom prst="rect">
            <a:avLst/>
          </a:prstGeom>
          <a:noFill/>
        </p:spPr>
        <p:txBody>
          <a:bodyPr wrap="square">
            <a:spAutoFit/>
          </a:bodyPr>
          <a:lstStyle/>
          <a:p>
            <a:pPr algn="l"/>
            <a:r>
              <a:rPr sz="1200" b="0" i="0">
                <a:solidFill>
                  <a:srgbClr val="0D1B2A"/>
                </a:solidFill>
              </a:rPr>
              <a:t>Rejection reason ingested for Phase 5 COMPOUND — system learns</a:t>
            </a:r>
          </a:p>
        </p:txBody>
      </p:sp>
      <p:sp>
        <p:nvSpPr>
          <p:cNvPr id="23" name="Rectangle 22"/>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Eval &amp; Benchmarking Framework (Phase 9)</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YAML-defined test cases — score agent quality, track regressions over time</a:t>
            </a:r>
          </a:p>
        </p:txBody>
      </p:sp>
      <p:sp>
        <p:nvSpPr>
          <p:cNvPr id="5" name="Rectangle 4"/>
          <p:cNvSpPr/>
          <p:nvPr/>
        </p:nvSpPr>
        <p:spPr>
          <a:xfrm>
            <a:off x="365760" y="1600200"/>
            <a:ext cx="5394960" cy="43891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029200" cy="457200"/>
          </a:xfrm>
          <a:prstGeom prst="rect">
            <a:avLst/>
          </a:prstGeom>
          <a:noFill/>
        </p:spPr>
        <p:txBody>
          <a:bodyPr wrap="square">
            <a:spAutoFit/>
          </a:bodyPr>
          <a:lstStyle/>
          <a:p>
            <a:pPr algn="l"/>
            <a:r>
              <a:rPr sz="1700" b="1" i="0">
                <a:solidFill>
                  <a:srgbClr val="FFFFFF"/>
                </a:solidFill>
              </a:rPr>
              <a:t>Eval YAML Format</a:t>
            </a:r>
          </a:p>
        </p:txBody>
      </p:sp>
      <p:sp>
        <p:nvSpPr>
          <p:cNvPr id="7" name="TextBox 6"/>
          <p:cNvSpPr txBox="1"/>
          <p:nvPr/>
        </p:nvSpPr>
        <p:spPr>
          <a:xfrm>
            <a:off x="548640" y="2194560"/>
            <a:ext cx="5029200" cy="365760"/>
          </a:xfrm>
          <a:prstGeom prst="rect">
            <a:avLst/>
          </a:prstGeom>
          <a:noFill/>
        </p:spPr>
        <p:txBody>
          <a:bodyPr wrap="square">
            <a:spAutoFit/>
          </a:bodyPr>
          <a:lstStyle/>
          <a:p>
            <a:pPr algn="l"/>
            <a:r>
              <a:rPr sz="1200" b="0" i="1">
                <a:solidFill>
                  <a:srgbClr val="00B4D8"/>
                </a:solidFill>
              </a:rPr>
              <a:t>Define test cases in solutions/&lt;name&gt;/evals/&lt;suite&gt;.yaml</a:t>
            </a:r>
          </a:p>
        </p:txBody>
      </p:sp>
      <p:sp>
        <p:nvSpPr>
          <p:cNvPr id="8" name="TextBox 7"/>
          <p:cNvSpPr txBox="1"/>
          <p:nvPr/>
        </p:nvSpPr>
        <p:spPr>
          <a:xfrm>
            <a:off x="640080" y="2651760"/>
            <a:ext cx="4846320" cy="347472"/>
          </a:xfrm>
          <a:prstGeom prst="rect">
            <a:avLst/>
          </a:prstGeom>
          <a:noFill/>
        </p:spPr>
        <p:txBody>
          <a:bodyPr wrap="square">
            <a:spAutoFit/>
          </a:bodyPr>
          <a:lstStyle/>
          <a:p>
            <a:pPr algn="l"/>
            <a:r>
              <a:rPr sz="1200" b="0" i="0">
                <a:solidFill>
                  <a:srgbClr val="FFFFFF"/>
                </a:solidFill>
              </a:rPr>
              <a:t>prompt: the input to send to the agent</a:t>
            </a:r>
          </a:p>
        </p:txBody>
      </p:sp>
      <p:sp>
        <p:nvSpPr>
          <p:cNvPr id="9" name="TextBox 8"/>
          <p:cNvSpPr txBox="1"/>
          <p:nvPr/>
        </p:nvSpPr>
        <p:spPr>
          <a:xfrm>
            <a:off x="640080" y="3090672"/>
            <a:ext cx="4846320" cy="347472"/>
          </a:xfrm>
          <a:prstGeom prst="rect">
            <a:avLst/>
          </a:prstGeom>
          <a:noFill/>
        </p:spPr>
        <p:txBody>
          <a:bodyPr wrap="square">
            <a:spAutoFit/>
          </a:bodyPr>
          <a:lstStyle/>
          <a:p>
            <a:pPr algn="l"/>
            <a:r>
              <a:rPr sz="1200" b="0" i="0">
                <a:solidFill>
                  <a:srgbClr val="FFFFFF"/>
                </a:solidFill>
              </a:rPr>
              <a:t>expected_keywords: list of terms that must appear</a:t>
            </a:r>
          </a:p>
        </p:txBody>
      </p:sp>
      <p:sp>
        <p:nvSpPr>
          <p:cNvPr id="10" name="TextBox 9"/>
          <p:cNvSpPr txBox="1"/>
          <p:nvPr/>
        </p:nvSpPr>
        <p:spPr>
          <a:xfrm>
            <a:off x="640080" y="3529584"/>
            <a:ext cx="4846320" cy="347472"/>
          </a:xfrm>
          <a:prstGeom prst="rect">
            <a:avLst/>
          </a:prstGeom>
          <a:noFill/>
        </p:spPr>
        <p:txBody>
          <a:bodyPr wrap="square">
            <a:spAutoFit/>
          </a:bodyPr>
          <a:lstStyle/>
          <a:p>
            <a:pPr algn="l"/>
            <a:r>
              <a:rPr sz="1200" b="0" i="0">
                <a:solidFill>
                  <a:srgbClr val="FFFFFF"/>
                </a:solidFill>
              </a:rPr>
              <a:t>max_response_length: optional brevity constraint</a:t>
            </a:r>
          </a:p>
        </p:txBody>
      </p:sp>
      <p:sp>
        <p:nvSpPr>
          <p:cNvPr id="11" name="TextBox 10"/>
          <p:cNvSpPr txBox="1"/>
          <p:nvPr/>
        </p:nvSpPr>
        <p:spPr>
          <a:xfrm>
            <a:off x="640080" y="3968496"/>
            <a:ext cx="4846320" cy="347472"/>
          </a:xfrm>
          <a:prstGeom prst="rect">
            <a:avLst/>
          </a:prstGeom>
          <a:noFill/>
        </p:spPr>
        <p:txBody>
          <a:bodyPr wrap="square">
            <a:spAutoFit/>
          </a:bodyPr>
          <a:lstStyle/>
          <a:p>
            <a:pPr algn="l"/>
            <a:r>
              <a:rPr sz="1200" b="0" i="0">
                <a:solidFill>
                  <a:srgbClr val="FFFFFF"/>
                </a:solidFill>
              </a:rPr>
              <a:t>Scoring: 70 pts keyword coverage + 30 pts length</a:t>
            </a:r>
          </a:p>
        </p:txBody>
      </p:sp>
      <p:sp>
        <p:nvSpPr>
          <p:cNvPr id="12" name="Rectangle 11"/>
          <p:cNvSpPr/>
          <p:nvPr/>
        </p:nvSpPr>
        <p:spPr>
          <a:xfrm>
            <a:off x="6309360" y="1600200"/>
            <a:ext cx="5394960" cy="43891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91640"/>
            <a:ext cx="5029200" cy="457200"/>
          </a:xfrm>
          <a:prstGeom prst="rect">
            <a:avLst/>
          </a:prstGeom>
          <a:noFill/>
        </p:spPr>
        <p:txBody>
          <a:bodyPr wrap="square">
            <a:spAutoFit/>
          </a:bodyPr>
          <a:lstStyle/>
          <a:p>
            <a:pPr algn="l"/>
            <a:r>
              <a:rPr sz="1700" b="1" i="0">
                <a:solidFill>
                  <a:srgbClr val="FFFFFF"/>
                </a:solidFill>
              </a:rPr>
              <a:t>API + Persistence</a:t>
            </a:r>
          </a:p>
        </p:txBody>
      </p:sp>
      <p:sp>
        <p:nvSpPr>
          <p:cNvPr id="14" name="TextBox 13"/>
          <p:cNvSpPr txBox="1"/>
          <p:nvPr/>
        </p:nvSpPr>
        <p:spPr>
          <a:xfrm>
            <a:off x="6492240" y="2194560"/>
            <a:ext cx="5029200" cy="365760"/>
          </a:xfrm>
          <a:prstGeom prst="rect">
            <a:avLst/>
          </a:prstGeom>
          <a:noFill/>
        </p:spPr>
        <p:txBody>
          <a:bodyPr wrap="square">
            <a:spAutoFit/>
          </a:bodyPr>
          <a:lstStyle/>
          <a:p>
            <a:pPr algn="l"/>
            <a:r>
              <a:rPr sz="1200" b="0" i="1">
                <a:solidFill>
                  <a:srgbClr val="00B4D8"/>
                </a:solidFill>
              </a:rPr>
              <a:t>Run suites on demand, store history in SQLite</a:t>
            </a:r>
          </a:p>
        </p:txBody>
      </p:sp>
      <p:sp>
        <p:nvSpPr>
          <p:cNvPr id="15" name="TextBox 14"/>
          <p:cNvSpPr txBox="1"/>
          <p:nvPr/>
        </p:nvSpPr>
        <p:spPr>
          <a:xfrm>
            <a:off x="6583680" y="2651760"/>
            <a:ext cx="4846320" cy="347472"/>
          </a:xfrm>
          <a:prstGeom prst="rect">
            <a:avLst/>
          </a:prstGeom>
          <a:noFill/>
        </p:spPr>
        <p:txBody>
          <a:bodyPr wrap="square">
            <a:spAutoFit/>
          </a:bodyPr>
          <a:lstStyle/>
          <a:p>
            <a:pPr algn="l"/>
            <a:r>
              <a:rPr sz="1200" b="0" i="0">
                <a:solidFill>
                  <a:srgbClr val="FFFFFF"/>
                </a:solidFill>
              </a:rPr>
              <a:t>GET  /eval/suites — list available suites</a:t>
            </a:r>
          </a:p>
        </p:txBody>
      </p:sp>
      <p:sp>
        <p:nvSpPr>
          <p:cNvPr id="16" name="TextBox 15"/>
          <p:cNvSpPr txBox="1"/>
          <p:nvPr/>
        </p:nvSpPr>
        <p:spPr>
          <a:xfrm>
            <a:off x="6583680" y="3090672"/>
            <a:ext cx="4846320" cy="347472"/>
          </a:xfrm>
          <a:prstGeom prst="rect">
            <a:avLst/>
          </a:prstGeom>
          <a:noFill/>
        </p:spPr>
        <p:txBody>
          <a:bodyPr wrap="square">
            <a:spAutoFit/>
          </a:bodyPr>
          <a:lstStyle/>
          <a:p>
            <a:pPr algn="l"/>
            <a:r>
              <a:rPr sz="1200" b="0" i="0">
                <a:solidFill>
                  <a:srgbClr val="FFFFFF"/>
                </a:solidFill>
              </a:rPr>
              <a:t>POST /eval/run   — run one or all suites</a:t>
            </a:r>
          </a:p>
        </p:txBody>
      </p:sp>
      <p:sp>
        <p:nvSpPr>
          <p:cNvPr id="17" name="TextBox 16"/>
          <p:cNvSpPr txBox="1"/>
          <p:nvPr/>
        </p:nvSpPr>
        <p:spPr>
          <a:xfrm>
            <a:off x="6583680" y="3529584"/>
            <a:ext cx="4846320" cy="347472"/>
          </a:xfrm>
          <a:prstGeom prst="rect">
            <a:avLst/>
          </a:prstGeom>
          <a:noFill/>
        </p:spPr>
        <p:txBody>
          <a:bodyPr wrap="square">
            <a:spAutoFit/>
          </a:bodyPr>
          <a:lstStyle/>
          <a:p>
            <a:pPr algn="l"/>
            <a:r>
              <a:rPr sz="1200" b="0" i="0">
                <a:solidFill>
                  <a:srgbClr val="FFFFFF"/>
                </a:solidFill>
              </a:rPr>
              <a:t>GET  /eval/history — trend data per suite</a:t>
            </a:r>
          </a:p>
        </p:txBody>
      </p:sp>
      <p:sp>
        <p:nvSpPr>
          <p:cNvPr id="18" name="TextBox 17"/>
          <p:cNvSpPr txBox="1"/>
          <p:nvPr/>
        </p:nvSpPr>
        <p:spPr>
          <a:xfrm>
            <a:off x="6583680" y="3968496"/>
            <a:ext cx="4846320" cy="347472"/>
          </a:xfrm>
          <a:prstGeom prst="rect">
            <a:avLst/>
          </a:prstGeom>
          <a:noFill/>
        </p:spPr>
        <p:txBody>
          <a:bodyPr wrap="square">
            <a:spAutoFit/>
          </a:bodyPr>
          <a:lstStyle/>
          <a:p>
            <a:pPr algn="l"/>
            <a:r>
              <a:rPr sz="1200" b="0" i="0">
                <a:solidFill>
                  <a:srgbClr val="FFFFFF"/>
                </a:solidFill>
              </a:rPr>
              <a:t>Scores 0–100; track regressions across LLM upgrades</a:t>
            </a:r>
          </a:p>
        </p:txBody>
      </p:sp>
      <p:sp>
        <p:nvSpPr>
          <p:cNvPr id="19" name="Rectangle 18"/>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Multi-Tenant Isolation (Phase 10)</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Per-team knowledge namespacing via a single request header</a:t>
            </a:r>
          </a:p>
        </p:txBody>
      </p:sp>
      <p:sp>
        <p:nvSpPr>
          <p:cNvPr id="5" name="Rectangle 4"/>
          <p:cNvSpPr/>
          <p:nvPr/>
        </p:nvSpPr>
        <p:spPr>
          <a:xfrm>
            <a:off x="365760" y="1600200"/>
            <a:ext cx="3200400" cy="594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673352"/>
            <a:ext cx="3108960" cy="457200"/>
          </a:xfrm>
          <a:prstGeom prst="rect">
            <a:avLst/>
          </a:prstGeom>
          <a:noFill/>
        </p:spPr>
        <p:txBody>
          <a:bodyPr wrap="square">
            <a:spAutoFit/>
          </a:bodyPr>
          <a:lstStyle/>
          <a:p>
            <a:pPr algn="ctr"/>
            <a:r>
              <a:rPr sz="1200" b="1" i="0">
                <a:solidFill>
                  <a:srgbClr val="FFFFFF"/>
                </a:solidFill>
              </a:rPr>
              <a:t>X-SAGE-Tenant header</a:t>
            </a:r>
          </a:p>
        </p:txBody>
      </p:sp>
      <p:sp>
        <p:nvSpPr>
          <p:cNvPr id="7" name="TextBox 6"/>
          <p:cNvSpPr txBox="1"/>
          <p:nvPr/>
        </p:nvSpPr>
        <p:spPr>
          <a:xfrm>
            <a:off x="3749039" y="1691640"/>
            <a:ext cx="8046720" cy="457200"/>
          </a:xfrm>
          <a:prstGeom prst="rect">
            <a:avLst/>
          </a:prstGeom>
          <a:noFill/>
        </p:spPr>
        <p:txBody>
          <a:bodyPr wrap="square">
            <a:spAutoFit/>
          </a:bodyPr>
          <a:lstStyle/>
          <a:p>
            <a:pPr algn="l"/>
            <a:r>
              <a:rPr sz="1300" b="0" i="0">
                <a:solidFill>
                  <a:srgbClr val="0D1B2A"/>
                </a:solidFill>
              </a:rPr>
              <a:t>Add to any request: X-SAGE-Tenant: firmware_team — zero auth change needed</a:t>
            </a:r>
          </a:p>
        </p:txBody>
      </p:sp>
      <p:sp>
        <p:nvSpPr>
          <p:cNvPr id="8" name="Rectangle 7"/>
          <p:cNvSpPr/>
          <p:nvPr/>
        </p:nvSpPr>
        <p:spPr>
          <a:xfrm>
            <a:off x="365760" y="2350008"/>
            <a:ext cx="3200400" cy="594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423160"/>
            <a:ext cx="3108960" cy="457200"/>
          </a:xfrm>
          <a:prstGeom prst="rect">
            <a:avLst/>
          </a:prstGeom>
          <a:noFill/>
        </p:spPr>
        <p:txBody>
          <a:bodyPr wrap="square">
            <a:spAutoFit/>
          </a:bodyPr>
          <a:lstStyle/>
          <a:p>
            <a:pPr algn="ctr"/>
            <a:r>
              <a:rPr sz="1200" b="1" i="0">
                <a:solidFill>
                  <a:srgbClr val="FFFFFF"/>
                </a:solidFill>
              </a:rPr>
              <a:t>TenantMiddleware</a:t>
            </a:r>
          </a:p>
        </p:txBody>
      </p:sp>
      <p:sp>
        <p:nvSpPr>
          <p:cNvPr id="10" name="TextBox 9"/>
          <p:cNvSpPr txBox="1"/>
          <p:nvPr/>
        </p:nvSpPr>
        <p:spPr>
          <a:xfrm>
            <a:off x="3749039" y="2441448"/>
            <a:ext cx="8046720" cy="457200"/>
          </a:xfrm>
          <a:prstGeom prst="rect">
            <a:avLst/>
          </a:prstGeom>
          <a:noFill/>
        </p:spPr>
        <p:txBody>
          <a:bodyPr wrap="square">
            <a:spAutoFit/>
          </a:bodyPr>
          <a:lstStyle/>
          <a:p>
            <a:pPr algn="l"/>
            <a:r>
              <a:rPr sz="1300" b="0" i="0">
                <a:solidFill>
                  <a:srgbClr val="0D1B2A"/>
                </a:solidFill>
              </a:rPr>
              <a:t>BaseHTTPMiddleware extracts header → sets ContextVar before request reaches agent</a:t>
            </a:r>
          </a:p>
        </p:txBody>
      </p:sp>
      <p:sp>
        <p:nvSpPr>
          <p:cNvPr id="11" name="Rectangle 10"/>
          <p:cNvSpPr/>
          <p:nvPr/>
        </p:nvSpPr>
        <p:spPr>
          <a:xfrm>
            <a:off x="365760" y="3099816"/>
            <a:ext cx="3200400" cy="594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172968"/>
            <a:ext cx="3108960" cy="457200"/>
          </a:xfrm>
          <a:prstGeom prst="rect">
            <a:avLst/>
          </a:prstGeom>
          <a:noFill/>
        </p:spPr>
        <p:txBody>
          <a:bodyPr wrap="square">
            <a:spAutoFit/>
          </a:bodyPr>
          <a:lstStyle/>
          <a:p>
            <a:pPr algn="ctr"/>
            <a:r>
              <a:rPr sz="1200" b="1" i="0">
                <a:solidFill>
                  <a:srgbClr val="FFFFFF"/>
                </a:solidFill>
              </a:rPr>
              <a:t>ContextVar isolation</a:t>
            </a:r>
          </a:p>
        </p:txBody>
      </p:sp>
      <p:sp>
        <p:nvSpPr>
          <p:cNvPr id="13" name="TextBox 12"/>
          <p:cNvSpPr txBox="1"/>
          <p:nvPr/>
        </p:nvSpPr>
        <p:spPr>
          <a:xfrm>
            <a:off x="3749039" y="3191256"/>
            <a:ext cx="8046720" cy="457200"/>
          </a:xfrm>
          <a:prstGeom prst="rect">
            <a:avLst/>
          </a:prstGeom>
          <a:noFill/>
        </p:spPr>
        <p:txBody>
          <a:bodyPr wrap="square">
            <a:spAutoFit/>
          </a:bodyPr>
          <a:lstStyle/>
          <a:p>
            <a:pPr algn="l"/>
            <a:r>
              <a:rPr sz="1300" b="0" i="0">
                <a:solidFill>
                  <a:srgbClr val="0D1B2A"/>
                </a:solidFill>
              </a:rPr>
              <a:t>Python contextvars — each async request has its own tenant context; no cross-talk</a:t>
            </a:r>
          </a:p>
        </p:txBody>
      </p:sp>
      <p:sp>
        <p:nvSpPr>
          <p:cNvPr id="14" name="Rectangle 13"/>
          <p:cNvSpPr/>
          <p:nvPr/>
        </p:nvSpPr>
        <p:spPr>
          <a:xfrm>
            <a:off x="365760" y="3849624"/>
            <a:ext cx="3200400" cy="594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922776"/>
            <a:ext cx="3108960" cy="457200"/>
          </a:xfrm>
          <a:prstGeom prst="rect">
            <a:avLst/>
          </a:prstGeom>
          <a:noFill/>
        </p:spPr>
        <p:txBody>
          <a:bodyPr wrap="square">
            <a:spAutoFit/>
          </a:bodyPr>
          <a:lstStyle/>
          <a:p>
            <a:pPr algn="ctr"/>
            <a:r>
              <a:rPr sz="1200" b="1" i="0">
                <a:solidFill>
                  <a:srgbClr val="FFFFFF"/>
                </a:solidFill>
              </a:rPr>
              <a:t>Collection namespacing</a:t>
            </a:r>
          </a:p>
        </p:txBody>
      </p:sp>
      <p:sp>
        <p:nvSpPr>
          <p:cNvPr id="16" name="TextBox 15"/>
          <p:cNvSpPr txBox="1"/>
          <p:nvPr/>
        </p:nvSpPr>
        <p:spPr>
          <a:xfrm>
            <a:off x="3749039" y="3941064"/>
            <a:ext cx="8046720" cy="457200"/>
          </a:xfrm>
          <a:prstGeom prst="rect">
            <a:avLst/>
          </a:prstGeom>
          <a:noFill/>
        </p:spPr>
        <p:txBody>
          <a:bodyPr wrap="square">
            <a:spAutoFit/>
          </a:bodyPr>
          <a:lstStyle/>
          <a:p>
            <a:pPr algn="l"/>
            <a:r>
              <a:rPr sz="1300" b="0" i="0">
                <a:solidFill>
                  <a:srgbClr val="0D1B2A"/>
                </a:solidFill>
              </a:rPr>
              <a:t>tenant_scoped_collection() → &lt;tenant&gt;_knowledge ChromaDB collection</a:t>
            </a:r>
          </a:p>
        </p:txBody>
      </p:sp>
      <p:sp>
        <p:nvSpPr>
          <p:cNvPr id="17" name="Rectangle 16"/>
          <p:cNvSpPr/>
          <p:nvPr/>
        </p:nvSpPr>
        <p:spPr>
          <a:xfrm>
            <a:off x="365760" y="4599432"/>
            <a:ext cx="3200400" cy="594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672584"/>
            <a:ext cx="3108960" cy="457200"/>
          </a:xfrm>
          <a:prstGeom prst="rect">
            <a:avLst/>
          </a:prstGeom>
          <a:noFill/>
        </p:spPr>
        <p:txBody>
          <a:bodyPr wrap="square">
            <a:spAutoFit/>
          </a:bodyPr>
          <a:lstStyle/>
          <a:p>
            <a:pPr algn="ctr"/>
            <a:r>
              <a:rPr sz="1200" b="1" i="0">
                <a:solidFill>
                  <a:srgbClr val="FFFFFF"/>
                </a:solidFill>
              </a:rPr>
              <a:t>GET /tenant/context</a:t>
            </a:r>
          </a:p>
        </p:txBody>
      </p:sp>
      <p:sp>
        <p:nvSpPr>
          <p:cNvPr id="19" name="TextBox 18"/>
          <p:cNvSpPr txBox="1"/>
          <p:nvPr/>
        </p:nvSpPr>
        <p:spPr>
          <a:xfrm>
            <a:off x="3749039" y="4690872"/>
            <a:ext cx="8046720" cy="457200"/>
          </a:xfrm>
          <a:prstGeom prst="rect">
            <a:avLst/>
          </a:prstGeom>
          <a:noFill/>
        </p:spPr>
        <p:txBody>
          <a:bodyPr wrap="square">
            <a:spAutoFit/>
          </a:bodyPr>
          <a:lstStyle/>
          <a:p>
            <a:pPr algn="l"/>
            <a:r>
              <a:rPr sz="1300" b="0" i="0">
                <a:solidFill>
                  <a:srgbClr val="0D1B2A"/>
                </a:solidFill>
              </a:rPr>
              <a:t>Debug endpoint shows resolved tenant for current request headers</a:t>
            </a:r>
          </a:p>
        </p:txBody>
      </p:sp>
      <p:sp>
        <p:nvSpPr>
          <p:cNvPr id="20" name="Rectangle 19"/>
          <p:cNvSpPr/>
          <p:nvPr/>
        </p:nvSpPr>
        <p:spPr>
          <a:xfrm>
            <a:off x="365760" y="5349240"/>
            <a:ext cx="3200400" cy="594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5422392"/>
            <a:ext cx="3108960" cy="457200"/>
          </a:xfrm>
          <a:prstGeom prst="rect">
            <a:avLst/>
          </a:prstGeom>
          <a:noFill/>
        </p:spPr>
        <p:txBody>
          <a:bodyPr wrap="square">
            <a:spAutoFit/>
          </a:bodyPr>
          <a:lstStyle/>
          <a:p>
            <a:pPr algn="ctr"/>
            <a:r>
              <a:rPr sz="1200" b="1" i="0">
                <a:solidFill>
                  <a:srgbClr val="FFFFFF"/>
                </a:solidFill>
              </a:rPr>
              <a:t>Backward compatible</a:t>
            </a:r>
          </a:p>
        </p:txBody>
      </p:sp>
      <p:sp>
        <p:nvSpPr>
          <p:cNvPr id="22" name="TextBox 21"/>
          <p:cNvSpPr txBox="1"/>
          <p:nvPr/>
        </p:nvSpPr>
        <p:spPr>
          <a:xfrm>
            <a:off x="3749039" y="5440680"/>
            <a:ext cx="8046720" cy="457200"/>
          </a:xfrm>
          <a:prstGeom prst="rect">
            <a:avLst/>
          </a:prstGeom>
          <a:noFill/>
        </p:spPr>
        <p:txBody>
          <a:bodyPr wrap="square">
            <a:spAutoFit/>
          </a:bodyPr>
          <a:lstStyle/>
          <a:p>
            <a:pPr algn="l"/>
            <a:r>
              <a:rPr sz="1300" b="0" i="0">
                <a:solidFill>
                  <a:srgbClr val="0D1B2A"/>
                </a:solidFill>
              </a:rPr>
              <a:t>Requests without header use global collection — no breaking change</a:t>
            </a:r>
          </a:p>
        </p:txBody>
      </p:sp>
      <p:sp>
        <p:nvSpPr>
          <p:cNvPr id="23" name="Rectangle 22"/>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Temporal Durable Workflows (Phase 11)</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Production-grade workflow orchestration with automatic retry, state persistence, and LangGraph fallback</a:t>
            </a:r>
          </a:p>
        </p:txBody>
      </p:sp>
      <p:graphicFrame>
        <p:nvGraphicFramePr>
          <p:cNvPr id="5" name="Table 4"/>
          <p:cNvGraphicFramePr>
            <a:graphicFrameLocks noGrp="1"/>
          </p:cNvGraphicFramePr>
          <p:nvPr/>
        </p:nvGraphicFramePr>
        <p:xfrm>
          <a:off x="457200" y="1508760"/>
          <a:ext cx="11247120" cy="3328416"/>
        </p:xfrm>
        <a:graphic>
          <a:graphicData uri="http://schemas.openxmlformats.org/drawingml/2006/table">
            <a:tbl>
              <a:tblPr firstRow="1" bandRow="1">
                <a:tableStyleId>{5C22544A-7EE6-4342-B048-85BDC9FD1C3A}</a:tableStyleId>
              </a:tblPr>
              <a:tblGrid>
                <a:gridCol w="2286000"/>
                <a:gridCol w="4846320"/>
                <a:gridCol w="4114800"/>
              </a:tblGrid>
              <a:tr h="475488">
                <a:tc>
                  <a:txBody>
                    <a:bodyPr/>
                    <a:lstStyle/>
                    <a:p>
                      <a:pPr algn="ctr"/>
                      <a:r>
                        <a:rPr b="1" sz="1300">
                          <a:solidFill>
                            <a:srgbClr val="FFFFFF"/>
                          </a:solidFill>
                        </a:rPr>
                        <a:t>Capability</a:t>
                      </a:r>
                    </a:p>
                  </a:txBody>
                  <a:tcPr>
                    <a:solidFill>
                      <a:srgbClr val="0078D4"/>
                    </a:solidFill>
                  </a:tcPr>
                </a:tc>
                <a:tc>
                  <a:txBody>
                    <a:bodyPr/>
                    <a:lstStyle/>
                    <a:p>
                      <a:pPr algn="ctr"/>
                      <a:r>
                        <a:rPr b="1" sz="1300">
                          <a:solidFill>
                            <a:srgbClr val="FFFFFF"/>
                          </a:solidFill>
                        </a:rPr>
                        <a:t>Implementation</a:t>
                      </a:r>
                    </a:p>
                  </a:txBody>
                  <a:tcPr>
                    <a:solidFill>
                      <a:srgbClr val="0078D4"/>
                    </a:solidFill>
                  </a:tcPr>
                </a:tc>
                <a:tc>
                  <a:txBody>
                    <a:bodyPr/>
                    <a:lstStyle/>
                    <a:p>
                      <a:pPr algn="ctr"/>
                      <a:r>
                        <a:rPr b="1" sz="1300">
                          <a:solidFill>
                            <a:srgbClr val="FFFFFF"/>
                          </a:solidFill>
                        </a:rPr>
                        <a:t>Benefit</a:t>
                      </a:r>
                    </a:p>
                  </a:txBody>
                  <a:tcPr>
                    <a:solidFill>
                      <a:srgbClr val="0078D4"/>
                    </a:solidFill>
                  </a:tcPr>
                </a:tc>
              </a:tr>
              <a:tr h="475488">
                <a:tc>
                  <a:txBody>
                    <a:bodyPr/>
                    <a:lstStyle/>
                    <a:p>
                      <a:pPr algn="l"/>
                      <a:r>
                        <a:rPr sz="1200">
                          <a:solidFill>
                            <a:srgbClr val="0D1B2A"/>
                          </a:solidFill>
                        </a:rPr>
                        <a:t>Durable execution</a:t>
                      </a:r>
                    </a:p>
                  </a:txBody>
                  <a:tcPr>
                    <a:solidFill>
                      <a:srgbClr val="F0F4F8"/>
                    </a:solidFill>
                  </a:tcPr>
                </a:tc>
                <a:tc>
                  <a:txBody>
                    <a:bodyPr/>
                    <a:lstStyle/>
                    <a:p>
                      <a:pPr algn="l"/>
                      <a:r>
                        <a:rPr sz="1200">
                          <a:solidFill>
                            <a:srgbClr val="0D1B2A"/>
                          </a:solidFill>
                        </a:rPr>
                        <a:t>Temporal SDK — workflow survives server restart</a:t>
                      </a:r>
                    </a:p>
                  </a:txBody>
                  <a:tcPr>
                    <a:solidFill>
                      <a:srgbClr val="F0F4F8"/>
                    </a:solidFill>
                  </a:tcPr>
                </a:tc>
                <a:tc>
                  <a:txBody>
                    <a:bodyPr/>
                    <a:lstStyle/>
                    <a:p>
                      <a:pPr algn="l"/>
                      <a:r>
                        <a:rPr sz="1200">
                          <a:solidFill>
                            <a:srgbClr val="0D1B2A"/>
                          </a:solidFill>
                        </a:rPr>
                        <a:t>Zero lost work</a:t>
                      </a:r>
                    </a:p>
                  </a:txBody>
                  <a:tcPr>
                    <a:solidFill>
                      <a:srgbClr val="F0F4F8"/>
                    </a:solidFill>
                  </a:tcPr>
                </a:tc>
              </a:tr>
              <a:tr h="475488">
                <a:tc>
                  <a:txBody>
                    <a:bodyPr/>
                    <a:lstStyle/>
                    <a:p>
                      <a:pPr algn="l"/>
                      <a:r>
                        <a:rPr sz="1200">
                          <a:solidFill>
                            <a:srgbClr val="0D1B2A"/>
                          </a:solidFill>
                        </a:rPr>
                        <a:t>Automatic retry</a:t>
                      </a:r>
                    </a:p>
                  </a:txBody>
                  <a:tcPr>
                    <a:solidFill>
                      <a:srgbClr val="FFFFFF"/>
                    </a:solidFill>
                  </a:tcPr>
                </a:tc>
                <a:tc>
                  <a:txBody>
                    <a:bodyPr/>
                    <a:lstStyle/>
                    <a:p>
                      <a:pPr algn="l"/>
                      <a:r>
                        <a:rPr sz="1200">
                          <a:solidFill>
                            <a:srgbClr val="0D1B2A"/>
                          </a:solidFill>
                        </a:rPr>
                        <a:t>Temporal retry policies per activity</a:t>
                      </a:r>
                    </a:p>
                  </a:txBody>
                  <a:tcPr>
                    <a:solidFill>
                      <a:srgbClr val="FFFFFF"/>
                    </a:solidFill>
                  </a:tcPr>
                </a:tc>
                <a:tc>
                  <a:txBody>
                    <a:bodyPr/>
                    <a:lstStyle/>
                    <a:p>
                      <a:pPr algn="l"/>
                      <a:r>
                        <a:rPr sz="1200">
                          <a:solidFill>
                            <a:srgbClr val="0D1B2A"/>
                          </a:solidFill>
                        </a:rPr>
                        <a:t>Self-healing pipelines</a:t>
                      </a:r>
                    </a:p>
                  </a:txBody>
                  <a:tcPr>
                    <a:solidFill>
                      <a:srgbClr val="FFFFFF"/>
                    </a:solidFill>
                  </a:tcPr>
                </a:tc>
              </a:tr>
              <a:tr h="475488">
                <a:tc>
                  <a:txBody>
                    <a:bodyPr/>
                    <a:lstStyle/>
                    <a:p>
                      <a:pPr algn="l"/>
                      <a:r>
                        <a:rPr sz="1200">
                          <a:solidFill>
                            <a:srgbClr val="0D1B2A"/>
                          </a:solidFill>
                        </a:rPr>
                        <a:t>Human pause</a:t>
                      </a:r>
                    </a:p>
                  </a:txBody>
                  <a:tcPr>
                    <a:solidFill>
                      <a:srgbClr val="F0F4F8"/>
                    </a:solidFill>
                  </a:tcPr>
                </a:tc>
                <a:tc>
                  <a:txBody>
                    <a:bodyPr/>
                    <a:lstStyle/>
                    <a:p>
                      <a:pPr algn="l"/>
                      <a:r>
                        <a:rPr sz="1200">
                          <a:solidFill>
                            <a:srgbClr val="0D1B2A"/>
                          </a:solidFill>
                        </a:rPr>
                        <a:t>LangGraph interrupt_before — pause at any node for review</a:t>
                      </a:r>
                    </a:p>
                  </a:txBody>
                  <a:tcPr>
                    <a:solidFill>
                      <a:srgbClr val="F0F4F8"/>
                    </a:solidFill>
                  </a:tcPr>
                </a:tc>
                <a:tc>
                  <a:txBody>
                    <a:bodyPr/>
                    <a:lstStyle/>
                    <a:p>
                      <a:pPr algn="l"/>
                      <a:r>
                        <a:rPr sz="1200">
                          <a:solidFill>
                            <a:srgbClr val="0D1B2A"/>
                          </a:solidFill>
                        </a:rPr>
                        <a:t>Compliance gate in workflow</a:t>
                      </a:r>
                    </a:p>
                  </a:txBody>
                  <a:tcPr>
                    <a:solidFill>
                      <a:srgbClr val="F0F4F8"/>
                    </a:solidFill>
                  </a:tcPr>
                </a:tc>
              </a:tr>
              <a:tr h="475488">
                <a:tc>
                  <a:txBody>
                    <a:bodyPr/>
                    <a:lstStyle/>
                    <a:p>
                      <a:pPr algn="l"/>
                      <a:r>
                        <a:rPr sz="1200">
                          <a:solidFill>
                            <a:srgbClr val="0D1B2A"/>
                          </a:solidFill>
                        </a:rPr>
                        <a:t>Resume after approval</a:t>
                      </a:r>
                    </a:p>
                  </a:txBody>
                  <a:tcPr>
                    <a:solidFill>
                      <a:srgbClr val="FFFFFF"/>
                    </a:solidFill>
                  </a:tcPr>
                </a:tc>
                <a:tc>
                  <a:txBody>
                    <a:bodyPr/>
                    <a:lstStyle/>
                    <a:p>
                      <a:pPr algn="l"/>
                      <a:r>
                        <a:rPr sz="1200">
                          <a:solidFill>
                            <a:srgbClr val="0D1B2A"/>
                          </a:solidFill>
                        </a:rPr>
                        <a:t>POST /workflow/resume · POST /temporal/workflow/resume</a:t>
                      </a:r>
                    </a:p>
                  </a:txBody>
                  <a:tcPr>
                    <a:solidFill>
                      <a:srgbClr val="FFFFFF"/>
                    </a:solidFill>
                  </a:tcPr>
                </a:tc>
                <a:tc>
                  <a:txBody>
                    <a:bodyPr/>
                    <a:lstStyle/>
                    <a:p>
                      <a:pPr algn="l"/>
                      <a:r>
                        <a:rPr sz="1200">
                          <a:solidFill>
                            <a:srgbClr val="0D1B2A"/>
                          </a:solidFill>
                        </a:rPr>
                        <a:t>Async human-in-the-loop</a:t>
                      </a:r>
                    </a:p>
                  </a:txBody>
                  <a:tcPr>
                    <a:solidFill>
                      <a:srgbClr val="FFFFFF"/>
                    </a:solidFill>
                  </a:tcPr>
                </a:tc>
              </a:tr>
              <a:tr h="475488">
                <a:tc>
                  <a:txBody>
                    <a:bodyPr/>
                    <a:lstStyle/>
                    <a:p>
                      <a:pPr algn="l"/>
                      <a:r>
                        <a:rPr sz="1200">
                          <a:solidFill>
                            <a:srgbClr val="0D1B2A"/>
                          </a:solidFill>
                        </a:rPr>
                        <a:t>Graceful fallback</a:t>
                      </a:r>
                    </a:p>
                  </a:txBody>
                  <a:tcPr>
                    <a:solidFill>
                      <a:srgbClr val="F0F4F8"/>
                    </a:solidFill>
                  </a:tcPr>
                </a:tc>
                <a:tc>
                  <a:txBody>
                    <a:bodyPr/>
                    <a:lstStyle/>
                    <a:p>
                      <a:pPr algn="l"/>
                      <a:r>
                        <a:rPr sz="1200">
                          <a:solidFill>
                            <a:srgbClr val="0D1B2A"/>
                          </a:solidFill>
                        </a:rPr>
                        <a:t>Temporal unavailable → LangGraph runner transparently</a:t>
                      </a:r>
                    </a:p>
                  </a:txBody>
                  <a:tcPr>
                    <a:solidFill>
                      <a:srgbClr val="F0F4F8"/>
                    </a:solidFill>
                  </a:tcPr>
                </a:tc>
                <a:tc>
                  <a:txBody>
                    <a:bodyPr/>
                    <a:lstStyle/>
                    <a:p>
                      <a:pPr algn="l"/>
                      <a:r>
                        <a:rPr sz="1200">
                          <a:solidFill>
                            <a:srgbClr val="0D1B2A"/>
                          </a:solidFill>
                        </a:rPr>
                        <a:t>No hard dependency on server</a:t>
                      </a:r>
                    </a:p>
                  </a:txBody>
                  <a:tcPr>
                    <a:solidFill>
                      <a:srgbClr val="F0F4F8"/>
                    </a:solidFill>
                  </a:tcPr>
                </a:tc>
              </a:tr>
              <a:tr h="475488">
                <a:tc>
                  <a:txBody>
                    <a:bodyPr/>
                    <a:lstStyle/>
                    <a:p>
                      <a:pPr algn="l"/>
                      <a:r>
                        <a:rPr sz="1200">
                          <a:solidFill>
                            <a:srgbClr val="0D1B2A"/>
                          </a:solidFill>
                        </a:rPr>
                        <a:t>Status tracking</a:t>
                      </a:r>
                    </a:p>
                  </a:txBody>
                  <a:tcPr>
                    <a:solidFill>
                      <a:srgbClr val="FFFFFF"/>
                    </a:solidFill>
                  </a:tcPr>
                </a:tc>
                <a:tc>
                  <a:txBody>
                    <a:bodyPr/>
                    <a:lstStyle/>
                    <a:p>
                      <a:pPr algn="l"/>
                      <a:r>
                        <a:rPr sz="1200">
                          <a:solidFill>
                            <a:srgbClr val="0D1B2A"/>
                          </a:solidFill>
                        </a:rPr>
                        <a:t>GET /workflow/status/{id} · GET /temporal/workflow/list</a:t>
                      </a:r>
                    </a:p>
                  </a:txBody>
                  <a:tcPr>
                    <a:solidFill>
                      <a:srgbClr val="FFFFFF"/>
                    </a:solidFill>
                  </a:tcPr>
                </a:tc>
                <a:tc>
                  <a:txBody>
                    <a:bodyPr/>
                    <a:lstStyle/>
                    <a:p>
                      <a:pPr algn="l"/>
                      <a:r>
                        <a:rPr sz="1200">
                          <a:solidFill>
                            <a:srgbClr val="0D1B2A"/>
                          </a:solidFill>
                        </a:rPr>
                        <a:t>Full observability</a:t>
                      </a:r>
                    </a:p>
                  </a:txBody>
                  <a:tcPr>
                    <a:solidFill>
                      <a:srgbClr val="FFFFFF"/>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Platform Completeness — 12+ Integration Phases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From core agent loop to enterprise-grade orchestration — all live</a:t>
            </a:r>
          </a:p>
        </p:txBody>
      </p:sp>
      <p:graphicFrame>
        <p:nvGraphicFramePr>
          <p:cNvPr id="5" name="Table 4"/>
          <p:cNvGraphicFramePr>
            <a:graphicFrameLocks noGrp="1"/>
          </p:cNvGraphicFramePr>
          <p:nvPr/>
        </p:nvGraphicFramePr>
        <p:xfrm>
          <a:off x="457200" y="1508760"/>
          <a:ext cx="11247120" cy="4279392"/>
        </p:xfrm>
        <a:graphic>
          <a:graphicData uri="http://schemas.openxmlformats.org/drawingml/2006/table">
            <a:tbl>
              <a:tblPr firstRow="1" bandRow="1">
                <a:tableStyleId>{5C22544A-7EE6-4342-B048-85BDC9FD1C3A}</a:tableStyleId>
              </a:tblPr>
              <a:tblGrid>
                <a:gridCol w="822960"/>
                <a:gridCol w="7589520"/>
                <a:gridCol w="2834640"/>
              </a:tblGrid>
              <a:tr h="475488">
                <a:tc>
                  <a:txBody>
                    <a:bodyPr/>
                    <a:lstStyle/>
                    <a:p>
                      <a:pPr algn="ctr"/>
                      <a:r>
                        <a:rPr b="1" sz="1300">
                          <a:solidFill>
                            <a:srgbClr val="FFFFFF"/>
                          </a:solidFill>
                        </a:rPr>
                        <a:t>Phase</a:t>
                      </a:r>
                    </a:p>
                  </a:txBody>
                  <a:tcPr>
                    <a:solidFill>
                      <a:srgbClr val="0078D4"/>
                    </a:solidFill>
                  </a:tcPr>
                </a:tc>
                <a:tc>
                  <a:txBody>
                    <a:bodyPr/>
                    <a:lstStyle/>
                    <a:p>
                      <a:pPr algn="ctr"/>
                      <a:r>
                        <a:rPr b="1" sz="1300">
                          <a:solidFill>
                            <a:srgbClr val="FFFFFF"/>
                          </a:solidFill>
                        </a:rPr>
                        <a:t>Feature</a:t>
                      </a:r>
                    </a:p>
                  </a:txBody>
                  <a:tcPr>
                    <a:solidFill>
                      <a:srgbClr val="0078D4"/>
                    </a:solidFill>
                  </a:tcPr>
                </a:tc>
                <a:tc>
                  <a:txBody>
                    <a:bodyPr/>
                    <a:lstStyle/>
                    <a:p>
                      <a:pPr algn="ctr"/>
                      <a:r>
                        <a:rPr b="1" sz="1300">
                          <a:solidFill>
                            <a:srgbClr val="FFFFFF"/>
                          </a:solidFill>
                        </a:rPr>
                        <a:t>Status</a:t>
                      </a:r>
                    </a:p>
                  </a:txBody>
                  <a:tcPr>
                    <a:solidFill>
                      <a:srgbClr val="0078D4"/>
                    </a:solidFill>
                  </a:tcPr>
                </a:tc>
              </a:tr>
              <a:tr h="475488">
                <a:tc>
                  <a:txBody>
                    <a:bodyPr/>
                    <a:lstStyle/>
                    <a:p>
                      <a:pPr algn="l"/>
                      <a:r>
                        <a:rPr sz="1200">
                          <a:solidFill>
                            <a:srgbClr val="0D1B2A"/>
                          </a:solidFill>
                        </a:rPr>
                        <a:t>0-4</a:t>
                      </a:r>
                    </a:p>
                  </a:txBody>
                  <a:tcPr>
                    <a:solidFill>
                      <a:srgbClr val="F0F4F8"/>
                    </a:solidFill>
                  </a:tcPr>
                </a:tc>
                <a:tc>
                  <a:txBody>
                    <a:bodyPr/>
                    <a:lstStyle/>
                    <a:p>
                      <a:pPr algn="l"/>
                      <a:r>
                        <a:rPr sz="1200">
                          <a:solidFill>
                            <a:srgbClr val="0D1B2A"/>
                          </a:solidFill>
                        </a:rPr>
                        <a:t>Core agents, API, Web UI, Approval gate, Audit log</a:t>
                      </a:r>
                    </a:p>
                  </a:txBody>
                  <a:tcPr>
                    <a:solidFill>
                      <a:srgbClr val="F0F4F8"/>
                    </a:solidFill>
                  </a:tcPr>
                </a:tc>
                <a:tc>
                  <a:txBody>
                    <a:bodyPr/>
                    <a:lstStyle/>
                    <a:p>
                      <a:pPr algn="l"/>
                      <a:r>
                        <a:rPr sz="1200">
                          <a:solidFill>
                            <a:srgbClr val="0D1B2A"/>
                          </a:solidFill>
                        </a:rPr>
                        <a:t>Complete</a:t>
                      </a:r>
                    </a:p>
                  </a:txBody>
                  <a:tcPr>
                    <a:solidFill>
                      <a:srgbClr val="F0F4F8"/>
                    </a:solidFill>
                  </a:tcPr>
                </a:tc>
              </a:tr>
              <a:tr h="475488">
                <a:tc>
                  <a:txBody>
                    <a:bodyPr/>
                    <a:lstStyle/>
                    <a:p>
                      <a:pPr algn="l"/>
                      <a:r>
                        <a:rPr sz="1200">
                          <a:solidFill>
                            <a:srgbClr val="0D1B2A"/>
                          </a:solidFill>
                        </a:rPr>
                        <a:t>5</a:t>
                      </a:r>
                    </a:p>
                  </a:txBody>
                  <a:tcPr>
                    <a:solidFill>
                      <a:srgbClr val="FFFFFF"/>
                    </a:solidFill>
                  </a:tcPr>
                </a:tc>
                <a:tc>
                  <a:txBody>
                    <a:bodyPr/>
                    <a:lstStyle/>
                    <a:p>
                      <a:pPr algn="l"/>
                      <a:r>
                        <a:rPr sz="1200">
                          <a:solidFill>
                            <a:srgbClr val="0D1B2A"/>
                          </a:solidFill>
                        </a:rPr>
                        <a:t>SSE streaming — real-time token output in dashboard</a:t>
                      </a:r>
                    </a:p>
                  </a:txBody>
                  <a:tcPr>
                    <a:solidFill>
                      <a:srgbClr val="FFFFFF"/>
                    </a:solidFill>
                  </a:tcPr>
                </a:tc>
                <a:tc>
                  <a:txBody>
                    <a:bodyPr/>
                    <a:lstStyle/>
                    <a:p>
                      <a:pPr algn="l"/>
                      <a:r>
                        <a:rPr sz="1200">
                          <a:solidFill>
                            <a:srgbClr val="0D1B2A"/>
                          </a:solidFill>
                        </a:rPr>
                        <a:t>Complete</a:t>
                      </a:r>
                    </a:p>
                  </a:txBody>
                  <a:tcPr>
                    <a:solidFill>
                      <a:srgbClr val="FFFFFF"/>
                    </a:solidFill>
                  </a:tcPr>
                </a:tc>
              </a:tr>
              <a:tr h="475488">
                <a:tc>
                  <a:txBody>
                    <a:bodyPr/>
                    <a:lstStyle/>
                    <a:p>
                      <a:pPr algn="l"/>
                      <a:r>
                        <a:rPr sz="1200">
                          <a:solidFill>
                            <a:srgbClr val="0D1B2A"/>
                          </a:solidFill>
                        </a:rPr>
                        <a:t>6</a:t>
                      </a:r>
                    </a:p>
                  </a:txBody>
                  <a:tcPr>
                    <a:solidFill>
                      <a:srgbClr val="F0F4F8"/>
                    </a:solidFill>
                  </a:tcPr>
                </a:tc>
                <a:tc>
                  <a:txBody>
                    <a:bodyPr/>
                    <a:lstStyle/>
                    <a:p>
                      <a:pPr algn="l"/>
                      <a:r>
                        <a:rPr sz="1200">
                          <a:solidFill>
                            <a:srgbClr val="0D1B2A"/>
                          </a:solidFill>
                        </a:rPr>
                        <a:t>Onboarding wizard — plain-language to YAML solution in 60 s</a:t>
                      </a:r>
                    </a:p>
                  </a:txBody>
                  <a:tcPr>
                    <a:solidFill>
                      <a:srgbClr val="F0F4F8"/>
                    </a:solidFill>
                  </a:tcPr>
                </a:tc>
                <a:tc>
                  <a:txBody>
                    <a:bodyPr/>
                    <a:lstStyle/>
                    <a:p>
                      <a:pPr algn="l"/>
                      <a:r>
                        <a:rPr sz="1200">
                          <a:solidFill>
                            <a:srgbClr val="0D1B2A"/>
                          </a:solidFill>
                        </a:rPr>
                        <a:t>Complete</a:t>
                      </a:r>
                    </a:p>
                  </a:txBody>
                  <a:tcPr>
                    <a:solidFill>
                      <a:srgbClr val="F0F4F8"/>
                    </a:solidFill>
                  </a:tcPr>
                </a:tc>
              </a:tr>
              <a:tr h="475488">
                <a:tc>
                  <a:txBody>
                    <a:bodyPr/>
                    <a:lstStyle/>
                    <a:p>
                      <a:pPr algn="l"/>
                      <a:r>
                        <a:rPr sz="1200">
                          <a:solidFill>
                            <a:srgbClr val="0D1B2A"/>
                          </a:solidFill>
                        </a:rPr>
                        <a:t>7</a:t>
                      </a:r>
                    </a:p>
                  </a:txBody>
                  <a:tcPr>
                    <a:solidFill>
                      <a:srgbClr val="FFFFFF"/>
                    </a:solidFill>
                  </a:tcPr>
                </a:tc>
                <a:tc>
                  <a:txBody>
                    <a:bodyPr/>
                    <a:lstStyle/>
                    <a:p>
                      <a:pPr algn="l"/>
                      <a:r>
                        <a:rPr sz="1200">
                          <a:solidFill>
                            <a:srgbClr val="0D1B2A"/>
                          </a:solidFill>
                        </a:rPr>
                        <a:t>Knowledge base CRUD — list, add, delete, bulk, search</a:t>
                      </a:r>
                    </a:p>
                  </a:txBody>
                  <a:tcPr>
                    <a:solidFill>
                      <a:srgbClr val="FFFFFF"/>
                    </a:solidFill>
                  </a:tcPr>
                </a:tc>
                <a:tc>
                  <a:txBody>
                    <a:bodyPr/>
                    <a:lstStyle/>
                    <a:p>
                      <a:pPr algn="l"/>
                      <a:r>
                        <a:rPr sz="1200">
                          <a:solidFill>
                            <a:srgbClr val="0D1B2A"/>
                          </a:solidFill>
                        </a:rPr>
                        <a:t>Complete</a:t>
                      </a:r>
                    </a:p>
                  </a:txBody>
                  <a:tcPr>
                    <a:solidFill>
                      <a:srgbClr val="FFFFFF"/>
                    </a:solidFill>
                  </a:tcPr>
                </a:tc>
              </a:tr>
              <a:tr h="475488">
                <a:tc>
                  <a:txBody>
                    <a:bodyPr/>
                    <a:lstStyle/>
                    <a:p>
                      <a:pPr algn="l"/>
                      <a:r>
                        <a:rPr sz="1200">
                          <a:solidFill>
                            <a:srgbClr val="0D1B2A"/>
                          </a:solidFill>
                        </a:rPr>
                        <a:t>8</a:t>
                      </a:r>
                    </a:p>
                  </a:txBody>
                  <a:tcPr>
                    <a:solidFill>
                      <a:srgbClr val="F0F4F8"/>
                    </a:solidFill>
                  </a:tcPr>
                </a:tc>
                <a:tc>
                  <a:txBody>
                    <a:bodyPr/>
                    <a:lstStyle/>
                    <a:p>
                      <a:pPr algn="l"/>
                      <a:r>
                        <a:rPr sz="1200">
                          <a:solidFill>
                            <a:srgbClr val="0D1B2A"/>
                          </a:solidFill>
                        </a:rPr>
                        <a:t>Slack two-way approval — Block Kit buttons, HMAC verified</a:t>
                      </a:r>
                    </a:p>
                  </a:txBody>
                  <a:tcPr>
                    <a:solidFill>
                      <a:srgbClr val="F0F4F8"/>
                    </a:solidFill>
                  </a:tcPr>
                </a:tc>
                <a:tc>
                  <a:txBody>
                    <a:bodyPr/>
                    <a:lstStyle/>
                    <a:p>
                      <a:pPr algn="l"/>
                      <a:r>
                        <a:rPr sz="1200">
                          <a:solidFill>
                            <a:srgbClr val="0D1B2A"/>
                          </a:solidFill>
                        </a:rPr>
                        <a:t>Complete</a:t>
                      </a:r>
                    </a:p>
                  </a:txBody>
                  <a:tcPr>
                    <a:solidFill>
                      <a:srgbClr val="F0F4F8"/>
                    </a:solidFill>
                  </a:tcPr>
                </a:tc>
              </a:tr>
              <a:tr h="475488">
                <a:tc>
                  <a:txBody>
                    <a:bodyPr/>
                    <a:lstStyle/>
                    <a:p>
                      <a:pPr algn="l"/>
                      <a:r>
                        <a:rPr sz="1200">
                          <a:solidFill>
                            <a:srgbClr val="0D1B2A"/>
                          </a:solidFill>
                        </a:rPr>
                        <a:t>9</a:t>
                      </a:r>
                    </a:p>
                  </a:txBody>
                  <a:tcPr>
                    <a:solidFill>
                      <a:srgbClr val="FFFFFF"/>
                    </a:solidFill>
                  </a:tcPr>
                </a:tc>
                <a:tc>
                  <a:txBody>
                    <a:bodyPr/>
                    <a:lstStyle/>
                    <a:p>
                      <a:pPr algn="l"/>
                      <a:r>
                        <a:rPr sz="1200">
                          <a:solidFill>
                            <a:srgbClr val="0D1B2A"/>
                          </a:solidFill>
                        </a:rPr>
                        <a:t>Eval &amp; benchmarking — YAML test cases, 0-100 scoring, history</a:t>
                      </a:r>
                    </a:p>
                  </a:txBody>
                  <a:tcPr>
                    <a:solidFill>
                      <a:srgbClr val="FFFFFF"/>
                    </a:solidFill>
                  </a:tcPr>
                </a:tc>
                <a:tc>
                  <a:txBody>
                    <a:bodyPr/>
                    <a:lstStyle/>
                    <a:p>
                      <a:pPr algn="l"/>
                      <a:r>
                        <a:rPr sz="1200">
                          <a:solidFill>
                            <a:srgbClr val="0D1B2A"/>
                          </a:solidFill>
                        </a:rPr>
                        <a:t>Complete</a:t>
                      </a:r>
                    </a:p>
                  </a:txBody>
                  <a:tcPr>
                    <a:solidFill>
                      <a:srgbClr val="FFFFFF"/>
                    </a:solidFill>
                  </a:tcPr>
                </a:tc>
              </a:tr>
              <a:tr h="475488">
                <a:tc>
                  <a:txBody>
                    <a:bodyPr/>
                    <a:lstStyle/>
                    <a:p>
                      <a:pPr algn="l"/>
                      <a:r>
                        <a:rPr sz="1200">
                          <a:solidFill>
                            <a:srgbClr val="0D1B2A"/>
                          </a:solidFill>
                        </a:rPr>
                        <a:t>10</a:t>
                      </a:r>
                    </a:p>
                  </a:txBody>
                  <a:tcPr>
                    <a:solidFill>
                      <a:srgbClr val="F0F4F8"/>
                    </a:solidFill>
                  </a:tcPr>
                </a:tc>
                <a:tc>
                  <a:txBody>
                    <a:bodyPr/>
                    <a:lstStyle/>
                    <a:p>
                      <a:pPr algn="l"/>
                      <a:r>
                        <a:rPr sz="1200">
                          <a:solidFill>
                            <a:srgbClr val="0D1B2A"/>
                          </a:solidFill>
                        </a:rPr>
                        <a:t>Multi-tenant isolation — X-SAGE-Tenant header namespacing</a:t>
                      </a:r>
                    </a:p>
                  </a:txBody>
                  <a:tcPr>
                    <a:solidFill>
                      <a:srgbClr val="F0F4F8"/>
                    </a:solidFill>
                  </a:tcPr>
                </a:tc>
                <a:tc>
                  <a:txBody>
                    <a:bodyPr/>
                    <a:lstStyle/>
                    <a:p>
                      <a:pPr algn="l"/>
                      <a:r>
                        <a:rPr sz="1200">
                          <a:solidFill>
                            <a:srgbClr val="0D1B2A"/>
                          </a:solidFill>
                        </a:rPr>
                        <a:t>Complete</a:t>
                      </a:r>
                    </a:p>
                  </a:txBody>
                  <a:tcPr>
                    <a:solidFill>
                      <a:srgbClr val="F0F4F8"/>
                    </a:solidFill>
                  </a:tcPr>
                </a:tc>
              </a:tr>
              <a:tr h="475488">
                <a:tc>
                  <a:txBody>
                    <a:bodyPr/>
                    <a:lstStyle/>
                    <a:p>
                      <a:pPr algn="l"/>
                      <a:r>
                        <a:rPr sz="1200">
                          <a:solidFill>
                            <a:srgbClr val="0D1B2A"/>
                          </a:solidFill>
                        </a:rPr>
                        <a:t>11</a:t>
                      </a:r>
                    </a:p>
                  </a:txBody>
                  <a:tcPr>
                    <a:solidFill>
                      <a:srgbClr val="FFFFFF"/>
                    </a:solidFill>
                  </a:tcPr>
                </a:tc>
                <a:tc>
                  <a:txBody>
                    <a:bodyPr/>
                    <a:lstStyle/>
                    <a:p>
                      <a:pPr algn="l"/>
                      <a:r>
                        <a:rPr sz="1200">
                          <a:solidFill>
                            <a:srgbClr val="0D1B2A"/>
                          </a:solidFill>
                        </a:rPr>
                        <a:t>Temporal durable workflows + LangGraph fallback</a:t>
                      </a:r>
                    </a:p>
                  </a:txBody>
                  <a:tcPr>
                    <a:solidFill>
                      <a:srgbClr val="FFFFFF"/>
                    </a:solidFill>
                  </a:tcPr>
                </a:tc>
                <a:tc>
                  <a:txBody>
                    <a:bodyPr/>
                    <a:lstStyle/>
                    <a:p>
                      <a:pPr algn="l"/>
                      <a:r>
                        <a:rPr sz="1200">
                          <a:solidFill>
                            <a:srgbClr val="0D1B2A"/>
                          </a:solidFill>
                        </a:rPr>
                        <a:t>Complete</a:t>
                      </a:r>
                    </a:p>
                  </a:txBody>
                  <a:tcPr>
                    <a:solidFill>
                      <a:srgbClr val="FFFFFF"/>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31520"/>
            <a:ext cx="10515600" cy="822960"/>
          </a:xfrm>
          <a:prstGeom prst="rect">
            <a:avLst/>
          </a:prstGeom>
          <a:noFill/>
        </p:spPr>
        <p:txBody>
          <a:bodyPr wrap="square">
            <a:spAutoFit/>
          </a:bodyPr>
          <a:lstStyle/>
          <a:p>
            <a:pPr algn="ctr"/>
            <a:r>
              <a:rPr sz="4400" b="1" i="0">
                <a:solidFill>
                  <a:srgbClr val="FFFFFF"/>
                </a:solidFill>
              </a:rPr>
              <a:t>SAGE Framework</a:t>
            </a:r>
          </a:p>
        </p:txBody>
      </p:sp>
      <p:sp>
        <p:nvSpPr>
          <p:cNvPr id="6" name="TextBox 5"/>
          <p:cNvSpPr txBox="1"/>
          <p:nvPr/>
        </p:nvSpPr>
        <p:spPr>
          <a:xfrm>
            <a:off x="731520" y="1600200"/>
            <a:ext cx="10515600" cy="914400"/>
          </a:xfrm>
          <a:prstGeom prst="rect">
            <a:avLst/>
          </a:prstGeom>
          <a:noFill/>
        </p:spPr>
        <p:txBody>
          <a:bodyPr wrap="square">
            <a:spAutoFit/>
          </a:bodyPr>
          <a:lstStyle/>
          <a:p>
            <a:pPr algn="ctr"/>
            <a:r>
              <a:rPr sz="2000" b="0" i="0">
                <a:solidFill>
                  <a:srgbClr val="00B4D8"/>
                </a:solidFill>
              </a:rPr>
              <a:t>Lean development at machine speed.
YAML-first. Agent-native. Human-in-the-loop always.</a:t>
            </a:r>
          </a:p>
        </p:txBody>
      </p:sp>
      <p:sp>
        <p:nvSpPr>
          <p:cNvPr id="7" name="TextBox 6"/>
          <p:cNvSpPr txBox="1"/>
          <p:nvPr/>
        </p:nvSpPr>
        <p:spPr>
          <a:xfrm>
            <a:off x="1828800" y="3931920"/>
            <a:ext cx="8503920" cy="411480"/>
          </a:xfrm>
          <a:prstGeom prst="rect">
            <a:avLst/>
          </a:prstGeom>
          <a:noFill/>
        </p:spPr>
        <p:txBody>
          <a:bodyPr wrap="square">
            <a:spAutoFit/>
          </a:bodyPr>
          <a:lstStyle/>
          <a:p>
            <a:pPr algn="l"/>
            <a:r>
              <a:rPr sz="1400" b="0" i="0">
                <a:solidFill>
                  <a:srgbClr val="FFFFFF"/>
                </a:solidFill>
              </a:rPr>
              <a:t>github.com/your-org/sage</a:t>
            </a:r>
          </a:p>
        </p:txBody>
      </p:sp>
      <p:sp>
        <p:nvSpPr>
          <p:cNvPr id="8" name="TextBox 7"/>
          <p:cNvSpPr txBox="1"/>
          <p:nvPr/>
        </p:nvSpPr>
        <p:spPr>
          <a:xfrm>
            <a:off x="1828800" y="4407408"/>
            <a:ext cx="8503920" cy="411480"/>
          </a:xfrm>
          <a:prstGeom prst="rect">
            <a:avLst/>
          </a:prstGeom>
          <a:noFill/>
        </p:spPr>
        <p:txBody>
          <a:bodyPr wrap="square">
            <a:spAutoFit/>
          </a:bodyPr>
          <a:lstStyle/>
          <a:p>
            <a:pPr algn="l"/>
            <a:r>
              <a:rPr sz="1400" b="0" i="0">
                <a:solidFill>
                  <a:srgbClr val="FFFFFF"/>
                </a:solidFill>
              </a:rPr>
              <a:t>/docs — SETUP.md · USER_GUIDE.md · ADDING_A_PROJECT.md</a:t>
            </a:r>
          </a:p>
        </p:txBody>
      </p:sp>
      <p:sp>
        <p:nvSpPr>
          <p:cNvPr id="9" name="TextBox 8"/>
          <p:cNvSpPr txBox="1"/>
          <p:nvPr/>
        </p:nvSpPr>
        <p:spPr>
          <a:xfrm>
            <a:off x="1828800" y="4882896"/>
            <a:ext cx="8503920" cy="411480"/>
          </a:xfrm>
          <a:prstGeom prst="rect">
            <a:avLst/>
          </a:prstGeom>
          <a:noFill/>
        </p:spPr>
        <p:txBody>
          <a:bodyPr wrap="square">
            <a:spAutoFit/>
          </a:bodyPr>
          <a:lstStyle/>
          <a:p>
            <a:pPr algn="l"/>
            <a:r>
              <a:rPr sz="1400" b="0" i="0">
                <a:solidFill>
                  <a:srgbClr val="FFFFFF"/>
                </a:solidFill>
              </a:rPr>
              <a:t>make test-all — full test suite in under 2 min</a:t>
            </a:r>
          </a:p>
        </p:txBody>
      </p:sp>
      <p:sp>
        <p:nvSpPr>
          <p:cNvPr id="10" name="TextBox 9"/>
          <p:cNvSpPr txBox="1"/>
          <p:nvPr/>
        </p:nvSpPr>
        <p:spPr>
          <a:xfrm>
            <a:off x="1828800" y="5358384"/>
            <a:ext cx="8503920" cy="411480"/>
          </a:xfrm>
          <a:prstGeom prst="rect">
            <a:avLst/>
          </a:prstGeom>
          <a:noFill/>
        </p:spPr>
        <p:txBody>
          <a:bodyPr wrap="square">
            <a:spAutoFit/>
          </a:bodyPr>
          <a:lstStyle/>
          <a:p>
            <a:pPr algn="l"/>
            <a:r>
              <a:rPr sz="1400" b="0" i="0">
                <a:solidFill>
                  <a:srgbClr val="FFFFFF"/>
                </a:solidFill>
              </a:rPr>
              <a:t>make run PROJECT=medtech — running in 60 seconds</a:t>
            </a:r>
          </a:p>
        </p:txBody>
      </p:sp>
      <p:sp>
        <p:nvSpPr>
          <p:cNvPr id="11" name="TextBox 10"/>
          <p:cNvSpPr txBox="1"/>
          <p:nvPr/>
        </p:nvSpPr>
        <p:spPr>
          <a:xfrm>
            <a:off x="1371600" y="5989320"/>
            <a:ext cx="9144000" cy="411480"/>
          </a:xfrm>
          <a:prstGeom prst="rect">
            <a:avLst/>
          </a:prstGeom>
          <a:noFill/>
        </p:spPr>
        <p:txBody>
          <a:bodyPr wrap="square">
            <a:spAutoFit/>
          </a:bodyPr>
          <a:lstStyle/>
          <a:p>
            <a:pPr algn="ctr"/>
            <a:r>
              <a:rPr sz="1000" b="0" i="1">
                <a:solidFill>
                  <a:srgbClr val="647487"/>
                </a:solidFill>
              </a:rPr>
              <a:t>All performance figures and cost estimates are assumption-based — validate before decisions.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 name="TextBox 23"/>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23" name="Rectangle 22"/>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5440680"/>
            <a:ext cx="7955279" cy="457200"/>
          </a:xfrm>
          <a:prstGeom prst="rect">
            <a:avLst/>
          </a:prstGeom>
          <a:noFill/>
        </p:spPr>
        <p:txBody>
          <a:bodyPr wrap="square">
            <a:spAutoFit/>
          </a:bodyPr>
          <a:lstStyle/>
          <a:p>
            <a:pPr algn="l"/>
            <a:r>
              <a:rPr sz="1300" b="0" i="0">
                <a:solidFill>
                  <a:srgbClr val="0D1B2A"/>
                </a:solidFill>
              </a:rPr>
              <a:t>pip install composio-langchain + COMPOSIO_API_KEY — no per-tool code</a:t>
            </a:r>
          </a:p>
        </p:txBody>
      </p:sp>
      <p:sp>
        <p:nvSpPr>
          <p:cNvPr id="21" name="TextBox 20"/>
          <p:cNvSpPr txBox="1"/>
          <p:nvPr/>
        </p:nvSpPr>
        <p:spPr>
          <a:xfrm>
            <a:off x="411480" y="5422392"/>
            <a:ext cx="3291840" cy="457200"/>
          </a:xfrm>
          <a:prstGeom prst="rect">
            <a:avLst/>
          </a:prstGeom>
          <a:noFill/>
        </p:spPr>
        <p:txBody>
          <a:bodyPr wrap="square">
            <a:spAutoFit/>
          </a:bodyPr>
          <a:lstStyle/>
          <a:p>
            <a:pPr algn="ctr"/>
            <a:r>
              <a:rPr sz="1200" b="1" i="0">
                <a:solidFill>
                  <a:srgbClr val="FFFFFF"/>
                </a:solidFill>
              </a:rPr>
              <a:t>Zero Code</a:t>
            </a:r>
          </a:p>
        </p:txBody>
      </p:sp>
      <p:sp>
        <p:nvSpPr>
          <p:cNvPr id="20" name="Rectangle 19"/>
          <p:cNvSpPr/>
          <p:nvPr/>
        </p:nvSpPr>
        <p:spPr>
          <a:xfrm>
            <a:off x="365760" y="5349240"/>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4690872"/>
            <a:ext cx="7955279" cy="457200"/>
          </a:xfrm>
          <a:prstGeom prst="rect">
            <a:avLst/>
          </a:prstGeom>
          <a:noFill/>
        </p:spPr>
        <p:txBody>
          <a:bodyPr wrap="square">
            <a:spAutoFit/>
          </a:bodyPr>
          <a:lstStyle/>
          <a:p>
            <a:pPr algn="l"/>
            <a:r>
              <a:rPr sz="1300" b="0" i="0">
                <a:solidFill>
                  <a:srgbClr val="0D1B2A"/>
                </a:solidFill>
              </a:rPr>
              <a:t>POST /integrations/composio/connect creates a proposal — approve on Dashboard</a:t>
            </a:r>
          </a:p>
        </p:txBody>
      </p:sp>
      <p:sp>
        <p:nvSpPr>
          <p:cNvPr id="18" name="TextBox 17"/>
          <p:cNvSpPr txBox="1"/>
          <p:nvPr/>
        </p:nvSpPr>
        <p:spPr>
          <a:xfrm>
            <a:off x="411480" y="4672584"/>
            <a:ext cx="3291840" cy="457200"/>
          </a:xfrm>
          <a:prstGeom prst="rect">
            <a:avLst/>
          </a:prstGeom>
          <a:noFill/>
        </p:spPr>
        <p:txBody>
          <a:bodyPr wrap="square">
            <a:spAutoFit/>
          </a:bodyPr>
          <a:lstStyle/>
          <a:p>
            <a:pPr algn="ctr"/>
            <a:r>
              <a:rPr sz="1200" b="1" i="0">
                <a:solidFill>
                  <a:srgbClr val="FFFFFF"/>
                </a:solidFill>
              </a:rPr>
              <a:t>HITL Connect</a:t>
            </a:r>
          </a:p>
        </p:txBody>
      </p:sp>
      <p:sp>
        <p:nvSpPr>
          <p:cNvPr id="17" name="Rectangle 16"/>
          <p:cNvSpPr/>
          <p:nvPr/>
        </p:nvSpPr>
        <p:spPr>
          <a:xfrm>
            <a:off x="365760" y="4599432"/>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3941064"/>
            <a:ext cx="7955279" cy="457200"/>
          </a:xfrm>
          <a:prstGeom prst="rect">
            <a:avLst/>
          </a:prstGeom>
          <a:noFill/>
        </p:spPr>
        <p:txBody>
          <a:bodyPr wrap="square">
            <a:spAutoFit/>
          </a:bodyPr>
          <a:lstStyle/>
          <a:p>
            <a:pPr algn="l"/>
            <a:r>
              <a:rPr sz="1300" b="0" i="0">
                <a:solidFill>
                  <a:srgbClr val="0D1B2A"/>
                </a:solidFill>
              </a:rPr>
              <a:t>New Integrations page: connect apps via OAuth, see active tools per solution</a:t>
            </a:r>
          </a:p>
        </p:txBody>
      </p:sp>
      <p:sp>
        <p:nvSpPr>
          <p:cNvPr id="15" name="TextBox 14"/>
          <p:cNvSpPr txBox="1"/>
          <p:nvPr/>
        </p:nvSpPr>
        <p:spPr>
          <a:xfrm>
            <a:off x="411480" y="3922776"/>
            <a:ext cx="3291840" cy="457200"/>
          </a:xfrm>
          <a:prstGeom prst="rect">
            <a:avLst/>
          </a:prstGeom>
          <a:noFill/>
        </p:spPr>
        <p:txBody>
          <a:bodyPr wrap="square">
            <a:spAutoFit/>
          </a:bodyPr>
          <a:lstStyle/>
          <a:p>
            <a:pPr algn="ctr"/>
            <a:r>
              <a:rPr sz="1200" b="1" i="0">
                <a:solidFill>
                  <a:srgbClr val="FFFFFF"/>
                </a:solidFill>
              </a:rPr>
              <a:t>Web UI</a:t>
            </a:r>
          </a:p>
        </p:txBody>
      </p:sp>
      <p:sp>
        <p:nvSpPr>
          <p:cNvPr id="14" name="Rectangle 13"/>
          <p:cNvSpPr/>
          <p:nvPr/>
        </p:nvSpPr>
        <p:spPr>
          <a:xfrm>
            <a:off x="365760" y="3849624"/>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3191256"/>
            <a:ext cx="7955279" cy="457200"/>
          </a:xfrm>
          <a:prstGeom prst="rect">
            <a:avLst/>
          </a:prstGeom>
          <a:noFill/>
        </p:spPr>
        <p:txBody>
          <a:bodyPr wrap="square">
            <a:spAutoFit/>
          </a:bodyPr>
          <a:lstStyle/>
          <a:p>
            <a:pPr algn="l"/>
            <a:r>
              <a:rPr sz="1300" b="0" i="0">
                <a:solidFill>
                  <a:srgbClr val="0D1B2A"/>
                </a:solidFill>
              </a:rPr>
              <a:t>Uses existing langchain_tools.py — composio:github in project.yaml integrations</a:t>
            </a:r>
          </a:p>
        </p:txBody>
      </p:sp>
      <p:sp>
        <p:nvSpPr>
          <p:cNvPr id="12" name="TextBox 11"/>
          <p:cNvSpPr txBox="1"/>
          <p:nvPr/>
        </p:nvSpPr>
        <p:spPr>
          <a:xfrm>
            <a:off x="411480" y="3172968"/>
            <a:ext cx="3291840" cy="457200"/>
          </a:xfrm>
          <a:prstGeom prst="rect">
            <a:avLst/>
          </a:prstGeom>
          <a:noFill/>
        </p:spPr>
        <p:txBody>
          <a:bodyPr wrap="square">
            <a:spAutoFit/>
          </a:bodyPr>
          <a:lstStyle/>
          <a:p>
            <a:pPr algn="ctr"/>
            <a:r>
              <a:rPr sz="1200" b="1" i="0">
                <a:solidFill>
                  <a:srgbClr val="FFFFFF"/>
                </a:solidFill>
              </a:rPr>
              <a:t>LangChain Native</a:t>
            </a:r>
          </a:p>
        </p:txBody>
      </p:sp>
      <p:sp>
        <p:nvSpPr>
          <p:cNvPr id="11" name="Rectangle 10"/>
          <p:cNvSpPr/>
          <p:nvPr/>
        </p:nvSpPr>
        <p:spPr>
          <a:xfrm>
            <a:off x="365760" y="3099816"/>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2441448"/>
            <a:ext cx="7955279" cy="457200"/>
          </a:xfrm>
          <a:prstGeom prst="rect">
            <a:avLst/>
          </a:prstGeom>
          <a:noFill/>
        </p:spPr>
        <p:txBody>
          <a:bodyPr wrap="square">
            <a:spAutoFit/>
          </a:bodyPr>
          <a:lstStyle/>
          <a:p>
            <a:pPr algn="l"/>
            <a:r>
              <a:rPr sz="1300" b="0" i="0">
                <a:solidFill>
                  <a:srgbClr val="0D1B2A"/>
                </a:solidFill>
              </a:rPr>
              <a:t>Composio manages auth flows — SAGE never stores third-party credentials</a:t>
            </a:r>
          </a:p>
        </p:txBody>
      </p:sp>
      <p:sp>
        <p:nvSpPr>
          <p:cNvPr id="9" name="TextBox 8"/>
          <p:cNvSpPr txBox="1"/>
          <p:nvPr/>
        </p:nvSpPr>
        <p:spPr>
          <a:xfrm>
            <a:off x="411480" y="2423160"/>
            <a:ext cx="3291840" cy="457200"/>
          </a:xfrm>
          <a:prstGeom prst="rect">
            <a:avLst/>
          </a:prstGeom>
          <a:noFill/>
        </p:spPr>
        <p:txBody>
          <a:bodyPr wrap="square">
            <a:spAutoFit/>
          </a:bodyPr>
          <a:lstStyle/>
          <a:p>
            <a:pPr algn="ctr"/>
            <a:r>
              <a:rPr sz="1200" b="1" i="0">
                <a:solidFill>
                  <a:srgbClr val="FFFFFF"/>
                </a:solidFill>
              </a:rPr>
              <a:t>OAuth Handled</a:t>
            </a:r>
          </a:p>
        </p:txBody>
      </p:sp>
      <p:sp>
        <p:nvSpPr>
          <p:cNvPr id="8" name="Rectangle 7"/>
          <p:cNvSpPr/>
          <p:nvPr/>
        </p:nvSpPr>
        <p:spPr>
          <a:xfrm>
            <a:off x="365760" y="2350008"/>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691640"/>
            <a:ext cx="7955279" cy="457200"/>
          </a:xfrm>
          <a:prstGeom prst="rect">
            <a:avLst/>
          </a:prstGeom>
          <a:noFill/>
        </p:spPr>
        <p:txBody>
          <a:bodyPr wrap="square">
            <a:spAutoFit/>
          </a:bodyPr>
          <a:lstStyle/>
          <a:p>
            <a:pPr algn="l"/>
            <a:r>
              <a:rPr sz="1300" b="0" i="0">
                <a:solidFill>
                  <a:srgbClr val="0D1B2A"/>
                </a:solidFill>
              </a:rPr>
              <a:t>GitHub, GitLab, Jira, Linear, Slack, Notion, Confluence, Salesforce, HubSpot, Zendesk, Stripe, Google Workspace, and 90+ more</a:t>
            </a:r>
          </a:p>
        </p:txBody>
      </p:sp>
      <p:sp>
        <p:nvSpPr>
          <p:cNvPr id="6" name="TextBox 5"/>
          <p:cNvSpPr txBox="1"/>
          <p:nvPr/>
        </p:nvSpPr>
        <p:spPr>
          <a:xfrm>
            <a:off x="411480" y="1673352"/>
            <a:ext cx="3291840" cy="457200"/>
          </a:xfrm>
          <a:prstGeom prst="rect">
            <a:avLst/>
          </a:prstGeom>
          <a:noFill/>
        </p:spPr>
        <p:txBody>
          <a:bodyPr wrap="square">
            <a:spAutoFit/>
          </a:bodyPr>
          <a:lstStyle/>
          <a:p>
            <a:pPr algn="ctr"/>
            <a:r>
              <a:rPr sz="1200" b="1" i="0">
                <a:solidFill>
                  <a:srgbClr val="FFFFFF"/>
                </a:solidFill>
              </a:rPr>
              <a:t>100+ Apps</a:t>
            </a:r>
          </a:p>
        </p:txBody>
      </p:sp>
      <p:sp>
        <p:nvSpPr>
          <p:cNvPr id="5" name="Rectangle 4"/>
          <p:cNvSpPr/>
          <p:nvPr/>
        </p:nvSpPr>
        <p:spPr>
          <a:xfrm>
            <a:off x="365760" y="1600200"/>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Connect any SaaS tool to SAGE agents — OAuth handled, no per-integration credential code</a:t>
            </a: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Composio Integration — 100+ Tools in One Package</a:t>
            </a:r>
          </a:p>
        </p:txBody>
      </p:sp>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 name="TextBox 23"/>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23" name="Rectangle 22"/>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5440680"/>
            <a:ext cx="7955279" cy="457200"/>
          </a:xfrm>
          <a:prstGeom prst="rect">
            <a:avLst/>
          </a:prstGeom>
          <a:noFill/>
        </p:spPr>
        <p:txBody>
          <a:bodyPr wrap="square">
            <a:spAutoFit/>
          </a:bodyPr>
          <a:lstStyle/>
          <a:p>
            <a:pPr algn="l"/>
            <a:r>
              <a:rPr sz="1300" b="0" i="0">
                <a:solidFill>
                  <a:srgbClr val="0D1B2A"/>
                </a:solidFill>
              </a:rPr>
              <a:t>Medical blue, game studio purple, startup green — no Tailwind dependency</a:t>
            </a:r>
          </a:p>
        </p:txBody>
      </p:sp>
      <p:sp>
        <p:nvSpPr>
          <p:cNvPr id="21" name="TextBox 20"/>
          <p:cNvSpPr txBox="1"/>
          <p:nvPr/>
        </p:nvSpPr>
        <p:spPr>
          <a:xfrm>
            <a:off x="411480" y="5422392"/>
            <a:ext cx="3291840" cy="457200"/>
          </a:xfrm>
          <a:prstGeom prst="rect">
            <a:avLst/>
          </a:prstGeom>
          <a:noFill/>
        </p:spPr>
        <p:txBody>
          <a:bodyPr wrap="square">
            <a:spAutoFit/>
          </a:bodyPr>
          <a:lstStyle/>
          <a:p>
            <a:pPr algn="ctr"/>
            <a:r>
              <a:rPr sz="1200" b="1" i="0">
                <a:solidFill>
                  <a:srgbClr val="FFFFFF"/>
                </a:solidFill>
              </a:rPr>
              <a:t>Example Themes</a:t>
            </a:r>
          </a:p>
        </p:txBody>
      </p:sp>
      <p:sp>
        <p:nvSpPr>
          <p:cNvPr id="20" name="Rectangle 19"/>
          <p:cNvSpPr/>
          <p:nvPr/>
        </p:nvSpPr>
        <p:spPr>
          <a:xfrm>
            <a:off x="365760" y="5349240"/>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4690872"/>
            <a:ext cx="7955279" cy="457200"/>
          </a:xfrm>
          <a:prstGeom prst="rect">
            <a:avLst/>
          </a:prstGeom>
          <a:noFill/>
        </p:spPr>
        <p:txBody>
          <a:bodyPr wrap="square">
            <a:spAutoFit/>
          </a:bodyPr>
          <a:lstStyle/>
          <a:p>
            <a:pPr algn="l"/>
            <a:r>
              <a:rPr sz="1300" b="0" i="0">
                <a:solidFill>
                  <a:srgbClr val="0D1B2A"/>
                </a:solidFill>
              </a:rPr>
              <a:t>ThemeProvider writes CSS variables to document.documentElement — switches instantly</a:t>
            </a:r>
          </a:p>
        </p:txBody>
      </p:sp>
      <p:sp>
        <p:nvSpPr>
          <p:cNvPr id="18" name="TextBox 17"/>
          <p:cNvSpPr txBox="1"/>
          <p:nvPr/>
        </p:nvSpPr>
        <p:spPr>
          <a:xfrm>
            <a:off x="411480" y="4672584"/>
            <a:ext cx="3291840" cy="457200"/>
          </a:xfrm>
          <a:prstGeom prst="rect">
            <a:avLst/>
          </a:prstGeom>
          <a:noFill/>
        </p:spPr>
        <p:txBody>
          <a:bodyPr wrap="square">
            <a:spAutoFit/>
          </a:bodyPr>
          <a:lstStyle/>
          <a:p>
            <a:pPr algn="ctr"/>
            <a:r>
              <a:rPr sz="1200" b="1" i="0">
                <a:solidFill>
                  <a:srgbClr val="FFFFFF"/>
                </a:solidFill>
              </a:rPr>
              <a:t>CSS Variables</a:t>
            </a:r>
          </a:p>
        </p:txBody>
      </p:sp>
      <p:sp>
        <p:nvSpPr>
          <p:cNvPr id="17" name="Rectangle 16"/>
          <p:cNvSpPr/>
          <p:nvPr/>
        </p:nvSpPr>
        <p:spPr>
          <a:xfrm>
            <a:off x="365760" y="4599432"/>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3941064"/>
            <a:ext cx="7955279" cy="457200"/>
          </a:xfrm>
          <a:prstGeom prst="rect">
            <a:avLst/>
          </a:prstGeom>
          <a:noFill/>
        </p:spPr>
        <p:txBody>
          <a:bodyPr wrap="square">
            <a:spAutoFit/>
          </a:bodyPr>
          <a:lstStyle/>
          <a:p>
            <a:pPr algn="l"/>
            <a:r>
              <a:rPr sz="1300" b="0" i="0">
                <a:solidFill>
                  <a:srgbClr val="0D1B2A"/>
                </a:solidFill>
              </a:rPr>
              <a:t>theme: block in project.yaml — sidebar_bg, accent, badge_bg CSS colour strings</a:t>
            </a:r>
          </a:p>
        </p:txBody>
      </p:sp>
      <p:sp>
        <p:nvSpPr>
          <p:cNvPr id="15" name="TextBox 14"/>
          <p:cNvSpPr txBox="1"/>
          <p:nvPr/>
        </p:nvSpPr>
        <p:spPr>
          <a:xfrm>
            <a:off x="411480" y="3922776"/>
            <a:ext cx="3291840" cy="457200"/>
          </a:xfrm>
          <a:prstGeom prst="rect">
            <a:avLst/>
          </a:prstGeom>
          <a:noFill/>
        </p:spPr>
        <p:txBody>
          <a:bodyPr wrap="square">
            <a:spAutoFit/>
          </a:bodyPr>
          <a:lstStyle/>
          <a:p>
            <a:pPr algn="ctr"/>
            <a:r>
              <a:rPr sz="1200" b="1" i="0">
                <a:solidFill>
                  <a:srgbClr val="FFFFFF"/>
                </a:solidFill>
              </a:rPr>
              <a:t>Solution Theming</a:t>
            </a:r>
          </a:p>
        </p:txBody>
      </p:sp>
      <p:sp>
        <p:nvSpPr>
          <p:cNvPr id="14" name="Rectangle 13"/>
          <p:cNvSpPr/>
          <p:nvPr/>
        </p:nvSpPr>
        <p:spPr>
          <a:xfrm>
            <a:off x="365760" y="3849624"/>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3191256"/>
            <a:ext cx="7955279" cy="457200"/>
          </a:xfrm>
          <a:prstGeom prst="rect">
            <a:avLst/>
          </a:prstGeom>
          <a:noFill/>
        </p:spPr>
        <p:txBody>
          <a:bodyPr wrap="square">
            <a:spAutoFit/>
          </a:bodyPr>
          <a:lstStyle/>
          <a:p>
            <a:pPr algn="l"/>
            <a:r>
              <a:rPr sz="1300" b="0" i="0">
                <a:solidFill>
                  <a:srgbClr val="0D1B2A"/>
                </a:solidFill>
              </a:rPr>
              <a:t>Backed by POST /agents/hire — optionally add task types (written to tasks.yaml)</a:t>
            </a:r>
          </a:p>
        </p:txBody>
      </p:sp>
      <p:sp>
        <p:nvSpPr>
          <p:cNvPr id="12" name="TextBox 11"/>
          <p:cNvSpPr txBox="1"/>
          <p:nvPr/>
        </p:nvSpPr>
        <p:spPr>
          <a:xfrm>
            <a:off x="411480" y="3172968"/>
            <a:ext cx="3291840" cy="457200"/>
          </a:xfrm>
          <a:prstGeom prst="rect">
            <a:avLst/>
          </a:prstGeom>
          <a:noFill/>
        </p:spPr>
        <p:txBody>
          <a:bodyPr wrap="square">
            <a:spAutoFit/>
          </a:bodyPr>
          <a:lstStyle/>
          <a:p>
            <a:pPr algn="ctr"/>
            <a:r>
              <a:rPr sz="1200" b="1" i="0">
                <a:solidFill>
                  <a:srgbClr val="FFFFFF"/>
                </a:solidFill>
              </a:rPr>
              <a:t>API Backed</a:t>
            </a:r>
          </a:p>
        </p:txBody>
      </p:sp>
      <p:sp>
        <p:nvSpPr>
          <p:cNvPr id="11" name="Rectangle 10"/>
          <p:cNvSpPr/>
          <p:nvPr/>
        </p:nvSpPr>
        <p:spPr>
          <a:xfrm>
            <a:off x="365760" y="3099816"/>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2441448"/>
            <a:ext cx="7955279" cy="457200"/>
          </a:xfrm>
          <a:prstGeom prst="rect">
            <a:avLst/>
          </a:prstGeom>
          <a:noFill/>
        </p:spPr>
        <p:txBody>
          <a:bodyPr wrap="square">
            <a:spAutoFit/>
          </a:bodyPr>
          <a:lstStyle/>
          <a:p>
            <a:pPr algn="l"/>
            <a:r>
              <a:rPr sz="1300" b="0" i="0">
                <a:solidFill>
                  <a:srgbClr val="0D1B2A"/>
                </a:solidFill>
              </a:rPr>
              <a:t>Creates HITL proposal — approve on Dashboard — role appears in Agents page immediately</a:t>
            </a:r>
          </a:p>
        </p:txBody>
      </p:sp>
      <p:sp>
        <p:nvSpPr>
          <p:cNvPr id="9" name="TextBox 8"/>
          <p:cNvSpPr txBox="1"/>
          <p:nvPr/>
        </p:nvSpPr>
        <p:spPr>
          <a:xfrm>
            <a:off x="411480" y="2423160"/>
            <a:ext cx="3291840" cy="457200"/>
          </a:xfrm>
          <a:prstGeom prst="rect">
            <a:avLst/>
          </a:prstGeom>
          <a:noFill/>
        </p:spPr>
        <p:txBody>
          <a:bodyPr wrap="square">
            <a:spAutoFit/>
          </a:bodyPr>
          <a:lstStyle/>
          <a:p>
            <a:pPr algn="ctr"/>
            <a:r>
              <a:rPr sz="1200" b="1" i="0">
                <a:solidFill>
                  <a:srgbClr val="FFFFFF"/>
                </a:solidFill>
              </a:rPr>
              <a:t>HITL Approval</a:t>
            </a:r>
          </a:p>
        </p:txBody>
      </p:sp>
      <p:sp>
        <p:nvSpPr>
          <p:cNvPr id="8" name="Rectangle 7"/>
          <p:cNvSpPr/>
          <p:nvPr/>
        </p:nvSpPr>
        <p:spPr>
          <a:xfrm>
            <a:off x="365760" y="2350008"/>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691640"/>
            <a:ext cx="7955279" cy="457200"/>
          </a:xfrm>
          <a:prstGeom prst="rect">
            <a:avLst/>
          </a:prstGeom>
          <a:noFill/>
        </p:spPr>
        <p:txBody>
          <a:bodyPr wrap="square">
            <a:spAutoFit/>
          </a:bodyPr>
          <a:lstStyle/>
          <a:p>
            <a:pPr algn="l"/>
            <a:r>
              <a:rPr sz="1300" b="0" i="0">
                <a:solidFill>
                  <a:srgbClr val="0D1B2A"/>
                </a:solidFill>
              </a:rPr>
              <a:t>From the web UI, click Hire Agent — choose icon, name, description, system prompt</a:t>
            </a:r>
          </a:p>
        </p:txBody>
      </p:sp>
      <p:sp>
        <p:nvSpPr>
          <p:cNvPr id="6" name="TextBox 5"/>
          <p:cNvSpPr txBox="1"/>
          <p:nvPr/>
        </p:nvSpPr>
        <p:spPr>
          <a:xfrm>
            <a:off x="411480" y="1673352"/>
            <a:ext cx="3291840" cy="457200"/>
          </a:xfrm>
          <a:prstGeom prst="rect">
            <a:avLst/>
          </a:prstGeom>
          <a:noFill/>
        </p:spPr>
        <p:txBody>
          <a:bodyPr wrap="square">
            <a:spAutoFit/>
          </a:bodyPr>
          <a:lstStyle/>
          <a:p>
            <a:pPr algn="ctr"/>
            <a:r>
              <a:rPr sz="1200" b="1" i="0">
                <a:solidFill>
                  <a:srgbClr val="FFFFFF"/>
                </a:solidFill>
              </a:rPr>
              <a:t>Hire Agent (Web UI)</a:t>
            </a:r>
          </a:p>
        </p:txBody>
      </p:sp>
      <p:sp>
        <p:nvSpPr>
          <p:cNvPr id="5" name="Rectangle 4"/>
          <p:cNvSpPr/>
          <p:nvPr/>
        </p:nvSpPr>
        <p:spPr>
          <a:xfrm>
            <a:off x="365760" y="1600200"/>
            <a:ext cx="338328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Extend agents and brand the UI without touching code or YAML files</a:t>
            </a: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Hire Agent &amp; Solution Theming — Runtime Customisation</a:t>
            </a:r>
          </a:p>
        </p:txBody>
      </p:sp>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