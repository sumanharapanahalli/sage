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9" r:id="rId30"/>
    <p:sldId id="280" r:id="rId31"/>
    <p:sldId id="277" r:id="rId28"/>
    <p:sldId id="278" r:id="rId2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2.xml"/><Relationship Id="rId31"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937760"/>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914400"/>
            <a:ext cx="10058400" cy="1097280"/>
          </a:xfrm>
          <a:prstGeom prst="rect">
            <a:avLst/>
          </a:prstGeom>
          <a:noFill/>
        </p:spPr>
        <p:txBody>
          <a:bodyPr wrap="square">
            <a:spAutoFit/>
          </a:bodyPr>
          <a:lstStyle/>
          <a:p>
            <a:pPr algn="ctr"/>
            <a:r>
              <a:rPr sz="5800" b="1" i="0">
                <a:solidFill>
                  <a:srgbClr val="FFFFFF"/>
                </a:solidFill>
              </a:rPr>
              <a:t>SAGE Framework</a:t>
            </a:r>
          </a:p>
        </p:txBody>
      </p:sp>
      <p:sp>
        <p:nvSpPr>
          <p:cNvPr id="6" name="TextBox 5"/>
          <p:cNvSpPr txBox="1"/>
          <p:nvPr/>
        </p:nvSpPr>
        <p:spPr>
          <a:xfrm>
            <a:off x="914400" y="2103120"/>
            <a:ext cx="10058400" cy="594360"/>
          </a:xfrm>
          <a:prstGeom prst="rect">
            <a:avLst/>
          </a:prstGeom>
          <a:noFill/>
        </p:spPr>
        <p:txBody>
          <a:bodyPr wrap="square">
            <a:spAutoFit/>
          </a:bodyPr>
          <a:lstStyle/>
          <a:p>
            <a:pPr algn="ctr"/>
            <a:r>
              <a:rPr sz="2400" b="0" i="0">
                <a:solidFill>
                  <a:srgbClr val="00B4D8"/>
                </a:solidFill>
              </a:rPr>
              <a:t>Smart Agentic-Guided Empowerment</a:t>
            </a:r>
          </a:p>
        </p:txBody>
      </p:sp>
      <p:sp>
        <p:nvSpPr>
          <p:cNvPr id="7" name="TextBox 6"/>
          <p:cNvSpPr txBox="1"/>
          <p:nvPr/>
        </p:nvSpPr>
        <p:spPr>
          <a:xfrm>
            <a:off x="1371600" y="2834640"/>
            <a:ext cx="9144000" cy="822960"/>
          </a:xfrm>
          <a:prstGeom prst="rect">
            <a:avLst/>
          </a:prstGeom>
          <a:noFill/>
        </p:spPr>
        <p:txBody>
          <a:bodyPr wrap="square">
            <a:spAutoFit/>
          </a:bodyPr>
          <a:lstStyle/>
          <a:p>
            <a:pPr algn="ctr"/>
            <a:r>
              <a:rPr sz="1700" b="0" i="1">
                <a:solidFill>
                  <a:srgbClr val="647487"/>
                </a:solidFill>
              </a:rPr>
              <a:t>A modular open-source AI agent framework
built on lean development methodology at machine speed</a:t>
            </a:r>
          </a:p>
        </p:txBody>
      </p:sp>
      <p:sp>
        <p:nvSpPr>
          <p:cNvPr id="8" name="TextBox 7"/>
          <p:cNvSpPr txBox="1"/>
          <p:nvPr/>
        </p:nvSpPr>
        <p:spPr>
          <a:xfrm>
            <a:off x="914400" y="5212080"/>
            <a:ext cx="10058400" cy="411480"/>
          </a:xfrm>
          <a:prstGeom prst="rect">
            <a:avLst/>
          </a:prstGeom>
          <a:noFill/>
        </p:spPr>
        <p:txBody>
          <a:bodyPr wrap="square">
            <a:spAutoFit/>
          </a:bodyPr>
          <a:lstStyle/>
          <a:p>
            <a:pPr algn="ctr"/>
            <a:r>
              <a:rPr sz="1400" b="0" i="0">
                <a:solidFill>
                  <a:srgbClr val="647487"/>
                </a:solidFill>
              </a:rPr>
              <a:t>Open Source (Apache 2.0) — Technical Platform Overview — March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The Core Thesis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Lean development is the natural pairing for agentic AI</a:t>
            </a:r>
          </a:p>
        </p:txBody>
      </p:sp>
      <p:sp>
        <p:nvSpPr>
          <p:cNvPr id="5" name="Rectangle 4"/>
          <p:cNvSpPr/>
          <p:nvPr/>
        </p:nvSpPr>
        <p:spPr>
          <a:xfrm>
            <a:off x="411480" y="1600200"/>
            <a:ext cx="109728"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00200"/>
            <a:ext cx="10515600" cy="347472"/>
          </a:xfrm>
          <a:prstGeom prst="rect">
            <a:avLst/>
          </a:prstGeom>
          <a:noFill/>
        </p:spPr>
        <p:txBody>
          <a:bodyPr wrap="square">
            <a:spAutoFit/>
          </a:bodyPr>
          <a:lstStyle/>
          <a:p>
            <a:pPr algn="l"/>
            <a:r>
              <a:rPr sz="1500" b="1" i="0">
                <a:solidFill>
                  <a:srgbClr val="0078D4"/>
                </a:solidFill>
              </a:rPr>
              <a:t>Eliminate Waste</a:t>
            </a:r>
          </a:p>
        </p:txBody>
      </p:sp>
      <p:sp>
        <p:nvSpPr>
          <p:cNvPr id="7" name="TextBox 6"/>
          <p:cNvSpPr txBox="1"/>
          <p:nvPr/>
        </p:nvSpPr>
        <p:spPr>
          <a:xfrm>
            <a:off x="685800" y="1920240"/>
            <a:ext cx="10515600" cy="347472"/>
          </a:xfrm>
          <a:prstGeom prst="rect">
            <a:avLst/>
          </a:prstGeom>
          <a:noFill/>
        </p:spPr>
        <p:txBody>
          <a:bodyPr wrap="square">
            <a:spAutoFit/>
          </a:bodyPr>
          <a:lstStyle/>
          <a:p>
            <a:pPr algn="l"/>
            <a:r>
              <a:rPr sz="1300" b="0" i="0">
                <a:solidFill>
                  <a:srgbClr val="0D1B2A"/>
                </a:solidFill>
              </a:rPr>
              <a:t>Agents handle the repetitive — humans handle the judgment</a:t>
            </a:r>
          </a:p>
        </p:txBody>
      </p:sp>
      <p:sp>
        <p:nvSpPr>
          <p:cNvPr id="8" name="Rectangle 7"/>
          <p:cNvSpPr/>
          <p:nvPr/>
        </p:nvSpPr>
        <p:spPr>
          <a:xfrm>
            <a:off x="411480" y="2560320"/>
            <a:ext cx="109728"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60320"/>
            <a:ext cx="10515600" cy="347472"/>
          </a:xfrm>
          <a:prstGeom prst="rect">
            <a:avLst/>
          </a:prstGeom>
          <a:noFill/>
        </p:spPr>
        <p:txBody>
          <a:bodyPr wrap="square">
            <a:spAutoFit/>
          </a:bodyPr>
          <a:lstStyle/>
          <a:p>
            <a:pPr algn="l"/>
            <a:r>
              <a:rPr sz="1500" b="1" i="0">
                <a:solidFill>
                  <a:srgbClr val="0078D4"/>
                </a:solidFill>
              </a:rPr>
              <a:t>Shorten Feedback Loops</a:t>
            </a:r>
          </a:p>
        </p:txBody>
      </p:sp>
      <p:sp>
        <p:nvSpPr>
          <p:cNvPr id="10" name="TextBox 9"/>
          <p:cNvSpPr txBox="1"/>
          <p:nvPr/>
        </p:nvSpPr>
        <p:spPr>
          <a:xfrm>
            <a:off x="685800" y="2880360"/>
            <a:ext cx="10515600" cy="347472"/>
          </a:xfrm>
          <a:prstGeom prst="rect">
            <a:avLst/>
          </a:prstGeom>
          <a:noFill/>
        </p:spPr>
        <p:txBody>
          <a:bodyPr wrap="square">
            <a:spAutoFit/>
          </a:bodyPr>
          <a:lstStyle/>
          <a:p>
            <a:pPr algn="l"/>
            <a:r>
              <a:rPr sz="1300" b="0" i="0">
                <a:solidFill>
                  <a:srgbClr val="0D1B2A"/>
                </a:solidFill>
              </a:rPr>
              <a:t>Surface → Propose → Decide → Compound in seconds, not days</a:t>
            </a:r>
          </a:p>
        </p:txBody>
      </p:sp>
      <p:sp>
        <p:nvSpPr>
          <p:cNvPr id="11" name="Rectangle 10"/>
          <p:cNvSpPr/>
          <p:nvPr/>
        </p:nvSpPr>
        <p:spPr>
          <a:xfrm>
            <a:off x="411480" y="3520440"/>
            <a:ext cx="109728"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520440"/>
            <a:ext cx="10515600" cy="347472"/>
          </a:xfrm>
          <a:prstGeom prst="rect">
            <a:avLst/>
          </a:prstGeom>
          <a:noFill/>
        </p:spPr>
        <p:txBody>
          <a:bodyPr wrap="square">
            <a:spAutoFit/>
          </a:bodyPr>
          <a:lstStyle/>
          <a:p>
            <a:pPr algn="l"/>
            <a:r>
              <a:rPr sz="1500" b="1" i="0">
                <a:solidFill>
                  <a:srgbClr val="0078D4"/>
                </a:solidFill>
              </a:rPr>
              <a:t>Amplify Human Judgment</a:t>
            </a:r>
          </a:p>
        </p:txBody>
      </p:sp>
      <p:sp>
        <p:nvSpPr>
          <p:cNvPr id="13" name="TextBox 12"/>
          <p:cNvSpPr txBox="1"/>
          <p:nvPr/>
        </p:nvSpPr>
        <p:spPr>
          <a:xfrm>
            <a:off x="685800" y="3840480"/>
            <a:ext cx="10515600" cy="347472"/>
          </a:xfrm>
          <a:prstGeom prst="rect">
            <a:avLst/>
          </a:prstGeom>
          <a:noFill/>
        </p:spPr>
        <p:txBody>
          <a:bodyPr wrap="square">
            <a:spAutoFit/>
          </a:bodyPr>
          <a:lstStyle/>
          <a:p>
            <a:pPr algn="l"/>
            <a:r>
              <a:rPr sz="1300" b="0" i="0">
                <a:solidFill>
                  <a:srgbClr val="0D1B2A"/>
                </a:solidFill>
              </a:rPr>
              <a:t>Every proposal waits for a human gate — compliance guaranteed</a:t>
            </a:r>
          </a:p>
        </p:txBody>
      </p:sp>
      <p:sp>
        <p:nvSpPr>
          <p:cNvPr id="14" name="Rectangle 13"/>
          <p:cNvSpPr/>
          <p:nvPr/>
        </p:nvSpPr>
        <p:spPr>
          <a:xfrm>
            <a:off x="411480" y="4480560"/>
            <a:ext cx="109728"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480560"/>
            <a:ext cx="10515600" cy="347472"/>
          </a:xfrm>
          <a:prstGeom prst="rect">
            <a:avLst/>
          </a:prstGeom>
          <a:noFill/>
        </p:spPr>
        <p:txBody>
          <a:bodyPr wrap="square">
            <a:spAutoFit/>
          </a:bodyPr>
          <a:lstStyle/>
          <a:p>
            <a:pPr algn="l"/>
            <a:r>
              <a:rPr sz="1500" b="1" i="0">
                <a:solidFill>
                  <a:srgbClr val="0078D4"/>
                </a:solidFill>
              </a:rPr>
              <a:t>Compound Intelligence</a:t>
            </a:r>
          </a:p>
        </p:txBody>
      </p:sp>
      <p:sp>
        <p:nvSpPr>
          <p:cNvPr id="16" name="TextBox 15"/>
          <p:cNvSpPr txBox="1"/>
          <p:nvPr/>
        </p:nvSpPr>
        <p:spPr>
          <a:xfrm>
            <a:off x="685800" y="4800600"/>
            <a:ext cx="10515600" cy="347472"/>
          </a:xfrm>
          <a:prstGeom prst="rect">
            <a:avLst/>
          </a:prstGeom>
          <a:noFill/>
        </p:spPr>
        <p:txBody>
          <a:bodyPr wrap="square">
            <a:spAutoFit/>
          </a:bodyPr>
          <a:lstStyle/>
          <a:p>
            <a:pPr algn="l"/>
            <a:r>
              <a:rPr sz="1300" b="0" i="0">
                <a:solidFill>
                  <a:srgbClr val="0D1B2A"/>
                </a:solidFill>
              </a:rPr>
              <a:t>Every correction feeds the vector store — the system gets smarter with use</a:t>
            </a:r>
          </a:p>
        </p:txBody>
      </p:sp>
      <p:sp>
        <p:nvSpPr>
          <p:cNvPr id="17" name="Rectangle 1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The SAGE Lean Loop</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Every task follows this five-phase cycle — no phase is skippable</a:t>
            </a:r>
          </a:p>
        </p:txBody>
      </p:sp>
      <p:sp>
        <p:nvSpPr>
          <p:cNvPr id="5" name="Rectangle 4"/>
          <p:cNvSpPr/>
          <p:nvPr/>
        </p:nvSpPr>
        <p:spPr>
          <a:xfrm>
            <a:off x="228600" y="1645920"/>
            <a:ext cx="2194560" cy="34747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1737360"/>
            <a:ext cx="2011680" cy="822960"/>
          </a:xfrm>
          <a:prstGeom prst="rect">
            <a:avLst/>
          </a:prstGeom>
          <a:noFill/>
        </p:spPr>
        <p:txBody>
          <a:bodyPr wrap="square">
            <a:spAutoFit/>
          </a:bodyPr>
          <a:lstStyle/>
          <a:p>
            <a:pPr algn="ctr"/>
            <a:r>
              <a:rPr sz="1400" b="1" i="0">
                <a:solidFill>
                  <a:srgbClr val="FFFFFF"/>
                </a:solidFill>
              </a:rPr>
              <a:t>1
SURFACE</a:t>
            </a:r>
          </a:p>
        </p:txBody>
      </p:sp>
      <p:sp>
        <p:nvSpPr>
          <p:cNvPr id="7" name="TextBox 6"/>
          <p:cNvSpPr txBox="1"/>
          <p:nvPr/>
        </p:nvSpPr>
        <p:spPr>
          <a:xfrm>
            <a:off x="320040" y="2651760"/>
            <a:ext cx="2011680" cy="1828800"/>
          </a:xfrm>
          <a:prstGeom prst="rect">
            <a:avLst/>
          </a:prstGeom>
          <a:noFill/>
        </p:spPr>
        <p:txBody>
          <a:bodyPr wrap="square">
            <a:spAutoFit/>
          </a:bodyPr>
          <a:lstStyle/>
          <a:p>
            <a:pPr algn="ctr"/>
            <a:r>
              <a:rPr sz="1200" b="0" i="0">
                <a:solidFill>
                  <a:srgbClr val="FFFFFF"/>
                </a:solidFill>
              </a:rPr>
              <a:t>Agent detects or receives signal
(log, webhook, trigger)</a:t>
            </a:r>
          </a:p>
        </p:txBody>
      </p:sp>
      <p:sp>
        <p:nvSpPr>
          <p:cNvPr id="8" name="TextBox 7"/>
          <p:cNvSpPr txBox="1"/>
          <p:nvPr/>
        </p:nvSpPr>
        <p:spPr>
          <a:xfrm>
            <a:off x="2423160" y="2926080"/>
            <a:ext cx="274320" cy="457200"/>
          </a:xfrm>
          <a:prstGeom prst="rect">
            <a:avLst/>
          </a:prstGeom>
          <a:noFill/>
        </p:spPr>
        <p:txBody>
          <a:bodyPr wrap="square">
            <a:spAutoFit/>
          </a:bodyPr>
          <a:lstStyle/>
          <a:p>
            <a:pPr algn="ctr"/>
            <a:r>
              <a:rPr sz="2200" b="1" i="0">
                <a:solidFill>
                  <a:srgbClr val="0D1B2A"/>
                </a:solidFill>
              </a:rPr>
              <a:t>→</a:t>
            </a:r>
          </a:p>
        </p:txBody>
      </p:sp>
      <p:sp>
        <p:nvSpPr>
          <p:cNvPr id="9" name="Rectangle 8"/>
          <p:cNvSpPr/>
          <p:nvPr/>
        </p:nvSpPr>
        <p:spPr>
          <a:xfrm>
            <a:off x="2679192" y="1645920"/>
            <a:ext cx="2194560" cy="3474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70632" y="1737360"/>
            <a:ext cx="2011680" cy="822960"/>
          </a:xfrm>
          <a:prstGeom prst="rect">
            <a:avLst/>
          </a:prstGeom>
          <a:noFill/>
        </p:spPr>
        <p:txBody>
          <a:bodyPr wrap="square">
            <a:spAutoFit/>
          </a:bodyPr>
          <a:lstStyle/>
          <a:p>
            <a:pPr algn="ctr"/>
            <a:r>
              <a:rPr sz="1400" b="1" i="0">
                <a:solidFill>
                  <a:srgbClr val="FFFFFF"/>
                </a:solidFill>
              </a:rPr>
              <a:t>2
CONTEXTUALIZE</a:t>
            </a:r>
          </a:p>
        </p:txBody>
      </p:sp>
      <p:sp>
        <p:nvSpPr>
          <p:cNvPr id="11" name="TextBox 10"/>
          <p:cNvSpPr txBox="1"/>
          <p:nvPr/>
        </p:nvSpPr>
        <p:spPr>
          <a:xfrm>
            <a:off x="2770632" y="2651760"/>
            <a:ext cx="2011680" cy="1828800"/>
          </a:xfrm>
          <a:prstGeom prst="rect">
            <a:avLst/>
          </a:prstGeom>
          <a:noFill/>
        </p:spPr>
        <p:txBody>
          <a:bodyPr wrap="square">
            <a:spAutoFit/>
          </a:bodyPr>
          <a:lstStyle/>
          <a:p>
            <a:pPr algn="ctr"/>
            <a:r>
              <a:rPr sz="1200" b="0" i="0">
                <a:solidFill>
                  <a:srgbClr val="FFFFFF"/>
                </a:solidFill>
              </a:rPr>
              <a:t>Vector memory searched;
prior decisions retrieved</a:t>
            </a:r>
          </a:p>
        </p:txBody>
      </p:sp>
      <p:sp>
        <p:nvSpPr>
          <p:cNvPr id="12" name="TextBox 11"/>
          <p:cNvSpPr txBox="1"/>
          <p:nvPr/>
        </p:nvSpPr>
        <p:spPr>
          <a:xfrm>
            <a:off x="4873752" y="2926080"/>
            <a:ext cx="274320" cy="457200"/>
          </a:xfrm>
          <a:prstGeom prst="rect">
            <a:avLst/>
          </a:prstGeom>
          <a:noFill/>
        </p:spPr>
        <p:txBody>
          <a:bodyPr wrap="square">
            <a:spAutoFit/>
          </a:bodyPr>
          <a:lstStyle/>
          <a:p>
            <a:pPr algn="ctr"/>
            <a:r>
              <a:rPr sz="2200" b="1" i="0">
                <a:solidFill>
                  <a:srgbClr val="0D1B2A"/>
                </a:solidFill>
              </a:rPr>
              <a:t>→</a:t>
            </a:r>
          </a:p>
        </p:txBody>
      </p:sp>
      <p:sp>
        <p:nvSpPr>
          <p:cNvPr id="13" name="Rectangle 12"/>
          <p:cNvSpPr/>
          <p:nvPr/>
        </p:nvSpPr>
        <p:spPr>
          <a:xfrm>
            <a:off x="5129784" y="1645920"/>
            <a:ext cx="2194560" cy="3474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21224" y="1737360"/>
            <a:ext cx="2011680" cy="822960"/>
          </a:xfrm>
          <a:prstGeom prst="rect">
            <a:avLst/>
          </a:prstGeom>
          <a:noFill/>
        </p:spPr>
        <p:txBody>
          <a:bodyPr wrap="square">
            <a:spAutoFit/>
          </a:bodyPr>
          <a:lstStyle/>
          <a:p>
            <a:pPr algn="ctr"/>
            <a:r>
              <a:rPr sz="1400" b="1" i="0">
                <a:solidFill>
                  <a:srgbClr val="FFFFFF"/>
                </a:solidFill>
              </a:rPr>
              <a:t>3
PROPOSE</a:t>
            </a:r>
          </a:p>
        </p:txBody>
      </p:sp>
      <p:sp>
        <p:nvSpPr>
          <p:cNvPr id="15" name="TextBox 14"/>
          <p:cNvSpPr txBox="1"/>
          <p:nvPr/>
        </p:nvSpPr>
        <p:spPr>
          <a:xfrm>
            <a:off x="5221224" y="2651760"/>
            <a:ext cx="2011680" cy="1828800"/>
          </a:xfrm>
          <a:prstGeom prst="rect">
            <a:avLst/>
          </a:prstGeom>
          <a:noFill/>
        </p:spPr>
        <p:txBody>
          <a:bodyPr wrap="square">
            <a:spAutoFit/>
          </a:bodyPr>
          <a:lstStyle/>
          <a:p>
            <a:pPr algn="ctr"/>
            <a:r>
              <a:rPr sz="1200" b="0" i="0">
                <a:solidFill>
                  <a:srgbClr val="FFFFFF"/>
                </a:solidFill>
              </a:rPr>
              <a:t>LLM generates action proposal
with trace_id</a:t>
            </a:r>
          </a:p>
        </p:txBody>
      </p:sp>
      <p:sp>
        <p:nvSpPr>
          <p:cNvPr id="16" name="TextBox 15"/>
          <p:cNvSpPr txBox="1"/>
          <p:nvPr/>
        </p:nvSpPr>
        <p:spPr>
          <a:xfrm>
            <a:off x="7324344" y="2926080"/>
            <a:ext cx="274320" cy="457200"/>
          </a:xfrm>
          <a:prstGeom prst="rect">
            <a:avLst/>
          </a:prstGeom>
          <a:noFill/>
        </p:spPr>
        <p:txBody>
          <a:bodyPr wrap="square">
            <a:spAutoFit/>
          </a:bodyPr>
          <a:lstStyle/>
          <a:p>
            <a:pPr algn="ctr"/>
            <a:r>
              <a:rPr sz="2200" b="1" i="0">
                <a:solidFill>
                  <a:srgbClr val="0D1B2A"/>
                </a:solidFill>
              </a:rPr>
              <a:t>→</a:t>
            </a:r>
          </a:p>
        </p:txBody>
      </p:sp>
      <p:sp>
        <p:nvSpPr>
          <p:cNvPr id="17" name="Rectangle 16"/>
          <p:cNvSpPr/>
          <p:nvPr/>
        </p:nvSpPr>
        <p:spPr>
          <a:xfrm>
            <a:off x="7580376" y="1645920"/>
            <a:ext cx="2194560" cy="347472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1737360"/>
            <a:ext cx="2011680" cy="822960"/>
          </a:xfrm>
          <a:prstGeom prst="rect">
            <a:avLst/>
          </a:prstGeom>
          <a:noFill/>
        </p:spPr>
        <p:txBody>
          <a:bodyPr wrap="square">
            <a:spAutoFit/>
          </a:bodyPr>
          <a:lstStyle/>
          <a:p>
            <a:pPr algn="ctr"/>
            <a:r>
              <a:rPr sz="1400" b="1" i="0">
                <a:solidFill>
                  <a:srgbClr val="FFFFFF"/>
                </a:solidFill>
              </a:rPr>
              <a:t>4
DECIDE</a:t>
            </a:r>
          </a:p>
        </p:txBody>
      </p:sp>
      <p:sp>
        <p:nvSpPr>
          <p:cNvPr id="19" name="TextBox 18"/>
          <p:cNvSpPr txBox="1"/>
          <p:nvPr/>
        </p:nvSpPr>
        <p:spPr>
          <a:xfrm>
            <a:off x="7671816" y="2651760"/>
            <a:ext cx="2011680" cy="1828800"/>
          </a:xfrm>
          <a:prstGeom prst="rect">
            <a:avLst/>
          </a:prstGeom>
          <a:noFill/>
        </p:spPr>
        <p:txBody>
          <a:bodyPr wrap="square">
            <a:spAutoFit/>
          </a:bodyPr>
          <a:lstStyle/>
          <a:p>
            <a:pPr algn="ctr"/>
            <a:r>
              <a:rPr sz="1200" b="0" i="0">
                <a:solidFill>
                  <a:srgbClr val="FFFFFF"/>
                </a:solidFill>
              </a:rPr>
              <a:t>Human reviews, approves
or rejects with feedback</a:t>
            </a:r>
          </a:p>
        </p:txBody>
      </p:sp>
      <p:sp>
        <p:nvSpPr>
          <p:cNvPr id="20" name="TextBox 19"/>
          <p:cNvSpPr txBox="1"/>
          <p:nvPr/>
        </p:nvSpPr>
        <p:spPr>
          <a:xfrm>
            <a:off x="9774936" y="2926080"/>
            <a:ext cx="274320" cy="457200"/>
          </a:xfrm>
          <a:prstGeom prst="rect">
            <a:avLst/>
          </a:prstGeom>
          <a:noFill/>
        </p:spPr>
        <p:txBody>
          <a:bodyPr wrap="square">
            <a:spAutoFit/>
          </a:bodyPr>
          <a:lstStyle/>
          <a:p>
            <a:pPr algn="ctr"/>
            <a:r>
              <a:rPr sz="2200" b="1" i="0">
                <a:solidFill>
                  <a:srgbClr val="0D1B2A"/>
                </a:solidFill>
              </a:rPr>
              <a:t>→</a:t>
            </a:r>
          </a:p>
        </p:txBody>
      </p:sp>
      <p:sp>
        <p:nvSpPr>
          <p:cNvPr id="21" name="Rectangle 20"/>
          <p:cNvSpPr/>
          <p:nvPr/>
        </p:nvSpPr>
        <p:spPr>
          <a:xfrm>
            <a:off x="10030968" y="1645920"/>
            <a:ext cx="2194560" cy="347472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22408" y="1737360"/>
            <a:ext cx="2011680" cy="822960"/>
          </a:xfrm>
          <a:prstGeom prst="rect">
            <a:avLst/>
          </a:prstGeom>
          <a:noFill/>
        </p:spPr>
        <p:txBody>
          <a:bodyPr wrap="square">
            <a:spAutoFit/>
          </a:bodyPr>
          <a:lstStyle/>
          <a:p>
            <a:pPr algn="ctr"/>
            <a:r>
              <a:rPr sz="1400" b="1" i="0">
                <a:solidFill>
                  <a:srgbClr val="FFFFFF"/>
                </a:solidFill>
              </a:rPr>
              <a:t>5
COMPOUND</a:t>
            </a:r>
          </a:p>
        </p:txBody>
      </p:sp>
      <p:sp>
        <p:nvSpPr>
          <p:cNvPr id="23" name="TextBox 22"/>
          <p:cNvSpPr txBox="1"/>
          <p:nvPr/>
        </p:nvSpPr>
        <p:spPr>
          <a:xfrm>
            <a:off x="10122408" y="2651760"/>
            <a:ext cx="2011680" cy="1828800"/>
          </a:xfrm>
          <a:prstGeom prst="rect">
            <a:avLst/>
          </a:prstGeom>
          <a:noFill/>
        </p:spPr>
        <p:txBody>
          <a:bodyPr wrap="square">
            <a:spAutoFit/>
          </a:bodyPr>
          <a:lstStyle/>
          <a:p>
            <a:pPr algn="ctr"/>
            <a:r>
              <a:rPr sz="1200" b="0" i="0">
                <a:solidFill>
                  <a:srgbClr val="FFFFFF"/>
                </a:solidFill>
              </a:rPr>
              <a:t>Feedback ingested into vector store;
audit log updated</a:t>
            </a:r>
          </a:p>
        </p:txBody>
      </p:sp>
      <p:sp>
        <p:nvSpPr>
          <p:cNvPr id="24" name="TextBox 23"/>
          <p:cNvSpPr txBox="1"/>
          <p:nvPr/>
        </p:nvSpPr>
        <p:spPr>
          <a:xfrm>
            <a:off x="457200" y="5349240"/>
            <a:ext cx="11247120" cy="411480"/>
          </a:xfrm>
          <a:prstGeom prst="rect">
            <a:avLst/>
          </a:prstGeom>
          <a:noFill/>
        </p:spPr>
        <p:txBody>
          <a:bodyPr wrap="square">
            <a:spAutoFit/>
          </a:bodyPr>
          <a:lstStyle/>
          <a:p>
            <a:pPr algn="ctr"/>
            <a:r>
              <a:rPr sz="1300" b="1" i="1">
                <a:solidFill>
                  <a:srgbClr val="0078D4"/>
                </a:solidFill>
              </a:rPr>
              <a:t>Phase 5 feeds Phase 2 for every future task — this is compounding intelligence.</a:t>
            </a:r>
          </a:p>
        </p:txBody>
      </p:sp>
      <p:sp>
        <p:nvSpPr>
          <p:cNvPr id="25" name="Rectangle 24"/>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Architecture Overview</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Framework is domain-blind — solutions are YAML configs, not code</a:t>
            </a:r>
          </a:p>
        </p:txBody>
      </p:sp>
      <p:sp>
        <p:nvSpPr>
          <p:cNvPr id="5" name="Rectangle 4"/>
          <p:cNvSpPr/>
          <p:nvPr/>
        </p:nvSpPr>
        <p:spPr>
          <a:xfrm>
            <a:off x="365760" y="1463040"/>
            <a:ext cx="2286000" cy="54864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508760"/>
            <a:ext cx="2194560" cy="457200"/>
          </a:xfrm>
          <a:prstGeom prst="rect">
            <a:avLst/>
          </a:prstGeom>
          <a:noFill/>
        </p:spPr>
        <p:txBody>
          <a:bodyPr wrap="square">
            <a:spAutoFit/>
          </a:bodyPr>
          <a:lstStyle/>
          <a:p>
            <a:pPr algn="ctr"/>
            <a:r>
              <a:rPr sz="1200" b="1" i="0">
                <a:solidFill>
                  <a:srgbClr val="FFFFFF"/>
                </a:solidFill>
              </a:rPr>
              <a:t>solutions/&lt;name&gt;/</a:t>
            </a:r>
          </a:p>
        </p:txBody>
      </p:sp>
      <p:sp>
        <p:nvSpPr>
          <p:cNvPr id="7" name="TextBox 6"/>
          <p:cNvSpPr txBox="1"/>
          <p:nvPr/>
        </p:nvSpPr>
        <p:spPr>
          <a:xfrm>
            <a:off x="2834640" y="1554480"/>
            <a:ext cx="8961120" cy="384048"/>
          </a:xfrm>
          <a:prstGeom prst="rect">
            <a:avLst/>
          </a:prstGeom>
          <a:noFill/>
        </p:spPr>
        <p:txBody>
          <a:bodyPr wrap="square">
            <a:spAutoFit/>
          </a:bodyPr>
          <a:lstStyle/>
          <a:p>
            <a:pPr algn="l"/>
            <a:r>
              <a:rPr sz="1300" b="0" i="0">
                <a:solidFill>
                  <a:srgbClr val="0D1B2A"/>
                </a:solidFill>
              </a:rPr>
              <a:t>3 YAML files · tests · tools — fully replaceable per domain</a:t>
            </a:r>
          </a:p>
        </p:txBody>
      </p:sp>
      <p:sp>
        <p:nvSpPr>
          <p:cNvPr id="8" name="Rectangle 7"/>
          <p:cNvSpPr/>
          <p:nvPr/>
        </p:nvSpPr>
        <p:spPr>
          <a:xfrm>
            <a:off x="365760" y="2148840"/>
            <a:ext cx="2286000" cy="5486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2194560"/>
            <a:ext cx="2194560" cy="457200"/>
          </a:xfrm>
          <a:prstGeom prst="rect">
            <a:avLst/>
          </a:prstGeom>
          <a:noFill/>
        </p:spPr>
        <p:txBody>
          <a:bodyPr wrap="square">
            <a:spAutoFit/>
          </a:bodyPr>
          <a:lstStyle/>
          <a:p>
            <a:pPr algn="ctr"/>
            <a:r>
              <a:rPr sz="1200" b="1" i="0">
                <a:solidFill>
                  <a:srgbClr val="FFFFFF"/>
                </a:solidFill>
              </a:rPr>
              <a:t>src/core/</a:t>
            </a:r>
          </a:p>
        </p:txBody>
      </p:sp>
      <p:sp>
        <p:nvSpPr>
          <p:cNvPr id="10" name="TextBox 9"/>
          <p:cNvSpPr txBox="1"/>
          <p:nvPr/>
        </p:nvSpPr>
        <p:spPr>
          <a:xfrm>
            <a:off x="2834640" y="2240280"/>
            <a:ext cx="8961120" cy="384048"/>
          </a:xfrm>
          <a:prstGeom prst="rect">
            <a:avLst/>
          </a:prstGeom>
          <a:noFill/>
        </p:spPr>
        <p:txBody>
          <a:bodyPr wrap="square">
            <a:spAutoFit/>
          </a:bodyPr>
          <a:lstStyle/>
          <a:p>
            <a:pPr algn="l"/>
            <a:r>
              <a:rPr sz="1300" b="0" i="0">
                <a:solidFill>
                  <a:srgbClr val="0D1B2A"/>
                </a:solidFill>
              </a:rPr>
              <a:t>LLM gateway · queue · project loader · memory — the brain</a:t>
            </a:r>
          </a:p>
        </p:txBody>
      </p:sp>
      <p:sp>
        <p:nvSpPr>
          <p:cNvPr id="11" name="Rectangle 10"/>
          <p:cNvSpPr/>
          <p:nvPr/>
        </p:nvSpPr>
        <p:spPr>
          <a:xfrm>
            <a:off x="365760" y="2834640"/>
            <a:ext cx="2286000" cy="5486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2880360"/>
            <a:ext cx="2194560" cy="457200"/>
          </a:xfrm>
          <a:prstGeom prst="rect">
            <a:avLst/>
          </a:prstGeom>
          <a:noFill/>
        </p:spPr>
        <p:txBody>
          <a:bodyPr wrap="square">
            <a:spAutoFit/>
          </a:bodyPr>
          <a:lstStyle/>
          <a:p>
            <a:pPr algn="ctr"/>
            <a:r>
              <a:rPr sz="1200" b="1" i="0">
                <a:solidFill>
                  <a:srgbClr val="FFFFFF"/>
                </a:solidFill>
              </a:rPr>
              <a:t>src/agents/</a:t>
            </a:r>
          </a:p>
        </p:txBody>
      </p:sp>
      <p:sp>
        <p:nvSpPr>
          <p:cNvPr id="13" name="TextBox 12"/>
          <p:cNvSpPr txBox="1"/>
          <p:nvPr/>
        </p:nvSpPr>
        <p:spPr>
          <a:xfrm>
            <a:off x="2834640" y="2926080"/>
            <a:ext cx="8961120" cy="384048"/>
          </a:xfrm>
          <a:prstGeom prst="rect">
            <a:avLst/>
          </a:prstGeom>
          <a:noFill/>
        </p:spPr>
        <p:txBody>
          <a:bodyPr wrap="square">
            <a:spAutoFit/>
          </a:bodyPr>
          <a:lstStyle/>
          <a:p>
            <a:pPr algn="l"/>
            <a:r>
              <a:rPr sz="1300" b="0" i="0">
                <a:solidFill>
                  <a:srgbClr val="0D1B2A"/>
                </a:solidFill>
              </a:rPr>
              <a:t>Analyst · Developer · Monitor · Planner · Universal — the workers</a:t>
            </a:r>
          </a:p>
        </p:txBody>
      </p:sp>
      <p:sp>
        <p:nvSpPr>
          <p:cNvPr id="14" name="Rectangle 13"/>
          <p:cNvSpPr/>
          <p:nvPr/>
        </p:nvSpPr>
        <p:spPr>
          <a:xfrm>
            <a:off x="365760" y="3520440"/>
            <a:ext cx="2286000"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566160"/>
            <a:ext cx="2194560" cy="457200"/>
          </a:xfrm>
          <a:prstGeom prst="rect">
            <a:avLst/>
          </a:prstGeom>
          <a:noFill/>
        </p:spPr>
        <p:txBody>
          <a:bodyPr wrap="square">
            <a:spAutoFit/>
          </a:bodyPr>
          <a:lstStyle/>
          <a:p>
            <a:pPr algn="ctr"/>
            <a:r>
              <a:rPr sz="1200" b="1" i="0">
                <a:solidFill>
                  <a:srgbClr val="FFFFFF"/>
                </a:solidFill>
              </a:rPr>
              <a:t>src/interface/</a:t>
            </a:r>
          </a:p>
        </p:txBody>
      </p:sp>
      <p:sp>
        <p:nvSpPr>
          <p:cNvPr id="16" name="TextBox 15"/>
          <p:cNvSpPr txBox="1"/>
          <p:nvPr/>
        </p:nvSpPr>
        <p:spPr>
          <a:xfrm>
            <a:off x="2834640" y="3611880"/>
            <a:ext cx="8961120" cy="384048"/>
          </a:xfrm>
          <a:prstGeom prst="rect">
            <a:avLst/>
          </a:prstGeom>
          <a:noFill/>
        </p:spPr>
        <p:txBody>
          <a:bodyPr wrap="square">
            <a:spAutoFit/>
          </a:bodyPr>
          <a:lstStyle/>
          <a:p>
            <a:pPr algn="l"/>
            <a:r>
              <a:rPr sz="1300" b="0" i="0">
                <a:solidFill>
                  <a:srgbClr val="0D1B2A"/>
                </a:solidFill>
              </a:rPr>
              <a:t>FastAPI — the only public interface (UI never calls agents directly)</a:t>
            </a:r>
          </a:p>
        </p:txBody>
      </p:sp>
      <p:sp>
        <p:nvSpPr>
          <p:cNvPr id="17" name="Rectangle 16"/>
          <p:cNvSpPr/>
          <p:nvPr/>
        </p:nvSpPr>
        <p:spPr>
          <a:xfrm>
            <a:off x="365760" y="4206240"/>
            <a:ext cx="2286000"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251960"/>
            <a:ext cx="2194560" cy="457200"/>
          </a:xfrm>
          <a:prstGeom prst="rect">
            <a:avLst/>
          </a:prstGeom>
          <a:noFill/>
        </p:spPr>
        <p:txBody>
          <a:bodyPr wrap="square">
            <a:spAutoFit/>
          </a:bodyPr>
          <a:lstStyle/>
          <a:p>
            <a:pPr algn="ctr"/>
            <a:r>
              <a:rPr sz="1200" b="1" i="0">
                <a:solidFill>
                  <a:srgbClr val="FFFFFF"/>
                </a:solidFill>
              </a:rPr>
              <a:t>src/memory/</a:t>
            </a:r>
          </a:p>
        </p:txBody>
      </p:sp>
      <p:sp>
        <p:nvSpPr>
          <p:cNvPr id="19" name="TextBox 18"/>
          <p:cNvSpPr txBox="1"/>
          <p:nvPr/>
        </p:nvSpPr>
        <p:spPr>
          <a:xfrm>
            <a:off x="2834640" y="4297680"/>
            <a:ext cx="8961120" cy="384048"/>
          </a:xfrm>
          <a:prstGeom prst="rect">
            <a:avLst/>
          </a:prstGeom>
          <a:noFill/>
        </p:spPr>
        <p:txBody>
          <a:bodyPr wrap="square">
            <a:spAutoFit/>
          </a:bodyPr>
          <a:lstStyle/>
          <a:p>
            <a:pPr algn="l"/>
            <a:r>
              <a:rPr sz="1300" b="0" i="0">
                <a:solidFill>
                  <a:srgbClr val="0D1B2A"/>
                </a:solidFill>
              </a:rPr>
              <a:t>Audit log (compliance + training signal) · vector store (RAG)</a:t>
            </a:r>
          </a:p>
        </p:txBody>
      </p:sp>
      <p:sp>
        <p:nvSpPr>
          <p:cNvPr id="20" name="Rectangle 19"/>
          <p:cNvSpPr/>
          <p:nvPr/>
        </p:nvSpPr>
        <p:spPr>
          <a:xfrm>
            <a:off x="365760" y="4892040"/>
            <a:ext cx="2286000" cy="54864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4937760"/>
            <a:ext cx="2194560" cy="457200"/>
          </a:xfrm>
          <a:prstGeom prst="rect">
            <a:avLst/>
          </a:prstGeom>
          <a:noFill/>
        </p:spPr>
        <p:txBody>
          <a:bodyPr wrap="square">
            <a:spAutoFit/>
          </a:bodyPr>
          <a:lstStyle/>
          <a:p>
            <a:pPr algn="ctr"/>
            <a:r>
              <a:rPr sz="1200" b="1" i="0">
                <a:solidFill>
                  <a:srgbClr val="FFFFFF"/>
                </a:solidFill>
              </a:rPr>
              <a:t>web/src/</a:t>
            </a:r>
          </a:p>
        </p:txBody>
      </p:sp>
      <p:sp>
        <p:nvSpPr>
          <p:cNvPr id="22" name="TextBox 21"/>
          <p:cNvSpPr txBox="1"/>
          <p:nvPr/>
        </p:nvSpPr>
        <p:spPr>
          <a:xfrm>
            <a:off x="2834640" y="4983480"/>
            <a:ext cx="8961120" cy="384048"/>
          </a:xfrm>
          <a:prstGeom prst="rect">
            <a:avLst/>
          </a:prstGeom>
          <a:noFill/>
        </p:spPr>
        <p:txBody>
          <a:bodyPr wrap="square">
            <a:spAutoFit/>
          </a:bodyPr>
          <a:lstStyle/>
          <a:p>
            <a:pPr algn="l"/>
            <a:r>
              <a:rPr sz="1300" b="0" i="0">
                <a:solidFill>
                  <a:srgbClr val="0D1B2A"/>
                </a:solidFill>
              </a:rPr>
              <a:t>React 18 + TypeScript — reads from the API door only</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YAML-First Design — Solutions Are Config, Not Code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A new domain requires zero Python changes</a:t>
            </a:r>
          </a:p>
        </p:txBody>
      </p:sp>
      <p:sp>
        <p:nvSpPr>
          <p:cNvPr id="5" name="Rectangle 4"/>
          <p:cNvSpPr/>
          <p:nvPr/>
        </p:nvSpPr>
        <p:spPr>
          <a:xfrm>
            <a:off x="365760" y="1600200"/>
            <a:ext cx="3657600" cy="4114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91640"/>
            <a:ext cx="3383280" cy="502920"/>
          </a:xfrm>
          <a:prstGeom prst="rect">
            <a:avLst/>
          </a:prstGeom>
          <a:noFill/>
        </p:spPr>
        <p:txBody>
          <a:bodyPr wrap="square">
            <a:spAutoFit/>
          </a:bodyPr>
          <a:lstStyle/>
          <a:p>
            <a:pPr algn="ctr"/>
            <a:r>
              <a:rPr sz="1800" b="1" i="0">
                <a:solidFill>
                  <a:srgbClr val="00B4D8"/>
                </a:solidFill>
              </a:rPr>
              <a:t>project.yaml</a:t>
            </a:r>
          </a:p>
        </p:txBody>
      </p:sp>
      <p:sp>
        <p:nvSpPr>
          <p:cNvPr id="7" name="TextBox 6"/>
          <p:cNvSpPr txBox="1"/>
          <p:nvPr/>
        </p:nvSpPr>
        <p:spPr>
          <a:xfrm>
            <a:off x="502920" y="2286000"/>
            <a:ext cx="3383280" cy="365760"/>
          </a:xfrm>
          <a:prstGeom prst="rect">
            <a:avLst/>
          </a:prstGeom>
          <a:noFill/>
        </p:spPr>
        <p:txBody>
          <a:bodyPr wrap="square">
            <a:spAutoFit/>
          </a:bodyPr>
          <a:lstStyle/>
          <a:p>
            <a:pPr algn="ctr"/>
            <a:r>
              <a:rPr sz="1300" b="1" i="1">
                <a:solidFill>
                  <a:srgbClr val="FFB700"/>
                </a:solidFill>
              </a:rPr>
              <a:t>What this domain IS</a:t>
            </a:r>
          </a:p>
        </p:txBody>
      </p:sp>
      <p:sp>
        <p:nvSpPr>
          <p:cNvPr id="8" name="TextBox 7"/>
          <p:cNvSpPr txBox="1"/>
          <p:nvPr/>
        </p:nvSpPr>
        <p:spPr>
          <a:xfrm>
            <a:off x="502920" y="2743200"/>
            <a:ext cx="3383280" cy="2560320"/>
          </a:xfrm>
          <a:prstGeom prst="rect">
            <a:avLst/>
          </a:prstGeom>
          <a:noFill/>
        </p:spPr>
        <p:txBody>
          <a:bodyPr wrap="square">
            <a:spAutoFit/>
          </a:bodyPr>
          <a:lstStyle/>
          <a:p>
            <a:pPr algn="l"/>
            <a:r>
              <a:rPr sz="1200" b="0" i="0">
                <a:solidFill>
                  <a:srgbClr val="FFFFFF"/>
                </a:solidFill>
              </a:rPr>
              <a:t>Declarative agent manifest: project name, active modules,
integrations, team structure, compliance standards</a:t>
            </a:r>
          </a:p>
        </p:txBody>
      </p:sp>
      <p:sp>
        <p:nvSpPr>
          <p:cNvPr id="9" name="Rectangle 8"/>
          <p:cNvSpPr/>
          <p:nvPr/>
        </p:nvSpPr>
        <p:spPr>
          <a:xfrm>
            <a:off x="4453128" y="1600200"/>
            <a:ext cx="3657600" cy="4114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1691640"/>
            <a:ext cx="3383280" cy="502920"/>
          </a:xfrm>
          <a:prstGeom prst="rect">
            <a:avLst/>
          </a:prstGeom>
          <a:noFill/>
        </p:spPr>
        <p:txBody>
          <a:bodyPr wrap="square">
            <a:spAutoFit/>
          </a:bodyPr>
          <a:lstStyle/>
          <a:p>
            <a:pPr algn="ctr"/>
            <a:r>
              <a:rPr sz="1800" b="1" i="0">
                <a:solidFill>
                  <a:srgbClr val="00B4D8"/>
                </a:solidFill>
              </a:rPr>
              <a:t>prompts.yaml</a:t>
            </a:r>
          </a:p>
        </p:txBody>
      </p:sp>
      <p:sp>
        <p:nvSpPr>
          <p:cNvPr id="11" name="TextBox 10"/>
          <p:cNvSpPr txBox="1"/>
          <p:nvPr/>
        </p:nvSpPr>
        <p:spPr>
          <a:xfrm>
            <a:off x="4590288" y="2286000"/>
            <a:ext cx="3383280" cy="365760"/>
          </a:xfrm>
          <a:prstGeom prst="rect">
            <a:avLst/>
          </a:prstGeom>
          <a:noFill/>
        </p:spPr>
        <p:txBody>
          <a:bodyPr wrap="square">
            <a:spAutoFit/>
          </a:bodyPr>
          <a:lstStyle/>
          <a:p>
            <a:pPr algn="ctr"/>
            <a:r>
              <a:rPr sz="1300" b="1" i="1">
                <a:solidFill>
                  <a:srgbClr val="FFB700"/>
                </a:solidFill>
              </a:rPr>
              <a:t>How agents THINK</a:t>
            </a:r>
          </a:p>
        </p:txBody>
      </p:sp>
      <p:sp>
        <p:nvSpPr>
          <p:cNvPr id="12" name="TextBox 11"/>
          <p:cNvSpPr txBox="1"/>
          <p:nvPr/>
        </p:nvSpPr>
        <p:spPr>
          <a:xfrm>
            <a:off x="4590288" y="2743200"/>
            <a:ext cx="3383280" cy="2560320"/>
          </a:xfrm>
          <a:prstGeom prst="rect">
            <a:avLst/>
          </a:prstGeom>
          <a:noFill/>
        </p:spPr>
        <p:txBody>
          <a:bodyPr wrap="square">
            <a:spAutoFit/>
          </a:bodyPr>
          <a:lstStyle/>
          <a:p>
            <a:pPr algn="l"/>
            <a:r>
              <a:rPr sz="1200" b="0" i="0">
                <a:solidFill>
                  <a:srgbClr val="FFFFFF"/>
                </a:solidFill>
              </a:rPr>
              <a:t>Role definitions + system prompts per agent role.
Add a new role = add a YAML block. No Python file.</a:t>
            </a:r>
          </a:p>
        </p:txBody>
      </p:sp>
      <p:sp>
        <p:nvSpPr>
          <p:cNvPr id="13" name="Rectangle 12"/>
          <p:cNvSpPr/>
          <p:nvPr/>
        </p:nvSpPr>
        <p:spPr>
          <a:xfrm>
            <a:off x="8540496" y="1600200"/>
            <a:ext cx="3657600" cy="4114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77656" y="1691640"/>
            <a:ext cx="3383280" cy="502920"/>
          </a:xfrm>
          <a:prstGeom prst="rect">
            <a:avLst/>
          </a:prstGeom>
          <a:noFill/>
        </p:spPr>
        <p:txBody>
          <a:bodyPr wrap="square">
            <a:spAutoFit/>
          </a:bodyPr>
          <a:lstStyle/>
          <a:p>
            <a:pPr algn="ctr"/>
            <a:r>
              <a:rPr sz="1800" b="1" i="0">
                <a:solidFill>
                  <a:srgbClr val="00B4D8"/>
                </a:solidFill>
              </a:rPr>
              <a:t>tasks.yaml</a:t>
            </a:r>
          </a:p>
        </p:txBody>
      </p:sp>
      <p:sp>
        <p:nvSpPr>
          <p:cNvPr id="15" name="TextBox 14"/>
          <p:cNvSpPr txBox="1"/>
          <p:nvPr/>
        </p:nvSpPr>
        <p:spPr>
          <a:xfrm>
            <a:off x="8677656" y="2286000"/>
            <a:ext cx="3383280" cy="365760"/>
          </a:xfrm>
          <a:prstGeom prst="rect">
            <a:avLst/>
          </a:prstGeom>
          <a:noFill/>
        </p:spPr>
        <p:txBody>
          <a:bodyPr wrap="square">
            <a:spAutoFit/>
          </a:bodyPr>
          <a:lstStyle/>
          <a:p>
            <a:pPr algn="ctr"/>
            <a:r>
              <a:rPr sz="1300" b="1" i="1">
                <a:solidFill>
                  <a:srgbClr val="FFB700"/>
                </a:solidFill>
              </a:rPr>
              <a:t>What agents CAN DO</a:t>
            </a:r>
          </a:p>
        </p:txBody>
      </p:sp>
      <p:sp>
        <p:nvSpPr>
          <p:cNvPr id="16" name="TextBox 15"/>
          <p:cNvSpPr txBox="1"/>
          <p:nvPr/>
        </p:nvSpPr>
        <p:spPr>
          <a:xfrm>
            <a:off x="8677656" y="2743200"/>
            <a:ext cx="3383280" cy="2560320"/>
          </a:xfrm>
          <a:prstGeom prst="rect">
            <a:avLst/>
          </a:prstGeom>
          <a:noFill/>
        </p:spPr>
        <p:txBody>
          <a:bodyPr wrap="square">
            <a:spAutoFit/>
          </a:bodyPr>
          <a:lstStyle/>
          <a:p>
            <a:pPr algn="l"/>
            <a:r>
              <a:rPr sz="1200" b="0" i="0">
                <a:solidFill>
                  <a:srgbClr val="FFFFFF"/>
                </a:solidFill>
              </a:rPr>
              <a:t>Task type registry: routing rules, output schemas,
verification steps, approval requirements.</a:t>
            </a:r>
          </a:p>
        </p:txBody>
      </p:sp>
      <p:sp>
        <p:nvSpPr>
          <p:cNvPr id="17" name="TextBox 16"/>
          <p:cNvSpPr txBox="1"/>
          <p:nvPr/>
        </p:nvSpPr>
        <p:spPr>
          <a:xfrm>
            <a:off x="457200" y="5897880"/>
            <a:ext cx="11247120" cy="411480"/>
          </a:xfrm>
          <a:prstGeom prst="rect">
            <a:avLst/>
          </a:prstGeom>
          <a:noFill/>
        </p:spPr>
        <p:txBody>
          <a:bodyPr wrap="square">
            <a:spAutoFit/>
          </a:bodyPr>
          <a:lstStyle/>
          <a:p>
            <a:pPr algn="ctr"/>
            <a:r>
              <a:rPr sz="1300" b="0" i="1">
                <a:solidFill>
                  <a:srgbClr val="0078D4"/>
                </a:solidFill>
              </a:rPr>
              <a:t>Separation of concerns is sacred — the framework knows nothing specific about any industry.</a:t>
            </a:r>
          </a:p>
        </p:txBody>
      </p:sp>
      <p:sp>
        <p:nvSpPr>
          <p:cNvPr id="18" name="Rectangle 17"/>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Agent Architecture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Role-based, not function-based — roles are YAML, not Python classes</a:t>
            </a:r>
          </a:p>
        </p:txBody>
      </p:sp>
      <p:graphicFrame>
        <p:nvGraphicFramePr>
          <p:cNvPr id="5" name="Table 4"/>
          <p:cNvGraphicFramePr>
            <a:graphicFrameLocks noGrp="1"/>
          </p:cNvGraphicFramePr>
          <p:nvPr/>
        </p:nvGraphicFramePr>
        <p:xfrm>
          <a:off x="457200" y="1508760"/>
          <a:ext cx="11247120" cy="2852928"/>
        </p:xfrm>
        <a:graphic>
          <a:graphicData uri="http://schemas.openxmlformats.org/drawingml/2006/table">
            <a:tbl>
              <a:tblPr firstRow="1" bandRow="1">
                <a:tableStyleId>{5C22544A-7EE6-4342-B048-85BDC9FD1C3A}</a:tableStyleId>
              </a:tblPr>
              <a:tblGrid>
                <a:gridCol w="1828800"/>
                <a:gridCol w="2011680"/>
                <a:gridCol w="7406640"/>
              </a:tblGrid>
              <a:tr h="475488">
                <a:tc>
                  <a:txBody>
                    <a:bodyPr/>
                    <a:lstStyle/>
                    <a:p>
                      <a:pPr algn="ctr"/>
                      <a:r>
                        <a:rPr b="1" sz="1300">
                          <a:solidFill>
                            <a:srgbClr val="FFFFFF"/>
                          </a:solidFill>
                        </a:rPr>
                        <a:t>Agent</a:t>
                      </a:r>
                    </a:p>
                  </a:txBody>
                  <a:tcPr>
                    <a:solidFill>
                      <a:srgbClr val="0078D4"/>
                    </a:solidFill>
                  </a:tcPr>
                </a:tc>
                <a:tc>
                  <a:txBody>
                    <a:bodyPr/>
                    <a:lstStyle/>
                    <a:p>
                      <a:pPr algn="ctr"/>
                      <a:r>
                        <a:rPr b="1" sz="1300">
                          <a:solidFill>
                            <a:srgbClr val="FFFFFF"/>
                          </a:solidFill>
                        </a:rPr>
                        <a:t>Role</a:t>
                      </a:r>
                    </a:p>
                  </a:txBody>
                  <a:tcPr>
                    <a:solidFill>
                      <a:srgbClr val="0078D4"/>
                    </a:solidFill>
                  </a:tcPr>
                </a:tc>
                <a:tc>
                  <a:txBody>
                    <a:bodyPr/>
                    <a:lstStyle/>
                    <a:p>
                      <a:pPr algn="ctr"/>
                      <a:r>
                        <a:rPr b="1" sz="1300">
                          <a:solidFill>
                            <a:srgbClr val="FFFFFF"/>
                          </a:solidFill>
                        </a:rPr>
                        <a:t>Key Capabilities</a:t>
                      </a:r>
                    </a:p>
                  </a:txBody>
                  <a:tcPr>
                    <a:solidFill>
                      <a:srgbClr val="0078D4"/>
                    </a:solidFill>
                  </a:tcPr>
                </a:tc>
              </a:tr>
              <a:tr h="475488">
                <a:tc>
                  <a:txBody>
                    <a:bodyPr/>
                    <a:lstStyle/>
                    <a:p>
                      <a:pPr algn="l"/>
                      <a:r>
                        <a:rPr sz="1200">
                          <a:solidFill>
                            <a:srgbClr val="0D1B2A"/>
                          </a:solidFill>
                        </a:rPr>
                        <a:t>AnalystAgent</a:t>
                      </a:r>
                    </a:p>
                  </a:txBody>
                  <a:tcPr>
                    <a:solidFill>
                      <a:srgbClr val="F0F4F8"/>
                    </a:solidFill>
                  </a:tcPr>
                </a:tc>
                <a:tc>
                  <a:txBody>
                    <a:bodyPr/>
                    <a:lstStyle/>
                    <a:p>
                      <a:pPr algn="l"/>
                      <a:r>
                        <a:rPr sz="1200">
                          <a:solidFill>
                            <a:srgbClr val="0D1B2A"/>
                          </a:solidFill>
                        </a:rPr>
                        <a:t>Signal intelligence</a:t>
                      </a:r>
                    </a:p>
                  </a:txBody>
                  <a:tcPr>
                    <a:solidFill>
                      <a:srgbClr val="F0F4F8"/>
                    </a:solidFill>
                  </a:tcPr>
                </a:tc>
                <a:tc>
                  <a:txBody>
                    <a:bodyPr/>
                    <a:lstStyle/>
                    <a:p>
                      <a:pPr algn="l"/>
                      <a:r>
                        <a:rPr sz="1200">
                          <a:solidFill>
                            <a:srgbClr val="0D1B2A"/>
                          </a:solidFill>
                        </a:rPr>
                        <a:t>Log triage · severity scoring · root-cause reasoning · ReAct loop</a:t>
                      </a:r>
                    </a:p>
                  </a:txBody>
                  <a:tcPr>
                    <a:solidFill>
                      <a:srgbClr val="F0F4F8"/>
                    </a:solidFill>
                  </a:tcPr>
                </a:tc>
              </a:tr>
              <a:tr h="475488">
                <a:tc>
                  <a:txBody>
                    <a:bodyPr/>
                    <a:lstStyle/>
                    <a:p>
                      <a:pPr algn="l"/>
                      <a:r>
                        <a:rPr sz="1200">
                          <a:solidFill>
                            <a:srgbClr val="0D1B2A"/>
                          </a:solidFill>
                        </a:rPr>
                        <a:t>DeveloperAgent</a:t>
                      </a:r>
                    </a:p>
                  </a:txBody>
                  <a:tcPr>
                    <a:solidFill>
                      <a:srgbClr val="FFFFFF"/>
                    </a:solidFill>
                  </a:tcPr>
                </a:tc>
                <a:tc>
                  <a:txBody>
                    <a:bodyPr/>
                    <a:lstStyle/>
                    <a:p>
                      <a:pPr algn="l"/>
                      <a:r>
                        <a:rPr sz="1200">
                          <a:solidFill>
                            <a:srgbClr val="0D1B2A"/>
                          </a:solidFill>
                        </a:rPr>
                        <a:t>Code intelligence</a:t>
                      </a:r>
                    </a:p>
                  </a:txBody>
                  <a:tcPr>
                    <a:solidFill>
                      <a:srgbClr val="FFFFFF"/>
                    </a:solidFill>
                  </a:tcPr>
                </a:tc>
                <a:tc>
                  <a:txBody>
                    <a:bodyPr/>
                    <a:lstStyle/>
                    <a:p>
                      <a:pPr algn="l"/>
                      <a:r>
                        <a:rPr sz="1200">
                          <a:solidFill>
                            <a:srgbClr val="0D1B2A"/>
                          </a:solidFill>
                        </a:rPr>
                        <a:t>Code review · MR creation · pipeline status · diff analysis</a:t>
                      </a:r>
                    </a:p>
                  </a:txBody>
                  <a:tcPr>
                    <a:solidFill>
                      <a:srgbClr val="FFFFFF"/>
                    </a:solidFill>
                  </a:tcPr>
                </a:tc>
              </a:tr>
              <a:tr h="475488">
                <a:tc>
                  <a:txBody>
                    <a:bodyPr/>
                    <a:lstStyle/>
                    <a:p>
                      <a:pPr algn="l"/>
                      <a:r>
                        <a:rPr sz="1200">
                          <a:solidFill>
                            <a:srgbClr val="0D1B2A"/>
                          </a:solidFill>
                        </a:rPr>
                        <a:t>MonitorAgent</a:t>
                      </a:r>
                    </a:p>
                  </a:txBody>
                  <a:tcPr>
                    <a:solidFill>
                      <a:srgbClr val="F0F4F8"/>
                    </a:solidFill>
                  </a:tcPr>
                </a:tc>
                <a:tc>
                  <a:txBody>
                    <a:bodyPr/>
                    <a:lstStyle/>
                    <a:p>
                      <a:pPr algn="l"/>
                      <a:r>
                        <a:rPr sz="1200">
                          <a:solidFill>
                            <a:srgbClr val="0D1B2A"/>
                          </a:solidFill>
                        </a:rPr>
                        <a:t>Event surveillance</a:t>
                      </a:r>
                    </a:p>
                  </a:txBody>
                  <a:tcPr>
                    <a:solidFill>
                      <a:srgbClr val="F0F4F8"/>
                    </a:solidFill>
                  </a:tcPr>
                </a:tc>
                <a:tc>
                  <a:txBody>
                    <a:bodyPr/>
                    <a:lstStyle/>
                    <a:p>
                      <a:pPr algn="l"/>
                      <a:r>
                        <a:rPr sz="1200">
                          <a:solidFill>
                            <a:srgbClr val="0D1B2A"/>
                          </a:solidFill>
                        </a:rPr>
                        <a:t>Teams · Metabase · GitLab polling · real-time event routing</a:t>
                      </a:r>
                    </a:p>
                  </a:txBody>
                  <a:tcPr>
                    <a:solidFill>
                      <a:srgbClr val="F0F4F8"/>
                    </a:solidFill>
                  </a:tcPr>
                </a:tc>
              </a:tr>
              <a:tr h="475488">
                <a:tc>
                  <a:txBody>
                    <a:bodyPr/>
                    <a:lstStyle/>
                    <a:p>
                      <a:pPr algn="l"/>
                      <a:r>
                        <a:rPr sz="1200">
                          <a:solidFill>
                            <a:srgbClr val="0D1B2A"/>
                          </a:solidFill>
                        </a:rPr>
                        <a:t>PlannerAgent</a:t>
                      </a:r>
                    </a:p>
                  </a:txBody>
                  <a:tcPr>
                    <a:solidFill>
                      <a:srgbClr val="FFFFFF"/>
                    </a:solidFill>
                  </a:tcPr>
                </a:tc>
                <a:tc>
                  <a:txBody>
                    <a:bodyPr/>
                    <a:lstStyle/>
                    <a:p>
                      <a:pPr algn="l"/>
                      <a:r>
                        <a:rPr sz="1200">
                          <a:solidFill>
                            <a:srgbClr val="0D1B2A"/>
                          </a:solidFill>
                        </a:rPr>
                        <a:t>Task orchestration</a:t>
                      </a:r>
                    </a:p>
                  </a:txBody>
                  <a:tcPr>
                    <a:solidFill>
                      <a:srgbClr val="FFFFFF"/>
                    </a:solidFill>
                  </a:tcPr>
                </a:tc>
                <a:tc>
                  <a:txBody>
                    <a:bodyPr/>
                    <a:lstStyle/>
                    <a:p>
                      <a:pPr algn="l"/>
                      <a:r>
                        <a:rPr sz="1200">
                          <a:solidFill>
                            <a:srgbClr val="0D1B2A"/>
                          </a:solidFill>
                        </a:rPr>
                        <a:t>Backlog decomposition · wave scheduling · dependency resolution</a:t>
                      </a:r>
                    </a:p>
                  </a:txBody>
                  <a:tcPr>
                    <a:solidFill>
                      <a:srgbClr val="FFFFFF"/>
                    </a:solidFill>
                  </a:tcPr>
                </a:tc>
              </a:tr>
              <a:tr h="475488">
                <a:tc>
                  <a:txBody>
                    <a:bodyPr/>
                    <a:lstStyle/>
                    <a:p>
                      <a:pPr algn="l"/>
                      <a:r>
                        <a:rPr sz="1200">
                          <a:solidFill>
                            <a:srgbClr val="0D1B2A"/>
                          </a:solidFill>
                        </a:rPr>
                        <a:t>UniversalAgent</a:t>
                      </a:r>
                    </a:p>
                  </a:txBody>
                  <a:tcPr>
                    <a:solidFill>
                      <a:srgbClr val="F0F4F8"/>
                    </a:solidFill>
                  </a:tcPr>
                </a:tc>
                <a:tc>
                  <a:txBody>
                    <a:bodyPr/>
                    <a:lstStyle/>
                    <a:p>
                      <a:pPr algn="l"/>
                      <a:r>
                        <a:rPr sz="1200">
                          <a:solidFill>
                            <a:srgbClr val="0D1B2A"/>
                          </a:solidFill>
                        </a:rPr>
                        <a:t>Routing &amp; fallback</a:t>
                      </a:r>
                    </a:p>
                  </a:txBody>
                  <a:tcPr>
                    <a:solidFill>
                      <a:srgbClr val="F0F4F8"/>
                    </a:solidFill>
                  </a:tcPr>
                </a:tc>
                <a:tc>
                  <a:txBody>
                    <a:bodyPr/>
                    <a:lstStyle/>
                    <a:p>
                      <a:pPr algn="l"/>
                      <a:r>
                        <a:rPr sz="1200">
                          <a:solidFill>
                            <a:srgbClr val="0D1B2A"/>
                          </a:solidFill>
                        </a:rPr>
                        <a:t>Dispatches to the correct role; handles new YAML-defined roles</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Two-Layer Memory Architecture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Compliance record + compounding intelligence in one design</a:t>
            </a:r>
          </a:p>
        </p:txBody>
      </p:sp>
      <p:sp>
        <p:nvSpPr>
          <p:cNvPr id="5" name="Rectangle 4"/>
          <p:cNvSpPr/>
          <p:nvPr/>
        </p:nvSpPr>
        <p:spPr>
          <a:xfrm>
            <a:off x="365760" y="1600200"/>
            <a:ext cx="5394960" cy="43891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800" b="1" i="0">
                <a:solidFill>
                  <a:srgbClr val="FFFFFF"/>
                </a:solidFill>
              </a:rPr>
              <a:t>SQLite Audit Log</a:t>
            </a:r>
          </a:p>
        </p:txBody>
      </p:sp>
      <p:sp>
        <p:nvSpPr>
          <p:cNvPr id="7" name="TextBox 6"/>
          <p:cNvSpPr txBox="1"/>
          <p:nvPr/>
        </p:nvSpPr>
        <p:spPr>
          <a:xfrm>
            <a:off x="548640" y="2194560"/>
            <a:ext cx="5029200" cy="365760"/>
          </a:xfrm>
          <a:prstGeom prst="rect">
            <a:avLst/>
          </a:prstGeom>
          <a:noFill/>
        </p:spPr>
        <p:txBody>
          <a:bodyPr wrap="square">
            <a:spAutoFit/>
          </a:bodyPr>
          <a:lstStyle/>
          <a:p>
            <a:pPr algn="l"/>
            <a:r>
              <a:rPr sz="1300" b="0" i="1">
                <a:solidFill>
                  <a:srgbClr val="00B4D8"/>
                </a:solidFill>
              </a:rPr>
              <a:t>Compliance record &amp; training signal</a:t>
            </a:r>
          </a:p>
        </p:txBody>
      </p:sp>
      <p:sp>
        <p:nvSpPr>
          <p:cNvPr id="8" name="TextBox 7"/>
          <p:cNvSpPr txBox="1"/>
          <p:nvPr/>
        </p:nvSpPr>
        <p:spPr>
          <a:xfrm>
            <a:off x="640080" y="2651760"/>
            <a:ext cx="4846320" cy="347472"/>
          </a:xfrm>
          <a:prstGeom prst="rect">
            <a:avLst/>
          </a:prstGeom>
          <a:noFill/>
        </p:spPr>
        <p:txBody>
          <a:bodyPr wrap="square">
            <a:spAutoFit/>
          </a:bodyPr>
          <a:lstStyle/>
          <a:p>
            <a:pPr algn="l"/>
            <a:r>
              <a:rPr sz="1200" b="0" i="0">
                <a:solidFill>
                  <a:srgbClr val="FFFFFF"/>
                </a:solidFill>
              </a:rPr>
              <a:t>Append-only — no deletes, ever</a:t>
            </a:r>
          </a:p>
        </p:txBody>
      </p:sp>
      <p:sp>
        <p:nvSpPr>
          <p:cNvPr id="9" name="TextBox 8"/>
          <p:cNvSpPr txBox="1"/>
          <p:nvPr/>
        </p:nvSpPr>
        <p:spPr>
          <a:xfrm>
            <a:off x="640080" y="3063240"/>
            <a:ext cx="4846320" cy="347472"/>
          </a:xfrm>
          <a:prstGeom prst="rect">
            <a:avLst/>
          </a:prstGeom>
          <a:noFill/>
        </p:spPr>
        <p:txBody>
          <a:bodyPr wrap="square">
            <a:spAutoFit/>
          </a:bodyPr>
          <a:lstStyle/>
          <a:p>
            <a:pPr algn="l"/>
            <a:r>
              <a:rPr sz="1200" b="0" i="0">
                <a:solidFill>
                  <a:srgbClr val="FFFFFF"/>
                </a:solidFill>
              </a:rPr>
              <a:t>UUID trace_id on every AI decision</a:t>
            </a:r>
          </a:p>
        </p:txBody>
      </p:sp>
      <p:sp>
        <p:nvSpPr>
          <p:cNvPr id="10" name="TextBox 9"/>
          <p:cNvSpPr txBox="1"/>
          <p:nvPr/>
        </p:nvSpPr>
        <p:spPr>
          <a:xfrm>
            <a:off x="640080" y="3474720"/>
            <a:ext cx="4846320" cy="347472"/>
          </a:xfrm>
          <a:prstGeom prst="rect">
            <a:avLst/>
          </a:prstGeom>
          <a:noFill/>
        </p:spPr>
        <p:txBody>
          <a:bodyPr wrap="square">
            <a:spAutoFit/>
          </a:bodyPr>
          <a:lstStyle/>
          <a:p>
            <a:pPr algn="l"/>
            <a:r>
              <a:rPr sz="1200" b="0" i="0">
                <a:solidFill>
                  <a:srgbClr val="FFFFFF"/>
                </a:solidFill>
              </a:rPr>
              <a:t>Full event: input · output · approval · feedback</a:t>
            </a:r>
          </a:p>
        </p:txBody>
      </p:sp>
      <p:sp>
        <p:nvSpPr>
          <p:cNvPr id="11" name="TextBox 10"/>
          <p:cNvSpPr txBox="1"/>
          <p:nvPr/>
        </p:nvSpPr>
        <p:spPr>
          <a:xfrm>
            <a:off x="640080" y="3886200"/>
            <a:ext cx="4846320" cy="347472"/>
          </a:xfrm>
          <a:prstGeom prst="rect">
            <a:avLst/>
          </a:prstGeom>
          <a:noFill/>
        </p:spPr>
        <p:txBody>
          <a:bodyPr wrap="square">
            <a:spAutoFit/>
          </a:bodyPr>
          <a:lstStyle/>
          <a:p>
            <a:pPr algn="l"/>
            <a:r>
              <a:rPr sz="1200" b="0" i="0">
                <a:solidFill>
                  <a:srgbClr val="FFFFFF"/>
                </a:solidFill>
              </a:rPr>
              <a:t>Queryable for KPI dashboards</a:t>
            </a:r>
          </a:p>
        </p:txBody>
      </p:sp>
      <p:sp>
        <p:nvSpPr>
          <p:cNvPr id="12" name="TextBox 11"/>
          <p:cNvSpPr txBox="1"/>
          <p:nvPr/>
        </p:nvSpPr>
        <p:spPr>
          <a:xfrm>
            <a:off x="640080" y="4297680"/>
            <a:ext cx="4846320" cy="347472"/>
          </a:xfrm>
          <a:prstGeom prst="rect">
            <a:avLst/>
          </a:prstGeom>
          <a:noFill/>
        </p:spPr>
        <p:txBody>
          <a:bodyPr wrap="square">
            <a:spAutoFit/>
          </a:bodyPr>
          <a:lstStyle/>
          <a:p>
            <a:pPr algn="l"/>
            <a:r>
              <a:rPr sz="1200" b="0" i="0">
                <a:solidFill>
                  <a:srgbClr val="FFFFFF"/>
                </a:solidFill>
              </a:rPr>
              <a:t>FDA 21 CFR Part 11 / ISO 13485 compliant</a:t>
            </a:r>
          </a:p>
        </p:txBody>
      </p:sp>
      <p:sp>
        <p:nvSpPr>
          <p:cNvPr id="13" name="Rectangle 12"/>
          <p:cNvSpPr/>
          <p:nvPr/>
        </p:nvSpPr>
        <p:spPr>
          <a:xfrm>
            <a:off x="6309360" y="1600200"/>
            <a:ext cx="5394960" cy="43891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691640"/>
            <a:ext cx="5029200" cy="457200"/>
          </a:xfrm>
          <a:prstGeom prst="rect">
            <a:avLst/>
          </a:prstGeom>
          <a:noFill/>
        </p:spPr>
        <p:txBody>
          <a:bodyPr wrap="square">
            <a:spAutoFit/>
          </a:bodyPr>
          <a:lstStyle/>
          <a:p>
            <a:pPr algn="l"/>
            <a:r>
              <a:rPr sz="1800" b="1" i="0">
                <a:solidFill>
                  <a:srgbClr val="FFFFFF"/>
                </a:solidFill>
              </a:rPr>
              <a:t>ChromaDB Vector Store</a:t>
            </a:r>
          </a:p>
        </p:txBody>
      </p:sp>
      <p:sp>
        <p:nvSpPr>
          <p:cNvPr id="15" name="TextBox 14"/>
          <p:cNvSpPr txBox="1"/>
          <p:nvPr/>
        </p:nvSpPr>
        <p:spPr>
          <a:xfrm>
            <a:off x="6492240" y="2194560"/>
            <a:ext cx="5029200" cy="365760"/>
          </a:xfrm>
          <a:prstGeom prst="rect">
            <a:avLst/>
          </a:prstGeom>
          <a:noFill/>
        </p:spPr>
        <p:txBody>
          <a:bodyPr wrap="square">
            <a:spAutoFit/>
          </a:bodyPr>
          <a:lstStyle/>
          <a:p>
            <a:pPr algn="l"/>
            <a:r>
              <a:rPr sz="1300" b="0" i="1">
                <a:solidFill>
                  <a:srgbClr val="00B4D8"/>
                </a:solidFill>
              </a:rPr>
              <a:t>Compounding intelligence via RAG</a:t>
            </a:r>
          </a:p>
        </p:txBody>
      </p:sp>
      <p:sp>
        <p:nvSpPr>
          <p:cNvPr id="16" name="TextBox 15"/>
          <p:cNvSpPr txBox="1"/>
          <p:nvPr/>
        </p:nvSpPr>
        <p:spPr>
          <a:xfrm>
            <a:off x="6583680" y="2651760"/>
            <a:ext cx="4846320" cy="347472"/>
          </a:xfrm>
          <a:prstGeom prst="rect">
            <a:avLst/>
          </a:prstGeom>
          <a:noFill/>
        </p:spPr>
        <p:txBody>
          <a:bodyPr wrap="square">
            <a:spAutoFit/>
          </a:bodyPr>
          <a:lstStyle/>
          <a:p>
            <a:pPr algn="l"/>
            <a:r>
              <a:rPr sz="1200" b="0" i="0">
                <a:solidFill>
                  <a:srgbClr val="FFFFFF"/>
                </a:solidFill>
              </a:rPr>
              <a:t>Prior analyses stored as embeddings</a:t>
            </a:r>
          </a:p>
        </p:txBody>
      </p:sp>
      <p:sp>
        <p:nvSpPr>
          <p:cNvPr id="17" name="TextBox 16"/>
          <p:cNvSpPr txBox="1"/>
          <p:nvPr/>
        </p:nvSpPr>
        <p:spPr>
          <a:xfrm>
            <a:off x="6583680" y="3063240"/>
            <a:ext cx="4846320" cy="347472"/>
          </a:xfrm>
          <a:prstGeom prst="rect">
            <a:avLst/>
          </a:prstGeom>
          <a:noFill/>
        </p:spPr>
        <p:txBody>
          <a:bodyPr wrap="square">
            <a:spAutoFit/>
          </a:bodyPr>
          <a:lstStyle/>
          <a:p>
            <a:pPr algn="l"/>
            <a:r>
              <a:rPr sz="1200" b="0" i="0">
                <a:solidFill>
                  <a:srgbClr val="FFFFFF"/>
                </a:solidFill>
              </a:rPr>
              <a:t>Searched before every LLM call</a:t>
            </a:r>
          </a:p>
        </p:txBody>
      </p:sp>
      <p:sp>
        <p:nvSpPr>
          <p:cNvPr id="18" name="TextBox 17"/>
          <p:cNvSpPr txBox="1"/>
          <p:nvPr/>
        </p:nvSpPr>
        <p:spPr>
          <a:xfrm>
            <a:off x="6583680" y="3474720"/>
            <a:ext cx="4846320" cy="347472"/>
          </a:xfrm>
          <a:prstGeom prst="rect">
            <a:avLst/>
          </a:prstGeom>
          <a:noFill/>
        </p:spPr>
        <p:txBody>
          <a:bodyPr wrap="square">
            <a:spAutoFit/>
          </a:bodyPr>
          <a:lstStyle/>
          <a:p>
            <a:pPr algn="l"/>
            <a:r>
              <a:rPr sz="1200" b="0" i="0">
                <a:solidFill>
                  <a:srgbClr val="FFFFFF"/>
                </a:solidFill>
              </a:rPr>
              <a:t>Updated after every human correction</a:t>
            </a:r>
          </a:p>
        </p:txBody>
      </p:sp>
      <p:sp>
        <p:nvSpPr>
          <p:cNvPr id="19" name="TextBox 18"/>
          <p:cNvSpPr txBox="1"/>
          <p:nvPr/>
        </p:nvSpPr>
        <p:spPr>
          <a:xfrm>
            <a:off x="6583680" y="3886200"/>
            <a:ext cx="4846320" cy="347472"/>
          </a:xfrm>
          <a:prstGeom prst="rect">
            <a:avLst/>
          </a:prstGeom>
          <a:noFill/>
        </p:spPr>
        <p:txBody>
          <a:bodyPr wrap="square">
            <a:spAutoFit/>
          </a:bodyPr>
          <a:lstStyle/>
          <a:p>
            <a:pPr algn="l"/>
            <a:r>
              <a:rPr sz="1200" b="0" i="0">
                <a:solidFill>
                  <a:srgbClr val="FFFFFF"/>
                </a:solidFill>
              </a:rPr>
              <a:t>No model retraining — behavioral improvement via retrieval</a:t>
            </a:r>
          </a:p>
        </p:txBody>
      </p:sp>
      <p:sp>
        <p:nvSpPr>
          <p:cNvPr id="20" name="TextBox 19"/>
          <p:cNvSpPr txBox="1"/>
          <p:nvPr/>
        </p:nvSpPr>
        <p:spPr>
          <a:xfrm>
            <a:off x="6583680" y="4297680"/>
            <a:ext cx="4846320" cy="347472"/>
          </a:xfrm>
          <a:prstGeom prst="rect">
            <a:avLst/>
          </a:prstGeom>
          <a:noFill/>
        </p:spPr>
        <p:txBody>
          <a:bodyPr wrap="square">
            <a:spAutoFit/>
          </a:bodyPr>
          <a:lstStyle/>
          <a:p>
            <a:pPr algn="l"/>
            <a:r>
              <a:rPr sz="1200" b="0" i="0">
                <a:solidFill>
                  <a:srgbClr val="FFFFFF"/>
                </a:solidFill>
              </a:rPr>
              <a:t>Memento principle: policy improves, LLM stays frozen</a:t>
            </a:r>
          </a:p>
        </p:txBody>
      </p:sp>
      <p:sp>
        <p:nvSpPr>
          <p:cNvPr id="21" name="TextBox 20"/>
          <p:cNvSpPr txBox="1"/>
          <p:nvPr/>
        </p:nvSpPr>
        <p:spPr>
          <a:xfrm>
            <a:off x="5623560" y="3474720"/>
            <a:ext cx="548640" cy="365760"/>
          </a:xfrm>
          <a:prstGeom prst="rect">
            <a:avLst/>
          </a:prstGeom>
          <a:noFill/>
        </p:spPr>
        <p:txBody>
          <a:bodyPr wrap="square">
            <a:spAutoFit/>
          </a:bodyPr>
          <a:lstStyle/>
          <a:p>
            <a:pPr algn="ctr"/>
            <a:r>
              <a:rPr sz="1000" b="0" i="0">
                <a:solidFill>
                  <a:srgbClr val="647487"/>
                </a:solidFill>
              </a:rPr>
              <a:t>|</a:t>
            </a:r>
          </a:p>
        </p:txBody>
      </p:sp>
      <p:sp>
        <p:nvSpPr>
          <p:cNvPr id="22" name="Rectangle 2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Integration Surface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Everything your team already uses — all live, no API keys required</a:t>
            </a:r>
          </a:p>
        </p:txBody>
      </p:sp>
      <p:graphicFrame>
        <p:nvGraphicFramePr>
          <p:cNvPr id="5" name="Table 4"/>
          <p:cNvGraphicFramePr>
            <a:graphicFrameLocks noGrp="1"/>
          </p:cNvGraphicFramePr>
          <p:nvPr/>
        </p:nvGraphicFramePr>
        <p:xfrm>
          <a:off x="457200" y="1508760"/>
          <a:ext cx="11247120" cy="5230368"/>
        </p:xfrm>
        <a:graphic>
          <a:graphicData uri="http://schemas.openxmlformats.org/drawingml/2006/table">
            <a:tbl>
              <a:tblPr firstRow="1" bandRow="1">
                <a:tableStyleId>{5C22544A-7EE6-4342-B048-85BDC9FD1C3A}</a:tableStyleId>
              </a:tblPr>
              <a:tblGrid>
                <a:gridCol w="2103120"/>
                <a:gridCol w="6217920"/>
                <a:gridCol w="2926080"/>
              </a:tblGrid>
              <a:tr h="475488">
                <a:tc>
                  <a:txBody>
                    <a:bodyPr/>
                    <a:lstStyle/>
                    <a:p>
                      <a:pPr algn="ctr"/>
                      <a:r>
                        <a:rPr b="1" sz="1300">
                          <a:solidFill>
                            <a:srgbClr val="FFFFFF"/>
                          </a:solidFill>
                        </a:rPr>
                        <a:t>Category</a:t>
                      </a:r>
                    </a:p>
                  </a:txBody>
                  <a:tcPr>
                    <a:solidFill>
                      <a:srgbClr val="0078D4"/>
                    </a:solidFill>
                  </a:tcPr>
                </a:tc>
                <a:tc>
                  <a:txBody>
                    <a:bodyPr/>
                    <a:lstStyle/>
                    <a:p>
                      <a:pPr algn="ctr"/>
                      <a:r>
                        <a:rPr b="1" sz="1300">
                          <a:solidFill>
                            <a:srgbClr val="FFFFFF"/>
                          </a:solidFill>
                        </a:rPr>
                        <a:t>Tools / Protocols</a:t>
                      </a:r>
                    </a:p>
                  </a:txBody>
                  <a:tcPr>
                    <a:solidFill>
                      <a:srgbClr val="0078D4"/>
                    </a:solidFill>
                  </a:tcPr>
                </a:tc>
                <a:tc>
                  <a:txBody>
                    <a:bodyPr/>
                    <a:lstStyle/>
                    <a:p>
                      <a:pPr algn="ctr"/>
                      <a:r>
                        <a:rPr b="1" sz="1300">
                          <a:solidFill>
                            <a:srgbClr val="FFFFFF"/>
                          </a:solidFill>
                        </a:rPr>
                        <a:t>Status</a:t>
                      </a:r>
                    </a:p>
                  </a:txBody>
                  <a:tcPr>
                    <a:solidFill>
                      <a:srgbClr val="0078D4"/>
                    </a:solidFill>
                  </a:tcPr>
                </a:tc>
              </a:tr>
              <a:tr h="475488">
                <a:tc>
                  <a:txBody>
                    <a:bodyPr/>
                    <a:lstStyle/>
                    <a:p>
                      <a:pPr algn="l"/>
                      <a:r>
                        <a:rPr sz="1200">
                          <a:solidFill>
                            <a:srgbClr val="0D1B2A"/>
                          </a:solidFill>
                        </a:rPr>
                        <a:t>Source Control</a:t>
                      </a:r>
                    </a:p>
                  </a:txBody>
                  <a:tcPr>
                    <a:solidFill>
                      <a:srgbClr val="F0F4F8"/>
                    </a:solidFill>
                  </a:tcPr>
                </a:tc>
                <a:tc>
                  <a:txBody>
                    <a:bodyPr/>
                    <a:lstStyle/>
                    <a:p>
                      <a:pPr algn="l"/>
                      <a:r>
                        <a:rPr sz="1200">
                          <a:solidFill>
                            <a:srgbClr val="0D1B2A"/>
                          </a:solidFill>
                        </a:rPr>
                        <a:t>GitLab (MRs, Issues, Pipelines, CI status)</a:t>
                      </a:r>
                    </a:p>
                  </a:txBody>
                  <a:tcPr>
                    <a:solidFill>
                      <a:srgbClr val="F0F4F8"/>
                    </a:solidFill>
                  </a:tcPr>
                </a:tc>
                <a:tc>
                  <a:txBody>
                    <a:bodyPr/>
                    <a:lstStyle/>
                    <a:p>
                      <a:pPr algn="l"/>
                      <a:r>
                        <a:rPr sz="1200">
                          <a:solidFill>
                            <a:srgbClr val="0D1B2A"/>
                          </a:solidFill>
                        </a:rPr>
                        <a:t>Live</a:t>
                      </a:r>
                    </a:p>
                  </a:txBody>
                  <a:tcPr>
                    <a:solidFill>
                      <a:srgbClr val="F0F4F8"/>
                    </a:solidFill>
                  </a:tcPr>
                </a:tc>
              </a:tr>
              <a:tr h="475488">
                <a:tc>
                  <a:txBody>
                    <a:bodyPr/>
                    <a:lstStyle/>
                    <a:p>
                      <a:pPr algn="l"/>
                      <a:r>
                        <a:rPr sz="1200">
                          <a:solidFill>
                            <a:srgbClr val="0D1B2A"/>
                          </a:solidFill>
                        </a:rPr>
                        <a:t>Communication</a:t>
                      </a:r>
                    </a:p>
                  </a:txBody>
                  <a:tcPr>
                    <a:solidFill>
                      <a:srgbClr val="FFFFFF"/>
                    </a:solidFill>
                  </a:tcPr>
                </a:tc>
                <a:tc>
                  <a:txBody>
                    <a:bodyPr/>
                    <a:lstStyle/>
                    <a:p>
                      <a:pPr algn="l"/>
                      <a:r>
                        <a:rPr sz="1200">
                          <a:solidFill>
                            <a:srgbClr val="0D1B2A"/>
                          </a:solidFill>
                        </a:rPr>
                        <a:t>Microsoft Teams, Slack (Block Kit approvals, callbacks)</a:t>
                      </a:r>
                    </a:p>
                  </a:txBody>
                  <a:tcPr>
                    <a:solidFill>
                      <a:srgbClr val="FFFFFF"/>
                    </a:solidFill>
                  </a:tcPr>
                </a:tc>
                <a:tc>
                  <a:txBody>
                    <a:bodyPr/>
                    <a:lstStyle/>
                    <a:p>
                      <a:pPr algn="l"/>
                      <a:r>
                        <a:rPr sz="1200">
                          <a:solidFill>
                            <a:srgbClr val="0D1B2A"/>
                          </a:solidFill>
                        </a:rPr>
                        <a:t>Live</a:t>
                      </a:r>
                    </a:p>
                  </a:txBody>
                  <a:tcPr>
                    <a:solidFill>
                      <a:srgbClr val="FFFFFF"/>
                    </a:solidFill>
                  </a:tcPr>
                </a:tc>
              </a:tr>
              <a:tr h="475488">
                <a:tc>
                  <a:txBody>
                    <a:bodyPr/>
                    <a:lstStyle/>
                    <a:p>
                      <a:pPr algn="l"/>
                      <a:r>
                        <a:rPr sz="1200">
                          <a:solidFill>
                            <a:srgbClr val="0D1B2A"/>
                          </a:solidFill>
                        </a:rPr>
                        <a:t>Analytics</a:t>
                      </a:r>
                    </a:p>
                  </a:txBody>
                  <a:tcPr>
                    <a:solidFill>
                      <a:srgbClr val="F0F4F8"/>
                    </a:solidFill>
                  </a:tcPr>
                </a:tc>
                <a:tc>
                  <a:txBody>
                    <a:bodyPr/>
                    <a:lstStyle/>
                    <a:p>
                      <a:pPr algn="l"/>
                      <a:r>
                        <a:rPr sz="1200">
                          <a:solidFill>
                            <a:srgbClr val="0D1B2A"/>
                          </a:solidFill>
                        </a:rPr>
                        <a:t>Metabase (dashboard event detection)</a:t>
                      </a:r>
                    </a:p>
                  </a:txBody>
                  <a:tcPr>
                    <a:solidFill>
                      <a:srgbClr val="F0F4F8"/>
                    </a:solidFill>
                  </a:tcPr>
                </a:tc>
                <a:tc>
                  <a:txBody>
                    <a:bodyPr/>
                    <a:lstStyle/>
                    <a:p>
                      <a:pPr algn="l"/>
                      <a:r>
                        <a:rPr sz="1200">
                          <a:solidFill>
                            <a:srgbClr val="0D1B2A"/>
                          </a:solidFill>
                        </a:rPr>
                        <a:t>Live</a:t>
                      </a:r>
                    </a:p>
                  </a:txBody>
                  <a:tcPr>
                    <a:solidFill>
                      <a:srgbClr val="F0F4F8"/>
                    </a:solidFill>
                  </a:tcPr>
                </a:tc>
              </a:tr>
              <a:tr h="475488">
                <a:tc>
                  <a:txBody>
                    <a:bodyPr/>
                    <a:lstStyle/>
                    <a:p>
                      <a:pPr algn="l"/>
                      <a:r>
                        <a:rPr sz="1200">
                          <a:solidFill>
                            <a:srgbClr val="0D1B2A"/>
                          </a:solidFill>
                        </a:rPr>
                        <a:t>LLM Providers</a:t>
                      </a:r>
                    </a:p>
                  </a:txBody>
                  <a:tcPr>
                    <a:solidFill>
                      <a:srgbClr val="FFFFFF"/>
                    </a:solidFill>
                  </a:tcPr>
                </a:tc>
                <a:tc>
                  <a:txBody>
                    <a:bodyPr/>
                    <a:lstStyle/>
                    <a:p>
                      <a:pPr algn="l"/>
                      <a:r>
                        <a:rPr sz="1200">
                          <a:solidFill>
                            <a:srgbClr val="0D1B2A"/>
                          </a:solidFill>
                        </a:rPr>
                        <a:t>Gemini CLI, Claude Code, Ollama, local, GenericCLI</a:t>
                      </a:r>
                    </a:p>
                  </a:txBody>
                  <a:tcPr>
                    <a:solidFill>
                      <a:srgbClr val="FFFFFF"/>
                    </a:solidFill>
                  </a:tcPr>
                </a:tc>
                <a:tc>
                  <a:txBody>
                    <a:bodyPr/>
                    <a:lstStyle/>
                    <a:p>
                      <a:pPr algn="l"/>
                      <a:r>
                        <a:rPr sz="1200">
                          <a:solidFill>
                            <a:srgbClr val="0D1B2A"/>
                          </a:solidFill>
                        </a:rPr>
                        <a:t>No API key</a:t>
                      </a:r>
                    </a:p>
                  </a:txBody>
                  <a:tcPr>
                    <a:solidFill>
                      <a:srgbClr val="FFFFFF"/>
                    </a:solidFill>
                  </a:tcPr>
                </a:tc>
              </a:tr>
              <a:tr h="475488">
                <a:tc>
                  <a:txBody>
                    <a:bodyPr/>
                    <a:lstStyle/>
                    <a:p>
                      <a:pPr algn="l"/>
                      <a:r>
                        <a:rPr sz="1200">
                          <a:solidFill>
                            <a:srgbClr val="0D1B2A"/>
                          </a:solidFill>
                        </a:rPr>
                        <a:t>Automation</a:t>
                      </a:r>
                    </a:p>
                  </a:txBody>
                  <a:tcPr>
                    <a:solidFill>
                      <a:srgbClr val="F0F4F8"/>
                    </a:solidFill>
                  </a:tcPr>
                </a:tc>
                <a:tc>
                  <a:txBody>
                    <a:bodyPr/>
                    <a:lstStyle/>
                    <a:p>
                      <a:pPr algn="l"/>
                      <a:r>
                        <a:rPr sz="1200">
                          <a:solidFill>
                            <a:srgbClr val="0D1B2A"/>
                          </a:solidFill>
                        </a:rPr>
                        <a:t>n8n webhook to SAGE task routing (HMAC-verified)</a:t>
                      </a:r>
                    </a:p>
                  </a:txBody>
                  <a:tcPr>
                    <a:solidFill>
                      <a:srgbClr val="F0F4F8"/>
                    </a:solidFill>
                  </a:tcPr>
                </a:tc>
                <a:tc>
                  <a:txBody>
                    <a:bodyPr/>
                    <a:lstStyle/>
                    <a:p>
                      <a:pPr algn="l"/>
                      <a:r>
                        <a:rPr sz="1200">
                          <a:solidFill>
                            <a:srgbClr val="0D1B2A"/>
                          </a:solidFill>
                        </a:rPr>
                        <a:t>Live</a:t>
                      </a:r>
                    </a:p>
                  </a:txBody>
                  <a:tcPr>
                    <a:solidFill>
                      <a:srgbClr val="F0F4F8"/>
                    </a:solidFill>
                  </a:tcPr>
                </a:tc>
              </a:tr>
              <a:tr h="475488">
                <a:tc>
                  <a:txBody>
                    <a:bodyPr/>
                    <a:lstStyle/>
                    <a:p>
                      <a:pPr algn="l"/>
                      <a:r>
                        <a:rPr sz="1200">
                          <a:solidFill>
                            <a:srgbClr val="0D1B2A"/>
                          </a:solidFill>
                        </a:rPr>
                        <a:t>Workflow Engine</a:t>
                      </a:r>
                    </a:p>
                  </a:txBody>
                  <a:tcPr>
                    <a:solidFill>
                      <a:srgbClr val="FFFFFF"/>
                    </a:solidFill>
                  </a:tcPr>
                </a:tc>
                <a:tc>
                  <a:txBody>
                    <a:bodyPr/>
                    <a:lstStyle/>
                    <a:p>
                      <a:pPr algn="l"/>
                      <a:r>
                        <a:rPr sz="1200">
                          <a:solidFill>
                            <a:srgbClr val="0D1B2A"/>
                          </a:solidFill>
                        </a:rPr>
                        <a:t>LangGraph (interrupt/resume), Temporal (durable)</a:t>
                      </a:r>
                    </a:p>
                  </a:txBody>
                  <a:tcPr>
                    <a:solidFill>
                      <a:srgbClr val="FFFFFF"/>
                    </a:solidFill>
                  </a:tcPr>
                </a:tc>
                <a:tc>
                  <a:txBody>
                    <a:bodyPr/>
                    <a:lstStyle/>
                    <a:p>
                      <a:pPr algn="l"/>
                      <a:r>
                        <a:rPr sz="1200">
                          <a:solidFill>
                            <a:srgbClr val="0D1B2A"/>
                          </a:solidFill>
                        </a:rPr>
                        <a:t>Live</a:t>
                      </a:r>
                    </a:p>
                  </a:txBody>
                  <a:tcPr>
                    <a:solidFill>
                      <a:srgbClr val="FFFFFF"/>
                    </a:solidFill>
                  </a:tcPr>
                </a:tc>
              </a:tr>
              <a:tr h="475488">
                <a:tc>
                  <a:txBody>
                    <a:bodyPr/>
                    <a:lstStyle/>
                    <a:p>
                      <a:pPr algn="l"/>
                      <a:r>
                        <a:rPr sz="1200">
                          <a:solidFill>
                            <a:srgbClr val="0D1B2A"/>
                          </a:solidFill>
                        </a:rPr>
                        <a:t>Code Execution</a:t>
                      </a:r>
                    </a:p>
                  </a:txBody>
                  <a:tcPr>
                    <a:solidFill>
                      <a:srgbClr val="F0F4F8"/>
                    </a:solidFill>
                  </a:tcPr>
                </a:tc>
                <a:tc>
                  <a:txBody>
                    <a:bodyPr/>
                    <a:lstStyle/>
                    <a:p>
                      <a:pPr algn="l"/>
                      <a:r>
                        <a:rPr sz="1200">
                          <a:solidFill>
                            <a:srgbClr val="0D1B2A"/>
                          </a:solidFill>
                        </a:rPr>
                        <a:t>AutoGen plan, approve, execute in Docker sandbox</a:t>
                      </a:r>
                    </a:p>
                  </a:txBody>
                  <a:tcPr>
                    <a:solidFill>
                      <a:srgbClr val="F0F4F8"/>
                    </a:solidFill>
                  </a:tcPr>
                </a:tc>
                <a:tc>
                  <a:txBody>
                    <a:bodyPr/>
                    <a:lstStyle/>
                    <a:p>
                      <a:pPr algn="l"/>
                      <a:r>
                        <a:rPr sz="1200">
                          <a:solidFill>
                            <a:srgbClr val="0D1B2A"/>
                          </a:solidFill>
                        </a:rPr>
                        <a:t>Live</a:t>
                      </a:r>
                    </a:p>
                  </a:txBody>
                  <a:tcPr>
                    <a:solidFill>
                      <a:srgbClr val="F0F4F8"/>
                    </a:solidFill>
                  </a:tcPr>
                </a:tc>
              </a:tr>
              <a:tr h="475488">
                <a:tc>
                  <a:txBody>
                    <a:bodyPr/>
                    <a:lstStyle/>
                    <a:p>
                      <a:pPr algn="l"/>
                      <a:r>
                        <a:rPr sz="1200">
                          <a:solidFill>
                            <a:srgbClr val="0D1B2A"/>
                          </a:solidFill>
                        </a:rPr>
                        <a:t>Compliance</a:t>
                      </a:r>
                    </a:p>
                  </a:txBody>
                  <a:tcPr>
                    <a:solidFill>
                      <a:srgbClr val="FFFFFF"/>
                    </a:solidFill>
                  </a:tcPr>
                </a:tc>
                <a:tc>
                  <a:txBody>
                    <a:bodyPr/>
                    <a:lstStyle/>
                    <a:p>
                      <a:pPr algn="l"/>
                      <a:r>
                        <a:rPr sz="1200">
                          <a:solidFill>
                            <a:srgbClr val="0D1B2A"/>
                          </a:solidFill>
                        </a:rPr>
                        <a:t>Spira TM, REST webhook adapters</a:t>
                      </a:r>
                    </a:p>
                  </a:txBody>
                  <a:tcPr>
                    <a:solidFill>
                      <a:srgbClr val="FFFFFF"/>
                    </a:solidFill>
                  </a:tcPr>
                </a:tc>
                <a:tc>
                  <a:txBody>
                    <a:bodyPr/>
                    <a:lstStyle/>
                    <a:p>
                      <a:pPr algn="l"/>
                      <a:r>
                        <a:rPr sz="1200">
                          <a:solidFill>
                            <a:srgbClr val="0D1B2A"/>
                          </a:solidFill>
                        </a:rPr>
                        <a:t>Live</a:t>
                      </a:r>
                    </a:p>
                  </a:txBody>
                  <a:tcPr>
                    <a:solidFill>
                      <a:srgbClr val="FFFFFF"/>
                    </a:solidFill>
                  </a:tcPr>
                </a:tc>
              </a:tr>
              <a:tr h="475488">
                <a:tc>
                  <a:txBody>
                    <a:bodyPr/>
                    <a:lstStyle/>
                    <a:p>
                      <a:pPr algn="l"/>
                      <a:r>
                        <a:rPr sz="1200">
                          <a:solidFill>
                            <a:srgbClr val="0D1B2A"/>
                          </a:solidFill>
                        </a:rPr>
                        <a:t>Multi-Tenant</a:t>
                      </a:r>
                    </a:p>
                  </a:txBody>
                  <a:tcPr>
                    <a:solidFill>
                      <a:srgbClr val="F0F4F8"/>
                    </a:solidFill>
                  </a:tcPr>
                </a:tc>
                <a:tc>
                  <a:txBody>
                    <a:bodyPr/>
                    <a:lstStyle/>
                    <a:p>
                      <a:pPr algn="l"/>
                      <a:r>
                        <a:rPr sz="1200">
                          <a:solidFill>
                            <a:srgbClr val="0D1B2A"/>
                          </a:solidFill>
                        </a:rPr>
                        <a:t>X-SAGE-Tenant header, per-team collection isolation</a:t>
                      </a:r>
                    </a:p>
                  </a:txBody>
                  <a:tcPr>
                    <a:solidFill>
                      <a:srgbClr val="F0F4F8"/>
                    </a:solidFill>
                  </a:tcPr>
                </a:tc>
                <a:tc>
                  <a:txBody>
                    <a:bodyPr/>
                    <a:lstStyle/>
                    <a:p>
                      <a:pPr algn="l"/>
                      <a:r>
                        <a:rPr sz="1200">
                          <a:solidFill>
                            <a:srgbClr val="0D1B2A"/>
                          </a:solidFill>
                        </a:rPr>
                        <a:t>Live</a:t>
                      </a:r>
                    </a:p>
                  </a:txBody>
                  <a:tcPr>
                    <a:solidFill>
                      <a:srgbClr val="F0F4F8"/>
                    </a:solidFill>
                  </a:tcPr>
                </a:tc>
              </a:tr>
              <a:tr h="475488">
                <a:tc>
                  <a:txBody>
                    <a:bodyPr/>
                    <a:lstStyle/>
                    <a:p>
                      <a:pPr algn="l"/>
                      <a:r>
                        <a:rPr sz="1200">
                          <a:solidFill>
                            <a:srgbClr val="0D1B2A"/>
                          </a:solidFill>
                        </a:rPr>
                        <a:t>MCP Servers</a:t>
                      </a:r>
                    </a:p>
                  </a:txBody>
                  <a:tcPr>
                    <a:solidFill>
                      <a:srgbClr val="FFFFFF"/>
                    </a:solidFill>
                  </a:tcPr>
                </a:tc>
                <a:tc>
                  <a:txBody>
                    <a:bodyPr/>
                    <a:lstStyle/>
                    <a:p>
                      <a:pPr algn="l"/>
                      <a:r>
                        <a:rPr sz="1200">
                          <a:solidFill>
                            <a:srgbClr val="0D1B2A"/>
                          </a:solidFill>
                        </a:rPr>
                        <a:t>Model Context Protocol — plug-in tool ecosystem</a:t>
                      </a:r>
                    </a:p>
                  </a:txBody>
                  <a:tcPr>
                    <a:solidFill>
                      <a:srgbClr val="FFFFFF"/>
                    </a:solidFill>
                  </a:tcPr>
                </a:tc>
                <a:tc>
                  <a:txBody>
                    <a:bodyPr/>
                    <a:lstStyle/>
                    <a:p>
                      <a:pPr algn="l"/>
                      <a:r>
                        <a:rPr sz="1200">
                          <a:solidFill>
                            <a:srgbClr val="0D1B2A"/>
                          </a:solidFill>
                        </a:rPr>
                        <a:t>Ready</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LLM Gateway Design</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Provider-agnostic, thread-safe, single-lane inference</a:t>
            </a:r>
          </a:p>
        </p:txBody>
      </p:sp>
      <p:sp>
        <p:nvSpPr>
          <p:cNvPr id="5" name="Rectangle 4"/>
          <p:cNvSpPr/>
          <p:nvPr/>
        </p:nvSpPr>
        <p:spPr>
          <a:xfrm>
            <a:off x="365760" y="160020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691640"/>
            <a:ext cx="3108960" cy="457200"/>
          </a:xfrm>
          <a:prstGeom prst="rect">
            <a:avLst/>
          </a:prstGeom>
          <a:noFill/>
        </p:spPr>
        <p:txBody>
          <a:bodyPr wrap="square">
            <a:spAutoFit/>
          </a:bodyPr>
          <a:lstStyle/>
          <a:p>
            <a:pPr algn="ctr"/>
            <a:r>
              <a:rPr sz="1300" b="1" i="0">
                <a:solidFill>
                  <a:srgbClr val="FFFFFF"/>
                </a:solidFill>
              </a:rPr>
              <a:t>No API Key Needed</a:t>
            </a:r>
          </a:p>
        </p:txBody>
      </p:sp>
      <p:sp>
        <p:nvSpPr>
          <p:cNvPr id="7" name="TextBox 6"/>
          <p:cNvSpPr txBox="1"/>
          <p:nvPr/>
        </p:nvSpPr>
        <p:spPr>
          <a:xfrm>
            <a:off x="3749039" y="1709928"/>
            <a:ext cx="8046720" cy="457200"/>
          </a:xfrm>
          <a:prstGeom prst="rect">
            <a:avLst/>
          </a:prstGeom>
          <a:noFill/>
        </p:spPr>
        <p:txBody>
          <a:bodyPr wrap="square">
            <a:spAutoFit/>
          </a:bodyPr>
          <a:lstStyle/>
          <a:p>
            <a:pPr algn="l"/>
            <a:r>
              <a:rPr sz="1300" b="0" i="0">
                <a:solidFill>
                  <a:srgbClr val="0D1B2A"/>
                </a:solidFill>
              </a:rPr>
              <a:t>5 providers require zero credential management — login once or run fully local</a:t>
            </a:r>
          </a:p>
        </p:txBody>
      </p:sp>
      <p:sp>
        <p:nvSpPr>
          <p:cNvPr id="8" name="Rectangle 7"/>
          <p:cNvSpPr/>
          <p:nvPr/>
        </p:nvSpPr>
        <p:spPr>
          <a:xfrm>
            <a:off x="365760" y="237744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2468880"/>
            <a:ext cx="3108960" cy="457200"/>
          </a:xfrm>
          <a:prstGeom prst="rect">
            <a:avLst/>
          </a:prstGeom>
          <a:noFill/>
        </p:spPr>
        <p:txBody>
          <a:bodyPr wrap="square">
            <a:spAutoFit/>
          </a:bodyPr>
          <a:lstStyle/>
          <a:p>
            <a:pPr algn="ctr"/>
            <a:r>
              <a:rPr sz="1300" b="1" i="0">
                <a:solidFill>
                  <a:srgbClr val="FFFFFF"/>
                </a:solidFill>
              </a:rPr>
              <a:t>Gemini CLI</a:t>
            </a:r>
          </a:p>
        </p:txBody>
      </p:sp>
      <p:sp>
        <p:nvSpPr>
          <p:cNvPr id="10" name="TextBox 9"/>
          <p:cNvSpPr txBox="1"/>
          <p:nvPr/>
        </p:nvSpPr>
        <p:spPr>
          <a:xfrm>
            <a:off x="3749039" y="2487168"/>
            <a:ext cx="8046720" cy="457200"/>
          </a:xfrm>
          <a:prstGeom prst="rect">
            <a:avLst/>
          </a:prstGeom>
          <a:noFill/>
        </p:spPr>
        <p:txBody>
          <a:bodyPr wrap="square">
            <a:spAutoFit/>
          </a:bodyPr>
          <a:lstStyle/>
          <a:p>
            <a:pPr algn="l"/>
            <a:r>
              <a:rPr sz="1300" b="0" i="0">
                <a:solidFill>
                  <a:srgbClr val="0D1B2A"/>
                </a:solidFill>
              </a:rPr>
              <a:t>npm install -g @google/gemini-cli · browser login once · gemini-2.5-flash</a:t>
            </a:r>
          </a:p>
        </p:txBody>
      </p:sp>
      <p:sp>
        <p:nvSpPr>
          <p:cNvPr id="11" name="Rectangle 10"/>
          <p:cNvSpPr/>
          <p:nvPr/>
        </p:nvSpPr>
        <p:spPr>
          <a:xfrm>
            <a:off x="365760" y="315468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246120"/>
            <a:ext cx="3108960" cy="457200"/>
          </a:xfrm>
          <a:prstGeom prst="rect">
            <a:avLst/>
          </a:prstGeom>
          <a:noFill/>
        </p:spPr>
        <p:txBody>
          <a:bodyPr wrap="square">
            <a:spAutoFit/>
          </a:bodyPr>
          <a:lstStyle/>
          <a:p>
            <a:pPr algn="ctr"/>
            <a:r>
              <a:rPr sz="1300" b="1" i="0">
                <a:solidFill>
                  <a:srgbClr val="FFFFFF"/>
                </a:solidFill>
              </a:rPr>
              <a:t>Claude Code CLI</a:t>
            </a:r>
          </a:p>
        </p:txBody>
      </p:sp>
      <p:sp>
        <p:nvSpPr>
          <p:cNvPr id="13" name="TextBox 12"/>
          <p:cNvSpPr txBox="1"/>
          <p:nvPr/>
        </p:nvSpPr>
        <p:spPr>
          <a:xfrm>
            <a:off x="3749039" y="3264408"/>
            <a:ext cx="8046720" cy="457200"/>
          </a:xfrm>
          <a:prstGeom prst="rect">
            <a:avLst/>
          </a:prstGeom>
          <a:noFill/>
        </p:spPr>
        <p:txBody>
          <a:bodyPr wrap="square">
            <a:spAutoFit/>
          </a:bodyPr>
          <a:lstStyle/>
          <a:p>
            <a:pPr algn="l"/>
            <a:r>
              <a:rPr sz="1300" b="0" i="0">
                <a:solidFill>
                  <a:srgbClr val="0D1B2A"/>
                </a:solidFill>
              </a:rPr>
              <a:t>npm install -g @anthropic-ai/claude-code · Anthropic auth once · sonnet-4-6</a:t>
            </a:r>
          </a:p>
        </p:txBody>
      </p:sp>
      <p:sp>
        <p:nvSpPr>
          <p:cNvPr id="14" name="Rectangle 13"/>
          <p:cNvSpPr/>
          <p:nvPr/>
        </p:nvSpPr>
        <p:spPr>
          <a:xfrm>
            <a:off x="365760" y="393192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4023360"/>
            <a:ext cx="3108960" cy="457200"/>
          </a:xfrm>
          <a:prstGeom prst="rect">
            <a:avLst/>
          </a:prstGeom>
          <a:noFill/>
        </p:spPr>
        <p:txBody>
          <a:bodyPr wrap="square">
            <a:spAutoFit/>
          </a:bodyPr>
          <a:lstStyle/>
          <a:p>
            <a:pPr algn="ctr"/>
            <a:r>
              <a:rPr sz="1300" b="1" i="0">
                <a:solidFill>
                  <a:srgbClr val="FFFFFF"/>
                </a:solidFill>
              </a:rPr>
              <a:t>Ollama (local)</a:t>
            </a:r>
          </a:p>
        </p:txBody>
      </p:sp>
      <p:sp>
        <p:nvSpPr>
          <p:cNvPr id="16" name="TextBox 15"/>
          <p:cNvSpPr txBox="1"/>
          <p:nvPr/>
        </p:nvSpPr>
        <p:spPr>
          <a:xfrm>
            <a:off x="3749039" y="4041648"/>
            <a:ext cx="8046720" cy="457200"/>
          </a:xfrm>
          <a:prstGeom prst="rect">
            <a:avLst/>
          </a:prstGeom>
          <a:noFill/>
        </p:spPr>
        <p:txBody>
          <a:bodyPr wrap="square">
            <a:spAutoFit/>
          </a:bodyPr>
          <a:lstStyle/>
          <a:p>
            <a:pPr algn="l"/>
            <a:r>
              <a:rPr sz="1300" b="0" i="0">
                <a:solidFill>
                  <a:srgbClr val="0D1B2A"/>
                </a:solidFill>
              </a:rPr>
              <a:t>ollama serve + ollama pull llama3.2 — fully offline, CUDA-accelerated option</a:t>
            </a:r>
          </a:p>
        </p:txBody>
      </p:sp>
      <p:sp>
        <p:nvSpPr>
          <p:cNvPr id="17" name="Rectangle 16"/>
          <p:cNvSpPr/>
          <p:nvPr/>
        </p:nvSpPr>
        <p:spPr>
          <a:xfrm>
            <a:off x="365760" y="470916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800600"/>
            <a:ext cx="3108960" cy="457200"/>
          </a:xfrm>
          <a:prstGeom prst="rect">
            <a:avLst/>
          </a:prstGeom>
          <a:noFill/>
        </p:spPr>
        <p:txBody>
          <a:bodyPr wrap="square">
            <a:spAutoFit/>
          </a:bodyPr>
          <a:lstStyle/>
          <a:p>
            <a:pPr algn="ctr"/>
            <a:r>
              <a:rPr sz="1300" b="1" i="0">
                <a:solidFill>
                  <a:srgbClr val="FFFFFF"/>
                </a:solidFill>
              </a:rPr>
              <a:t>Generic CLI</a:t>
            </a:r>
          </a:p>
        </p:txBody>
      </p:sp>
      <p:sp>
        <p:nvSpPr>
          <p:cNvPr id="19" name="TextBox 18"/>
          <p:cNvSpPr txBox="1"/>
          <p:nvPr/>
        </p:nvSpPr>
        <p:spPr>
          <a:xfrm>
            <a:off x="3749039" y="4818888"/>
            <a:ext cx="8046720" cy="457200"/>
          </a:xfrm>
          <a:prstGeom prst="rect">
            <a:avLst/>
          </a:prstGeom>
          <a:noFill/>
        </p:spPr>
        <p:txBody>
          <a:bodyPr wrap="square">
            <a:spAutoFit/>
          </a:bodyPr>
          <a:lstStyle/>
          <a:p>
            <a:pPr algn="l"/>
            <a:r>
              <a:rPr sz="1300" b="0" i="0">
                <a:solidFill>
                  <a:srgbClr val="0D1B2A"/>
                </a:solidFill>
              </a:rPr>
              <a:t>Any CLI tool via configurable path + {prompt} arg — Aider, LM Studio, etc.</a:t>
            </a:r>
          </a:p>
        </p:txBody>
      </p:sp>
      <p:sp>
        <p:nvSpPr>
          <p:cNvPr id="20" name="Rectangle 19"/>
          <p:cNvSpPr/>
          <p:nvPr/>
        </p:nvSpPr>
        <p:spPr>
          <a:xfrm>
            <a:off x="365760" y="548640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577840"/>
            <a:ext cx="3108960" cy="457200"/>
          </a:xfrm>
          <a:prstGeom prst="rect">
            <a:avLst/>
          </a:prstGeom>
          <a:noFill/>
        </p:spPr>
        <p:txBody>
          <a:bodyPr wrap="square">
            <a:spAutoFit/>
          </a:bodyPr>
          <a:lstStyle/>
          <a:p>
            <a:pPr algn="ctr"/>
            <a:r>
              <a:rPr sz="1300" b="1" i="0">
                <a:solidFill>
                  <a:srgbClr val="FFFFFF"/>
                </a:solidFill>
              </a:rPr>
              <a:t>Thread-Safe + Stream</a:t>
            </a:r>
          </a:p>
        </p:txBody>
      </p:sp>
      <p:sp>
        <p:nvSpPr>
          <p:cNvPr id="22" name="TextBox 21"/>
          <p:cNvSpPr txBox="1"/>
          <p:nvPr/>
        </p:nvSpPr>
        <p:spPr>
          <a:xfrm>
            <a:off x="3749039" y="5596128"/>
            <a:ext cx="8046720" cy="457200"/>
          </a:xfrm>
          <a:prstGeom prst="rect">
            <a:avLst/>
          </a:prstGeom>
          <a:noFill/>
        </p:spPr>
        <p:txBody>
          <a:bodyPr wrap="square">
            <a:spAutoFit/>
          </a:bodyPr>
          <a:lstStyle/>
          <a:p>
            <a:pPr algn="l"/>
            <a:r>
              <a:rPr sz="1300" b="0" i="0">
                <a:solidFill>
                  <a:srgbClr val="0D1B2A"/>
                </a:solidFill>
              </a:rPr>
              <a:t>threading.Lock on generate() · SSE streaming via generate_stream() for all providers</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Security &amp; Compliance Architecture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Designed for regulated environments — not retrofitted</a:t>
            </a:r>
          </a:p>
        </p:txBody>
      </p:sp>
      <p:graphicFrame>
        <p:nvGraphicFramePr>
          <p:cNvPr id="5" name="Table 4"/>
          <p:cNvGraphicFramePr>
            <a:graphicFrameLocks noGrp="1"/>
          </p:cNvGraphicFramePr>
          <p:nvPr/>
        </p:nvGraphicFramePr>
        <p:xfrm>
          <a:off x="457200" y="1508760"/>
          <a:ext cx="11247120" cy="3328416"/>
        </p:xfrm>
        <a:graphic>
          <a:graphicData uri="http://schemas.openxmlformats.org/drawingml/2006/table">
            <a:tbl>
              <a:tblPr firstRow="1" bandRow="1">
                <a:tableStyleId>{5C22544A-7EE6-4342-B048-85BDC9FD1C3A}</a:tableStyleId>
              </a:tblPr>
              <a:tblGrid>
                <a:gridCol w="2286000"/>
                <a:gridCol w="5303520"/>
                <a:gridCol w="3657600"/>
              </a:tblGrid>
              <a:tr h="475488">
                <a:tc>
                  <a:txBody>
                    <a:bodyPr/>
                    <a:lstStyle/>
                    <a:p>
                      <a:pPr algn="ctr"/>
                      <a:r>
                        <a:rPr b="1" sz="1300">
                          <a:solidFill>
                            <a:srgbClr val="FFFFFF"/>
                          </a:solidFill>
                        </a:rPr>
                        <a:t>Control</a:t>
                      </a:r>
                    </a:p>
                  </a:txBody>
                  <a:tcPr>
                    <a:solidFill>
                      <a:srgbClr val="0078D4"/>
                    </a:solidFill>
                  </a:tcPr>
                </a:tc>
                <a:tc>
                  <a:txBody>
                    <a:bodyPr/>
                    <a:lstStyle/>
                    <a:p>
                      <a:pPr algn="ctr"/>
                      <a:r>
                        <a:rPr b="1" sz="1300">
                          <a:solidFill>
                            <a:srgbClr val="FFFFFF"/>
                          </a:solidFill>
                        </a:rPr>
                        <a:t>Implementation</a:t>
                      </a:r>
                    </a:p>
                  </a:txBody>
                  <a:tcPr>
                    <a:solidFill>
                      <a:srgbClr val="0078D4"/>
                    </a:solidFill>
                  </a:tcPr>
                </a:tc>
                <a:tc>
                  <a:txBody>
                    <a:bodyPr/>
                    <a:lstStyle/>
                    <a:p>
                      <a:pPr algn="ctr"/>
                      <a:r>
                        <a:rPr b="1" sz="1300">
                          <a:solidFill>
                            <a:srgbClr val="FFFFFF"/>
                          </a:solidFill>
                        </a:rPr>
                        <a:t>Standard</a:t>
                      </a:r>
                    </a:p>
                  </a:txBody>
                  <a:tcPr>
                    <a:solidFill>
                      <a:srgbClr val="0078D4"/>
                    </a:solidFill>
                  </a:tcPr>
                </a:tc>
              </a:tr>
              <a:tr h="475488">
                <a:tc>
                  <a:txBody>
                    <a:bodyPr/>
                    <a:lstStyle/>
                    <a:p>
                      <a:pPr algn="l"/>
                      <a:r>
                        <a:rPr sz="1200">
                          <a:solidFill>
                            <a:srgbClr val="0D1B2A"/>
                          </a:solidFill>
                        </a:rPr>
                        <a:t>Audit Log Integrity</a:t>
                      </a:r>
                    </a:p>
                  </a:txBody>
                  <a:tcPr>
                    <a:solidFill>
                      <a:srgbClr val="F0F4F8"/>
                    </a:solidFill>
                  </a:tcPr>
                </a:tc>
                <a:tc>
                  <a:txBody>
                    <a:bodyPr/>
                    <a:lstStyle/>
                    <a:p>
                      <a:pPr algn="l"/>
                      <a:r>
                        <a:rPr sz="1200">
                          <a:solidFill>
                            <a:srgbClr val="0D1B2A"/>
                          </a:solidFill>
                        </a:rPr>
                        <a:t>Append-only SQLite; no UPDATE/DELETE exposed</a:t>
                      </a:r>
                    </a:p>
                  </a:txBody>
                  <a:tcPr>
                    <a:solidFill>
                      <a:srgbClr val="F0F4F8"/>
                    </a:solidFill>
                  </a:tcPr>
                </a:tc>
                <a:tc>
                  <a:txBody>
                    <a:bodyPr/>
                    <a:lstStyle/>
                    <a:p>
                      <a:pPr algn="l"/>
                      <a:r>
                        <a:rPr sz="1200">
                          <a:solidFill>
                            <a:srgbClr val="0D1B2A"/>
                          </a:solidFill>
                        </a:rPr>
                        <a:t>ISO 13485 · FDA 21 CFR Part 11</a:t>
                      </a:r>
                    </a:p>
                  </a:txBody>
                  <a:tcPr>
                    <a:solidFill>
                      <a:srgbClr val="F0F4F8"/>
                    </a:solidFill>
                  </a:tcPr>
                </a:tc>
              </a:tr>
              <a:tr h="475488">
                <a:tc>
                  <a:txBody>
                    <a:bodyPr/>
                    <a:lstStyle/>
                    <a:p>
                      <a:pPr algn="l"/>
                      <a:r>
                        <a:rPr sz="1200">
                          <a:solidFill>
                            <a:srgbClr val="0D1B2A"/>
                          </a:solidFill>
                        </a:rPr>
                        <a:t>Decision Traceability</a:t>
                      </a:r>
                    </a:p>
                  </a:txBody>
                  <a:tcPr>
                    <a:solidFill>
                      <a:srgbClr val="FFFFFF"/>
                    </a:solidFill>
                  </a:tcPr>
                </a:tc>
                <a:tc>
                  <a:txBody>
                    <a:bodyPr/>
                    <a:lstStyle/>
                    <a:p>
                      <a:pPr algn="l"/>
                      <a:r>
                        <a:rPr sz="1200">
                          <a:solidFill>
                            <a:srgbClr val="0D1B2A"/>
                          </a:solidFill>
                        </a:rPr>
                        <a:t>UUID trace_id on every LLM call + human action</a:t>
                      </a:r>
                    </a:p>
                  </a:txBody>
                  <a:tcPr>
                    <a:solidFill>
                      <a:srgbClr val="FFFFFF"/>
                    </a:solidFill>
                  </a:tcPr>
                </a:tc>
                <a:tc>
                  <a:txBody>
                    <a:bodyPr/>
                    <a:lstStyle/>
                    <a:p>
                      <a:pPr algn="l"/>
                      <a:r>
                        <a:rPr sz="1200">
                          <a:solidFill>
                            <a:srgbClr val="0D1B2A"/>
                          </a:solidFill>
                        </a:rPr>
                        <a:t>IEC 62304 · ISO 14971</a:t>
                      </a:r>
                    </a:p>
                  </a:txBody>
                  <a:tcPr>
                    <a:solidFill>
                      <a:srgbClr val="FFFFFF"/>
                    </a:solidFill>
                  </a:tcPr>
                </a:tc>
              </a:tr>
              <a:tr h="475488">
                <a:tc>
                  <a:txBody>
                    <a:bodyPr/>
                    <a:lstStyle/>
                    <a:p>
                      <a:pPr algn="l"/>
                      <a:r>
                        <a:rPr sz="1200">
                          <a:solidFill>
                            <a:srgbClr val="0D1B2A"/>
                          </a:solidFill>
                        </a:rPr>
                        <a:t>Human Gate</a:t>
                      </a:r>
                    </a:p>
                  </a:txBody>
                  <a:tcPr>
                    <a:solidFill>
                      <a:srgbClr val="F0F4F8"/>
                    </a:solidFill>
                  </a:tcPr>
                </a:tc>
                <a:tc>
                  <a:txBody>
                    <a:bodyPr/>
                    <a:lstStyle/>
                    <a:p>
                      <a:pPr algn="l"/>
                      <a:r>
                        <a:rPr sz="1200">
                          <a:solidFill>
                            <a:srgbClr val="0D1B2A"/>
                          </a:solidFill>
                        </a:rPr>
                        <a:t>Approval endpoint required before any action executes</a:t>
                      </a:r>
                    </a:p>
                  </a:txBody>
                  <a:tcPr>
                    <a:solidFill>
                      <a:srgbClr val="F0F4F8"/>
                    </a:solidFill>
                  </a:tcPr>
                </a:tc>
                <a:tc>
                  <a:txBody>
                    <a:bodyPr/>
                    <a:lstStyle/>
                    <a:p>
                      <a:pPr algn="l"/>
                      <a:r>
                        <a:rPr sz="1200">
                          <a:solidFill>
                            <a:srgbClr val="0D1B2A"/>
                          </a:solidFill>
                        </a:rPr>
                        <a:t>ISO 13485 §8.5 CAPA</a:t>
                      </a:r>
                    </a:p>
                  </a:txBody>
                  <a:tcPr>
                    <a:solidFill>
                      <a:srgbClr val="F0F4F8"/>
                    </a:solidFill>
                  </a:tcPr>
                </a:tc>
              </a:tr>
              <a:tr h="475488">
                <a:tc>
                  <a:txBody>
                    <a:bodyPr/>
                    <a:lstStyle/>
                    <a:p>
                      <a:pPr algn="l"/>
                      <a:r>
                        <a:rPr sz="1200">
                          <a:solidFill>
                            <a:srgbClr val="0D1B2A"/>
                          </a:solidFill>
                        </a:rPr>
                        <a:t>Access Control</a:t>
                      </a:r>
                    </a:p>
                  </a:txBody>
                  <a:tcPr>
                    <a:solidFill>
                      <a:srgbClr val="FFFFFF"/>
                    </a:solidFill>
                  </a:tcPr>
                </a:tc>
                <a:tc>
                  <a:txBody>
                    <a:bodyPr/>
                    <a:lstStyle/>
                    <a:p>
                      <a:pPr algn="l"/>
                      <a:r>
                        <a:rPr sz="1200">
                          <a:solidFill>
                            <a:srgbClr val="0D1B2A"/>
                          </a:solidFill>
                        </a:rPr>
                        <a:t>JWT auth · role-based permissions (roadmap Phase 7)</a:t>
                      </a:r>
                    </a:p>
                  </a:txBody>
                  <a:tcPr>
                    <a:solidFill>
                      <a:srgbClr val="FFFFFF"/>
                    </a:solidFill>
                  </a:tcPr>
                </a:tc>
                <a:tc>
                  <a:txBody>
                    <a:bodyPr/>
                    <a:lstStyle/>
                    <a:p>
                      <a:pPr algn="l"/>
                      <a:r>
                        <a:rPr sz="1200">
                          <a:solidFill>
                            <a:srgbClr val="0D1B2A"/>
                          </a:solidFill>
                        </a:rPr>
                        <a:t>FDA Cybersecurity 2023</a:t>
                      </a:r>
                    </a:p>
                  </a:txBody>
                  <a:tcPr>
                    <a:solidFill>
                      <a:srgbClr val="FFFFFF"/>
                    </a:solidFill>
                  </a:tcPr>
                </a:tc>
              </a:tr>
              <a:tr h="475488">
                <a:tc>
                  <a:txBody>
                    <a:bodyPr/>
                    <a:lstStyle/>
                    <a:p>
                      <a:pPr algn="l"/>
                      <a:r>
                        <a:rPr sz="1200">
                          <a:solidFill>
                            <a:srgbClr val="0D1B2A"/>
                          </a:solidFill>
                        </a:rPr>
                        <a:t>Data Residency</a:t>
                      </a:r>
                    </a:p>
                  </a:txBody>
                  <a:tcPr>
                    <a:solidFill>
                      <a:srgbClr val="F0F4F8"/>
                    </a:solidFill>
                  </a:tcPr>
                </a:tc>
                <a:tc>
                  <a:txBody>
                    <a:bodyPr/>
                    <a:lstStyle/>
                    <a:p>
                      <a:pPr algn="l"/>
                      <a:r>
                        <a:rPr sz="1200">
                          <a:solidFill>
                            <a:srgbClr val="0D1B2A"/>
                          </a:solidFill>
                        </a:rPr>
                        <a:t>Air-gapped Ollama option; no cloud egress required</a:t>
                      </a:r>
                    </a:p>
                  </a:txBody>
                  <a:tcPr>
                    <a:solidFill>
                      <a:srgbClr val="F0F4F8"/>
                    </a:solidFill>
                  </a:tcPr>
                </a:tc>
                <a:tc>
                  <a:txBody>
                    <a:bodyPr/>
                    <a:lstStyle/>
                    <a:p>
                      <a:pPr algn="l"/>
                      <a:r>
                        <a:rPr sz="1200">
                          <a:solidFill>
                            <a:srgbClr val="0D1B2A"/>
                          </a:solidFill>
                        </a:rPr>
                        <a:t>GDPR · HIPAA ready</a:t>
                      </a:r>
                    </a:p>
                  </a:txBody>
                  <a:tcPr>
                    <a:solidFill>
                      <a:srgbClr val="F0F4F8"/>
                    </a:solidFill>
                  </a:tcPr>
                </a:tc>
              </a:tr>
              <a:tr h="475488">
                <a:tc>
                  <a:txBody>
                    <a:bodyPr/>
                    <a:lstStyle/>
                    <a:p>
                      <a:pPr algn="l"/>
                      <a:r>
                        <a:rPr sz="1200">
                          <a:solidFill>
                            <a:srgbClr val="0D1B2A"/>
                          </a:solidFill>
                        </a:rPr>
                        <a:t>SOUP Inventory</a:t>
                      </a:r>
                    </a:p>
                  </a:txBody>
                  <a:tcPr>
                    <a:solidFill>
                      <a:srgbClr val="FFFFFF"/>
                    </a:solidFill>
                  </a:tcPr>
                </a:tc>
                <a:tc>
                  <a:txBody>
                    <a:bodyPr/>
                    <a:lstStyle/>
                    <a:p>
                      <a:pPr algn="l"/>
                      <a:r>
                        <a:rPr sz="1200">
                          <a:solidFill>
                            <a:srgbClr val="0D1B2A"/>
                          </a:solidFill>
                        </a:rPr>
                        <a:t>All third-party libs documented; pinned versions</a:t>
                      </a:r>
                    </a:p>
                  </a:txBody>
                  <a:tcPr>
                    <a:solidFill>
                      <a:srgbClr val="FFFFFF"/>
                    </a:solidFill>
                  </a:tcPr>
                </a:tc>
                <a:tc>
                  <a:txBody>
                    <a:bodyPr/>
                    <a:lstStyle/>
                    <a:p>
                      <a:pPr algn="l"/>
                      <a:r>
                        <a:rPr sz="1200">
                          <a:solidFill>
                            <a:srgbClr val="0D1B2A"/>
                          </a:solidFill>
                        </a:rPr>
                        <a:t>IEC 62304 §8.1.2</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Developer Experience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From zero to running agent in minutes</a:t>
            </a:r>
          </a:p>
        </p:txBody>
      </p:sp>
      <p:sp>
        <p:nvSpPr>
          <p:cNvPr id="5" name="Rectangle 4"/>
          <p:cNvSpPr/>
          <p:nvPr/>
        </p:nvSpPr>
        <p:spPr>
          <a:xfrm>
            <a:off x="365760" y="1554480"/>
            <a:ext cx="11338560" cy="3566160"/>
          </a:xfrm>
          <a:prstGeom prst="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463040" cy="384048"/>
          </a:xfrm>
          <a:prstGeom prst="rect">
            <a:avLst/>
          </a:prstGeom>
          <a:noFill/>
        </p:spPr>
        <p:txBody>
          <a:bodyPr wrap="square">
            <a:spAutoFit/>
          </a:bodyPr>
          <a:lstStyle/>
          <a:p>
            <a:pPr algn="l"/>
            <a:r>
              <a:rPr sz="1200" b="0" i="0">
                <a:solidFill>
                  <a:srgbClr val="647487"/>
                </a:solidFill>
              </a:rPr>
              <a:t># Setup</a:t>
            </a:r>
          </a:p>
        </p:txBody>
      </p:sp>
      <p:sp>
        <p:nvSpPr>
          <p:cNvPr id="7" name="TextBox 6"/>
          <p:cNvSpPr txBox="1"/>
          <p:nvPr/>
        </p:nvSpPr>
        <p:spPr>
          <a:xfrm>
            <a:off x="2103120" y="1691640"/>
            <a:ext cx="9326880" cy="384048"/>
          </a:xfrm>
          <a:prstGeom prst="rect">
            <a:avLst/>
          </a:prstGeom>
          <a:noFill/>
        </p:spPr>
        <p:txBody>
          <a:bodyPr wrap="square">
            <a:spAutoFit/>
          </a:bodyPr>
          <a:lstStyle/>
          <a:p>
            <a:pPr algn="l"/>
            <a:r>
              <a:rPr sz="1200" b="0" i="0">
                <a:solidFill>
                  <a:srgbClr val="21C55D"/>
                </a:solidFill>
              </a:rPr>
              <a:t>make venv              # Create .venv, install all deps</a:t>
            </a:r>
          </a:p>
        </p:txBody>
      </p:sp>
      <p:sp>
        <p:nvSpPr>
          <p:cNvPr id="8" name="TextBox 7"/>
          <p:cNvSpPr txBox="1"/>
          <p:nvPr/>
        </p:nvSpPr>
        <p:spPr>
          <a:xfrm>
            <a:off x="640080" y="2167128"/>
            <a:ext cx="1463040" cy="384048"/>
          </a:xfrm>
          <a:prstGeom prst="rect">
            <a:avLst/>
          </a:prstGeom>
          <a:noFill/>
        </p:spPr>
        <p:txBody>
          <a:bodyPr wrap="square">
            <a:spAutoFit/>
          </a:bodyPr>
          <a:lstStyle/>
          <a:p>
            <a:pPr algn="l"/>
            <a:r>
              <a:rPr sz="1200" b="0" i="0">
                <a:solidFill>
                  <a:srgbClr val="647487"/>
                </a:solidFill>
              </a:rPr>
              <a:t># Low-RAM</a:t>
            </a:r>
          </a:p>
        </p:txBody>
      </p:sp>
      <p:sp>
        <p:nvSpPr>
          <p:cNvPr id="9" name="TextBox 8"/>
          <p:cNvSpPr txBox="1"/>
          <p:nvPr/>
        </p:nvSpPr>
        <p:spPr>
          <a:xfrm>
            <a:off x="2103120" y="2167128"/>
            <a:ext cx="9326880" cy="384048"/>
          </a:xfrm>
          <a:prstGeom prst="rect">
            <a:avLst/>
          </a:prstGeom>
          <a:noFill/>
        </p:spPr>
        <p:txBody>
          <a:bodyPr wrap="square">
            <a:spAutoFit/>
          </a:bodyPr>
          <a:lstStyle/>
          <a:p>
            <a:pPr algn="l"/>
            <a:r>
              <a:rPr sz="1200" b="0" i="0">
                <a:solidFill>
                  <a:srgbClr val="21C55D"/>
                </a:solidFill>
              </a:rPr>
              <a:t>make venv-minimal      # Skip ChromaDB/embeddings</a:t>
            </a:r>
          </a:p>
        </p:txBody>
      </p:sp>
      <p:sp>
        <p:nvSpPr>
          <p:cNvPr id="10" name="TextBox 9"/>
          <p:cNvSpPr txBox="1"/>
          <p:nvPr/>
        </p:nvSpPr>
        <p:spPr>
          <a:xfrm>
            <a:off x="640080" y="2642616"/>
            <a:ext cx="1463040" cy="384048"/>
          </a:xfrm>
          <a:prstGeom prst="rect">
            <a:avLst/>
          </a:prstGeom>
          <a:noFill/>
        </p:spPr>
        <p:txBody>
          <a:bodyPr wrap="square">
            <a:spAutoFit/>
          </a:bodyPr>
          <a:lstStyle/>
          <a:p>
            <a:pPr algn="l"/>
            <a:r>
              <a:rPr sz="1200" b="0" i="0">
                <a:solidFill>
                  <a:srgbClr val="647487"/>
                </a:solidFill>
              </a:rPr>
              <a:t># Run backend</a:t>
            </a:r>
          </a:p>
        </p:txBody>
      </p:sp>
      <p:sp>
        <p:nvSpPr>
          <p:cNvPr id="11" name="TextBox 10"/>
          <p:cNvSpPr txBox="1"/>
          <p:nvPr/>
        </p:nvSpPr>
        <p:spPr>
          <a:xfrm>
            <a:off x="2103120" y="2642616"/>
            <a:ext cx="9326880" cy="384048"/>
          </a:xfrm>
          <a:prstGeom prst="rect">
            <a:avLst/>
          </a:prstGeom>
          <a:noFill/>
        </p:spPr>
        <p:txBody>
          <a:bodyPr wrap="square">
            <a:spAutoFit/>
          </a:bodyPr>
          <a:lstStyle/>
          <a:p>
            <a:pPr algn="l"/>
            <a:r>
              <a:rPr sz="1200" b="0" i="0">
                <a:solidFill>
                  <a:srgbClr val="21C55D"/>
                </a:solidFill>
              </a:rPr>
              <a:t>make run PROJECT=medtech  # FastAPI on :8000</a:t>
            </a:r>
          </a:p>
        </p:txBody>
      </p:sp>
      <p:sp>
        <p:nvSpPr>
          <p:cNvPr id="12" name="TextBox 11"/>
          <p:cNvSpPr txBox="1"/>
          <p:nvPr/>
        </p:nvSpPr>
        <p:spPr>
          <a:xfrm>
            <a:off x="640080" y="3118104"/>
            <a:ext cx="1463040" cy="384048"/>
          </a:xfrm>
          <a:prstGeom prst="rect">
            <a:avLst/>
          </a:prstGeom>
          <a:noFill/>
        </p:spPr>
        <p:txBody>
          <a:bodyPr wrap="square">
            <a:spAutoFit/>
          </a:bodyPr>
          <a:lstStyle/>
          <a:p>
            <a:pPr algn="l"/>
            <a:r>
              <a:rPr sz="1200" b="0" i="0">
                <a:solidFill>
                  <a:srgbClr val="647487"/>
                </a:solidFill>
              </a:rPr>
              <a:t># Run UI</a:t>
            </a:r>
          </a:p>
        </p:txBody>
      </p:sp>
      <p:sp>
        <p:nvSpPr>
          <p:cNvPr id="13" name="TextBox 12"/>
          <p:cNvSpPr txBox="1"/>
          <p:nvPr/>
        </p:nvSpPr>
        <p:spPr>
          <a:xfrm>
            <a:off x="2103120" y="3118104"/>
            <a:ext cx="9326880" cy="384048"/>
          </a:xfrm>
          <a:prstGeom prst="rect">
            <a:avLst/>
          </a:prstGeom>
          <a:noFill/>
        </p:spPr>
        <p:txBody>
          <a:bodyPr wrap="square">
            <a:spAutoFit/>
          </a:bodyPr>
          <a:lstStyle/>
          <a:p>
            <a:pPr algn="l"/>
            <a:r>
              <a:rPr sz="1200" b="0" i="0">
                <a:solidFill>
                  <a:srgbClr val="21C55D"/>
                </a:solidFill>
              </a:rPr>
              <a:t>make ui                # Vite frontend on :5173</a:t>
            </a:r>
          </a:p>
        </p:txBody>
      </p:sp>
      <p:sp>
        <p:nvSpPr>
          <p:cNvPr id="14" name="TextBox 13"/>
          <p:cNvSpPr txBox="1"/>
          <p:nvPr/>
        </p:nvSpPr>
        <p:spPr>
          <a:xfrm>
            <a:off x="640080" y="3593592"/>
            <a:ext cx="1463040" cy="384048"/>
          </a:xfrm>
          <a:prstGeom prst="rect">
            <a:avLst/>
          </a:prstGeom>
          <a:noFill/>
        </p:spPr>
        <p:txBody>
          <a:bodyPr wrap="square">
            <a:spAutoFit/>
          </a:bodyPr>
          <a:lstStyle/>
          <a:p>
            <a:pPr algn="l"/>
            <a:r>
              <a:rPr sz="1200" b="0" i="0">
                <a:solidFill>
                  <a:srgbClr val="647487"/>
                </a:solidFill>
              </a:rPr>
              <a:t># Test</a:t>
            </a:r>
          </a:p>
        </p:txBody>
      </p:sp>
      <p:sp>
        <p:nvSpPr>
          <p:cNvPr id="15" name="TextBox 14"/>
          <p:cNvSpPr txBox="1"/>
          <p:nvPr/>
        </p:nvSpPr>
        <p:spPr>
          <a:xfrm>
            <a:off x="2103120" y="3593592"/>
            <a:ext cx="9326880" cy="384048"/>
          </a:xfrm>
          <a:prstGeom prst="rect">
            <a:avLst/>
          </a:prstGeom>
          <a:noFill/>
        </p:spPr>
        <p:txBody>
          <a:bodyPr wrap="square">
            <a:spAutoFit/>
          </a:bodyPr>
          <a:lstStyle/>
          <a:p>
            <a:pPr algn="l"/>
            <a:r>
              <a:rPr sz="1200" b="0" i="0">
                <a:solidFill>
                  <a:srgbClr val="21C55D"/>
                </a:solidFill>
              </a:rPr>
              <a:t>make test              # Framework unit tests</a:t>
            </a:r>
          </a:p>
        </p:txBody>
      </p:sp>
      <p:sp>
        <p:nvSpPr>
          <p:cNvPr id="16" name="TextBox 15"/>
          <p:cNvSpPr txBox="1"/>
          <p:nvPr/>
        </p:nvSpPr>
        <p:spPr>
          <a:xfrm>
            <a:off x="640080" y="4069080"/>
            <a:ext cx="1463040" cy="384048"/>
          </a:xfrm>
          <a:prstGeom prst="rect">
            <a:avLst/>
          </a:prstGeom>
          <a:noFill/>
        </p:spPr>
        <p:txBody>
          <a:bodyPr wrap="square">
            <a:spAutoFit/>
          </a:bodyPr>
          <a:lstStyle/>
          <a:p>
            <a:pPr algn="l"/>
            <a:r>
              <a:rPr sz="1200" b="0" i="0">
                <a:solidFill>
                  <a:srgbClr val="647487"/>
                </a:solidFill>
              </a:rPr>
              <a:t># Test all</a:t>
            </a:r>
          </a:p>
        </p:txBody>
      </p:sp>
      <p:sp>
        <p:nvSpPr>
          <p:cNvPr id="17" name="TextBox 16"/>
          <p:cNvSpPr txBox="1"/>
          <p:nvPr/>
        </p:nvSpPr>
        <p:spPr>
          <a:xfrm>
            <a:off x="2103120" y="4069080"/>
            <a:ext cx="9326880" cy="384048"/>
          </a:xfrm>
          <a:prstGeom prst="rect">
            <a:avLst/>
          </a:prstGeom>
          <a:noFill/>
        </p:spPr>
        <p:txBody>
          <a:bodyPr wrap="square">
            <a:spAutoFit/>
          </a:bodyPr>
          <a:lstStyle/>
          <a:p>
            <a:pPr algn="l"/>
            <a:r>
              <a:rPr sz="1200" b="0" i="0">
                <a:solidFill>
                  <a:srgbClr val="21C55D"/>
                </a:solidFill>
              </a:rPr>
              <a:t>make test-all          # Framework + all solutions</a:t>
            </a:r>
          </a:p>
        </p:txBody>
      </p:sp>
      <p:sp>
        <p:nvSpPr>
          <p:cNvPr id="18" name="TextBox 17"/>
          <p:cNvSpPr txBox="1"/>
          <p:nvPr/>
        </p:nvSpPr>
        <p:spPr>
          <a:xfrm>
            <a:off x="457200" y="5349240"/>
            <a:ext cx="11247120" cy="320040"/>
          </a:xfrm>
          <a:prstGeom prst="rect">
            <a:avLst/>
          </a:prstGeom>
          <a:noFill/>
        </p:spPr>
        <p:txBody>
          <a:bodyPr wrap="square">
            <a:spAutoFit/>
          </a:bodyPr>
          <a:lstStyle/>
          <a:p>
            <a:pPr algn="l"/>
            <a:r>
              <a:rPr sz="1200" b="0" i="0">
                <a:solidFill>
                  <a:srgbClr val="0D1B2A"/>
                </a:solidFill>
              </a:rPr>
              <a:t>New solution in &lt; 5 min: copy medtech/ · edit 3 YAML files · run make run PROJECT=&lt;name&gt;</a:t>
            </a:r>
          </a:p>
        </p:txBody>
      </p:sp>
      <p:sp>
        <p:nvSpPr>
          <p:cNvPr id="19" name="TextBox 18"/>
          <p:cNvSpPr txBox="1"/>
          <p:nvPr/>
        </p:nvSpPr>
        <p:spPr>
          <a:xfrm>
            <a:off x="457200" y="5733288"/>
            <a:ext cx="11247120" cy="320040"/>
          </a:xfrm>
          <a:prstGeom prst="rect">
            <a:avLst/>
          </a:prstGeom>
          <a:noFill/>
        </p:spPr>
        <p:txBody>
          <a:bodyPr wrap="square">
            <a:spAutoFit/>
          </a:bodyPr>
          <a:lstStyle/>
          <a:p>
            <a:pPr algn="l"/>
            <a:r>
              <a:rPr sz="1200" b="0" i="0">
                <a:solidFill>
                  <a:srgbClr val="0D1B2A"/>
                </a:solidFill>
              </a:rPr>
              <a:t>New agent role: add YAML block to prompts.yaml + entry to tasks.yaml — no Python required</a:t>
            </a:r>
          </a:p>
        </p:txBody>
      </p:sp>
      <p:sp>
        <p:nvSpPr>
          <p:cNvPr id="20" name="TextBox 19"/>
          <p:cNvSpPr txBox="1"/>
          <p:nvPr/>
        </p:nvSpPr>
        <p:spPr>
          <a:xfrm>
            <a:off x="457200" y="6117336"/>
            <a:ext cx="11247120" cy="320040"/>
          </a:xfrm>
          <a:prstGeom prst="rect">
            <a:avLst/>
          </a:prstGeom>
          <a:noFill/>
        </p:spPr>
        <p:txBody>
          <a:bodyPr wrap="square">
            <a:spAutoFit/>
          </a:bodyPr>
          <a:lstStyle/>
          <a:p>
            <a:pPr algn="l"/>
            <a:r>
              <a:rPr sz="1200" b="0" i="0">
                <a:solidFill>
                  <a:srgbClr val="0D1B2A"/>
                </a:solidFill>
              </a:rPr>
              <a:t>Hot-reload YAML via /edit-solution-yaml skill — backend reloads without restart</a:t>
            </a:r>
          </a:p>
        </p:txBody>
      </p:sp>
      <p:sp>
        <p:nvSpPr>
          <p:cNvPr id="21" name="Rectangle 20"/>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Performance Characteristics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Benchmarks are assumption-based — validate with your workload</a:t>
            </a:r>
          </a:p>
        </p:txBody>
      </p:sp>
      <p:graphicFrame>
        <p:nvGraphicFramePr>
          <p:cNvPr id="5" name="Table 4"/>
          <p:cNvGraphicFramePr>
            <a:graphicFrameLocks noGrp="1"/>
          </p:cNvGraphicFramePr>
          <p:nvPr/>
        </p:nvGraphicFramePr>
        <p:xfrm>
          <a:off x="457200" y="1508760"/>
          <a:ext cx="11247120" cy="3803904"/>
        </p:xfrm>
        <a:graphic>
          <a:graphicData uri="http://schemas.openxmlformats.org/drawingml/2006/table">
            <a:tbl>
              <a:tblPr firstRow="1" bandRow="1">
                <a:tableStyleId>{5C22544A-7EE6-4342-B048-85BDC9FD1C3A}</a:tableStyleId>
              </a:tblPr>
              <a:tblGrid>
                <a:gridCol w="2743200"/>
                <a:gridCol w="3017520"/>
                <a:gridCol w="5486400"/>
              </a:tblGrid>
              <a:tr h="475488">
                <a:tc>
                  <a:txBody>
                    <a:bodyPr/>
                    <a:lstStyle/>
                    <a:p>
                      <a:pPr algn="ctr"/>
                      <a:r>
                        <a:rPr b="1" sz="1300">
                          <a:solidFill>
                            <a:srgbClr val="FFFFFF"/>
                          </a:solidFill>
                        </a:rPr>
                        <a:t>Metric</a:t>
                      </a:r>
                    </a:p>
                  </a:txBody>
                  <a:tcPr>
                    <a:solidFill>
                      <a:srgbClr val="0078D4"/>
                    </a:solidFill>
                  </a:tcPr>
                </a:tc>
                <a:tc>
                  <a:txBody>
                    <a:bodyPr/>
                    <a:lstStyle/>
                    <a:p>
                      <a:pPr algn="ctr"/>
                      <a:r>
                        <a:rPr b="1" sz="1300">
                          <a:solidFill>
                            <a:srgbClr val="FFFFFF"/>
                          </a:solidFill>
                        </a:rPr>
                        <a:t>Baseline Target*</a:t>
                      </a:r>
                    </a:p>
                  </a:txBody>
                  <a:tcPr>
                    <a:solidFill>
                      <a:srgbClr val="0078D4"/>
                    </a:solidFill>
                  </a:tcPr>
                </a:tc>
                <a:tc>
                  <a:txBody>
                    <a:bodyPr/>
                    <a:lstStyle/>
                    <a:p>
                      <a:pPr algn="ctr"/>
                      <a:r>
                        <a:rPr b="1" sz="1300">
                          <a:solidFill>
                            <a:srgbClr val="FFFFFF"/>
                          </a:solidFill>
                        </a:rPr>
                        <a:t>Notes</a:t>
                      </a:r>
                    </a:p>
                  </a:txBody>
                  <a:tcPr>
                    <a:solidFill>
                      <a:srgbClr val="0078D4"/>
                    </a:solidFill>
                  </a:tcPr>
                </a:tc>
              </a:tr>
              <a:tr h="475488">
                <a:tc>
                  <a:txBody>
                    <a:bodyPr/>
                    <a:lstStyle/>
                    <a:p>
                      <a:pPr algn="l"/>
                      <a:r>
                        <a:rPr sz="1200">
                          <a:solidFill>
                            <a:srgbClr val="0D1B2A"/>
                          </a:solidFill>
                        </a:rPr>
                        <a:t>Log analysis latency</a:t>
                      </a:r>
                    </a:p>
                  </a:txBody>
                  <a:tcPr>
                    <a:solidFill>
                      <a:srgbClr val="F0F4F8"/>
                    </a:solidFill>
                  </a:tcPr>
                </a:tc>
                <a:tc>
                  <a:txBody>
                    <a:bodyPr/>
                    <a:lstStyle/>
                    <a:p>
                      <a:pPr algn="l"/>
                      <a:r>
                        <a:rPr sz="1200">
                          <a:solidFill>
                            <a:srgbClr val="0D1B2A"/>
                          </a:solidFill>
                        </a:rPr>
                        <a:t>&lt; 60 seconds end-to-end</a:t>
                      </a:r>
                    </a:p>
                  </a:txBody>
                  <a:tcPr>
                    <a:solidFill>
                      <a:srgbClr val="F0F4F8"/>
                    </a:solidFill>
                  </a:tcPr>
                </a:tc>
                <a:tc>
                  <a:txBody>
                    <a:bodyPr/>
                    <a:lstStyle/>
                    <a:p>
                      <a:pPr algn="l"/>
                      <a:r>
                        <a:rPr sz="1200">
                          <a:solidFill>
                            <a:srgbClr val="0D1B2A"/>
                          </a:solidFill>
                        </a:rPr>
                        <a:t>LLM call + RAG retrieval + audit write</a:t>
                      </a:r>
                    </a:p>
                  </a:txBody>
                  <a:tcPr>
                    <a:solidFill>
                      <a:srgbClr val="F0F4F8"/>
                    </a:solidFill>
                  </a:tcPr>
                </a:tc>
              </a:tr>
              <a:tr h="475488">
                <a:tc>
                  <a:txBody>
                    <a:bodyPr/>
                    <a:lstStyle/>
                    <a:p>
                      <a:pPr algn="l"/>
                      <a:r>
                        <a:rPr sz="1200">
                          <a:solidFill>
                            <a:srgbClr val="0D1B2A"/>
                          </a:solidFill>
                        </a:rPr>
                        <a:t>Code review latency</a:t>
                      </a:r>
                    </a:p>
                  </a:txBody>
                  <a:tcPr>
                    <a:solidFill>
                      <a:srgbClr val="FFFFFF"/>
                    </a:solidFill>
                  </a:tcPr>
                </a:tc>
                <a:tc>
                  <a:txBody>
                    <a:bodyPr/>
                    <a:lstStyle/>
                    <a:p>
                      <a:pPr algn="l"/>
                      <a:r>
                        <a:rPr sz="1200">
                          <a:solidFill>
                            <a:srgbClr val="0D1B2A"/>
                          </a:solidFill>
                        </a:rPr>
                        <a:t>&lt; 3 minutes per MR</a:t>
                      </a:r>
                    </a:p>
                  </a:txBody>
                  <a:tcPr>
                    <a:solidFill>
                      <a:srgbClr val="FFFFFF"/>
                    </a:solidFill>
                  </a:tcPr>
                </a:tc>
                <a:tc>
                  <a:txBody>
                    <a:bodyPr/>
                    <a:lstStyle/>
                    <a:p>
                      <a:pPr algn="l"/>
                      <a:r>
                        <a:rPr sz="1200">
                          <a:solidFill>
                            <a:srgbClr val="0D1B2A"/>
                          </a:solidFill>
                        </a:rPr>
                        <a:t>ReAct loop: up to 5 reasoning steps</a:t>
                      </a:r>
                    </a:p>
                  </a:txBody>
                  <a:tcPr>
                    <a:solidFill>
                      <a:srgbClr val="FFFFFF"/>
                    </a:solidFill>
                  </a:tcPr>
                </a:tc>
              </a:tr>
              <a:tr h="475488">
                <a:tc>
                  <a:txBody>
                    <a:bodyPr/>
                    <a:lstStyle/>
                    <a:p>
                      <a:pPr algn="l"/>
                      <a:r>
                        <a:rPr sz="1200">
                          <a:solidFill>
                            <a:srgbClr val="0D1B2A"/>
                          </a:solidFill>
                        </a:rPr>
                        <a:t>Task queue throughput</a:t>
                      </a:r>
                    </a:p>
                  </a:txBody>
                  <a:tcPr>
                    <a:solidFill>
                      <a:srgbClr val="F0F4F8"/>
                    </a:solidFill>
                  </a:tcPr>
                </a:tc>
                <a:tc>
                  <a:txBody>
                    <a:bodyPr/>
                    <a:lstStyle/>
                    <a:p>
                      <a:pPr algn="l"/>
                      <a:r>
                        <a:rPr sz="1200">
                          <a:solidFill>
                            <a:srgbClr val="0D1B2A"/>
                          </a:solidFill>
                        </a:rPr>
                        <a:t>~10–20 tasks/hour single-lane</a:t>
                      </a:r>
                    </a:p>
                  </a:txBody>
                  <a:tcPr>
                    <a:solidFill>
                      <a:srgbClr val="F0F4F8"/>
                    </a:solidFill>
                  </a:tcPr>
                </a:tc>
                <a:tc>
                  <a:txBody>
                    <a:bodyPr/>
                    <a:lstStyle/>
                    <a:p>
                      <a:pPr algn="l"/>
                      <a:r>
                        <a:rPr sz="1200">
                          <a:solidFill>
                            <a:srgbClr val="0D1B2A"/>
                          </a:solidFill>
                        </a:rPr>
                        <a:t>threading.Lock serializes LLM calls</a:t>
                      </a:r>
                    </a:p>
                  </a:txBody>
                  <a:tcPr>
                    <a:solidFill>
                      <a:srgbClr val="F0F4F8"/>
                    </a:solidFill>
                  </a:tcPr>
                </a:tc>
              </a:tr>
              <a:tr h="475488">
                <a:tc>
                  <a:txBody>
                    <a:bodyPr/>
                    <a:lstStyle/>
                    <a:p>
                      <a:pPr algn="l"/>
                      <a:r>
                        <a:rPr sz="1200">
                          <a:solidFill>
                            <a:srgbClr val="0D1B2A"/>
                          </a:solidFill>
                        </a:rPr>
                        <a:t>Vector search</a:t>
                      </a:r>
                    </a:p>
                  </a:txBody>
                  <a:tcPr>
                    <a:solidFill>
                      <a:srgbClr val="FFFFFF"/>
                    </a:solidFill>
                  </a:tcPr>
                </a:tc>
                <a:tc>
                  <a:txBody>
                    <a:bodyPr/>
                    <a:lstStyle/>
                    <a:p>
                      <a:pPr algn="l"/>
                      <a:r>
                        <a:rPr sz="1200">
                          <a:solidFill>
                            <a:srgbClr val="0D1B2A"/>
                          </a:solidFill>
                        </a:rPr>
                        <a:t>&lt; 200 ms for top-5 results</a:t>
                      </a:r>
                    </a:p>
                  </a:txBody>
                  <a:tcPr>
                    <a:solidFill>
                      <a:srgbClr val="FFFFFF"/>
                    </a:solidFill>
                  </a:tcPr>
                </a:tc>
                <a:tc>
                  <a:txBody>
                    <a:bodyPr/>
                    <a:lstStyle/>
                    <a:p>
                      <a:pPr algn="l"/>
                      <a:r>
                        <a:rPr sz="1200">
                          <a:solidFill>
                            <a:srgbClr val="0D1B2A"/>
                          </a:solidFill>
                        </a:rPr>
                        <a:t>ChromaDB in-process, local embeddings</a:t>
                      </a:r>
                    </a:p>
                  </a:txBody>
                  <a:tcPr>
                    <a:solidFill>
                      <a:srgbClr val="FFFFFF"/>
                    </a:solidFill>
                  </a:tcPr>
                </a:tc>
              </a:tr>
              <a:tr h="475488">
                <a:tc>
                  <a:txBody>
                    <a:bodyPr/>
                    <a:lstStyle/>
                    <a:p>
                      <a:pPr algn="l"/>
                      <a:r>
                        <a:rPr sz="1200">
                          <a:solidFill>
                            <a:srgbClr val="0D1B2A"/>
                          </a:solidFill>
                        </a:rPr>
                        <a:t>Audit log write</a:t>
                      </a:r>
                    </a:p>
                  </a:txBody>
                  <a:tcPr>
                    <a:solidFill>
                      <a:srgbClr val="F0F4F8"/>
                    </a:solidFill>
                  </a:tcPr>
                </a:tc>
                <a:tc>
                  <a:txBody>
                    <a:bodyPr/>
                    <a:lstStyle/>
                    <a:p>
                      <a:pPr algn="l"/>
                      <a:r>
                        <a:rPr sz="1200">
                          <a:solidFill>
                            <a:srgbClr val="0D1B2A"/>
                          </a:solidFill>
                        </a:rPr>
                        <a:t>&lt; 5 ms per event</a:t>
                      </a:r>
                    </a:p>
                  </a:txBody>
                  <a:tcPr>
                    <a:solidFill>
                      <a:srgbClr val="F0F4F8"/>
                    </a:solidFill>
                  </a:tcPr>
                </a:tc>
                <a:tc>
                  <a:txBody>
                    <a:bodyPr/>
                    <a:lstStyle/>
                    <a:p>
                      <a:pPr algn="l"/>
                      <a:r>
                        <a:rPr sz="1200">
                          <a:solidFill>
                            <a:srgbClr val="0D1B2A"/>
                          </a:solidFill>
                        </a:rPr>
                        <a:t>SQLite WAL mode, append-only</a:t>
                      </a:r>
                    </a:p>
                  </a:txBody>
                  <a:tcPr>
                    <a:solidFill>
                      <a:srgbClr val="F0F4F8"/>
                    </a:solidFill>
                  </a:tcPr>
                </a:tc>
              </a:tr>
              <a:tr h="475488">
                <a:tc>
                  <a:txBody>
                    <a:bodyPr/>
                    <a:lstStyle/>
                    <a:p>
                      <a:pPr algn="l"/>
                      <a:r>
                        <a:rPr sz="1200">
                          <a:solidFill>
                            <a:srgbClr val="0D1B2A"/>
                          </a:solidFill>
                        </a:rPr>
                        <a:t>API response (non-LLM)</a:t>
                      </a:r>
                    </a:p>
                  </a:txBody>
                  <a:tcPr>
                    <a:solidFill>
                      <a:srgbClr val="FFFFFF"/>
                    </a:solidFill>
                  </a:tcPr>
                </a:tc>
                <a:tc>
                  <a:txBody>
                    <a:bodyPr/>
                    <a:lstStyle/>
                    <a:p>
                      <a:pPr algn="l"/>
                      <a:r>
                        <a:rPr sz="1200">
                          <a:solidFill>
                            <a:srgbClr val="0D1B2A"/>
                          </a:solidFill>
                        </a:rPr>
                        <a:t>&lt; 50 ms p99</a:t>
                      </a:r>
                    </a:p>
                  </a:txBody>
                  <a:tcPr>
                    <a:solidFill>
                      <a:srgbClr val="FFFFFF"/>
                    </a:solidFill>
                  </a:tcPr>
                </a:tc>
                <a:tc>
                  <a:txBody>
                    <a:bodyPr/>
                    <a:lstStyle/>
                    <a:p>
                      <a:pPr algn="l"/>
                      <a:r>
                        <a:rPr sz="1200">
                          <a:solidFill>
                            <a:srgbClr val="0D1B2A"/>
                          </a:solidFill>
                        </a:rPr>
                        <a:t>FastAPI + uvicorn, no DB round-trip</a:t>
                      </a:r>
                    </a:p>
                  </a:txBody>
                  <a:tcPr>
                    <a:solidFill>
                      <a:srgbClr val="FFFFFF"/>
                    </a:solidFill>
                  </a:tcPr>
                </a:tc>
              </a:tr>
              <a:tr h="475488">
                <a:tc>
                  <a:txBody>
                    <a:bodyPr/>
                    <a:lstStyle/>
                    <a:p>
                      <a:pPr algn="l"/>
                      <a:r>
                        <a:rPr sz="1200">
                          <a:solidFill>
                            <a:srgbClr val="0D1B2A"/>
                          </a:solidFill>
                        </a:rPr>
                        <a:t>Min hardware (pilot)</a:t>
                      </a:r>
                    </a:p>
                  </a:txBody>
                  <a:tcPr>
                    <a:solidFill>
                      <a:srgbClr val="F0F4F8"/>
                    </a:solidFill>
                  </a:tcPr>
                </a:tc>
                <a:tc>
                  <a:txBody>
                    <a:bodyPr/>
                    <a:lstStyle/>
                    <a:p>
                      <a:pPr algn="l"/>
                      <a:r>
                        <a:rPr sz="1200">
                          <a:solidFill>
                            <a:srgbClr val="0D1B2A"/>
                          </a:solidFill>
                        </a:rPr>
                        <a:t>8-core CPU · 32 GB RAM</a:t>
                      </a:r>
                    </a:p>
                  </a:txBody>
                  <a:tcPr>
                    <a:solidFill>
                      <a:srgbClr val="F0F4F8"/>
                    </a:solidFill>
                  </a:tcPr>
                </a:tc>
                <a:tc>
                  <a:txBody>
                    <a:bodyPr/>
                    <a:lstStyle/>
                    <a:p>
                      <a:pPr algn="l"/>
                      <a:r>
                        <a:rPr sz="1200">
                          <a:solidFill>
                            <a:srgbClr val="0D1B2A"/>
                          </a:solidFill>
                        </a:rPr>
                        <a:t>GPU optional — Ollama benefits from CUDA</a:t>
                      </a:r>
                    </a:p>
                  </a:txBody>
                  <a:tcPr>
                    <a:solidFill>
                      <a:srgbClr val="F0F4F8"/>
                    </a:solidFill>
                  </a:tcPr>
                </a:tc>
              </a:tr>
            </a:tbl>
          </a:graphicData>
        </a:graphic>
      </p:graphicFrame>
      <p:sp>
        <p:nvSpPr>
          <p:cNvPr id="6" name="TextBox 5"/>
          <p:cNvSpPr txBox="1"/>
          <p:nvPr/>
        </p:nvSpPr>
        <p:spPr>
          <a:xfrm>
            <a:off x="457200" y="5404104"/>
            <a:ext cx="11247120" cy="365760"/>
          </a:xfrm>
          <a:prstGeom prst="rect">
            <a:avLst/>
          </a:prstGeom>
          <a:noFill/>
        </p:spPr>
        <p:txBody>
          <a:bodyPr wrap="square">
            <a:spAutoFit/>
          </a:bodyPr>
          <a:lstStyle/>
          <a:p>
            <a:pPr algn="l"/>
            <a:r>
              <a:rPr sz="1100" b="0" i="1">
                <a:solidFill>
                  <a:srgbClr val="647487"/>
                </a:solidFill>
              </a:rPr>
              <a:t>* All latency targets are assumption-based estimates. Replace with measured values from your environment.</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
        <p:nvSpPr>
          <p:cNvPr id="9" name="Rectangle 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Two Backlogs — One Platform</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SAGE serves both solution teams and the open-source community</a:t>
            </a:r>
          </a:p>
        </p:txBody>
      </p:sp>
      <p:sp>
        <p:nvSpPr>
          <p:cNvPr id="5" name="Rectangle 4"/>
          <p:cNvSpPr/>
          <p:nvPr/>
        </p:nvSpPr>
        <p:spPr>
          <a:xfrm>
            <a:off x="365760" y="1600200"/>
            <a:ext cx="5394960" cy="43891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800" b="1" i="0">
                <a:solidFill>
                  <a:srgbClr val="FFFFFF"/>
                </a:solidFill>
              </a:rPr>
              <a:t>Solution Backlog</a:t>
            </a:r>
          </a:p>
        </p:txBody>
      </p:sp>
      <p:sp>
        <p:nvSpPr>
          <p:cNvPr id="7" name="TextBox 6"/>
          <p:cNvSpPr txBox="1"/>
          <p:nvPr/>
        </p:nvSpPr>
        <p:spPr>
          <a:xfrm>
            <a:off x="548640" y="2194560"/>
            <a:ext cx="5029200" cy="347472"/>
          </a:xfrm>
          <a:prstGeom prst="rect">
            <a:avLst/>
          </a:prstGeom>
          <a:noFill/>
        </p:spPr>
        <p:txBody>
          <a:bodyPr wrap="square">
            <a:spAutoFit/>
          </a:bodyPr>
          <a:lstStyle/>
          <a:p>
            <a:pPr algn="l"/>
            <a:r>
              <a:rPr sz="1200" b="0" i="1">
                <a:solidFill>
                  <a:srgbClr val="00B4D8"/>
                </a:solidFill>
              </a:rPr>
              <a:t>scope: "solution"</a:t>
            </a:r>
          </a:p>
        </p:txBody>
      </p:sp>
      <p:sp>
        <p:nvSpPr>
          <p:cNvPr id="8" name="TextBox 7"/>
          <p:cNvSpPr txBox="1"/>
          <p:nvPr/>
        </p:nvSpPr>
        <p:spPr>
          <a:xfrm>
            <a:off x="640080" y="2651760"/>
            <a:ext cx="4846320" cy="347472"/>
          </a:xfrm>
          <a:prstGeom prst="rect">
            <a:avLst/>
          </a:prstGeom>
          <a:noFill/>
        </p:spPr>
        <p:txBody>
          <a:bodyPr wrap="square">
            <a:spAutoFit/>
          </a:bodyPr>
          <a:lstStyle/>
          <a:p>
            <a:pPr algn="l"/>
            <a:r>
              <a:rPr sz="1200" b="0" i="0">
                <a:solidFill>
                  <a:srgbClr val="FFFFFF"/>
                </a:solidFill>
              </a:rPr>
              <a:t>Features to build inside your application</a:t>
            </a:r>
          </a:p>
        </p:txBody>
      </p:sp>
      <p:sp>
        <p:nvSpPr>
          <p:cNvPr id="9" name="TextBox 8"/>
          <p:cNvSpPr txBox="1"/>
          <p:nvPr/>
        </p:nvSpPr>
        <p:spPr>
          <a:xfrm>
            <a:off x="640080" y="3063240"/>
            <a:ext cx="4846320" cy="347472"/>
          </a:xfrm>
          <a:prstGeom prst="rect">
            <a:avLst/>
          </a:prstGeom>
          <a:noFill/>
        </p:spPr>
        <p:txBody>
          <a:bodyPr wrap="square">
            <a:spAutoFit/>
          </a:bodyPr>
          <a:lstStyle/>
          <a:p>
            <a:pPr algn="l"/>
            <a:r>
              <a:rPr sz="1200" b="0" i="0">
                <a:solidFill>
                  <a:srgbClr val="FFFFFF"/>
                </a:solidFill>
              </a:rPr>
              <a:t>Owned by the builder's team</a:t>
            </a:r>
          </a:p>
        </p:txBody>
      </p:sp>
      <p:sp>
        <p:nvSpPr>
          <p:cNvPr id="10" name="TextBox 9"/>
          <p:cNvSpPr txBox="1"/>
          <p:nvPr/>
        </p:nvSpPr>
        <p:spPr>
          <a:xfrm>
            <a:off x="640080" y="3474720"/>
            <a:ext cx="4846320" cy="347472"/>
          </a:xfrm>
          <a:prstGeom prst="rect">
            <a:avLst/>
          </a:prstGeom>
          <a:noFill/>
        </p:spPr>
        <p:txBody>
          <a:bodyPr wrap="square">
            <a:spAutoFit/>
          </a:bodyPr>
          <a:lstStyle/>
          <a:p>
            <a:pPr algn="l"/>
            <a:r>
              <a:rPr sz="1200" b="0" i="0">
                <a:solidFill>
                  <a:srgbClr val="FFFFFF"/>
                </a:solidFill>
              </a:rPr>
              <a:t>Full SAGE workflow: Log → AI plan → Approve → Implement</a:t>
            </a:r>
          </a:p>
        </p:txBody>
      </p:sp>
      <p:sp>
        <p:nvSpPr>
          <p:cNvPr id="11" name="TextBox 10"/>
          <p:cNvSpPr txBox="1"/>
          <p:nvPr/>
        </p:nvSpPr>
        <p:spPr>
          <a:xfrm>
            <a:off x="640080" y="3886200"/>
            <a:ext cx="4846320" cy="347472"/>
          </a:xfrm>
          <a:prstGeom prst="rect">
            <a:avLst/>
          </a:prstGeom>
          <a:noFill/>
        </p:spPr>
        <p:txBody>
          <a:bodyPr wrap="square">
            <a:spAutoFit/>
          </a:bodyPr>
          <a:lstStyle/>
          <a:p>
            <a:pPr algn="l"/>
            <a:r>
              <a:rPr sz="1200" b="0" i="0">
                <a:solidFill>
                  <a:srgbClr val="FFFFFF"/>
                </a:solidFill>
              </a:rPr>
              <a:t>Planner Agent decomposes and prioritises</a:t>
            </a:r>
          </a:p>
        </p:txBody>
      </p:sp>
      <p:sp>
        <p:nvSpPr>
          <p:cNvPr id="12" name="TextBox 11"/>
          <p:cNvSpPr txBox="1"/>
          <p:nvPr/>
        </p:nvSpPr>
        <p:spPr>
          <a:xfrm>
            <a:off x="640080" y="4297680"/>
            <a:ext cx="4846320" cy="347472"/>
          </a:xfrm>
          <a:prstGeom prst="rect">
            <a:avLst/>
          </a:prstGeom>
          <a:noFill/>
        </p:spPr>
        <p:txBody>
          <a:bodyPr wrap="square">
            <a:spAutoFit/>
          </a:bodyPr>
          <a:lstStyle/>
          <a:p>
            <a:pPr algn="l"/>
            <a:r>
              <a:rPr sz="1200" b="0" i="0">
                <a:solidFill>
                  <a:srgbClr val="FFFFFF"/>
                </a:solidFill>
              </a:rPr>
              <a:t>Visible in: Improvements → Solution Backlog tab</a:t>
            </a:r>
          </a:p>
        </p:txBody>
      </p:sp>
      <p:sp>
        <p:nvSpPr>
          <p:cNvPr id="13" name="Rectangle 12"/>
          <p:cNvSpPr/>
          <p:nvPr/>
        </p:nvSpPr>
        <p:spPr>
          <a:xfrm>
            <a:off x="6309360" y="1600200"/>
            <a:ext cx="5394960" cy="43891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691640"/>
            <a:ext cx="5029200" cy="457200"/>
          </a:xfrm>
          <a:prstGeom prst="rect">
            <a:avLst/>
          </a:prstGeom>
          <a:noFill/>
        </p:spPr>
        <p:txBody>
          <a:bodyPr wrap="square">
            <a:spAutoFit/>
          </a:bodyPr>
          <a:lstStyle/>
          <a:p>
            <a:pPr algn="l"/>
            <a:r>
              <a:rPr sz="1800" b="1" i="0">
                <a:solidFill>
                  <a:srgbClr val="FFFFFF"/>
                </a:solidFill>
              </a:rPr>
              <a:t>SAGE Framework Ideas</a:t>
            </a:r>
          </a:p>
        </p:txBody>
      </p:sp>
      <p:sp>
        <p:nvSpPr>
          <p:cNvPr id="15" name="TextBox 14"/>
          <p:cNvSpPr txBox="1"/>
          <p:nvPr/>
        </p:nvSpPr>
        <p:spPr>
          <a:xfrm>
            <a:off x="6492240" y="2194560"/>
            <a:ext cx="5029200" cy="347472"/>
          </a:xfrm>
          <a:prstGeom prst="rect">
            <a:avLst/>
          </a:prstGeom>
          <a:noFill/>
        </p:spPr>
        <p:txBody>
          <a:bodyPr wrap="square">
            <a:spAutoFit/>
          </a:bodyPr>
          <a:lstStyle/>
          <a:p>
            <a:pPr algn="l"/>
            <a:r>
              <a:rPr sz="1200" b="0" i="1">
                <a:solidFill>
                  <a:srgbClr val="00B4D8"/>
                </a:solidFill>
              </a:rPr>
              <a:t>scope: "sage"</a:t>
            </a:r>
          </a:p>
        </p:txBody>
      </p:sp>
      <p:sp>
        <p:nvSpPr>
          <p:cNvPr id="16" name="TextBox 15"/>
          <p:cNvSpPr txBox="1"/>
          <p:nvPr/>
        </p:nvSpPr>
        <p:spPr>
          <a:xfrm>
            <a:off x="6583680" y="2651760"/>
            <a:ext cx="4846320" cy="347472"/>
          </a:xfrm>
          <a:prstGeom prst="rect">
            <a:avLst/>
          </a:prstGeom>
          <a:noFill/>
        </p:spPr>
        <p:txBody>
          <a:bodyPr wrap="square">
            <a:spAutoFit/>
          </a:bodyPr>
          <a:lstStyle/>
          <a:p>
            <a:pPr algn="l"/>
            <a:r>
              <a:rPr sz="1200" b="0" i="0">
                <a:solidFill>
                  <a:srgbClr val="FFFFFF"/>
                </a:solidFill>
              </a:rPr>
              <a:t>Improvements to the SAGE platform itself</a:t>
            </a:r>
          </a:p>
        </p:txBody>
      </p:sp>
      <p:sp>
        <p:nvSpPr>
          <p:cNvPr id="17" name="TextBox 16"/>
          <p:cNvSpPr txBox="1"/>
          <p:nvPr/>
        </p:nvSpPr>
        <p:spPr>
          <a:xfrm>
            <a:off x="6583680" y="3063240"/>
            <a:ext cx="4846320" cy="347472"/>
          </a:xfrm>
          <a:prstGeom prst="rect">
            <a:avLst/>
          </a:prstGeom>
          <a:noFill/>
        </p:spPr>
        <p:txBody>
          <a:bodyPr wrap="square">
            <a:spAutoFit/>
          </a:bodyPr>
          <a:lstStyle/>
          <a:p>
            <a:pPr algn="l"/>
            <a:r>
              <a:rPr sz="1200" b="0" i="0">
                <a:solidFill>
                  <a:srgbClr val="FFFFFF"/>
                </a:solidFill>
              </a:rPr>
              <a:t>Community contributions</a:t>
            </a:r>
          </a:p>
        </p:txBody>
      </p:sp>
      <p:sp>
        <p:nvSpPr>
          <p:cNvPr id="18" name="TextBox 17"/>
          <p:cNvSpPr txBox="1"/>
          <p:nvPr/>
        </p:nvSpPr>
        <p:spPr>
          <a:xfrm>
            <a:off x="6583680" y="3474720"/>
            <a:ext cx="4846320" cy="347472"/>
          </a:xfrm>
          <a:prstGeom prst="rect">
            <a:avLst/>
          </a:prstGeom>
          <a:noFill/>
        </p:spPr>
        <p:txBody>
          <a:bodyPr wrap="square">
            <a:spAutoFit/>
          </a:bodyPr>
          <a:lstStyle/>
          <a:p>
            <a:pPr algn="l"/>
            <a:r>
              <a:rPr sz="1200" b="0" i="0">
                <a:solidFill>
                  <a:srgbClr val="FFFFFF"/>
                </a:solidFill>
              </a:rPr>
              <a:t>Raised as GitHub Issues on the SAGE repo</a:t>
            </a:r>
          </a:p>
        </p:txBody>
      </p:sp>
      <p:sp>
        <p:nvSpPr>
          <p:cNvPr id="19" name="TextBox 18"/>
          <p:cNvSpPr txBox="1"/>
          <p:nvPr/>
        </p:nvSpPr>
        <p:spPr>
          <a:xfrm>
            <a:off x="6583680" y="3886200"/>
            <a:ext cx="4846320" cy="347472"/>
          </a:xfrm>
          <a:prstGeom prst="rect">
            <a:avLst/>
          </a:prstGeom>
          <a:noFill/>
        </p:spPr>
        <p:txBody>
          <a:bodyPr wrap="square">
            <a:spAutoFit/>
          </a:bodyPr>
          <a:lstStyle/>
          <a:p>
            <a:pPr algn="l"/>
            <a:r>
              <a:rPr sz="1200" b="0" i="0">
                <a:solidFill>
                  <a:srgbClr val="FFFFFF"/>
                </a:solidFill>
              </a:rPr>
              <a:t>Open-source community picks them up</a:t>
            </a:r>
          </a:p>
        </p:txBody>
      </p:sp>
      <p:sp>
        <p:nvSpPr>
          <p:cNvPr id="20" name="TextBox 19"/>
          <p:cNvSpPr txBox="1"/>
          <p:nvPr/>
        </p:nvSpPr>
        <p:spPr>
          <a:xfrm>
            <a:off x="6583680" y="4297680"/>
            <a:ext cx="4846320" cy="347472"/>
          </a:xfrm>
          <a:prstGeom prst="rect">
            <a:avLst/>
          </a:prstGeom>
          <a:noFill/>
        </p:spPr>
        <p:txBody>
          <a:bodyPr wrap="square">
            <a:spAutoFit/>
          </a:bodyPr>
          <a:lstStyle/>
          <a:p>
            <a:pPr algn="l"/>
            <a:r>
              <a:rPr sz="1200" b="0" i="0">
                <a:solidFill>
                  <a:srgbClr val="FFFFFF"/>
                </a:solidFill>
              </a:rPr>
              <a:t>Visible in: Improvements → SAGE Framework Ideas tab</a:t>
            </a:r>
          </a:p>
        </p:txBody>
      </p:sp>
      <p:sp>
        <p:nvSpPr>
          <p:cNvPr id="21" name="TextBox 20"/>
          <p:cNvSpPr txBox="1"/>
          <p:nvPr/>
        </p:nvSpPr>
        <p:spPr>
          <a:xfrm>
            <a:off x="457200" y="6236208"/>
            <a:ext cx="11247120" cy="347472"/>
          </a:xfrm>
          <a:prstGeom prst="rect">
            <a:avLst/>
          </a:prstGeom>
          <a:noFill/>
        </p:spPr>
        <p:txBody>
          <a:bodyPr wrap="square">
            <a:spAutoFit/>
          </a:bodyPr>
          <a:lstStyle/>
          <a:p>
            <a:pPr algn="ctr"/>
            <a:r>
              <a:rPr sz="1100" b="1" i="1">
                <a:solidFill>
                  <a:srgbClr val="0D1B2A"/>
                </a:solidFill>
              </a:rPr>
              <a:t>Never mix the two backlogs — the scope field on every FeatureRequest enforces this in code.</a:t>
            </a:r>
          </a:p>
        </p:txBody>
      </p:sp>
      <p:sp>
        <p:nvSpPr>
          <p:cNvPr id="22" name="Rectangle 2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Deployment Options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From laptop to air-gapped production server</a:t>
            </a:r>
          </a:p>
        </p:txBody>
      </p:sp>
      <p:graphicFrame>
        <p:nvGraphicFramePr>
          <p:cNvPr id="5" name="Table 4"/>
          <p:cNvGraphicFramePr>
            <a:graphicFrameLocks noGrp="1"/>
          </p:cNvGraphicFramePr>
          <p:nvPr/>
        </p:nvGraphicFramePr>
        <p:xfrm>
          <a:off x="457200" y="1508760"/>
          <a:ext cx="11247120" cy="2377440"/>
        </p:xfrm>
        <a:graphic>
          <a:graphicData uri="http://schemas.openxmlformats.org/drawingml/2006/table">
            <a:tbl>
              <a:tblPr firstRow="1" bandRow="1">
                <a:tableStyleId>{5C22544A-7EE6-4342-B048-85BDC9FD1C3A}</a:tableStyleId>
              </a:tblPr>
              <a:tblGrid>
                <a:gridCol w="1828800"/>
                <a:gridCol w="2560320"/>
                <a:gridCol w="3200400"/>
                <a:gridCol w="3657600"/>
              </a:tblGrid>
              <a:tr h="475488">
                <a:tc>
                  <a:txBody>
                    <a:bodyPr/>
                    <a:lstStyle/>
                    <a:p>
                      <a:pPr algn="ctr"/>
                      <a:r>
                        <a:rPr b="1" sz="1300">
                          <a:solidFill>
                            <a:srgbClr val="FFFFFF"/>
                          </a:solidFill>
                        </a:rPr>
                        <a:t>Mode</a:t>
                      </a:r>
                    </a:p>
                  </a:txBody>
                  <a:tcPr>
                    <a:solidFill>
                      <a:srgbClr val="0078D4"/>
                    </a:solidFill>
                  </a:tcPr>
                </a:tc>
                <a:tc>
                  <a:txBody>
                    <a:bodyPr/>
                    <a:lstStyle/>
                    <a:p>
                      <a:pPr algn="ctr"/>
                      <a:r>
                        <a:rPr b="1" sz="1300">
                          <a:solidFill>
                            <a:srgbClr val="FFFFFF"/>
                          </a:solidFill>
                        </a:rPr>
                        <a:t>LLM</a:t>
                      </a:r>
                    </a:p>
                  </a:txBody>
                  <a:tcPr>
                    <a:solidFill>
                      <a:srgbClr val="0078D4"/>
                    </a:solidFill>
                  </a:tcPr>
                </a:tc>
                <a:tc>
                  <a:txBody>
                    <a:bodyPr/>
                    <a:lstStyle/>
                    <a:p>
                      <a:pPr algn="ctr"/>
                      <a:r>
                        <a:rPr b="1" sz="1300">
                          <a:solidFill>
                            <a:srgbClr val="FFFFFF"/>
                          </a:solidFill>
                        </a:rPr>
                        <a:t>Storage</a:t>
                      </a:r>
                    </a:p>
                  </a:txBody>
                  <a:tcPr>
                    <a:solidFill>
                      <a:srgbClr val="0078D4"/>
                    </a:solidFill>
                  </a:tcPr>
                </a:tc>
                <a:tc>
                  <a:txBody>
                    <a:bodyPr/>
                    <a:lstStyle/>
                    <a:p>
                      <a:pPr algn="ctr"/>
                      <a:r>
                        <a:rPr b="1" sz="1300">
                          <a:solidFill>
                            <a:srgbClr val="FFFFFF"/>
                          </a:solidFill>
                        </a:rPr>
                        <a:t>Best For</a:t>
                      </a:r>
                    </a:p>
                  </a:txBody>
                  <a:tcPr>
                    <a:solidFill>
                      <a:srgbClr val="0078D4"/>
                    </a:solidFill>
                  </a:tcPr>
                </a:tc>
              </a:tr>
              <a:tr h="475488">
                <a:tc>
                  <a:txBody>
                    <a:bodyPr/>
                    <a:lstStyle/>
                    <a:p>
                      <a:pPr algn="l"/>
                      <a:r>
                        <a:rPr sz="1200">
                          <a:solidFill>
                            <a:srgbClr val="0D1B2A"/>
                          </a:solidFill>
                        </a:rPr>
                        <a:t>Local dev</a:t>
                      </a:r>
                    </a:p>
                  </a:txBody>
                  <a:tcPr>
                    <a:solidFill>
                      <a:srgbClr val="F0F4F8"/>
                    </a:solidFill>
                  </a:tcPr>
                </a:tc>
                <a:tc>
                  <a:txBody>
                    <a:bodyPr/>
                    <a:lstStyle/>
                    <a:p>
                      <a:pPr algn="l"/>
                      <a:r>
                        <a:rPr sz="1200">
                          <a:solidFill>
                            <a:srgbClr val="0D1B2A"/>
                          </a:solidFill>
                        </a:rPr>
                        <a:t>Ollama (local)</a:t>
                      </a:r>
                    </a:p>
                  </a:txBody>
                  <a:tcPr>
                    <a:solidFill>
                      <a:srgbClr val="F0F4F8"/>
                    </a:solidFill>
                  </a:tcPr>
                </a:tc>
                <a:tc>
                  <a:txBody>
                    <a:bodyPr/>
                    <a:lstStyle/>
                    <a:p>
                      <a:pPr algn="l"/>
                      <a:r>
                        <a:rPr sz="1200">
                          <a:solidFill>
                            <a:srgbClr val="0D1B2A"/>
                          </a:solidFill>
                        </a:rPr>
                        <a:t>SQLite + ChromaDB local</a:t>
                      </a:r>
                    </a:p>
                  </a:txBody>
                  <a:tcPr>
                    <a:solidFill>
                      <a:srgbClr val="F0F4F8"/>
                    </a:solidFill>
                  </a:tcPr>
                </a:tc>
                <a:tc>
                  <a:txBody>
                    <a:bodyPr/>
                    <a:lstStyle/>
                    <a:p>
                      <a:pPr algn="l"/>
                      <a:r>
                        <a:rPr sz="1200">
                          <a:solidFill>
                            <a:srgbClr val="0D1B2A"/>
                          </a:solidFill>
                        </a:rPr>
                        <a:t>Developer machine, no internet needed</a:t>
                      </a:r>
                    </a:p>
                  </a:txBody>
                  <a:tcPr>
                    <a:solidFill>
                      <a:srgbClr val="F0F4F8"/>
                    </a:solidFill>
                  </a:tcPr>
                </a:tc>
              </a:tr>
              <a:tr h="475488">
                <a:tc>
                  <a:txBody>
                    <a:bodyPr/>
                    <a:lstStyle/>
                    <a:p>
                      <a:pPr algn="l"/>
                      <a:r>
                        <a:rPr sz="1200">
                          <a:solidFill>
                            <a:srgbClr val="0D1B2A"/>
                          </a:solidFill>
                        </a:rPr>
                        <a:t>Cloud (SaaS LLM)</a:t>
                      </a:r>
                    </a:p>
                  </a:txBody>
                  <a:tcPr>
                    <a:solidFill>
                      <a:srgbClr val="FFFFFF"/>
                    </a:solidFill>
                  </a:tcPr>
                </a:tc>
                <a:tc>
                  <a:txBody>
                    <a:bodyPr/>
                    <a:lstStyle/>
                    <a:p>
                      <a:pPr algn="l"/>
                      <a:r>
                        <a:rPr sz="1200">
                          <a:solidFill>
                            <a:srgbClr val="0D1B2A"/>
                          </a:solidFill>
                        </a:rPr>
                        <a:t>OpenAI / Azure</a:t>
                      </a:r>
                    </a:p>
                  </a:txBody>
                  <a:tcPr>
                    <a:solidFill>
                      <a:srgbClr val="FFFFFF"/>
                    </a:solidFill>
                  </a:tcPr>
                </a:tc>
                <a:tc>
                  <a:txBody>
                    <a:bodyPr/>
                    <a:lstStyle/>
                    <a:p>
                      <a:pPr algn="l"/>
                      <a:r>
                        <a:rPr sz="1200">
                          <a:solidFill>
                            <a:srgbClr val="0D1B2A"/>
                          </a:solidFill>
                        </a:rPr>
                        <a:t>SQLite + ChromaDB local</a:t>
                      </a:r>
                    </a:p>
                  </a:txBody>
                  <a:tcPr>
                    <a:solidFill>
                      <a:srgbClr val="FFFFFF"/>
                    </a:solidFill>
                  </a:tcPr>
                </a:tc>
                <a:tc>
                  <a:txBody>
                    <a:bodyPr/>
                    <a:lstStyle/>
                    <a:p>
                      <a:pPr algn="l"/>
                      <a:r>
                        <a:rPr sz="1200">
                          <a:solidFill>
                            <a:srgbClr val="0D1B2A"/>
                          </a:solidFill>
                        </a:rPr>
                        <a:t>Small team, fastest setup</a:t>
                      </a:r>
                    </a:p>
                  </a:txBody>
                  <a:tcPr>
                    <a:solidFill>
                      <a:srgbClr val="FFFFFF"/>
                    </a:solidFill>
                  </a:tcPr>
                </a:tc>
              </a:tr>
              <a:tr h="475488">
                <a:tc>
                  <a:txBody>
                    <a:bodyPr/>
                    <a:lstStyle/>
                    <a:p>
                      <a:pPr algn="l"/>
                      <a:r>
                        <a:rPr sz="1200">
                          <a:solidFill>
                            <a:srgbClr val="0D1B2A"/>
                          </a:solidFill>
                        </a:rPr>
                        <a:t>On-premise</a:t>
                      </a:r>
                    </a:p>
                  </a:txBody>
                  <a:tcPr>
                    <a:solidFill>
                      <a:srgbClr val="F0F4F8"/>
                    </a:solidFill>
                  </a:tcPr>
                </a:tc>
                <a:tc>
                  <a:txBody>
                    <a:bodyPr/>
                    <a:lstStyle/>
                    <a:p>
                      <a:pPr algn="l"/>
                      <a:r>
                        <a:rPr sz="1200">
                          <a:solidFill>
                            <a:srgbClr val="0D1B2A"/>
                          </a:solidFill>
                        </a:rPr>
                        <a:t>Azure OpenAI / Ollama</a:t>
                      </a:r>
                    </a:p>
                  </a:txBody>
                  <a:tcPr>
                    <a:solidFill>
                      <a:srgbClr val="F0F4F8"/>
                    </a:solidFill>
                  </a:tcPr>
                </a:tc>
                <a:tc>
                  <a:txBody>
                    <a:bodyPr/>
                    <a:lstStyle/>
                    <a:p>
                      <a:pPr algn="l"/>
                      <a:r>
                        <a:rPr sz="1200">
                          <a:solidFill>
                            <a:srgbClr val="0D1B2A"/>
                          </a:solidFill>
                        </a:rPr>
                        <a:t>SQLite + ChromaDB server</a:t>
                      </a:r>
                    </a:p>
                  </a:txBody>
                  <a:tcPr>
                    <a:solidFill>
                      <a:srgbClr val="F0F4F8"/>
                    </a:solidFill>
                  </a:tcPr>
                </a:tc>
                <a:tc>
                  <a:txBody>
                    <a:bodyPr/>
                    <a:lstStyle/>
                    <a:p>
                      <a:pPr algn="l"/>
                      <a:r>
                        <a:rPr sz="1200">
                          <a:solidFill>
                            <a:srgbClr val="0D1B2A"/>
                          </a:solidFill>
                        </a:rPr>
                        <a:t>Regulated, data-sovereignty required</a:t>
                      </a:r>
                    </a:p>
                  </a:txBody>
                  <a:tcPr>
                    <a:solidFill>
                      <a:srgbClr val="F0F4F8"/>
                    </a:solidFill>
                  </a:tcPr>
                </a:tc>
              </a:tr>
              <a:tr h="475488">
                <a:tc>
                  <a:txBody>
                    <a:bodyPr/>
                    <a:lstStyle/>
                    <a:p>
                      <a:pPr algn="l"/>
                      <a:r>
                        <a:rPr sz="1200">
                          <a:solidFill>
                            <a:srgbClr val="0D1B2A"/>
                          </a:solidFill>
                        </a:rPr>
                        <a:t>Air-gapped</a:t>
                      </a:r>
                    </a:p>
                  </a:txBody>
                  <a:tcPr>
                    <a:solidFill>
                      <a:srgbClr val="FFFFFF"/>
                    </a:solidFill>
                  </a:tcPr>
                </a:tc>
                <a:tc>
                  <a:txBody>
                    <a:bodyPr/>
                    <a:lstStyle/>
                    <a:p>
                      <a:pPr algn="l"/>
                      <a:r>
                        <a:rPr sz="1200">
                          <a:solidFill>
                            <a:srgbClr val="0D1B2A"/>
                          </a:solidFill>
                        </a:rPr>
                        <a:t>Ollama only</a:t>
                      </a:r>
                    </a:p>
                  </a:txBody>
                  <a:tcPr>
                    <a:solidFill>
                      <a:srgbClr val="FFFFFF"/>
                    </a:solidFill>
                  </a:tcPr>
                </a:tc>
                <a:tc>
                  <a:txBody>
                    <a:bodyPr/>
                    <a:lstStyle/>
                    <a:p>
                      <a:pPr algn="l"/>
                      <a:r>
                        <a:rPr sz="1200">
                          <a:solidFill>
                            <a:srgbClr val="0D1B2A"/>
                          </a:solidFill>
                        </a:rPr>
                        <a:t>SQLite + ChromaDB server</a:t>
                      </a:r>
                    </a:p>
                  </a:txBody>
                  <a:tcPr>
                    <a:solidFill>
                      <a:srgbClr val="FFFFFF"/>
                    </a:solidFill>
                  </a:tcPr>
                </a:tc>
                <a:tc>
                  <a:txBody>
                    <a:bodyPr/>
                    <a:lstStyle/>
                    <a:p>
                      <a:pPr algn="l"/>
                      <a:r>
                        <a:rPr sz="1200">
                          <a:solidFill>
                            <a:srgbClr val="0D1B2A"/>
                          </a:solidFill>
                        </a:rPr>
                        <a:t>Classified / no-network environments</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Real-Time Token Streaming (Phase 5)</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Server-Sent Events for progressive AI output — every provider, no API key required</a:t>
            </a:r>
          </a:p>
        </p:txBody>
      </p:sp>
      <p:sp>
        <p:nvSpPr>
          <p:cNvPr id="5" name="Rectangle 4"/>
          <p:cNvSpPr/>
          <p:nvPr/>
        </p:nvSpPr>
        <p:spPr>
          <a:xfrm>
            <a:off x="365760" y="160020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673352"/>
            <a:ext cx="3291840" cy="457200"/>
          </a:xfrm>
          <a:prstGeom prst="rect">
            <a:avLst/>
          </a:prstGeom>
          <a:noFill/>
        </p:spPr>
        <p:txBody>
          <a:bodyPr wrap="square">
            <a:spAutoFit/>
          </a:bodyPr>
          <a:lstStyle/>
          <a:p>
            <a:pPr algn="ctr"/>
            <a:r>
              <a:rPr sz="1200" b="1" i="0">
                <a:solidFill>
                  <a:srgbClr val="FFFFFF"/>
                </a:solidFill>
              </a:rPr>
              <a:t>FastAPI StreamingResponse</a:t>
            </a:r>
          </a:p>
        </p:txBody>
      </p:sp>
      <p:sp>
        <p:nvSpPr>
          <p:cNvPr id="7" name="TextBox 6"/>
          <p:cNvSpPr txBox="1"/>
          <p:nvPr/>
        </p:nvSpPr>
        <p:spPr>
          <a:xfrm>
            <a:off x="3931920" y="1691640"/>
            <a:ext cx="7955279" cy="457200"/>
          </a:xfrm>
          <a:prstGeom prst="rect">
            <a:avLst/>
          </a:prstGeom>
          <a:noFill/>
        </p:spPr>
        <p:txBody>
          <a:bodyPr wrap="square">
            <a:spAutoFit/>
          </a:bodyPr>
          <a:lstStyle/>
          <a:p>
            <a:pPr algn="l"/>
            <a:r>
              <a:rPr sz="1300" b="0" i="0">
                <a:solidFill>
                  <a:srgbClr val="0D1B2A"/>
                </a:solidFill>
              </a:rPr>
              <a:t>text/event-stream content-type; browser-native SSE protocol</a:t>
            </a:r>
          </a:p>
        </p:txBody>
      </p:sp>
      <p:sp>
        <p:nvSpPr>
          <p:cNvPr id="8" name="Rectangle 7"/>
          <p:cNvSpPr/>
          <p:nvPr/>
        </p:nvSpPr>
        <p:spPr>
          <a:xfrm>
            <a:off x="365760" y="2350008"/>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2423160"/>
            <a:ext cx="3291840" cy="457200"/>
          </a:xfrm>
          <a:prstGeom prst="rect">
            <a:avLst/>
          </a:prstGeom>
          <a:noFill/>
        </p:spPr>
        <p:txBody>
          <a:bodyPr wrap="square">
            <a:spAutoFit/>
          </a:bodyPr>
          <a:lstStyle/>
          <a:p>
            <a:pPr algn="ctr"/>
            <a:r>
              <a:rPr sz="1200" b="1" i="0">
                <a:solidFill>
                  <a:srgbClr val="FFFFFF"/>
                </a:solidFill>
              </a:rPr>
              <a:t>generate_stream() method</a:t>
            </a:r>
          </a:p>
        </p:txBody>
      </p:sp>
      <p:sp>
        <p:nvSpPr>
          <p:cNvPr id="10" name="TextBox 9"/>
          <p:cNvSpPr txBox="1"/>
          <p:nvPr/>
        </p:nvSpPr>
        <p:spPr>
          <a:xfrm>
            <a:off x="3931920" y="2441448"/>
            <a:ext cx="7955279" cy="457200"/>
          </a:xfrm>
          <a:prstGeom prst="rect">
            <a:avLst/>
          </a:prstGeom>
          <a:noFill/>
        </p:spPr>
        <p:txBody>
          <a:bodyPr wrap="square">
            <a:spAutoFit/>
          </a:bodyPr>
          <a:lstStyle/>
          <a:p>
            <a:pPr algn="l"/>
            <a:r>
              <a:rPr sz="1300" b="0" i="0">
                <a:solidFill>
                  <a:srgbClr val="0D1B2A"/>
                </a:solidFill>
              </a:rPr>
              <a:t>Yields chunks from LLMGateway — same thread-safe singleton, streaming path</a:t>
            </a:r>
          </a:p>
        </p:txBody>
      </p:sp>
      <p:sp>
        <p:nvSpPr>
          <p:cNvPr id="11" name="Rectangle 10"/>
          <p:cNvSpPr/>
          <p:nvPr/>
        </p:nvSpPr>
        <p:spPr>
          <a:xfrm>
            <a:off x="365760" y="3099816"/>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172968"/>
            <a:ext cx="3291840" cy="457200"/>
          </a:xfrm>
          <a:prstGeom prst="rect">
            <a:avLst/>
          </a:prstGeom>
          <a:noFill/>
        </p:spPr>
        <p:txBody>
          <a:bodyPr wrap="square">
            <a:spAutoFit/>
          </a:bodyPr>
          <a:lstStyle/>
          <a:p>
            <a:pPr algn="ctr"/>
            <a:r>
              <a:rPr sz="1200" b="1" i="0">
                <a:solidFill>
                  <a:srgbClr val="FFFFFF"/>
                </a:solidFill>
              </a:rPr>
              <a:t>Claude API provider</a:t>
            </a:r>
          </a:p>
        </p:txBody>
      </p:sp>
      <p:sp>
        <p:nvSpPr>
          <p:cNvPr id="13" name="TextBox 12"/>
          <p:cNvSpPr txBox="1"/>
          <p:nvPr/>
        </p:nvSpPr>
        <p:spPr>
          <a:xfrm>
            <a:off x="3931920" y="3191256"/>
            <a:ext cx="7955279" cy="457200"/>
          </a:xfrm>
          <a:prstGeom prst="rect">
            <a:avLst/>
          </a:prstGeom>
          <a:noFill/>
        </p:spPr>
        <p:txBody>
          <a:bodyPr wrap="square">
            <a:spAutoFit/>
          </a:bodyPr>
          <a:lstStyle/>
          <a:p>
            <a:pPr algn="l"/>
            <a:r>
              <a:rPr sz="1300" b="0" i="0">
                <a:solidFill>
                  <a:srgbClr val="0D1B2A"/>
                </a:solidFill>
              </a:rPr>
              <a:t>Native token-by-token streaming via Anthropic SDK stream context</a:t>
            </a:r>
          </a:p>
        </p:txBody>
      </p:sp>
      <p:sp>
        <p:nvSpPr>
          <p:cNvPr id="14" name="Rectangle 13"/>
          <p:cNvSpPr/>
          <p:nvPr/>
        </p:nvSpPr>
        <p:spPr>
          <a:xfrm>
            <a:off x="365760" y="3849624"/>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922776"/>
            <a:ext cx="3291840" cy="457200"/>
          </a:xfrm>
          <a:prstGeom prst="rect">
            <a:avLst/>
          </a:prstGeom>
          <a:noFill/>
        </p:spPr>
        <p:txBody>
          <a:bodyPr wrap="square">
            <a:spAutoFit/>
          </a:bodyPr>
          <a:lstStyle/>
          <a:p>
            <a:pPr algn="ctr"/>
            <a:r>
              <a:rPr sz="1200" b="1" i="0">
                <a:solidFill>
                  <a:srgbClr val="FFFFFF"/>
                </a:solidFill>
              </a:rPr>
              <a:t>CLI providers (Gemini, etc)</a:t>
            </a:r>
          </a:p>
        </p:txBody>
      </p:sp>
      <p:sp>
        <p:nvSpPr>
          <p:cNvPr id="16" name="TextBox 15"/>
          <p:cNvSpPr txBox="1"/>
          <p:nvPr/>
        </p:nvSpPr>
        <p:spPr>
          <a:xfrm>
            <a:off x="3931920" y="3941064"/>
            <a:ext cx="7955279" cy="457200"/>
          </a:xfrm>
          <a:prstGeom prst="rect">
            <a:avLst/>
          </a:prstGeom>
          <a:noFill/>
        </p:spPr>
        <p:txBody>
          <a:bodyPr wrap="square">
            <a:spAutoFit/>
          </a:bodyPr>
          <a:lstStyle/>
          <a:p>
            <a:pPr algn="l"/>
            <a:r>
              <a:rPr sz="1300" b="0" i="0">
                <a:solidFill>
                  <a:srgbClr val="0D1B2A"/>
                </a:solidFill>
              </a:rPr>
              <a:t>Full generation runs then output is split into 4-word chunks — progressive feel</a:t>
            </a:r>
          </a:p>
        </p:txBody>
      </p:sp>
      <p:sp>
        <p:nvSpPr>
          <p:cNvPr id="17" name="Rectangle 16"/>
          <p:cNvSpPr/>
          <p:nvPr/>
        </p:nvSpPr>
        <p:spPr>
          <a:xfrm>
            <a:off x="365760" y="4599432"/>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672584"/>
            <a:ext cx="3291840" cy="457200"/>
          </a:xfrm>
          <a:prstGeom prst="rect">
            <a:avLst/>
          </a:prstGeom>
          <a:noFill/>
        </p:spPr>
        <p:txBody>
          <a:bodyPr wrap="square">
            <a:spAutoFit/>
          </a:bodyPr>
          <a:lstStyle/>
          <a:p>
            <a:pPr algn="ctr"/>
            <a:r>
              <a:rPr sz="1200" b="1" i="0">
                <a:solidFill>
                  <a:srgbClr val="FFFFFF"/>
                </a:solidFill>
              </a:rPr>
              <a:t>Ollama provider</a:t>
            </a:r>
          </a:p>
        </p:txBody>
      </p:sp>
      <p:sp>
        <p:nvSpPr>
          <p:cNvPr id="19" name="TextBox 18"/>
          <p:cNvSpPr txBox="1"/>
          <p:nvPr/>
        </p:nvSpPr>
        <p:spPr>
          <a:xfrm>
            <a:off x="3931920" y="4690872"/>
            <a:ext cx="7955279" cy="457200"/>
          </a:xfrm>
          <a:prstGeom prst="rect">
            <a:avLst/>
          </a:prstGeom>
          <a:noFill/>
        </p:spPr>
        <p:txBody>
          <a:bodyPr wrap="square">
            <a:spAutoFit/>
          </a:bodyPr>
          <a:lstStyle/>
          <a:p>
            <a:pPr algn="l"/>
            <a:r>
              <a:rPr sz="1300" b="0" i="0">
                <a:solidFill>
                  <a:srgbClr val="0D1B2A"/>
                </a:solidFill>
              </a:rPr>
              <a:t>stream=True to local REST API — true token-level streaming offline</a:t>
            </a:r>
          </a:p>
        </p:txBody>
      </p:sp>
      <p:sp>
        <p:nvSpPr>
          <p:cNvPr id="20" name="Rectangle 19"/>
          <p:cNvSpPr/>
          <p:nvPr/>
        </p:nvSpPr>
        <p:spPr>
          <a:xfrm>
            <a:off x="365760" y="534924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422392"/>
            <a:ext cx="3291840" cy="457200"/>
          </a:xfrm>
          <a:prstGeom prst="rect">
            <a:avLst/>
          </a:prstGeom>
          <a:noFill/>
        </p:spPr>
        <p:txBody>
          <a:bodyPr wrap="square">
            <a:spAutoFit/>
          </a:bodyPr>
          <a:lstStyle/>
          <a:p>
            <a:pPr algn="ctr"/>
            <a:r>
              <a:rPr sz="1200" b="1" i="0">
                <a:solidFill>
                  <a:srgbClr val="FFFFFF"/>
                </a:solidFill>
              </a:rPr>
              <a:t>Two endpoints</a:t>
            </a:r>
          </a:p>
        </p:txBody>
      </p:sp>
      <p:sp>
        <p:nvSpPr>
          <p:cNvPr id="22" name="TextBox 21"/>
          <p:cNvSpPr txBox="1"/>
          <p:nvPr/>
        </p:nvSpPr>
        <p:spPr>
          <a:xfrm>
            <a:off x="3931920" y="5440680"/>
            <a:ext cx="7955279" cy="457200"/>
          </a:xfrm>
          <a:prstGeom prst="rect">
            <a:avLst/>
          </a:prstGeom>
          <a:noFill/>
        </p:spPr>
        <p:txBody>
          <a:bodyPr wrap="square">
            <a:spAutoFit/>
          </a:bodyPr>
          <a:lstStyle/>
          <a:p>
            <a:pPr algn="l"/>
            <a:r>
              <a:rPr sz="1300" b="0" i="0">
                <a:solidFill>
                  <a:srgbClr val="0D1B2A"/>
                </a:solidFill>
              </a:rPr>
              <a:t>POST /analyze/stream · POST /agent/stream — both support X-SAGE-Tenant</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Onboarding Wizard — New Solution in 60 Seconds (Phase 6)</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Plain language → production-ready YAML configs via AI generation</a:t>
            </a:r>
          </a:p>
        </p:txBody>
      </p:sp>
      <p:sp>
        <p:nvSpPr>
          <p:cNvPr id="5" name="Rectangle 4"/>
          <p:cNvSpPr/>
          <p:nvPr/>
        </p:nvSpPr>
        <p:spPr>
          <a:xfrm>
            <a:off x="228600" y="1691640"/>
            <a:ext cx="2743200" cy="3108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1783080"/>
            <a:ext cx="2560320" cy="502920"/>
          </a:xfrm>
          <a:prstGeom prst="rect">
            <a:avLst/>
          </a:prstGeom>
          <a:noFill/>
        </p:spPr>
        <p:txBody>
          <a:bodyPr wrap="square">
            <a:spAutoFit/>
          </a:bodyPr>
          <a:lstStyle/>
          <a:p>
            <a:pPr algn="ctr"/>
            <a:r>
              <a:rPr sz="1300" b="1" i="0">
                <a:solidFill>
                  <a:srgbClr val="FFFFFF"/>
                </a:solidFill>
              </a:rPr>
              <a:t>1  DESCRIBE</a:t>
            </a:r>
          </a:p>
        </p:txBody>
      </p:sp>
      <p:sp>
        <p:nvSpPr>
          <p:cNvPr id="7" name="TextBox 6"/>
          <p:cNvSpPr txBox="1"/>
          <p:nvPr/>
        </p:nvSpPr>
        <p:spPr>
          <a:xfrm>
            <a:off x="320040" y="2377440"/>
            <a:ext cx="2560320" cy="1828800"/>
          </a:xfrm>
          <a:prstGeom prst="rect">
            <a:avLst/>
          </a:prstGeom>
          <a:noFill/>
        </p:spPr>
        <p:txBody>
          <a:bodyPr wrap="square">
            <a:spAutoFit/>
          </a:bodyPr>
          <a:lstStyle/>
          <a:p>
            <a:pPr algn="ctr"/>
            <a:r>
              <a:rPr sz="1100" b="0" i="0">
                <a:solidFill>
                  <a:srgbClr val="FFFFFF"/>
                </a:solidFill>
              </a:rPr>
              <a:t>POST /onboarding/generate with a plain-language description + compliance standards</a:t>
            </a:r>
          </a:p>
        </p:txBody>
      </p:sp>
      <p:sp>
        <p:nvSpPr>
          <p:cNvPr id="8" name="TextBox 7"/>
          <p:cNvSpPr txBox="1"/>
          <p:nvPr/>
        </p:nvSpPr>
        <p:spPr>
          <a:xfrm>
            <a:off x="2971800" y="2926080"/>
            <a:ext cx="228600" cy="457200"/>
          </a:xfrm>
          <a:prstGeom prst="rect">
            <a:avLst/>
          </a:prstGeom>
          <a:noFill/>
        </p:spPr>
        <p:txBody>
          <a:bodyPr wrap="square">
            <a:spAutoFit/>
          </a:bodyPr>
          <a:lstStyle/>
          <a:p>
            <a:pPr algn="ctr"/>
            <a:r>
              <a:rPr sz="2200" b="1" i="0">
                <a:solidFill>
                  <a:srgbClr val="0D1B2A"/>
                </a:solidFill>
              </a:rPr>
              <a:t>→</a:t>
            </a:r>
          </a:p>
        </p:txBody>
      </p:sp>
      <p:sp>
        <p:nvSpPr>
          <p:cNvPr id="9" name="Rectangle 8"/>
          <p:cNvSpPr/>
          <p:nvPr/>
        </p:nvSpPr>
        <p:spPr>
          <a:xfrm>
            <a:off x="3218688" y="1691640"/>
            <a:ext cx="2743200" cy="31089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10128" y="1783080"/>
            <a:ext cx="2560320" cy="502920"/>
          </a:xfrm>
          <a:prstGeom prst="rect">
            <a:avLst/>
          </a:prstGeom>
          <a:noFill/>
        </p:spPr>
        <p:txBody>
          <a:bodyPr wrap="square">
            <a:spAutoFit/>
          </a:bodyPr>
          <a:lstStyle/>
          <a:p>
            <a:pPr algn="ctr"/>
            <a:r>
              <a:rPr sz="1300" b="1" i="0">
                <a:solidFill>
                  <a:srgbClr val="FFFFFF"/>
                </a:solidFill>
              </a:rPr>
              <a:t>2  GENERATE</a:t>
            </a:r>
          </a:p>
        </p:txBody>
      </p:sp>
      <p:sp>
        <p:nvSpPr>
          <p:cNvPr id="11" name="TextBox 10"/>
          <p:cNvSpPr txBox="1"/>
          <p:nvPr/>
        </p:nvSpPr>
        <p:spPr>
          <a:xfrm>
            <a:off x="3310128" y="2377440"/>
            <a:ext cx="2560320" cy="1828800"/>
          </a:xfrm>
          <a:prstGeom prst="rect">
            <a:avLst/>
          </a:prstGeom>
          <a:noFill/>
        </p:spPr>
        <p:txBody>
          <a:bodyPr wrap="square">
            <a:spAutoFit/>
          </a:bodyPr>
          <a:lstStyle/>
          <a:p>
            <a:pPr algn="ctr"/>
            <a:r>
              <a:rPr sz="1100" b="0" i="0">
                <a:solidFill>
                  <a:srgbClr val="FFFFFF"/>
                </a:solidFill>
              </a:rPr>
              <a:t>LLM produces project.yaml · prompts.yaml · tasks.yaml tailored to your domain</a:t>
            </a:r>
          </a:p>
        </p:txBody>
      </p:sp>
      <p:sp>
        <p:nvSpPr>
          <p:cNvPr id="12" name="TextBox 11"/>
          <p:cNvSpPr txBox="1"/>
          <p:nvPr/>
        </p:nvSpPr>
        <p:spPr>
          <a:xfrm>
            <a:off x="5961888" y="2926080"/>
            <a:ext cx="228600" cy="457200"/>
          </a:xfrm>
          <a:prstGeom prst="rect">
            <a:avLst/>
          </a:prstGeom>
          <a:noFill/>
        </p:spPr>
        <p:txBody>
          <a:bodyPr wrap="square">
            <a:spAutoFit/>
          </a:bodyPr>
          <a:lstStyle/>
          <a:p>
            <a:pPr algn="ctr"/>
            <a:r>
              <a:rPr sz="2200" b="1" i="0">
                <a:solidFill>
                  <a:srgbClr val="0D1B2A"/>
                </a:solidFill>
              </a:rPr>
              <a:t>→</a:t>
            </a:r>
          </a:p>
        </p:txBody>
      </p:sp>
      <p:sp>
        <p:nvSpPr>
          <p:cNvPr id="13" name="Rectangle 12"/>
          <p:cNvSpPr/>
          <p:nvPr/>
        </p:nvSpPr>
        <p:spPr>
          <a:xfrm>
            <a:off x="6208776" y="1691640"/>
            <a:ext cx="2743200" cy="31089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0216" y="1783080"/>
            <a:ext cx="2560320" cy="502920"/>
          </a:xfrm>
          <a:prstGeom prst="rect">
            <a:avLst/>
          </a:prstGeom>
          <a:noFill/>
        </p:spPr>
        <p:txBody>
          <a:bodyPr wrap="square">
            <a:spAutoFit/>
          </a:bodyPr>
          <a:lstStyle/>
          <a:p>
            <a:pPr algn="ctr"/>
            <a:r>
              <a:rPr sz="1300" b="1" i="0">
                <a:solidFill>
                  <a:srgbClr val="FFFFFF"/>
                </a:solidFill>
              </a:rPr>
              <a:t>3  SCAFFOLD</a:t>
            </a:r>
          </a:p>
        </p:txBody>
      </p:sp>
      <p:sp>
        <p:nvSpPr>
          <p:cNvPr id="15" name="TextBox 14"/>
          <p:cNvSpPr txBox="1"/>
          <p:nvPr/>
        </p:nvSpPr>
        <p:spPr>
          <a:xfrm>
            <a:off x="6300216" y="2377440"/>
            <a:ext cx="2560320" cy="1828800"/>
          </a:xfrm>
          <a:prstGeom prst="rect">
            <a:avLst/>
          </a:prstGeom>
          <a:noFill/>
        </p:spPr>
        <p:txBody>
          <a:bodyPr wrap="square">
            <a:spAutoFit/>
          </a:bodyPr>
          <a:lstStyle/>
          <a:p>
            <a:pPr algn="ctr"/>
            <a:r>
              <a:rPr sz="1100" b="0" i="0">
                <a:solidFill>
                  <a:srgbClr val="FFFFFF"/>
                </a:solidFill>
              </a:rPr>
              <a:t>solutions/&lt;name&gt;/ created with workflows/ · mcp_servers/ · evals/ subdirs</a:t>
            </a:r>
          </a:p>
        </p:txBody>
      </p:sp>
      <p:sp>
        <p:nvSpPr>
          <p:cNvPr id="16" name="TextBox 15"/>
          <p:cNvSpPr txBox="1"/>
          <p:nvPr/>
        </p:nvSpPr>
        <p:spPr>
          <a:xfrm>
            <a:off x="8951976" y="2926080"/>
            <a:ext cx="228600" cy="457200"/>
          </a:xfrm>
          <a:prstGeom prst="rect">
            <a:avLst/>
          </a:prstGeom>
          <a:noFill/>
        </p:spPr>
        <p:txBody>
          <a:bodyPr wrap="square">
            <a:spAutoFit/>
          </a:bodyPr>
          <a:lstStyle/>
          <a:p>
            <a:pPr algn="ctr"/>
            <a:r>
              <a:rPr sz="2200" b="1" i="0">
                <a:solidFill>
                  <a:srgbClr val="0D1B2A"/>
                </a:solidFill>
              </a:rPr>
              <a:t>→</a:t>
            </a:r>
          </a:p>
        </p:txBody>
      </p:sp>
      <p:sp>
        <p:nvSpPr>
          <p:cNvPr id="17" name="Rectangle 16"/>
          <p:cNvSpPr/>
          <p:nvPr/>
        </p:nvSpPr>
        <p:spPr>
          <a:xfrm>
            <a:off x="9198864" y="1691640"/>
            <a:ext cx="2743200" cy="310896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90304" y="1783080"/>
            <a:ext cx="2560320" cy="502920"/>
          </a:xfrm>
          <a:prstGeom prst="rect">
            <a:avLst/>
          </a:prstGeom>
          <a:noFill/>
        </p:spPr>
        <p:txBody>
          <a:bodyPr wrap="square">
            <a:spAutoFit/>
          </a:bodyPr>
          <a:lstStyle/>
          <a:p>
            <a:pPr algn="ctr"/>
            <a:r>
              <a:rPr sz="1300" b="1" i="0">
                <a:solidFill>
                  <a:srgbClr val="FFFFFF"/>
                </a:solidFill>
              </a:rPr>
              <a:t>4  RUN</a:t>
            </a:r>
          </a:p>
        </p:txBody>
      </p:sp>
      <p:sp>
        <p:nvSpPr>
          <p:cNvPr id="19" name="TextBox 18"/>
          <p:cNvSpPr txBox="1"/>
          <p:nvPr/>
        </p:nvSpPr>
        <p:spPr>
          <a:xfrm>
            <a:off x="9290304" y="2377440"/>
            <a:ext cx="2560320" cy="1828800"/>
          </a:xfrm>
          <a:prstGeom prst="rect">
            <a:avLst/>
          </a:prstGeom>
          <a:noFill/>
        </p:spPr>
        <p:txBody>
          <a:bodyPr wrap="square">
            <a:spAutoFit/>
          </a:bodyPr>
          <a:lstStyle/>
          <a:p>
            <a:pPr algn="ctr"/>
            <a:r>
              <a:rPr sz="1100" b="0" i="0">
                <a:solidFill>
                  <a:srgbClr val="FFFFFF"/>
                </a:solidFill>
              </a:rPr>
              <a:t>make run PROJECT=&lt;name&gt; — agents immediately operational with domain context</a:t>
            </a:r>
          </a:p>
        </p:txBody>
      </p:sp>
      <p:sp>
        <p:nvSpPr>
          <p:cNvPr id="20" name="TextBox 19"/>
          <p:cNvSpPr txBox="1"/>
          <p:nvPr/>
        </p:nvSpPr>
        <p:spPr>
          <a:xfrm>
            <a:off x="457200" y="5074920"/>
            <a:ext cx="11247120" cy="411480"/>
          </a:xfrm>
          <a:prstGeom prst="rect">
            <a:avLst/>
          </a:prstGeom>
          <a:noFill/>
        </p:spPr>
        <p:txBody>
          <a:bodyPr wrap="square">
            <a:spAutoFit/>
          </a:bodyPr>
          <a:lstStyle/>
          <a:p>
            <a:pPr algn="ctr"/>
            <a:r>
              <a:rPr sz="1300" b="0" i="1">
                <a:solidFill>
                  <a:srgbClr val="0078D4"/>
                </a:solidFill>
              </a:rPr>
              <a:t>Templates available at GET /onboarding/templates — or describe any domain from scratch.</a:t>
            </a:r>
          </a:p>
        </p:txBody>
      </p:sp>
      <p:sp>
        <p:nvSpPr>
          <p:cNvPr id="21" name="Rectangle 20"/>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Knowledge Base CRUD API (Phase 7)</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Full lifecycle management for the RAG vector store — list, add, delete, bulk import, search</a:t>
            </a:r>
          </a:p>
        </p:txBody>
      </p:sp>
      <p:graphicFrame>
        <p:nvGraphicFramePr>
          <p:cNvPr id="5" name="Table 4"/>
          <p:cNvGraphicFramePr>
            <a:graphicFrameLocks noGrp="1"/>
          </p:cNvGraphicFramePr>
          <p:nvPr/>
        </p:nvGraphicFramePr>
        <p:xfrm>
          <a:off x="457200" y="1508760"/>
          <a:ext cx="11247120" cy="2852928"/>
        </p:xfrm>
        <a:graphic>
          <a:graphicData uri="http://schemas.openxmlformats.org/drawingml/2006/table">
            <a:tbl>
              <a:tblPr firstRow="1" bandRow="1">
                <a:tableStyleId>{5C22544A-7EE6-4342-B048-85BDC9FD1C3A}</a:tableStyleId>
              </a:tblPr>
              <a:tblGrid>
                <a:gridCol w="3200400"/>
                <a:gridCol w="1371600"/>
                <a:gridCol w="6675120"/>
              </a:tblGrid>
              <a:tr h="475488">
                <a:tc>
                  <a:txBody>
                    <a:bodyPr/>
                    <a:lstStyle/>
                    <a:p>
                      <a:pPr algn="ctr"/>
                      <a:r>
                        <a:rPr b="1" sz="1300">
                          <a:solidFill>
                            <a:srgbClr val="FFFFFF"/>
                          </a:solidFill>
                        </a:rPr>
                        <a:t>Endpoint</a:t>
                      </a:r>
                    </a:p>
                  </a:txBody>
                  <a:tcPr>
                    <a:solidFill>
                      <a:srgbClr val="0078D4"/>
                    </a:solidFill>
                  </a:tcPr>
                </a:tc>
                <a:tc>
                  <a:txBody>
                    <a:bodyPr/>
                    <a:lstStyle/>
                    <a:p>
                      <a:pPr algn="ctr"/>
                      <a:r>
                        <a:rPr b="1" sz="1300">
                          <a:solidFill>
                            <a:srgbClr val="FFFFFF"/>
                          </a:solidFill>
                        </a:rPr>
                        <a:t>Method</a:t>
                      </a:r>
                    </a:p>
                  </a:txBody>
                  <a:tcPr>
                    <a:solidFill>
                      <a:srgbClr val="0078D4"/>
                    </a:solidFill>
                  </a:tcPr>
                </a:tc>
                <a:tc>
                  <a:txBody>
                    <a:bodyPr/>
                    <a:lstStyle/>
                    <a:p>
                      <a:pPr algn="ctr"/>
                      <a:r>
                        <a:rPr b="1" sz="1300">
                          <a:solidFill>
                            <a:srgbClr val="FFFFFF"/>
                          </a:solidFill>
                        </a:rPr>
                        <a:t>Description</a:t>
                      </a:r>
                    </a:p>
                  </a:txBody>
                  <a:tcPr>
                    <a:solidFill>
                      <a:srgbClr val="0078D4"/>
                    </a:solidFill>
                  </a:tcPr>
                </a:tc>
              </a:tr>
              <a:tr h="475488">
                <a:tc>
                  <a:txBody>
                    <a:bodyPr/>
                    <a:lstStyle/>
                    <a:p>
                      <a:pPr algn="l"/>
                      <a:r>
                        <a:rPr sz="1200">
                          <a:solidFill>
                            <a:srgbClr val="0D1B2A"/>
                          </a:solidFill>
                        </a:rPr>
                        <a:t>GET  /knowledge/entries</a:t>
                      </a:r>
                    </a:p>
                  </a:txBody>
                  <a:tcPr>
                    <a:solidFill>
                      <a:srgbClr val="F0F4F8"/>
                    </a:solidFill>
                  </a:tcPr>
                </a:tc>
                <a:tc>
                  <a:txBody>
                    <a:bodyPr/>
                    <a:lstStyle/>
                    <a:p>
                      <a:pPr algn="l"/>
                      <a:r>
                        <a:rPr sz="1200">
                          <a:solidFill>
                            <a:srgbClr val="0D1B2A"/>
                          </a:solidFill>
                        </a:rPr>
                        <a:t>List</a:t>
                      </a:r>
                    </a:p>
                  </a:txBody>
                  <a:tcPr>
                    <a:solidFill>
                      <a:srgbClr val="F0F4F8"/>
                    </a:solidFill>
                  </a:tcPr>
                </a:tc>
                <a:tc>
                  <a:txBody>
                    <a:bodyPr/>
                    <a:lstStyle/>
                    <a:p>
                      <a:pPr algn="l"/>
                      <a:r>
                        <a:rPr sz="1200">
                          <a:solidFill>
                            <a:srgbClr val="0D1B2A"/>
                          </a:solidFill>
                        </a:rPr>
                        <a:t>Paginated entries from ChromaDB with metadata</a:t>
                      </a:r>
                    </a:p>
                  </a:txBody>
                  <a:tcPr>
                    <a:solidFill>
                      <a:srgbClr val="F0F4F8"/>
                    </a:solidFill>
                  </a:tcPr>
                </a:tc>
              </a:tr>
              <a:tr h="475488">
                <a:tc>
                  <a:txBody>
                    <a:bodyPr/>
                    <a:lstStyle/>
                    <a:p>
                      <a:pPr algn="l"/>
                      <a:r>
                        <a:rPr sz="1200">
                          <a:solidFill>
                            <a:srgbClr val="0D1B2A"/>
                          </a:solidFill>
                        </a:rPr>
                        <a:t>POST /knowledge/add</a:t>
                      </a:r>
                    </a:p>
                  </a:txBody>
                  <a:tcPr>
                    <a:solidFill>
                      <a:srgbClr val="FFFFFF"/>
                    </a:solidFill>
                  </a:tcPr>
                </a:tc>
                <a:tc>
                  <a:txBody>
                    <a:bodyPr/>
                    <a:lstStyle/>
                    <a:p>
                      <a:pPr algn="l"/>
                      <a:r>
                        <a:rPr sz="1200">
                          <a:solidFill>
                            <a:srgbClr val="0D1B2A"/>
                          </a:solidFill>
                        </a:rPr>
                        <a:t>Add</a:t>
                      </a:r>
                    </a:p>
                  </a:txBody>
                  <a:tcPr>
                    <a:solidFill>
                      <a:srgbClr val="FFFFFF"/>
                    </a:solidFill>
                  </a:tcPr>
                </a:tc>
                <a:tc>
                  <a:txBody>
                    <a:bodyPr/>
                    <a:lstStyle/>
                    <a:p>
                      <a:pPr algn="l"/>
                      <a:r>
                        <a:rPr sz="1200">
                          <a:solidFill>
                            <a:srgbClr val="0D1B2A"/>
                          </a:solidFill>
                        </a:rPr>
                        <a:t>Single entry with text + arbitrary metadata dict</a:t>
                      </a:r>
                    </a:p>
                  </a:txBody>
                  <a:tcPr>
                    <a:solidFill>
                      <a:srgbClr val="FFFFFF"/>
                    </a:solidFill>
                  </a:tcPr>
                </a:tc>
              </a:tr>
              <a:tr h="475488">
                <a:tc>
                  <a:txBody>
                    <a:bodyPr/>
                    <a:lstStyle/>
                    <a:p>
                      <a:pPr algn="l"/>
                      <a:r>
                        <a:rPr sz="1200">
                          <a:solidFill>
                            <a:srgbClr val="0D1B2A"/>
                          </a:solidFill>
                        </a:rPr>
                        <a:t>DELETE /knowledge/entry/{id}</a:t>
                      </a:r>
                    </a:p>
                  </a:txBody>
                  <a:tcPr>
                    <a:solidFill>
                      <a:srgbClr val="F0F4F8"/>
                    </a:solidFill>
                  </a:tcPr>
                </a:tc>
                <a:tc>
                  <a:txBody>
                    <a:bodyPr/>
                    <a:lstStyle/>
                    <a:p>
                      <a:pPr algn="l"/>
                      <a:r>
                        <a:rPr sz="1200">
                          <a:solidFill>
                            <a:srgbClr val="0D1B2A"/>
                          </a:solidFill>
                        </a:rPr>
                        <a:t>Delete</a:t>
                      </a:r>
                    </a:p>
                  </a:txBody>
                  <a:tcPr>
                    <a:solidFill>
                      <a:srgbClr val="F0F4F8"/>
                    </a:solidFill>
                  </a:tcPr>
                </a:tc>
                <a:tc>
                  <a:txBody>
                    <a:bodyPr/>
                    <a:lstStyle/>
                    <a:p>
                      <a:pPr algn="l"/>
                      <a:r>
                        <a:rPr sz="1200">
                          <a:solidFill>
                            <a:srgbClr val="0D1B2A"/>
                          </a:solidFill>
                        </a:rPr>
                        <a:t>Remove by entry UUID — audit-logged</a:t>
                      </a:r>
                    </a:p>
                  </a:txBody>
                  <a:tcPr>
                    <a:solidFill>
                      <a:srgbClr val="F0F4F8"/>
                    </a:solidFill>
                  </a:tcPr>
                </a:tc>
              </a:tr>
              <a:tr h="475488">
                <a:tc>
                  <a:txBody>
                    <a:bodyPr/>
                    <a:lstStyle/>
                    <a:p>
                      <a:pPr algn="l"/>
                      <a:r>
                        <a:rPr sz="1200">
                          <a:solidFill>
                            <a:srgbClr val="0D1B2A"/>
                          </a:solidFill>
                        </a:rPr>
                        <a:t>POST /knowledge/import</a:t>
                      </a:r>
                    </a:p>
                  </a:txBody>
                  <a:tcPr>
                    <a:solidFill>
                      <a:srgbClr val="FFFFFF"/>
                    </a:solidFill>
                  </a:tcPr>
                </a:tc>
                <a:tc>
                  <a:txBody>
                    <a:bodyPr/>
                    <a:lstStyle/>
                    <a:p>
                      <a:pPr algn="l"/>
                      <a:r>
                        <a:rPr sz="1200">
                          <a:solidFill>
                            <a:srgbClr val="0D1B2A"/>
                          </a:solidFill>
                        </a:rPr>
                        <a:t>Bulk import</a:t>
                      </a:r>
                    </a:p>
                  </a:txBody>
                  <a:tcPr>
                    <a:solidFill>
                      <a:srgbClr val="FFFFFF"/>
                    </a:solidFill>
                  </a:tcPr>
                </a:tc>
                <a:tc>
                  <a:txBody>
                    <a:bodyPr/>
                    <a:lstStyle/>
                    <a:p>
                      <a:pPr algn="l"/>
                      <a:r>
                        <a:rPr sz="1200">
                          <a:solidFill>
                            <a:srgbClr val="0D1B2A"/>
                          </a:solidFill>
                        </a:rPr>
                        <a:t>JSON array of entries — batch ingest from external knowledge base</a:t>
                      </a:r>
                    </a:p>
                  </a:txBody>
                  <a:tcPr>
                    <a:solidFill>
                      <a:srgbClr val="FFFFFF"/>
                    </a:solidFill>
                  </a:tcPr>
                </a:tc>
              </a:tr>
              <a:tr h="475488">
                <a:tc>
                  <a:txBody>
                    <a:bodyPr/>
                    <a:lstStyle/>
                    <a:p>
                      <a:pPr algn="l"/>
                      <a:r>
                        <a:rPr sz="1200">
                          <a:solidFill>
                            <a:srgbClr val="0D1B2A"/>
                          </a:solidFill>
                        </a:rPr>
                        <a:t>POST /knowledge/search</a:t>
                      </a:r>
                    </a:p>
                  </a:txBody>
                  <a:tcPr>
                    <a:solidFill>
                      <a:srgbClr val="F0F4F8"/>
                    </a:solidFill>
                  </a:tcPr>
                </a:tc>
                <a:tc>
                  <a:txBody>
                    <a:bodyPr/>
                    <a:lstStyle/>
                    <a:p>
                      <a:pPr algn="l"/>
                      <a:r>
                        <a:rPr sz="1200">
                          <a:solidFill>
                            <a:srgbClr val="0D1B2A"/>
                          </a:solidFill>
                        </a:rPr>
                        <a:t>Semantic</a:t>
                      </a:r>
                    </a:p>
                  </a:txBody>
                  <a:tcPr>
                    <a:solidFill>
                      <a:srgbClr val="F0F4F8"/>
                    </a:solidFill>
                  </a:tcPr>
                </a:tc>
                <a:tc>
                  <a:txBody>
                    <a:bodyPr/>
                    <a:lstStyle/>
                    <a:p>
                      <a:pPr algn="l"/>
                      <a:r>
                        <a:rPr sz="1200">
                          <a:solidFill>
                            <a:srgbClr val="0D1B2A"/>
                          </a:solidFill>
                        </a:rPr>
                        <a:t>query + k → top-k cosine-similarity results</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Slack Two-Way Approval Loop (Phase 8)</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Proposals delivered as Block Kit messages — approve or reject from Slack without leaving the app</a:t>
            </a:r>
          </a:p>
        </p:txBody>
      </p:sp>
      <p:sp>
        <p:nvSpPr>
          <p:cNvPr id="5" name="Rectangle 4"/>
          <p:cNvSpPr/>
          <p:nvPr/>
        </p:nvSpPr>
        <p:spPr>
          <a:xfrm>
            <a:off x="365760" y="16002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600200"/>
            <a:ext cx="3017520" cy="320040"/>
          </a:xfrm>
          <a:prstGeom prst="rect">
            <a:avLst/>
          </a:prstGeom>
          <a:noFill/>
        </p:spPr>
        <p:txBody>
          <a:bodyPr wrap="square">
            <a:spAutoFit/>
          </a:bodyPr>
          <a:lstStyle/>
          <a:p>
            <a:pPr algn="l"/>
            <a:r>
              <a:rPr sz="1300" b="1" i="0">
                <a:solidFill>
                  <a:srgbClr val="0078D4"/>
                </a:solidFill>
              </a:rPr>
              <a:t>Agent proposes</a:t>
            </a:r>
          </a:p>
        </p:txBody>
      </p:sp>
      <p:sp>
        <p:nvSpPr>
          <p:cNvPr id="7" name="TextBox 6"/>
          <p:cNvSpPr txBox="1"/>
          <p:nvPr/>
        </p:nvSpPr>
        <p:spPr>
          <a:xfrm>
            <a:off x="594360" y="1901952"/>
            <a:ext cx="10972800" cy="320040"/>
          </a:xfrm>
          <a:prstGeom prst="rect">
            <a:avLst/>
          </a:prstGeom>
          <a:noFill/>
        </p:spPr>
        <p:txBody>
          <a:bodyPr wrap="square">
            <a:spAutoFit/>
          </a:bodyPr>
          <a:lstStyle/>
          <a:p>
            <a:pPr algn="l"/>
            <a:r>
              <a:rPr sz="1200" b="0" i="0">
                <a:solidFill>
                  <a:srgbClr val="0D1B2A"/>
                </a:solidFill>
              </a:rPr>
              <a:t>SAGE generates proposal → POST /slack/send-proposal</a:t>
            </a:r>
          </a:p>
        </p:txBody>
      </p:sp>
      <p:sp>
        <p:nvSpPr>
          <p:cNvPr id="8" name="Rectangle 7"/>
          <p:cNvSpPr/>
          <p:nvPr/>
        </p:nvSpPr>
        <p:spPr>
          <a:xfrm>
            <a:off x="365760" y="22860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286000"/>
            <a:ext cx="3017520" cy="320040"/>
          </a:xfrm>
          <a:prstGeom prst="rect">
            <a:avLst/>
          </a:prstGeom>
          <a:noFill/>
        </p:spPr>
        <p:txBody>
          <a:bodyPr wrap="square">
            <a:spAutoFit/>
          </a:bodyPr>
          <a:lstStyle/>
          <a:p>
            <a:pPr algn="l"/>
            <a:r>
              <a:rPr sz="1300" b="1" i="0">
                <a:solidFill>
                  <a:srgbClr val="0078D4"/>
                </a:solidFill>
              </a:rPr>
              <a:t>Block Kit message</a:t>
            </a:r>
          </a:p>
        </p:txBody>
      </p:sp>
      <p:sp>
        <p:nvSpPr>
          <p:cNvPr id="10" name="TextBox 9"/>
          <p:cNvSpPr txBox="1"/>
          <p:nvPr/>
        </p:nvSpPr>
        <p:spPr>
          <a:xfrm>
            <a:off x="594360" y="2587752"/>
            <a:ext cx="10972800" cy="320040"/>
          </a:xfrm>
          <a:prstGeom prst="rect">
            <a:avLst/>
          </a:prstGeom>
          <a:noFill/>
        </p:spPr>
        <p:txBody>
          <a:bodyPr wrap="square">
            <a:spAutoFit/>
          </a:bodyPr>
          <a:lstStyle/>
          <a:p>
            <a:pPr algn="l"/>
            <a:r>
              <a:rPr sz="1200" b="0" i="0">
                <a:solidFill>
                  <a:srgbClr val="0D1B2A"/>
                </a:solidFill>
              </a:rPr>
              <a:t>Approve + Reject buttons sent to #sage-approvals channel</a:t>
            </a:r>
          </a:p>
        </p:txBody>
      </p:sp>
      <p:sp>
        <p:nvSpPr>
          <p:cNvPr id="11" name="Rectangle 10"/>
          <p:cNvSpPr/>
          <p:nvPr/>
        </p:nvSpPr>
        <p:spPr>
          <a:xfrm>
            <a:off x="365760" y="29718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971800"/>
            <a:ext cx="3017520" cy="320040"/>
          </a:xfrm>
          <a:prstGeom prst="rect">
            <a:avLst/>
          </a:prstGeom>
          <a:noFill/>
        </p:spPr>
        <p:txBody>
          <a:bodyPr wrap="square">
            <a:spAutoFit/>
          </a:bodyPr>
          <a:lstStyle/>
          <a:p>
            <a:pPr algn="l"/>
            <a:r>
              <a:rPr sz="1300" b="1" i="0">
                <a:solidFill>
                  <a:srgbClr val="0078D4"/>
                </a:solidFill>
              </a:rPr>
              <a:t>Engineer clicks</a:t>
            </a:r>
          </a:p>
        </p:txBody>
      </p:sp>
      <p:sp>
        <p:nvSpPr>
          <p:cNvPr id="13" name="TextBox 12"/>
          <p:cNvSpPr txBox="1"/>
          <p:nvPr/>
        </p:nvSpPr>
        <p:spPr>
          <a:xfrm>
            <a:off x="594360" y="3273552"/>
            <a:ext cx="10972800" cy="320040"/>
          </a:xfrm>
          <a:prstGeom prst="rect">
            <a:avLst/>
          </a:prstGeom>
          <a:noFill/>
        </p:spPr>
        <p:txBody>
          <a:bodyPr wrap="square">
            <a:spAutoFit/>
          </a:bodyPr>
          <a:lstStyle/>
          <a:p>
            <a:pPr algn="l"/>
            <a:r>
              <a:rPr sz="1200" b="0" i="0">
                <a:solidFill>
                  <a:srgbClr val="0D1B2A"/>
                </a:solidFill>
              </a:rPr>
              <a:t>Slack POSTs interactive payload to POST /webhook/slack</a:t>
            </a:r>
          </a:p>
        </p:txBody>
      </p:sp>
      <p:sp>
        <p:nvSpPr>
          <p:cNvPr id="14" name="Rectangle 13"/>
          <p:cNvSpPr/>
          <p:nvPr/>
        </p:nvSpPr>
        <p:spPr>
          <a:xfrm>
            <a:off x="365760" y="36576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657600"/>
            <a:ext cx="3017520" cy="320040"/>
          </a:xfrm>
          <a:prstGeom prst="rect">
            <a:avLst/>
          </a:prstGeom>
          <a:noFill/>
        </p:spPr>
        <p:txBody>
          <a:bodyPr wrap="square">
            <a:spAutoFit/>
          </a:bodyPr>
          <a:lstStyle/>
          <a:p>
            <a:pPr algn="l"/>
            <a:r>
              <a:rPr sz="1300" b="1" i="0">
                <a:solidFill>
                  <a:srgbClr val="0078D4"/>
                </a:solidFill>
              </a:rPr>
              <a:t>HMAC verification</a:t>
            </a:r>
          </a:p>
        </p:txBody>
      </p:sp>
      <p:sp>
        <p:nvSpPr>
          <p:cNvPr id="16" name="TextBox 15"/>
          <p:cNvSpPr txBox="1"/>
          <p:nvPr/>
        </p:nvSpPr>
        <p:spPr>
          <a:xfrm>
            <a:off x="594360" y="3959352"/>
            <a:ext cx="10972800" cy="320040"/>
          </a:xfrm>
          <a:prstGeom prst="rect">
            <a:avLst/>
          </a:prstGeom>
          <a:noFill/>
        </p:spPr>
        <p:txBody>
          <a:bodyPr wrap="square">
            <a:spAutoFit/>
          </a:bodyPr>
          <a:lstStyle/>
          <a:p>
            <a:pPr algn="l"/>
            <a:r>
              <a:rPr sz="1200" b="0" i="0">
                <a:solidFill>
                  <a:srgbClr val="0D1B2A"/>
                </a:solidFill>
              </a:rPr>
              <a:t>X-Slack-Signature checked — replays rejected, 5-min window enforced</a:t>
            </a:r>
          </a:p>
        </p:txBody>
      </p:sp>
      <p:sp>
        <p:nvSpPr>
          <p:cNvPr id="17" name="Rectangle 16"/>
          <p:cNvSpPr/>
          <p:nvPr/>
        </p:nvSpPr>
        <p:spPr>
          <a:xfrm>
            <a:off x="365760" y="43434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343400"/>
            <a:ext cx="3017520" cy="320040"/>
          </a:xfrm>
          <a:prstGeom prst="rect">
            <a:avLst/>
          </a:prstGeom>
          <a:noFill/>
        </p:spPr>
        <p:txBody>
          <a:bodyPr wrap="square">
            <a:spAutoFit/>
          </a:bodyPr>
          <a:lstStyle/>
          <a:p>
            <a:pPr algn="l"/>
            <a:r>
              <a:rPr sz="1300" b="1" i="0">
                <a:solidFill>
                  <a:srgbClr val="0078D4"/>
                </a:solidFill>
              </a:rPr>
              <a:t>Audit log updated</a:t>
            </a:r>
          </a:p>
        </p:txBody>
      </p:sp>
      <p:sp>
        <p:nvSpPr>
          <p:cNvPr id="19" name="TextBox 18"/>
          <p:cNvSpPr txBox="1"/>
          <p:nvPr/>
        </p:nvSpPr>
        <p:spPr>
          <a:xfrm>
            <a:off x="594360" y="4645152"/>
            <a:ext cx="10972800" cy="320040"/>
          </a:xfrm>
          <a:prstGeom prst="rect">
            <a:avLst/>
          </a:prstGeom>
          <a:noFill/>
        </p:spPr>
        <p:txBody>
          <a:bodyPr wrap="square">
            <a:spAutoFit/>
          </a:bodyPr>
          <a:lstStyle/>
          <a:p>
            <a:pPr algn="l"/>
            <a:r>
              <a:rPr sz="1200" b="0" i="0">
                <a:solidFill>
                  <a:srgbClr val="0D1B2A"/>
                </a:solidFill>
              </a:rPr>
              <a:t>Decision + Slack user ID written to SQLite audit trail</a:t>
            </a:r>
          </a:p>
        </p:txBody>
      </p:sp>
      <p:sp>
        <p:nvSpPr>
          <p:cNvPr id="20" name="Rectangle 19"/>
          <p:cNvSpPr/>
          <p:nvPr/>
        </p:nvSpPr>
        <p:spPr>
          <a:xfrm>
            <a:off x="365760" y="50292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5029200"/>
            <a:ext cx="3017520" cy="320040"/>
          </a:xfrm>
          <a:prstGeom prst="rect">
            <a:avLst/>
          </a:prstGeom>
          <a:noFill/>
        </p:spPr>
        <p:txBody>
          <a:bodyPr wrap="square">
            <a:spAutoFit/>
          </a:bodyPr>
          <a:lstStyle/>
          <a:p>
            <a:pPr algn="l"/>
            <a:r>
              <a:rPr sz="1300" b="1" i="0">
                <a:solidFill>
                  <a:srgbClr val="0078D4"/>
                </a:solidFill>
              </a:rPr>
              <a:t>Vector store updated</a:t>
            </a:r>
          </a:p>
        </p:txBody>
      </p:sp>
      <p:sp>
        <p:nvSpPr>
          <p:cNvPr id="22" name="TextBox 21"/>
          <p:cNvSpPr txBox="1"/>
          <p:nvPr/>
        </p:nvSpPr>
        <p:spPr>
          <a:xfrm>
            <a:off x="594360" y="5330952"/>
            <a:ext cx="10972800" cy="320040"/>
          </a:xfrm>
          <a:prstGeom prst="rect">
            <a:avLst/>
          </a:prstGeom>
          <a:noFill/>
        </p:spPr>
        <p:txBody>
          <a:bodyPr wrap="square">
            <a:spAutoFit/>
          </a:bodyPr>
          <a:lstStyle/>
          <a:p>
            <a:pPr algn="l"/>
            <a:r>
              <a:rPr sz="1200" b="0" i="0">
                <a:solidFill>
                  <a:srgbClr val="0D1B2A"/>
                </a:solidFill>
              </a:rPr>
              <a:t>Rejection reason ingested for Phase 5 COMPOUND — system learns</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Eval &amp; Benchmarking Framework (Phase 9)</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YAML-defined test cases — score agent quality, track regressions over time</a:t>
            </a:r>
          </a:p>
        </p:txBody>
      </p:sp>
      <p:sp>
        <p:nvSpPr>
          <p:cNvPr id="5" name="Rectangle 4"/>
          <p:cNvSpPr/>
          <p:nvPr/>
        </p:nvSpPr>
        <p:spPr>
          <a:xfrm>
            <a:off x="365760" y="1600200"/>
            <a:ext cx="5394960" cy="43891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700" b="1" i="0">
                <a:solidFill>
                  <a:srgbClr val="FFFFFF"/>
                </a:solidFill>
              </a:rPr>
              <a:t>Eval YAML Format</a:t>
            </a:r>
          </a:p>
        </p:txBody>
      </p:sp>
      <p:sp>
        <p:nvSpPr>
          <p:cNvPr id="7" name="TextBox 6"/>
          <p:cNvSpPr txBox="1"/>
          <p:nvPr/>
        </p:nvSpPr>
        <p:spPr>
          <a:xfrm>
            <a:off x="548640" y="2194560"/>
            <a:ext cx="5029200" cy="365760"/>
          </a:xfrm>
          <a:prstGeom prst="rect">
            <a:avLst/>
          </a:prstGeom>
          <a:noFill/>
        </p:spPr>
        <p:txBody>
          <a:bodyPr wrap="square">
            <a:spAutoFit/>
          </a:bodyPr>
          <a:lstStyle/>
          <a:p>
            <a:pPr algn="l"/>
            <a:r>
              <a:rPr sz="1200" b="0" i="1">
                <a:solidFill>
                  <a:srgbClr val="00B4D8"/>
                </a:solidFill>
              </a:rPr>
              <a:t>Define test cases in solutions/&lt;name&gt;/evals/&lt;suite&gt;.yaml</a:t>
            </a:r>
          </a:p>
        </p:txBody>
      </p:sp>
      <p:sp>
        <p:nvSpPr>
          <p:cNvPr id="8" name="TextBox 7"/>
          <p:cNvSpPr txBox="1"/>
          <p:nvPr/>
        </p:nvSpPr>
        <p:spPr>
          <a:xfrm>
            <a:off x="640080" y="2651760"/>
            <a:ext cx="4846320" cy="347472"/>
          </a:xfrm>
          <a:prstGeom prst="rect">
            <a:avLst/>
          </a:prstGeom>
          <a:noFill/>
        </p:spPr>
        <p:txBody>
          <a:bodyPr wrap="square">
            <a:spAutoFit/>
          </a:bodyPr>
          <a:lstStyle/>
          <a:p>
            <a:pPr algn="l"/>
            <a:r>
              <a:rPr sz="1200" b="0" i="0">
                <a:solidFill>
                  <a:srgbClr val="FFFFFF"/>
                </a:solidFill>
              </a:rPr>
              <a:t>prompt: the input to send to the agent</a:t>
            </a:r>
          </a:p>
        </p:txBody>
      </p:sp>
      <p:sp>
        <p:nvSpPr>
          <p:cNvPr id="9" name="TextBox 8"/>
          <p:cNvSpPr txBox="1"/>
          <p:nvPr/>
        </p:nvSpPr>
        <p:spPr>
          <a:xfrm>
            <a:off x="640080" y="3090672"/>
            <a:ext cx="4846320" cy="347472"/>
          </a:xfrm>
          <a:prstGeom prst="rect">
            <a:avLst/>
          </a:prstGeom>
          <a:noFill/>
        </p:spPr>
        <p:txBody>
          <a:bodyPr wrap="square">
            <a:spAutoFit/>
          </a:bodyPr>
          <a:lstStyle/>
          <a:p>
            <a:pPr algn="l"/>
            <a:r>
              <a:rPr sz="1200" b="0" i="0">
                <a:solidFill>
                  <a:srgbClr val="FFFFFF"/>
                </a:solidFill>
              </a:rPr>
              <a:t>expected_keywords: list of terms that must appear</a:t>
            </a:r>
          </a:p>
        </p:txBody>
      </p:sp>
      <p:sp>
        <p:nvSpPr>
          <p:cNvPr id="10" name="TextBox 9"/>
          <p:cNvSpPr txBox="1"/>
          <p:nvPr/>
        </p:nvSpPr>
        <p:spPr>
          <a:xfrm>
            <a:off x="640080" y="3529584"/>
            <a:ext cx="4846320" cy="347472"/>
          </a:xfrm>
          <a:prstGeom prst="rect">
            <a:avLst/>
          </a:prstGeom>
          <a:noFill/>
        </p:spPr>
        <p:txBody>
          <a:bodyPr wrap="square">
            <a:spAutoFit/>
          </a:bodyPr>
          <a:lstStyle/>
          <a:p>
            <a:pPr algn="l"/>
            <a:r>
              <a:rPr sz="1200" b="0" i="0">
                <a:solidFill>
                  <a:srgbClr val="FFFFFF"/>
                </a:solidFill>
              </a:rPr>
              <a:t>max_response_length: optional brevity constraint</a:t>
            </a:r>
          </a:p>
        </p:txBody>
      </p:sp>
      <p:sp>
        <p:nvSpPr>
          <p:cNvPr id="11" name="TextBox 10"/>
          <p:cNvSpPr txBox="1"/>
          <p:nvPr/>
        </p:nvSpPr>
        <p:spPr>
          <a:xfrm>
            <a:off x="640080" y="3968496"/>
            <a:ext cx="4846320" cy="347472"/>
          </a:xfrm>
          <a:prstGeom prst="rect">
            <a:avLst/>
          </a:prstGeom>
          <a:noFill/>
        </p:spPr>
        <p:txBody>
          <a:bodyPr wrap="square">
            <a:spAutoFit/>
          </a:bodyPr>
          <a:lstStyle/>
          <a:p>
            <a:pPr algn="l"/>
            <a:r>
              <a:rPr sz="1200" b="0" i="0">
                <a:solidFill>
                  <a:srgbClr val="FFFFFF"/>
                </a:solidFill>
              </a:rPr>
              <a:t>Scoring: 70 pts keyword coverage + 30 pts length</a:t>
            </a:r>
          </a:p>
        </p:txBody>
      </p:sp>
      <p:sp>
        <p:nvSpPr>
          <p:cNvPr id="12" name="Rectangle 11"/>
          <p:cNvSpPr/>
          <p:nvPr/>
        </p:nvSpPr>
        <p:spPr>
          <a:xfrm>
            <a:off x="6309360" y="1600200"/>
            <a:ext cx="5394960" cy="43891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691640"/>
            <a:ext cx="5029200" cy="457200"/>
          </a:xfrm>
          <a:prstGeom prst="rect">
            <a:avLst/>
          </a:prstGeom>
          <a:noFill/>
        </p:spPr>
        <p:txBody>
          <a:bodyPr wrap="square">
            <a:spAutoFit/>
          </a:bodyPr>
          <a:lstStyle/>
          <a:p>
            <a:pPr algn="l"/>
            <a:r>
              <a:rPr sz="1700" b="1" i="0">
                <a:solidFill>
                  <a:srgbClr val="FFFFFF"/>
                </a:solidFill>
              </a:rPr>
              <a:t>API + Persistence</a:t>
            </a:r>
          </a:p>
        </p:txBody>
      </p:sp>
      <p:sp>
        <p:nvSpPr>
          <p:cNvPr id="14" name="TextBox 13"/>
          <p:cNvSpPr txBox="1"/>
          <p:nvPr/>
        </p:nvSpPr>
        <p:spPr>
          <a:xfrm>
            <a:off x="6492240" y="2194560"/>
            <a:ext cx="5029200" cy="365760"/>
          </a:xfrm>
          <a:prstGeom prst="rect">
            <a:avLst/>
          </a:prstGeom>
          <a:noFill/>
        </p:spPr>
        <p:txBody>
          <a:bodyPr wrap="square">
            <a:spAutoFit/>
          </a:bodyPr>
          <a:lstStyle/>
          <a:p>
            <a:pPr algn="l"/>
            <a:r>
              <a:rPr sz="1200" b="0" i="1">
                <a:solidFill>
                  <a:srgbClr val="00B4D8"/>
                </a:solidFill>
              </a:rPr>
              <a:t>Run suites on demand, store history in SQLite</a:t>
            </a:r>
          </a:p>
        </p:txBody>
      </p:sp>
      <p:sp>
        <p:nvSpPr>
          <p:cNvPr id="15" name="TextBox 14"/>
          <p:cNvSpPr txBox="1"/>
          <p:nvPr/>
        </p:nvSpPr>
        <p:spPr>
          <a:xfrm>
            <a:off x="6583680" y="2651760"/>
            <a:ext cx="4846320" cy="347472"/>
          </a:xfrm>
          <a:prstGeom prst="rect">
            <a:avLst/>
          </a:prstGeom>
          <a:noFill/>
        </p:spPr>
        <p:txBody>
          <a:bodyPr wrap="square">
            <a:spAutoFit/>
          </a:bodyPr>
          <a:lstStyle/>
          <a:p>
            <a:pPr algn="l"/>
            <a:r>
              <a:rPr sz="1200" b="0" i="0">
                <a:solidFill>
                  <a:srgbClr val="FFFFFF"/>
                </a:solidFill>
              </a:rPr>
              <a:t>GET  /eval/suites — list available suites</a:t>
            </a:r>
          </a:p>
        </p:txBody>
      </p:sp>
      <p:sp>
        <p:nvSpPr>
          <p:cNvPr id="16" name="TextBox 15"/>
          <p:cNvSpPr txBox="1"/>
          <p:nvPr/>
        </p:nvSpPr>
        <p:spPr>
          <a:xfrm>
            <a:off x="6583680" y="3090672"/>
            <a:ext cx="4846320" cy="347472"/>
          </a:xfrm>
          <a:prstGeom prst="rect">
            <a:avLst/>
          </a:prstGeom>
          <a:noFill/>
        </p:spPr>
        <p:txBody>
          <a:bodyPr wrap="square">
            <a:spAutoFit/>
          </a:bodyPr>
          <a:lstStyle/>
          <a:p>
            <a:pPr algn="l"/>
            <a:r>
              <a:rPr sz="1200" b="0" i="0">
                <a:solidFill>
                  <a:srgbClr val="FFFFFF"/>
                </a:solidFill>
              </a:rPr>
              <a:t>POST /eval/run   — run one or all suites</a:t>
            </a:r>
          </a:p>
        </p:txBody>
      </p:sp>
      <p:sp>
        <p:nvSpPr>
          <p:cNvPr id="17" name="TextBox 16"/>
          <p:cNvSpPr txBox="1"/>
          <p:nvPr/>
        </p:nvSpPr>
        <p:spPr>
          <a:xfrm>
            <a:off x="6583680" y="3529584"/>
            <a:ext cx="4846320" cy="347472"/>
          </a:xfrm>
          <a:prstGeom prst="rect">
            <a:avLst/>
          </a:prstGeom>
          <a:noFill/>
        </p:spPr>
        <p:txBody>
          <a:bodyPr wrap="square">
            <a:spAutoFit/>
          </a:bodyPr>
          <a:lstStyle/>
          <a:p>
            <a:pPr algn="l"/>
            <a:r>
              <a:rPr sz="1200" b="0" i="0">
                <a:solidFill>
                  <a:srgbClr val="FFFFFF"/>
                </a:solidFill>
              </a:rPr>
              <a:t>GET  /eval/history — trend data per suite</a:t>
            </a:r>
          </a:p>
        </p:txBody>
      </p:sp>
      <p:sp>
        <p:nvSpPr>
          <p:cNvPr id="18" name="TextBox 17"/>
          <p:cNvSpPr txBox="1"/>
          <p:nvPr/>
        </p:nvSpPr>
        <p:spPr>
          <a:xfrm>
            <a:off x="6583680" y="3968496"/>
            <a:ext cx="4846320" cy="347472"/>
          </a:xfrm>
          <a:prstGeom prst="rect">
            <a:avLst/>
          </a:prstGeom>
          <a:noFill/>
        </p:spPr>
        <p:txBody>
          <a:bodyPr wrap="square">
            <a:spAutoFit/>
          </a:bodyPr>
          <a:lstStyle/>
          <a:p>
            <a:pPr algn="l"/>
            <a:r>
              <a:rPr sz="1200" b="0" i="0">
                <a:solidFill>
                  <a:srgbClr val="FFFFFF"/>
                </a:solidFill>
              </a:rPr>
              <a:t>Scores 0–100; track regressions across LLM upgrades</a:t>
            </a:r>
          </a:p>
        </p:txBody>
      </p:sp>
      <p:sp>
        <p:nvSpPr>
          <p:cNvPr id="19" name="Rectangle 18"/>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Multi-Tenant Isolation (Phase 10)</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Per-team knowledge namespacing via a single request header</a:t>
            </a:r>
          </a:p>
        </p:txBody>
      </p:sp>
      <p:sp>
        <p:nvSpPr>
          <p:cNvPr id="5" name="Rectangle 4"/>
          <p:cNvSpPr/>
          <p:nvPr/>
        </p:nvSpPr>
        <p:spPr>
          <a:xfrm>
            <a:off x="365760" y="1600200"/>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673352"/>
            <a:ext cx="3108960" cy="457200"/>
          </a:xfrm>
          <a:prstGeom prst="rect">
            <a:avLst/>
          </a:prstGeom>
          <a:noFill/>
        </p:spPr>
        <p:txBody>
          <a:bodyPr wrap="square">
            <a:spAutoFit/>
          </a:bodyPr>
          <a:lstStyle/>
          <a:p>
            <a:pPr algn="ctr"/>
            <a:r>
              <a:rPr sz="1200" b="1" i="0">
                <a:solidFill>
                  <a:srgbClr val="FFFFFF"/>
                </a:solidFill>
              </a:rPr>
              <a:t>X-SAGE-Tenant header</a:t>
            </a:r>
          </a:p>
        </p:txBody>
      </p:sp>
      <p:sp>
        <p:nvSpPr>
          <p:cNvPr id="7" name="TextBox 6"/>
          <p:cNvSpPr txBox="1"/>
          <p:nvPr/>
        </p:nvSpPr>
        <p:spPr>
          <a:xfrm>
            <a:off x="3749039" y="1691640"/>
            <a:ext cx="8046720" cy="457200"/>
          </a:xfrm>
          <a:prstGeom prst="rect">
            <a:avLst/>
          </a:prstGeom>
          <a:noFill/>
        </p:spPr>
        <p:txBody>
          <a:bodyPr wrap="square">
            <a:spAutoFit/>
          </a:bodyPr>
          <a:lstStyle/>
          <a:p>
            <a:pPr algn="l"/>
            <a:r>
              <a:rPr sz="1300" b="0" i="0">
                <a:solidFill>
                  <a:srgbClr val="0D1B2A"/>
                </a:solidFill>
              </a:rPr>
              <a:t>Add to any request: X-SAGE-Tenant: firmware_team — zero auth change needed</a:t>
            </a:r>
          </a:p>
        </p:txBody>
      </p:sp>
      <p:sp>
        <p:nvSpPr>
          <p:cNvPr id="8" name="Rectangle 7"/>
          <p:cNvSpPr/>
          <p:nvPr/>
        </p:nvSpPr>
        <p:spPr>
          <a:xfrm>
            <a:off x="365760" y="2350008"/>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2423160"/>
            <a:ext cx="3108960" cy="457200"/>
          </a:xfrm>
          <a:prstGeom prst="rect">
            <a:avLst/>
          </a:prstGeom>
          <a:noFill/>
        </p:spPr>
        <p:txBody>
          <a:bodyPr wrap="square">
            <a:spAutoFit/>
          </a:bodyPr>
          <a:lstStyle/>
          <a:p>
            <a:pPr algn="ctr"/>
            <a:r>
              <a:rPr sz="1200" b="1" i="0">
                <a:solidFill>
                  <a:srgbClr val="FFFFFF"/>
                </a:solidFill>
              </a:rPr>
              <a:t>TenantMiddleware</a:t>
            </a:r>
          </a:p>
        </p:txBody>
      </p:sp>
      <p:sp>
        <p:nvSpPr>
          <p:cNvPr id="10" name="TextBox 9"/>
          <p:cNvSpPr txBox="1"/>
          <p:nvPr/>
        </p:nvSpPr>
        <p:spPr>
          <a:xfrm>
            <a:off x="3749039" y="2441448"/>
            <a:ext cx="8046720" cy="457200"/>
          </a:xfrm>
          <a:prstGeom prst="rect">
            <a:avLst/>
          </a:prstGeom>
          <a:noFill/>
        </p:spPr>
        <p:txBody>
          <a:bodyPr wrap="square">
            <a:spAutoFit/>
          </a:bodyPr>
          <a:lstStyle/>
          <a:p>
            <a:pPr algn="l"/>
            <a:r>
              <a:rPr sz="1300" b="0" i="0">
                <a:solidFill>
                  <a:srgbClr val="0D1B2A"/>
                </a:solidFill>
              </a:rPr>
              <a:t>BaseHTTPMiddleware extracts header → sets ContextVar before request reaches agent</a:t>
            </a:r>
          </a:p>
        </p:txBody>
      </p:sp>
      <p:sp>
        <p:nvSpPr>
          <p:cNvPr id="11" name="Rectangle 10"/>
          <p:cNvSpPr/>
          <p:nvPr/>
        </p:nvSpPr>
        <p:spPr>
          <a:xfrm>
            <a:off x="365760" y="3099816"/>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172968"/>
            <a:ext cx="3108960" cy="457200"/>
          </a:xfrm>
          <a:prstGeom prst="rect">
            <a:avLst/>
          </a:prstGeom>
          <a:noFill/>
        </p:spPr>
        <p:txBody>
          <a:bodyPr wrap="square">
            <a:spAutoFit/>
          </a:bodyPr>
          <a:lstStyle/>
          <a:p>
            <a:pPr algn="ctr"/>
            <a:r>
              <a:rPr sz="1200" b="1" i="0">
                <a:solidFill>
                  <a:srgbClr val="FFFFFF"/>
                </a:solidFill>
              </a:rPr>
              <a:t>ContextVar isolation</a:t>
            </a:r>
          </a:p>
        </p:txBody>
      </p:sp>
      <p:sp>
        <p:nvSpPr>
          <p:cNvPr id="13" name="TextBox 12"/>
          <p:cNvSpPr txBox="1"/>
          <p:nvPr/>
        </p:nvSpPr>
        <p:spPr>
          <a:xfrm>
            <a:off x="3749039" y="3191256"/>
            <a:ext cx="8046720" cy="457200"/>
          </a:xfrm>
          <a:prstGeom prst="rect">
            <a:avLst/>
          </a:prstGeom>
          <a:noFill/>
        </p:spPr>
        <p:txBody>
          <a:bodyPr wrap="square">
            <a:spAutoFit/>
          </a:bodyPr>
          <a:lstStyle/>
          <a:p>
            <a:pPr algn="l"/>
            <a:r>
              <a:rPr sz="1300" b="0" i="0">
                <a:solidFill>
                  <a:srgbClr val="0D1B2A"/>
                </a:solidFill>
              </a:rPr>
              <a:t>Python contextvars — each async request has its own tenant context; no cross-talk</a:t>
            </a:r>
          </a:p>
        </p:txBody>
      </p:sp>
      <p:sp>
        <p:nvSpPr>
          <p:cNvPr id="14" name="Rectangle 13"/>
          <p:cNvSpPr/>
          <p:nvPr/>
        </p:nvSpPr>
        <p:spPr>
          <a:xfrm>
            <a:off x="365760" y="3849624"/>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922776"/>
            <a:ext cx="3108960" cy="457200"/>
          </a:xfrm>
          <a:prstGeom prst="rect">
            <a:avLst/>
          </a:prstGeom>
          <a:noFill/>
        </p:spPr>
        <p:txBody>
          <a:bodyPr wrap="square">
            <a:spAutoFit/>
          </a:bodyPr>
          <a:lstStyle/>
          <a:p>
            <a:pPr algn="ctr"/>
            <a:r>
              <a:rPr sz="1200" b="1" i="0">
                <a:solidFill>
                  <a:srgbClr val="FFFFFF"/>
                </a:solidFill>
              </a:rPr>
              <a:t>Collection namespacing</a:t>
            </a:r>
          </a:p>
        </p:txBody>
      </p:sp>
      <p:sp>
        <p:nvSpPr>
          <p:cNvPr id="16" name="TextBox 15"/>
          <p:cNvSpPr txBox="1"/>
          <p:nvPr/>
        </p:nvSpPr>
        <p:spPr>
          <a:xfrm>
            <a:off x="3749039" y="3941064"/>
            <a:ext cx="8046720" cy="457200"/>
          </a:xfrm>
          <a:prstGeom prst="rect">
            <a:avLst/>
          </a:prstGeom>
          <a:noFill/>
        </p:spPr>
        <p:txBody>
          <a:bodyPr wrap="square">
            <a:spAutoFit/>
          </a:bodyPr>
          <a:lstStyle/>
          <a:p>
            <a:pPr algn="l"/>
            <a:r>
              <a:rPr sz="1300" b="0" i="0">
                <a:solidFill>
                  <a:srgbClr val="0D1B2A"/>
                </a:solidFill>
              </a:rPr>
              <a:t>tenant_scoped_collection() → &lt;tenant&gt;_knowledge ChromaDB collection</a:t>
            </a:r>
          </a:p>
        </p:txBody>
      </p:sp>
      <p:sp>
        <p:nvSpPr>
          <p:cNvPr id="17" name="Rectangle 16"/>
          <p:cNvSpPr/>
          <p:nvPr/>
        </p:nvSpPr>
        <p:spPr>
          <a:xfrm>
            <a:off x="365760" y="4599432"/>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672584"/>
            <a:ext cx="3108960" cy="457200"/>
          </a:xfrm>
          <a:prstGeom prst="rect">
            <a:avLst/>
          </a:prstGeom>
          <a:noFill/>
        </p:spPr>
        <p:txBody>
          <a:bodyPr wrap="square">
            <a:spAutoFit/>
          </a:bodyPr>
          <a:lstStyle/>
          <a:p>
            <a:pPr algn="ctr"/>
            <a:r>
              <a:rPr sz="1200" b="1" i="0">
                <a:solidFill>
                  <a:srgbClr val="FFFFFF"/>
                </a:solidFill>
              </a:rPr>
              <a:t>GET /tenant/context</a:t>
            </a:r>
          </a:p>
        </p:txBody>
      </p:sp>
      <p:sp>
        <p:nvSpPr>
          <p:cNvPr id="19" name="TextBox 18"/>
          <p:cNvSpPr txBox="1"/>
          <p:nvPr/>
        </p:nvSpPr>
        <p:spPr>
          <a:xfrm>
            <a:off x="3749039" y="4690872"/>
            <a:ext cx="8046720" cy="457200"/>
          </a:xfrm>
          <a:prstGeom prst="rect">
            <a:avLst/>
          </a:prstGeom>
          <a:noFill/>
        </p:spPr>
        <p:txBody>
          <a:bodyPr wrap="square">
            <a:spAutoFit/>
          </a:bodyPr>
          <a:lstStyle/>
          <a:p>
            <a:pPr algn="l"/>
            <a:r>
              <a:rPr sz="1300" b="0" i="0">
                <a:solidFill>
                  <a:srgbClr val="0D1B2A"/>
                </a:solidFill>
              </a:rPr>
              <a:t>Debug endpoint shows resolved tenant for current request headers</a:t>
            </a:r>
          </a:p>
        </p:txBody>
      </p:sp>
      <p:sp>
        <p:nvSpPr>
          <p:cNvPr id="20" name="Rectangle 19"/>
          <p:cNvSpPr/>
          <p:nvPr/>
        </p:nvSpPr>
        <p:spPr>
          <a:xfrm>
            <a:off x="365760" y="5349240"/>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422392"/>
            <a:ext cx="3108960" cy="457200"/>
          </a:xfrm>
          <a:prstGeom prst="rect">
            <a:avLst/>
          </a:prstGeom>
          <a:noFill/>
        </p:spPr>
        <p:txBody>
          <a:bodyPr wrap="square">
            <a:spAutoFit/>
          </a:bodyPr>
          <a:lstStyle/>
          <a:p>
            <a:pPr algn="ctr"/>
            <a:r>
              <a:rPr sz="1200" b="1" i="0">
                <a:solidFill>
                  <a:srgbClr val="FFFFFF"/>
                </a:solidFill>
              </a:rPr>
              <a:t>Backward compatible</a:t>
            </a:r>
          </a:p>
        </p:txBody>
      </p:sp>
      <p:sp>
        <p:nvSpPr>
          <p:cNvPr id="22" name="TextBox 21"/>
          <p:cNvSpPr txBox="1"/>
          <p:nvPr/>
        </p:nvSpPr>
        <p:spPr>
          <a:xfrm>
            <a:off x="3749039" y="5440680"/>
            <a:ext cx="8046720" cy="457200"/>
          </a:xfrm>
          <a:prstGeom prst="rect">
            <a:avLst/>
          </a:prstGeom>
          <a:noFill/>
        </p:spPr>
        <p:txBody>
          <a:bodyPr wrap="square">
            <a:spAutoFit/>
          </a:bodyPr>
          <a:lstStyle/>
          <a:p>
            <a:pPr algn="l"/>
            <a:r>
              <a:rPr sz="1300" b="0" i="0">
                <a:solidFill>
                  <a:srgbClr val="0D1B2A"/>
                </a:solidFill>
              </a:rPr>
              <a:t>Requests without header use global collection — no breaking change</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Temporal Durable Workflows (Phase 11)</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Production-grade workflow orchestration with automatic retry, state persistence, and LangGraph fallback</a:t>
            </a:r>
          </a:p>
        </p:txBody>
      </p:sp>
      <p:graphicFrame>
        <p:nvGraphicFramePr>
          <p:cNvPr id="5" name="Table 4"/>
          <p:cNvGraphicFramePr>
            <a:graphicFrameLocks noGrp="1"/>
          </p:cNvGraphicFramePr>
          <p:nvPr/>
        </p:nvGraphicFramePr>
        <p:xfrm>
          <a:off x="457200" y="1508760"/>
          <a:ext cx="11247120" cy="3328416"/>
        </p:xfrm>
        <a:graphic>
          <a:graphicData uri="http://schemas.openxmlformats.org/drawingml/2006/table">
            <a:tbl>
              <a:tblPr firstRow="1" bandRow="1">
                <a:tableStyleId>{5C22544A-7EE6-4342-B048-85BDC9FD1C3A}</a:tableStyleId>
              </a:tblPr>
              <a:tblGrid>
                <a:gridCol w="2286000"/>
                <a:gridCol w="4846320"/>
                <a:gridCol w="4114800"/>
              </a:tblGrid>
              <a:tr h="475488">
                <a:tc>
                  <a:txBody>
                    <a:bodyPr/>
                    <a:lstStyle/>
                    <a:p>
                      <a:pPr algn="ctr"/>
                      <a:r>
                        <a:rPr b="1" sz="1300">
                          <a:solidFill>
                            <a:srgbClr val="FFFFFF"/>
                          </a:solidFill>
                        </a:rPr>
                        <a:t>Capability</a:t>
                      </a:r>
                    </a:p>
                  </a:txBody>
                  <a:tcPr>
                    <a:solidFill>
                      <a:srgbClr val="0078D4"/>
                    </a:solidFill>
                  </a:tcPr>
                </a:tc>
                <a:tc>
                  <a:txBody>
                    <a:bodyPr/>
                    <a:lstStyle/>
                    <a:p>
                      <a:pPr algn="ctr"/>
                      <a:r>
                        <a:rPr b="1" sz="1300">
                          <a:solidFill>
                            <a:srgbClr val="FFFFFF"/>
                          </a:solidFill>
                        </a:rPr>
                        <a:t>Implementation</a:t>
                      </a:r>
                    </a:p>
                  </a:txBody>
                  <a:tcPr>
                    <a:solidFill>
                      <a:srgbClr val="0078D4"/>
                    </a:solidFill>
                  </a:tcPr>
                </a:tc>
                <a:tc>
                  <a:txBody>
                    <a:bodyPr/>
                    <a:lstStyle/>
                    <a:p>
                      <a:pPr algn="ctr"/>
                      <a:r>
                        <a:rPr b="1" sz="1300">
                          <a:solidFill>
                            <a:srgbClr val="FFFFFF"/>
                          </a:solidFill>
                        </a:rPr>
                        <a:t>Benefit</a:t>
                      </a:r>
                    </a:p>
                  </a:txBody>
                  <a:tcPr>
                    <a:solidFill>
                      <a:srgbClr val="0078D4"/>
                    </a:solidFill>
                  </a:tcPr>
                </a:tc>
              </a:tr>
              <a:tr h="475488">
                <a:tc>
                  <a:txBody>
                    <a:bodyPr/>
                    <a:lstStyle/>
                    <a:p>
                      <a:pPr algn="l"/>
                      <a:r>
                        <a:rPr sz="1200">
                          <a:solidFill>
                            <a:srgbClr val="0D1B2A"/>
                          </a:solidFill>
                        </a:rPr>
                        <a:t>Durable execution</a:t>
                      </a:r>
                    </a:p>
                  </a:txBody>
                  <a:tcPr>
                    <a:solidFill>
                      <a:srgbClr val="F0F4F8"/>
                    </a:solidFill>
                  </a:tcPr>
                </a:tc>
                <a:tc>
                  <a:txBody>
                    <a:bodyPr/>
                    <a:lstStyle/>
                    <a:p>
                      <a:pPr algn="l"/>
                      <a:r>
                        <a:rPr sz="1200">
                          <a:solidFill>
                            <a:srgbClr val="0D1B2A"/>
                          </a:solidFill>
                        </a:rPr>
                        <a:t>Temporal SDK — workflow survives server restart</a:t>
                      </a:r>
                    </a:p>
                  </a:txBody>
                  <a:tcPr>
                    <a:solidFill>
                      <a:srgbClr val="F0F4F8"/>
                    </a:solidFill>
                  </a:tcPr>
                </a:tc>
                <a:tc>
                  <a:txBody>
                    <a:bodyPr/>
                    <a:lstStyle/>
                    <a:p>
                      <a:pPr algn="l"/>
                      <a:r>
                        <a:rPr sz="1200">
                          <a:solidFill>
                            <a:srgbClr val="0D1B2A"/>
                          </a:solidFill>
                        </a:rPr>
                        <a:t>Zero lost work</a:t>
                      </a:r>
                    </a:p>
                  </a:txBody>
                  <a:tcPr>
                    <a:solidFill>
                      <a:srgbClr val="F0F4F8"/>
                    </a:solidFill>
                  </a:tcPr>
                </a:tc>
              </a:tr>
              <a:tr h="475488">
                <a:tc>
                  <a:txBody>
                    <a:bodyPr/>
                    <a:lstStyle/>
                    <a:p>
                      <a:pPr algn="l"/>
                      <a:r>
                        <a:rPr sz="1200">
                          <a:solidFill>
                            <a:srgbClr val="0D1B2A"/>
                          </a:solidFill>
                        </a:rPr>
                        <a:t>Automatic retry</a:t>
                      </a:r>
                    </a:p>
                  </a:txBody>
                  <a:tcPr>
                    <a:solidFill>
                      <a:srgbClr val="FFFFFF"/>
                    </a:solidFill>
                  </a:tcPr>
                </a:tc>
                <a:tc>
                  <a:txBody>
                    <a:bodyPr/>
                    <a:lstStyle/>
                    <a:p>
                      <a:pPr algn="l"/>
                      <a:r>
                        <a:rPr sz="1200">
                          <a:solidFill>
                            <a:srgbClr val="0D1B2A"/>
                          </a:solidFill>
                        </a:rPr>
                        <a:t>Temporal retry policies per activity</a:t>
                      </a:r>
                    </a:p>
                  </a:txBody>
                  <a:tcPr>
                    <a:solidFill>
                      <a:srgbClr val="FFFFFF"/>
                    </a:solidFill>
                  </a:tcPr>
                </a:tc>
                <a:tc>
                  <a:txBody>
                    <a:bodyPr/>
                    <a:lstStyle/>
                    <a:p>
                      <a:pPr algn="l"/>
                      <a:r>
                        <a:rPr sz="1200">
                          <a:solidFill>
                            <a:srgbClr val="0D1B2A"/>
                          </a:solidFill>
                        </a:rPr>
                        <a:t>Self-healing pipelines</a:t>
                      </a:r>
                    </a:p>
                  </a:txBody>
                  <a:tcPr>
                    <a:solidFill>
                      <a:srgbClr val="FFFFFF"/>
                    </a:solidFill>
                  </a:tcPr>
                </a:tc>
              </a:tr>
              <a:tr h="475488">
                <a:tc>
                  <a:txBody>
                    <a:bodyPr/>
                    <a:lstStyle/>
                    <a:p>
                      <a:pPr algn="l"/>
                      <a:r>
                        <a:rPr sz="1200">
                          <a:solidFill>
                            <a:srgbClr val="0D1B2A"/>
                          </a:solidFill>
                        </a:rPr>
                        <a:t>Human pause</a:t>
                      </a:r>
                    </a:p>
                  </a:txBody>
                  <a:tcPr>
                    <a:solidFill>
                      <a:srgbClr val="F0F4F8"/>
                    </a:solidFill>
                  </a:tcPr>
                </a:tc>
                <a:tc>
                  <a:txBody>
                    <a:bodyPr/>
                    <a:lstStyle/>
                    <a:p>
                      <a:pPr algn="l"/>
                      <a:r>
                        <a:rPr sz="1200">
                          <a:solidFill>
                            <a:srgbClr val="0D1B2A"/>
                          </a:solidFill>
                        </a:rPr>
                        <a:t>LangGraph interrupt_before — pause at any node for review</a:t>
                      </a:r>
                    </a:p>
                  </a:txBody>
                  <a:tcPr>
                    <a:solidFill>
                      <a:srgbClr val="F0F4F8"/>
                    </a:solidFill>
                  </a:tcPr>
                </a:tc>
                <a:tc>
                  <a:txBody>
                    <a:bodyPr/>
                    <a:lstStyle/>
                    <a:p>
                      <a:pPr algn="l"/>
                      <a:r>
                        <a:rPr sz="1200">
                          <a:solidFill>
                            <a:srgbClr val="0D1B2A"/>
                          </a:solidFill>
                        </a:rPr>
                        <a:t>Compliance gate in workflow</a:t>
                      </a:r>
                    </a:p>
                  </a:txBody>
                  <a:tcPr>
                    <a:solidFill>
                      <a:srgbClr val="F0F4F8"/>
                    </a:solidFill>
                  </a:tcPr>
                </a:tc>
              </a:tr>
              <a:tr h="475488">
                <a:tc>
                  <a:txBody>
                    <a:bodyPr/>
                    <a:lstStyle/>
                    <a:p>
                      <a:pPr algn="l"/>
                      <a:r>
                        <a:rPr sz="1200">
                          <a:solidFill>
                            <a:srgbClr val="0D1B2A"/>
                          </a:solidFill>
                        </a:rPr>
                        <a:t>Resume after approval</a:t>
                      </a:r>
                    </a:p>
                  </a:txBody>
                  <a:tcPr>
                    <a:solidFill>
                      <a:srgbClr val="FFFFFF"/>
                    </a:solidFill>
                  </a:tcPr>
                </a:tc>
                <a:tc>
                  <a:txBody>
                    <a:bodyPr/>
                    <a:lstStyle/>
                    <a:p>
                      <a:pPr algn="l"/>
                      <a:r>
                        <a:rPr sz="1200">
                          <a:solidFill>
                            <a:srgbClr val="0D1B2A"/>
                          </a:solidFill>
                        </a:rPr>
                        <a:t>POST /workflow/resume · POST /temporal/workflow/resume</a:t>
                      </a:r>
                    </a:p>
                  </a:txBody>
                  <a:tcPr>
                    <a:solidFill>
                      <a:srgbClr val="FFFFFF"/>
                    </a:solidFill>
                  </a:tcPr>
                </a:tc>
                <a:tc>
                  <a:txBody>
                    <a:bodyPr/>
                    <a:lstStyle/>
                    <a:p>
                      <a:pPr algn="l"/>
                      <a:r>
                        <a:rPr sz="1200">
                          <a:solidFill>
                            <a:srgbClr val="0D1B2A"/>
                          </a:solidFill>
                        </a:rPr>
                        <a:t>Async human-in-the-loop</a:t>
                      </a:r>
                    </a:p>
                  </a:txBody>
                  <a:tcPr>
                    <a:solidFill>
                      <a:srgbClr val="FFFFFF"/>
                    </a:solidFill>
                  </a:tcPr>
                </a:tc>
              </a:tr>
              <a:tr h="475488">
                <a:tc>
                  <a:txBody>
                    <a:bodyPr/>
                    <a:lstStyle/>
                    <a:p>
                      <a:pPr algn="l"/>
                      <a:r>
                        <a:rPr sz="1200">
                          <a:solidFill>
                            <a:srgbClr val="0D1B2A"/>
                          </a:solidFill>
                        </a:rPr>
                        <a:t>Graceful fallback</a:t>
                      </a:r>
                    </a:p>
                  </a:txBody>
                  <a:tcPr>
                    <a:solidFill>
                      <a:srgbClr val="F0F4F8"/>
                    </a:solidFill>
                  </a:tcPr>
                </a:tc>
                <a:tc>
                  <a:txBody>
                    <a:bodyPr/>
                    <a:lstStyle/>
                    <a:p>
                      <a:pPr algn="l"/>
                      <a:r>
                        <a:rPr sz="1200">
                          <a:solidFill>
                            <a:srgbClr val="0D1B2A"/>
                          </a:solidFill>
                        </a:rPr>
                        <a:t>Temporal unavailable → LangGraph runner transparently</a:t>
                      </a:r>
                    </a:p>
                  </a:txBody>
                  <a:tcPr>
                    <a:solidFill>
                      <a:srgbClr val="F0F4F8"/>
                    </a:solidFill>
                  </a:tcPr>
                </a:tc>
                <a:tc>
                  <a:txBody>
                    <a:bodyPr/>
                    <a:lstStyle/>
                    <a:p>
                      <a:pPr algn="l"/>
                      <a:r>
                        <a:rPr sz="1200">
                          <a:solidFill>
                            <a:srgbClr val="0D1B2A"/>
                          </a:solidFill>
                        </a:rPr>
                        <a:t>No hard dependency on server</a:t>
                      </a:r>
                    </a:p>
                  </a:txBody>
                  <a:tcPr>
                    <a:solidFill>
                      <a:srgbClr val="F0F4F8"/>
                    </a:solidFill>
                  </a:tcPr>
                </a:tc>
              </a:tr>
              <a:tr h="475488">
                <a:tc>
                  <a:txBody>
                    <a:bodyPr/>
                    <a:lstStyle/>
                    <a:p>
                      <a:pPr algn="l"/>
                      <a:r>
                        <a:rPr sz="1200">
                          <a:solidFill>
                            <a:srgbClr val="0D1B2A"/>
                          </a:solidFill>
                        </a:rPr>
                        <a:t>Status tracking</a:t>
                      </a:r>
                    </a:p>
                  </a:txBody>
                  <a:tcPr>
                    <a:solidFill>
                      <a:srgbClr val="FFFFFF"/>
                    </a:solidFill>
                  </a:tcPr>
                </a:tc>
                <a:tc>
                  <a:txBody>
                    <a:bodyPr/>
                    <a:lstStyle/>
                    <a:p>
                      <a:pPr algn="l"/>
                      <a:r>
                        <a:rPr sz="1200">
                          <a:solidFill>
                            <a:srgbClr val="0D1B2A"/>
                          </a:solidFill>
                        </a:rPr>
                        <a:t>GET /workflow/status/{id} · GET /temporal/workflow/list</a:t>
                      </a:r>
                    </a:p>
                  </a:txBody>
                  <a:tcPr>
                    <a:solidFill>
                      <a:srgbClr val="FFFFFF"/>
                    </a:solidFill>
                  </a:tcPr>
                </a:tc>
                <a:tc>
                  <a:txBody>
                    <a:bodyPr/>
                    <a:lstStyle/>
                    <a:p>
                      <a:pPr algn="l"/>
                      <a:r>
                        <a:rPr sz="1200">
                          <a:solidFill>
                            <a:srgbClr val="0D1B2A"/>
                          </a:solidFill>
                        </a:rPr>
                        <a:t>Full observability</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Open Source (Apache 2.0) | github.com/Sumanharapanahalli/sage | March 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none">
            <a:spAutoFit/>
          </a:bodyPr>
          <a:lstStyle/>
          <a:p>
            <a:r>
              <a:rPr sz="3000" b="1">
                <a:solidFill>
                  <a:srgbClr val="065F46"/>
                </a:solidFill>
                <a:latin typeface="Calibri"/>
              </a:rPr>
              <a:t>Build Orchestrator — 0→1→N Pipeline</a:t>
            </a:r>
          </a:p>
        </p:txBody>
      </p:sp>
      <p:sp>
        <p:nvSpPr>
          <p:cNvPr id="4" name="TextBox 3"/>
          <p:cNvSpPr txBox="1"/>
          <p:nvPr/>
        </p:nvSpPr>
        <p:spPr>
          <a:xfrm>
            <a:off x="411480" y="804672"/>
            <a:ext cx="11338560" cy="438912"/>
          </a:xfrm>
          <a:prstGeom prst="rect">
            <a:avLst/>
          </a:prstGeom>
          <a:noFill/>
        </p:spPr>
        <p:txBody>
          <a:bodyPr wrap="none">
            <a:spAutoFit/>
          </a:bodyPr>
          <a:lstStyle/>
          <a:p>
            <a:r>
              <a:rPr sz="1600" b="0">
                <a:solidFill>
                  <a:srgbClr val="4B5563"/>
                </a:solidFill>
                <a:latin typeface="Calibri"/>
              </a:rPr>
              <a:t>From plain-English description to working product</a:t>
            </a:r>
          </a:p>
        </p:txBody>
      </p:sp>
      <p:sp>
        <p:nvSpPr>
          <p:cNvPr id="5" name="Rectangle 4"/>
          <p:cNvSpPr/>
          <p:nvPr/>
        </p:nvSpPr>
        <p:spPr>
          <a:xfrm>
            <a:off x="457200" y="1508760"/>
            <a:ext cx="2176272" cy="2743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1993392" cy="274320"/>
          </a:xfrm>
          <a:prstGeom prst="rect">
            <a:avLst/>
          </a:prstGeom>
          <a:noFill/>
        </p:spPr>
        <p:txBody>
          <a:bodyPr wrap="none">
            <a:spAutoFit/>
          </a:bodyPr>
          <a:lstStyle/>
          <a:p>
            <a:r>
              <a:rPr sz="1500" b="1">
                <a:solidFill>
                  <a:srgbClr val="059669"/>
                </a:solidFill>
                <a:latin typeface="Calibri"/>
              </a:rPr>
              <a:t>1  DECOMPOSE</a:t>
            </a:r>
          </a:p>
        </p:txBody>
      </p:sp>
      <p:sp>
        <p:nvSpPr>
          <p:cNvPr id="7" name="TextBox 6"/>
          <p:cNvSpPr txBox="1"/>
          <p:nvPr/>
        </p:nvSpPr>
        <p:spPr>
          <a:xfrm>
            <a:off x="548640" y="1828800"/>
            <a:ext cx="1993392" cy="2377440"/>
          </a:xfrm>
          <a:prstGeom prst="rect">
            <a:avLst/>
          </a:prstGeom>
          <a:noFill/>
        </p:spPr>
        <p:txBody>
          <a:bodyPr wrap="square">
            <a:spAutoFit/>
          </a:bodyPr>
          <a:lstStyle/>
          <a:p>
            <a:r>
              <a:rPr sz="1300" b="0">
                <a:solidFill>
                  <a:srgbClr val="374151"/>
                </a:solidFill>
                <a:latin typeface="Calibri"/>
              </a:rPr>
              <a:t>PlannerAgent breaks idea into parallel tasks (9 types: BACKEND, FRONTEND, TESTS, etc.)</a:t>
            </a:r>
          </a:p>
        </p:txBody>
      </p:sp>
      <p:sp>
        <p:nvSpPr>
          <p:cNvPr id="8" name="Rectangle 7"/>
          <p:cNvSpPr/>
          <p:nvPr/>
        </p:nvSpPr>
        <p:spPr>
          <a:xfrm>
            <a:off x="2724912" y="1508760"/>
            <a:ext cx="2176272" cy="2743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16352" y="1600200"/>
            <a:ext cx="1993392" cy="274320"/>
          </a:xfrm>
          <a:prstGeom prst="rect">
            <a:avLst/>
          </a:prstGeom>
          <a:noFill/>
        </p:spPr>
        <p:txBody>
          <a:bodyPr wrap="none">
            <a:spAutoFit/>
          </a:bodyPr>
          <a:lstStyle/>
          <a:p>
            <a:r>
              <a:rPr sz="1500" b="1">
                <a:solidFill>
                  <a:srgbClr val="059669"/>
                </a:solidFill>
                <a:latin typeface="Calibri"/>
              </a:rPr>
              <a:t>2  CRITIC REVIEW</a:t>
            </a:r>
          </a:p>
        </p:txBody>
      </p:sp>
      <p:sp>
        <p:nvSpPr>
          <p:cNvPr id="10" name="TextBox 9"/>
          <p:cNvSpPr txBox="1"/>
          <p:nvPr/>
        </p:nvSpPr>
        <p:spPr>
          <a:xfrm>
            <a:off x="2816352" y="1828800"/>
            <a:ext cx="1993392" cy="2377440"/>
          </a:xfrm>
          <a:prstGeom prst="rect">
            <a:avLst/>
          </a:prstGeom>
          <a:noFill/>
        </p:spPr>
        <p:txBody>
          <a:bodyPr wrap="square">
            <a:spAutoFit/>
          </a:bodyPr>
          <a:lstStyle/>
          <a:p>
            <a:r>
              <a:rPr sz="1300" b="0">
                <a:solidFill>
                  <a:srgbClr val="374151"/>
                </a:solidFill>
                <a:latin typeface="Calibri"/>
              </a:rPr>
              <a:t>Actor-critic loop: Builder↔Critic iterates until score ≥ threshold (default 70/100)</a:t>
            </a:r>
          </a:p>
        </p:txBody>
      </p:sp>
      <p:sp>
        <p:nvSpPr>
          <p:cNvPr id="11" name="Rectangle 10"/>
          <p:cNvSpPr/>
          <p:nvPr/>
        </p:nvSpPr>
        <p:spPr>
          <a:xfrm>
            <a:off x="4992624" y="1508760"/>
            <a:ext cx="2176272" cy="2743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84064" y="1600200"/>
            <a:ext cx="1993392" cy="274320"/>
          </a:xfrm>
          <a:prstGeom prst="rect">
            <a:avLst/>
          </a:prstGeom>
          <a:noFill/>
        </p:spPr>
        <p:txBody>
          <a:bodyPr wrap="none">
            <a:spAutoFit/>
          </a:bodyPr>
          <a:lstStyle/>
          <a:p>
            <a:r>
              <a:rPr sz="1500" b="1">
                <a:solidFill>
                  <a:srgbClr val="059669"/>
                </a:solidFill>
                <a:latin typeface="Calibri"/>
              </a:rPr>
              <a:t>3  EXECUTE</a:t>
            </a:r>
          </a:p>
        </p:txBody>
      </p:sp>
      <p:sp>
        <p:nvSpPr>
          <p:cNvPr id="13" name="TextBox 12"/>
          <p:cNvSpPr txBox="1"/>
          <p:nvPr/>
        </p:nvSpPr>
        <p:spPr>
          <a:xfrm>
            <a:off x="5084064" y="1828800"/>
            <a:ext cx="1993392" cy="2377440"/>
          </a:xfrm>
          <a:prstGeom prst="rect">
            <a:avLst/>
          </a:prstGeom>
          <a:noFill/>
        </p:spPr>
        <p:txBody>
          <a:bodyPr wrap="square">
            <a:spAutoFit/>
          </a:bodyPr>
          <a:lstStyle/>
          <a:p>
            <a:r>
              <a:rPr sz="1300" b="0">
                <a:solidFill>
                  <a:srgbClr val="374151"/>
                </a:solidFill>
                <a:latin typeface="Calibri"/>
              </a:rPr>
              <a:t>Wave-based parallel execution via ReAct pattern (Thought→Action→Observation→Status)</a:t>
            </a:r>
          </a:p>
        </p:txBody>
      </p:sp>
      <p:sp>
        <p:nvSpPr>
          <p:cNvPr id="14" name="Rectangle 13"/>
          <p:cNvSpPr/>
          <p:nvPr/>
        </p:nvSpPr>
        <p:spPr>
          <a:xfrm>
            <a:off x="7260336" y="1508760"/>
            <a:ext cx="2176272" cy="2743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51776" y="1600200"/>
            <a:ext cx="1993392" cy="274320"/>
          </a:xfrm>
          <a:prstGeom prst="rect">
            <a:avLst/>
          </a:prstGeom>
          <a:noFill/>
        </p:spPr>
        <p:txBody>
          <a:bodyPr wrap="none">
            <a:spAutoFit/>
          </a:bodyPr>
          <a:lstStyle/>
          <a:p>
            <a:r>
              <a:rPr sz="1500" b="1">
                <a:solidFill>
                  <a:srgbClr val="059669"/>
                </a:solidFill>
                <a:latin typeface="Calibri"/>
              </a:rPr>
              <a:t>4  INTEGRATE</a:t>
            </a:r>
          </a:p>
        </p:txBody>
      </p:sp>
      <p:sp>
        <p:nvSpPr>
          <p:cNvPr id="16" name="TextBox 15"/>
          <p:cNvSpPr txBox="1"/>
          <p:nvPr/>
        </p:nvSpPr>
        <p:spPr>
          <a:xfrm>
            <a:off x="7351776" y="1828800"/>
            <a:ext cx="1993392" cy="2377440"/>
          </a:xfrm>
          <a:prstGeom prst="rect">
            <a:avLst/>
          </a:prstGeom>
          <a:noFill/>
        </p:spPr>
        <p:txBody>
          <a:bodyPr wrap="square">
            <a:spAutoFit/>
          </a:bodyPr>
          <a:lstStyle/>
          <a:p>
            <a:r>
              <a:rPr sz="1300" b="0">
                <a:solidFill>
                  <a:srgbClr val="374151"/>
                </a:solidFill>
                <a:latin typeface="Calibri"/>
              </a:rPr>
              <a:t>Merge results, run tests, generate diff — critic reviews integration</a:t>
            </a:r>
          </a:p>
        </p:txBody>
      </p:sp>
      <p:sp>
        <p:nvSpPr>
          <p:cNvPr id="17" name="Rectangle 16"/>
          <p:cNvSpPr/>
          <p:nvPr/>
        </p:nvSpPr>
        <p:spPr>
          <a:xfrm>
            <a:off x="9528048" y="1508760"/>
            <a:ext cx="2176272" cy="2743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19488" y="1600200"/>
            <a:ext cx="1993392" cy="274320"/>
          </a:xfrm>
          <a:prstGeom prst="rect">
            <a:avLst/>
          </a:prstGeom>
          <a:noFill/>
        </p:spPr>
        <p:txBody>
          <a:bodyPr wrap="none">
            <a:spAutoFit/>
          </a:bodyPr>
          <a:lstStyle/>
          <a:p>
            <a:r>
              <a:rPr sz="1500" b="1">
                <a:solidFill>
                  <a:srgbClr val="059669"/>
                </a:solidFill>
                <a:latin typeface="Calibri"/>
              </a:rPr>
              <a:t>5  APPROVE</a:t>
            </a:r>
          </a:p>
        </p:txBody>
      </p:sp>
      <p:sp>
        <p:nvSpPr>
          <p:cNvPr id="19" name="TextBox 18"/>
          <p:cNvSpPr txBox="1"/>
          <p:nvPr/>
        </p:nvSpPr>
        <p:spPr>
          <a:xfrm>
            <a:off x="9619488" y="1828800"/>
            <a:ext cx="1993392" cy="2377440"/>
          </a:xfrm>
          <a:prstGeom prst="rect">
            <a:avLst/>
          </a:prstGeom>
          <a:noFill/>
        </p:spPr>
        <p:txBody>
          <a:bodyPr wrap="square">
            <a:spAutoFit/>
          </a:bodyPr>
          <a:lstStyle/>
          <a:p>
            <a:r>
              <a:rPr sz="1300" b="0">
                <a:solidFill>
                  <a:srgbClr val="374151"/>
                </a:solidFill>
                <a:latin typeface="Calibri"/>
              </a:rPr>
              <a:t>Human sees artifact + critic report + revision history → approve or reject</a:t>
            </a:r>
          </a:p>
        </p:txBody>
      </p:sp>
      <p:sp>
        <p:nvSpPr>
          <p:cNvPr id="20" name="TextBox 19"/>
          <p:cNvSpPr txBox="1"/>
          <p:nvPr/>
        </p:nvSpPr>
        <p:spPr>
          <a:xfrm>
            <a:off x="457200" y="4480560"/>
            <a:ext cx="11247120" cy="274320"/>
          </a:xfrm>
          <a:prstGeom prst="rect">
            <a:avLst/>
          </a:prstGeom>
          <a:noFill/>
        </p:spPr>
        <p:txBody>
          <a:bodyPr wrap="square">
            <a:spAutoFit/>
          </a:bodyPr>
          <a:lstStyle/>
          <a:p>
            <a:r>
              <a:rPr sz="1100" b="0">
                <a:solidFill>
                  <a:srgbClr val="6B7280"/>
                </a:solidFill>
                <a:latin typeface="Calibri"/>
              </a:rPr>
              <a:t>3-tier degradation: External Open SWE → LangGraph workflow → ReAct LLM fallback</a:t>
            </a:r>
          </a:p>
        </p:txBody>
      </p:sp>
      <p:sp>
        <p:nvSpPr>
          <p:cNvPr id="21" name="Rectangle 20"/>
          <p:cNvSpPr/>
          <p:nvPr/>
        </p:nvSpPr>
        <p:spPr>
          <a:xfrm>
            <a:off x="0" y="6492240"/>
            <a:ext cx="12188952" cy="36576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none">
            <a:spAutoFit/>
          </a:bodyPr>
          <a:lstStyle/>
          <a:p>
            <a:r>
              <a:rPr sz="900" b="0">
                <a:solidFill>
                  <a:srgbClr val="6B7280"/>
                </a:solidFill>
                <a:latin typeface="Calibri"/>
              </a:rPr>
              <a:t>SAGE[ai] — Open Source (Apache 2.0) | github.com/Sumanharapanahalli/sage | March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none">
            <a:spAutoFit/>
          </a:bodyPr>
          <a:lstStyle/>
          <a:p>
            <a:r>
              <a:rPr sz="3000" b="1">
                <a:solidFill>
                  <a:srgbClr val="065F46"/>
                </a:solidFill>
                <a:latin typeface="Calibri"/>
              </a:rPr>
              <a:t>Agentic Patterns for Built Products</a:t>
            </a:r>
          </a:p>
        </p:txBody>
      </p:sp>
      <p:sp>
        <p:nvSpPr>
          <p:cNvPr id="4" name="TextBox 3"/>
          <p:cNvSpPr txBox="1"/>
          <p:nvPr/>
        </p:nvSpPr>
        <p:spPr>
          <a:xfrm>
            <a:off x="411480" y="804672"/>
            <a:ext cx="11338560" cy="438912"/>
          </a:xfrm>
          <a:prstGeom prst="rect">
            <a:avLst/>
          </a:prstGeom>
          <a:noFill/>
        </p:spPr>
        <p:txBody>
          <a:bodyPr wrap="none">
            <a:spAutoFit/>
          </a:bodyPr>
          <a:lstStyle/>
          <a:p>
            <a:r>
              <a:rPr sz="1600" b="0">
                <a:solidFill>
                  <a:srgbClr val="4B5563"/>
                </a:solidFill>
                <a:latin typeface="Calibri"/>
              </a:rPr>
              <a:t>Products built by SAGE can themselves use any agentic architecture</a:t>
            </a:r>
          </a:p>
        </p:txBody>
      </p:sp>
      <p:sp>
        <p:nvSpPr>
          <p:cNvPr id="5" name="Rectangle 4"/>
          <p:cNvSpPr/>
          <p:nvPr/>
        </p:nvSpPr>
        <p:spPr>
          <a:xfrm>
            <a:off x="457200" y="1508760"/>
            <a:ext cx="5532120" cy="457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618488"/>
            <a:ext cx="5257800" cy="320040"/>
          </a:xfrm>
          <a:prstGeom prst="rect">
            <a:avLst/>
          </a:prstGeom>
          <a:noFill/>
        </p:spPr>
        <p:txBody>
          <a:bodyPr wrap="none">
            <a:spAutoFit/>
          </a:bodyPr>
          <a:lstStyle/>
          <a:p>
            <a:r>
              <a:rPr sz="1300" b="1">
                <a:solidFill>
                  <a:srgbClr val="059669"/>
                </a:solidFill>
                <a:latin typeface="Calibri"/>
              </a:rPr>
              <a:t>1.  </a:t>
            </a:r>
            <a:r>
              <a:rPr sz="1300" b="0">
                <a:solidFill>
                  <a:srgbClr val="374151"/>
                </a:solidFill>
                <a:latin typeface="Calibri"/>
              </a:rPr>
              <a:t>Single-Agent</a:t>
            </a:r>
          </a:p>
        </p:txBody>
      </p:sp>
      <p:sp>
        <p:nvSpPr>
          <p:cNvPr id="7" name="Rectangle 6"/>
          <p:cNvSpPr/>
          <p:nvPr/>
        </p:nvSpPr>
        <p:spPr>
          <a:xfrm>
            <a:off x="457200" y="2057400"/>
            <a:ext cx="5532120" cy="457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67128"/>
            <a:ext cx="5257800" cy="320040"/>
          </a:xfrm>
          <a:prstGeom prst="rect">
            <a:avLst/>
          </a:prstGeom>
          <a:noFill/>
        </p:spPr>
        <p:txBody>
          <a:bodyPr wrap="none">
            <a:spAutoFit/>
          </a:bodyPr>
          <a:lstStyle/>
          <a:p>
            <a:r>
              <a:rPr sz="1300" b="1">
                <a:solidFill>
                  <a:srgbClr val="059669"/>
                </a:solidFill>
                <a:latin typeface="Calibri"/>
              </a:rPr>
              <a:t>2.  </a:t>
            </a:r>
            <a:r>
              <a:rPr sz="1300" b="0">
                <a:solidFill>
                  <a:srgbClr val="374151"/>
                </a:solidFill>
                <a:latin typeface="Calibri"/>
              </a:rPr>
              <a:t>Multi-Agent Sequential</a:t>
            </a:r>
          </a:p>
        </p:txBody>
      </p:sp>
      <p:sp>
        <p:nvSpPr>
          <p:cNvPr id="9" name="Rectangle 8"/>
          <p:cNvSpPr/>
          <p:nvPr/>
        </p:nvSpPr>
        <p:spPr>
          <a:xfrm>
            <a:off x="457200" y="2606040"/>
            <a:ext cx="5532120" cy="457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715768"/>
            <a:ext cx="5257800" cy="320040"/>
          </a:xfrm>
          <a:prstGeom prst="rect">
            <a:avLst/>
          </a:prstGeom>
          <a:noFill/>
        </p:spPr>
        <p:txBody>
          <a:bodyPr wrap="none">
            <a:spAutoFit/>
          </a:bodyPr>
          <a:lstStyle/>
          <a:p>
            <a:r>
              <a:rPr sz="1300" b="1">
                <a:solidFill>
                  <a:srgbClr val="059669"/>
                </a:solidFill>
                <a:latin typeface="Calibri"/>
              </a:rPr>
              <a:t>3.  </a:t>
            </a:r>
            <a:r>
              <a:rPr sz="1300" b="0">
                <a:solidFill>
                  <a:srgbClr val="374151"/>
                </a:solidFill>
                <a:latin typeface="Calibri"/>
              </a:rPr>
              <a:t>Multi-Agent Parallel</a:t>
            </a:r>
          </a:p>
        </p:txBody>
      </p:sp>
      <p:sp>
        <p:nvSpPr>
          <p:cNvPr id="11" name="Rectangle 10"/>
          <p:cNvSpPr/>
          <p:nvPr/>
        </p:nvSpPr>
        <p:spPr>
          <a:xfrm>
            <a:off x="457200" y="3154680"/>
            <a:ext cx="5532120" cy="457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264408"/>
            <a:ext cx="5257800" cy="320040"/>
          </a:xfrm>
          <a:prstGeom prst="rect">
            <a:avLst/>
          </a:prstGeom>
          <a:noFill/>
        </p:spPr>
        <p:txBody>
          <a:bodyPr wrap="none">
            <a:spAutoFit/>
          </a:bodyPr>
          <a:lstStyle/>
          <a:p>
            <a:r>
              <a:rPr sz="1300" b="1">
                <a:solidFill>
                  <a:srgbClr val="059669"/>
                </a:solidFill>
                <a:latin typeface="Calibri"/>
              </a:rPr>
              <a:t>4.  </a:t>
            </a:r>
            <a:r>
              <a:rPr sz="1300" b="0">
                <a:solidFill>
                  <a:srgbClr val="374151"/>
                </a:solidFill>
                <a:latin typeface="Calibri"/>
              </a:rPr>
              <a:t>Review &amp; Critique</a:t>
            </a:r>
          </a:p>
        </p:txBody>
      </p:sp>
      <p:sp>
        <p:nvSpPr>
          <p:cNvPr id="13" name="Rectangle 12"/>
          <p:cNvSpPr/>
          <p:nvPr/>
        </p:nvSpPr>
        <p:spPr>
          <a:xfrm>
            <a:off x="457200" y="3703320"/>
            <a:ext cx="5532120" cy="457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813048"/>
            <a:ext cx="5257800" cy="320040"/>
          </a:xfrm>
          <a:prstGeom prst="rect">
            <a:avLst/>
          </a:prstGeom>
          <a:noFill/>
        </p:spPr>
        <p:txBody>
          <a:bodyPr wrap="none">
            <a:spAutoFit/>
          </a:bodyPr>
          <a:lstStyle/>
          <a:p>
            <a:r>
              <a:rPr sz="1300" b="1">
                <a:solidFill>
                  <a:srgbClr val="059669"/>
                </a:solidFill>
                <a:latin typeface="Calibri"/>
              </a:rPr>
              <a:t>5.  </a:t>
            </a:r>
            <a:r>
              <a:rPr sz="1300" b="0">
                <a:solidFill>
                  <a:srgbClr val="374151"/>
                </a:solidFill>
                <a:latin typeface="Calibri"/>
              </a:rPr>
              <a:t>Multi-Agent Coordinator</a:t>
            </a:r>
          </a:p>
        </p:txBody>
      </p:sp>
      <p:sp>
        <p:nvSpPr>
          <p:cNvPr id="15" name="Rectangle 14"/>
          <p:cNvSpPr/>
          <p:nvPr/>
        </p:nvSpPr>
        <p:spPr>
          <a:xfrm>
            <a:off x="6172200" y="1508760"/>
            <a:ext cx="5532120" cy="457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18488"/>
            <a:ext cx="5257800" cy="320040"/>
          </a:xfrm>
          <a:prstGeom prst="rect">
            <a:avLst/>
          </a:prstGeom>
          <a:noFill/>
        </p:spPr>
        <p:txBody>
          <a:bodyPr wrap="none">
            <a:spAutoFit/>
          </a:bodyPr>
          <a:lstStyle/>
          <a:p>
            <a:r>
              <a:rPr sz="1300" b="1">
                <a:solidFill>
                  <a:srgbClr val="059669"/>
                </a:solidFill>
                <a:latin typeface="Calibri"/>
              </a:rPr>
              <a:t>6.  </a:t>
            </a:r>
            <a:r>
              <a:rPr sz="1300" b="0">
                <a:solidFill>
                  <a:srgbClr val="374151"/>
                </a:solidFill>
                <a:latin typeface="Calibri"/>
              </a:rPr>
              <a:t>Hierarchical Decomposition</a:t>
            </a:r>
          </a:p>
        </p:txBody>
      </p:sp>
      <p:sp>
        <p:nvSpPr>
          <p:cNvPr id="17" name="Rectangle 16"/>
          <p:cNvSpPr/>
          <p:nvPr/>
        </p:nvSpPr>
        <p:spPr>
          <a:xfrm>
            <a:off x="6172200" y="2057400"/>
            <a:ext cx="5532120" cy="457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167128"/>
            <a:ext cx="5257800" cy="320040"/>
          </a:xfrm>
          <a:prstGeom prst="rect">
            <a:avLst/>
          </a:prstGeom>
          <a:noFill/>
        </p:spPr>
        <p:txBody>
          <a:bodyPr wrap="none">
            <a:spAutoFit/>
          </a:bodyPr>
          <a:lstStyle/>
          <a:p>
            <a:r>
              <a:rPr sz="1300" b="1">
                <a:solidFill>
                  <a:srgbClr val="059669"/>
                </a:solidFill>
                <a:latin typeface="Calibri"/>
              </a:rPr>
              <a:t>7.  </a:t>
            </a:r>
            <a:r>
              <a:rPr sz="1300" b="0">
                <a:solidFill>
                  <a:srgbClr val="374151"/>
                </a:solidFill>
                <a:latin typeface="Calibri"/>
              </a:rPr>
              <a:t>Multi-Agent Swarm</a:t>
            </a:r>
          </a:p>
        </p:txBody>
      </p:sp>
      <p:sp>
        <p:nvSpPr>
          <p:cNvPr id="19" name="Rectangle 18"/>
          <p:cNvSpPr/>
          <p:nvPr/>
        </p:nvSpPr>
        <p:spPr>
          <a:xfrm>
            <a:off x="6172200" y="2606040"/>
            <a:ext cx="5532120" cy="457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715768"/>
            <a:ext cx="5257800" cy="320040"/>
          </a:xfrm>
          <a:prstGeom prst="rect">
            <a:avLst/>
          </a:prstGeom>
          <a:noFill/>
        </p:spPr>
        <p:txBody>
          <a:bodyPr wrap="none">
            <a:spAutoFit/>
          </a:bodyPr>
          <a:lstStyle/>
          <a:p>
            <a:r>
              <a:rPr sz="1300" b="1">
                <a:solidFill>
                  <a:srgbClr val="059669"/>
                </a:solidFill>
                <a:latin typeface="Calibri"/>
              </a:rPr>
              <a:t>8.  </a:t>
            </a:r>
            <a:r>
              <a:rPr sz="1300" b="0">
                <a:solidFill>
                  <a:srgbClr val="374151"/>
                </a:solidFill>
                <a:latin typeface="Calibri"/>
              </a:rPr>
              <a:t>ReAct (Reason+Act)</a:t>
            </a:r>
          </a:p>
        </p:txBody>
      </p:sp>
      <p:sp>
        <p:nvSpPr>
          <p:cNvPr id="21" name="Rectangle 20"/>
          <p:cNvSpPr/>
          <p:nvPr/>
        </p:nvSpPr>
        <p:spPr>
          <a:xfrm>
            <a:off x="6172200" y="3154680"/>
            <a:ext cx="5532120" cy="457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3264408"/>
            <a:ext cx="5257800" cy="320040"/>
          </a:xfrm>
          <a:prstGeom prst="rect">
            <a:avLst/>
          </a:prstGeom>
          <a:noFill/>
        </p:spPr>
        <p:txBody>
          <a:bodyPr wrap="none">
            <a:spAutoFit/>
          </a:bodyPr>
          <a:lstStyle/>
          <a:p>
            <a:r>
              <a:rPr sz="1300" b="1">
                <a:solidFill>
                  <a:srgbClr val="059669"/>
                </a:solidFill>
                <a:latin typeface="Calibri"/>
              </a:rPr>
              <a:t>9.  </a:t>
            </a:r>
            <a:r>
              <a:rPr sz="1300" b="0">
                <a:solidFill>
                  <a:srgbClr val="374151"/>
                </a:solidFill>
                <a:latin typeface="Calibri"/>
              </a:rPr>
              <a:t>Human-in-the-Loop</a:t>
            </a:r>
          </a:p>
        </p:txBody>
      </p:sp>
      <p:sp>
        <p:nvSpPr>
          <p:cNvPr id="23" name="Rectangle 22"/>
          <p:cNvSpPr/>
          <p:nvPr/>
        </p:nvSpPr>
        <p:spPr>
          <a:xfrm>
            <a:off x="6172200" y="3703320"/>
            <a:ext cx="5532120" cy="457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0" y="3813048"/>
            <a:ext cx="5257800" cy="320040"/>
          </a:xfrm>
          <a:prstGeom prst="rect">
            <a:avLst/>
          </a:prstGeom>
          <a:noFill/>
        </p:spPr>
        <p:txBody>
          <a:bodyPr wrap="none">
            <a:spAutoFit/>
          </a:bodyPr>
          <a:lstStyle/>
          <a:p>
            <a:r>
              <a:rPr sz="1300" b="1">
                <a:solidFill>
                  <a:srgbClr val="059669"/>
                </a:solidFill>
                <a:latin typeface="Calibri"/>
              </a:rPr>
              <a:t>10.  </a:t>
            </a:r>
            <a:r>
              <a:rPr sz="1300" b="0">
                <a:solidFill>
                  <a:srgbClr val="374151"/>
                </a:solidFill>
                <a:latin typeface="Calibri"/>
              </a:rPr>
              <a:t>Iterative Refinement</a:t>
            </a:r>
          </a:p>
        </p:txBody>
      </p:sp>
      <p:sp>
        <p:nvSpPr>
          <p:cNvPr id="25" name="TextBox 24"/>
          <p:cNvSpPr txBox="1"/>
          <p:nvPr/>
        </p:nvSpPr>
        <p:spPr>
          <a:xfrm>
            <a:off x="457200" y="4937760"/>
            <a:ext cx="11247120" cy="274320"/>
          </a:xfrm>
          <a:prstGeom prst="rect">
            <a:avLst/>
          </a:prstGeom>
          <a:noFill/>
        </p:spPr>
        <p:txBody>
          <a:bodyPr wrap="square">
            <a:spAutoFit/>
          </a:bodyPr>
          <a:lstStyle/>
          <a:p>
            <a:r>
              <a:rPr sz="1100" b="0">
                <a:solidFill>
                  <a:srgbClr val="6B7280"/>
                </a:solidFill>
                <a:latin typeface="Calibri"/>
              </a:rPr>
              <a:t>3 HITL levels: minimal (2 gates) · standard (3 gates) · strict (every stage)</a:t>
            </a:r>
          </a:p>
        </p:txBody>
      </p:sp>
      <p:sp>
        <p:nvSpPr>
          <p:cNvPr id="26" name="Rectangle 25"/>
          <p:cNvSpPr/>
          <p:nvPr/>
        </p:nvSpPr>
        <p:spPr>
          <a:xfrm>
            <a:off x="0" y="6492240"/>
            <a:ext cx="12188952" cy="36576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74320" y="6510528"/>
            <a:ext cx="8229600" cy="274320"/>
          </a:xfrm>
          <a:prstGeom prst="rect">
            <a:avLst/>
          </a:prstGeom>
          <a:noFill/>
        </p:spPr>
        <p:txBody>
          <a:bodyPr wrap="none">
            <a:spAutoFit/>
          </a:bodyPr>
          <a:lstStyle/>
          <a:p>
            <a:r>
              <a:rPr sz="900" b="0">
                <a:solidFill>
                  <a:srgbClr val="6B7280"/>
                </a:solidFill>
                <a:latin typeface="Calibri"/>
              </a:rPr>
              <a:t>SAGE[ai] — Open Source (Apache 2.0) | github.com/Sumanharapanahalli/sage | March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065F46"/>
                </a:solidFill>
              </a:rPr>
              <a:t>Platform Completeness — 136 Endpoints, 27 Pages, 17+ Solutions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4B5563"/>
                </a:solidFill>
              </a:rPr>
              <a:t>From core agent loop to enterprise-grade orchestration — all open source</a:t>
            </a:r>
          </a:p>
        </p:txBody>
      </p:sp>
      <p:graphicFrame>
        <p:nvGraphicFramePr>
          <p:cNvPr id="5" name="Table 4"/>
          <p:cNvGraphicFramePr>
            <a:graphicFrameLocks noGrp="1"/>
          </p:cNvGraphicFramePr>
          <p:nvPr/>
        </p:nvGraphicFramePr>
        <p:xfrm>
          <a:off x="457200" y="1508760"/>
          <a:ext cx="11247120" cy="4279392"/>
        </p:xfrm>
        <a:graphic>
          <a:graphicData uri="http://schemas.openxmlformats.org/drawingml/2006/table">
            <a:tbl>
              <a:tblPr firstRow="1" bandRow="1">
                <a:tableStyleId>{5C22544A-7EE6-4342-B048-85BDC9FD1C3A}</a:tableStyleId>
              </a:tblPr>
              <a:tblGrid>
                <a:gridCol w="822960"/>
                <a:gridCol w="7589520"/>
                <a:gridCol w="2834640"/>
              </a:tblGrid>
              <a:tr h="475488">
                <a:tc>
                  <a:txBody>
                    <a:bodyPr/>
                    <a:lstStyle/>
                    <a:p>
                      <a:pPr algn="ctr"/>
                      <a:r>
                        <a:rPr b="1" sz="1300">
                          <a:solidFill>
                            <a:srgbClr val="065F46"/>
                          </a:solidFill>
                        </a:rPr>
                        <a:t>Phase</a:t>
                      </a:r>
                    </a:p>
                  </a:txBody>
                  <a:tcPr>
                    <a:solidFill>
                      <a:srgbClr val="10B981"/>
                    </a:solidFill>
                  </a:tcPr>
                </a:tc>
                <a:tc>
                  <a:txBody>
                    <a:bodyPr/>
                    <a:lstStyle/>
                    <a:p>
                      <a:pPr algn="ctr"/>
                      <a:r>
                        <a:rPr b="1" sz="1300">
                          <a:solidFill>
                            <a:srgbClr val="065F46"/>
                          </a:solidFill>
                        </a:rPr>
                        <a:t>Feature</a:t>
                      </a:r>
                    </a:p>
                  </a:txBody>
                  <a:tcPr>
                    <a:solidFill>
                      <a:srgbClr val="10B981"/>
                    </a:solidFill>
                  </a:tcPr>
                </a:tc>
                <a:tc>
                  <a:txBody>
                    <a:bodyPr/>
                    <a:lstStyle/>
                    <a:p>
                      <a:pPr algn="ctr"/>
                      <a:r>
                        <a:rPr b="1" sz="1300">
                          <a:solidFill>
                            <a:srgbClr val="065F46"/>
                          </a:solidFill>
                        </a:rPr>
                        <a:t>Status</a:t>
                      </a:r>
                    </a:p>
                  </a:txBody>
                  <a:tcPr>
                    <a:solidFill>
                      <a:srgbClr val="10B981"/>
                    </a:solidFill>
                  </a:tcPr>
                </a:tc>
              </a:tr>
              <a:tr h="475488">
                <a:tc>
                  <a:txBody>
                    <a:bodyPr/>
                    <a:lstStyle/>
                    <a:p>
                      <a:pPr algn="l"/>
                      <a:r>
                        <a:rPr sz="1200">
                          <a:solidFill>
                            <a:srgbClr val="374151"/>
                          </a:solidFill>
                        </a:rPr>
                        <a:t>0-4</a:t>
                      </a:r>
                    </a:p>
                  </a:txBody>
                  <a:tcPr>
                    <a:solidFill>
                      <a:srgbClr val="ECFDF5"/>
                    </a:solidFill>
                  </a:tcPr>
                </a:tc>
                <a:tc>
                  <a:txBody>
                    <a:bodyPr/>
                    <a:lstStyle/>
                    <a:p>
                      <a:pPr algn="l"/>
                      <a:r>
                        <a:rPr sz="1200">
                          <a:solidFill>
                            <a:srgbClr val="374151"/>
                          </a:solidFill>
                        </a:rPr>
                        <a:t>Core agents, API, Web UI, Approval gate, Audit log</a:t>
                      </a:r>
                    </a:p>
                  </a:txBody>
                  <a:tcPr>
                    <a:solidFill>
                      <a:srgbClr val="ECFDF5"/>
                    </a:solidFill>
                  </a:tcPr>
                </a:tc>
                <a:tc>
                  <a:txBody>
                    <a:bodyPr/>
                    <a:lstStyle/>
                    <a:p>
                      <a:pPr algn="l"/>
                      <a:r>
                        <a:rPr sz="1200">
                          <a:solidFill>
                            <a:srgbClr val="374151"/>
                          </a:solidFill>
                        </a:rPr>
                        <a:t>Complete</a:t>
                      </a:r>
                    </a:p>
                  </a:txBody>
                  <a:tcPr>
                    <a:solidFill>
                      <a:srgbClr val="ECFDF5"/>
                    </a:solidFill>
                  </a:tcPr>
                </a:tc>
              </a:tr>
              <a:tr h="475488">
                <a:tc>
                  <a:txBody>
                    <a:bodyPr/>
                    <a:lstStyle/>
                    <a:p>
                      <a:pPr algn="l"/>
                      <a:r>
                        <a:rPr sz="1200">
                          <a:solidFill>
                            <a:srgbClr val="374151"/>
                          </a:solidFill>
                        </a:rPr>
                        <a:t>5</a:t>
                      </a:r>
                    </a:p>
                  </a:txBody>
                  <a:tcPr>
                    <a:solidFill>
                      <a:srgbClr val="FFFFFF"/>
                    </a:solidFill>
                  </a:tcPr>
                </a:tc>
                <a:tc>
                  <a:txBody>
                    <a:bodyPr/>
                    <a:lstStyle/>
                    <a:p>
                      <a:pPr algn="l"/>
                      <a:r>
                        <a:rPr sz="1200">
                          <a:solidFill>
                            <a:srgbClr val="374151"/>
                          </a:solidFill>
                        </a:rPr>
                        <a:t>SSE streaming — real-time token output in dashboard</a:t>
                      </a:r>
                    </a:p>
                  </a:txBody>
                  <a:tcPr>
                    <a:solidFill>
                      <a:srgbClr val="FFFFFF"/>
                    </a:solidFill>
                  </a:tcPr>
                </a:tc>
                <a:tc>
                  <a:txBody>
                    <a:bodyPr/>
                    <a:lstStyle/>
                    <a:p>
                      <a:pPr algn="l"/>
                      <a:r>
                        <a:rPr sz="1200">
                          <a:solidFill>
                            <a:srgbClr val="374151"/>
                          </a:solidFill>
                        </a:rPr>
                        <a:t>Complete</a:t>
                      </a:r>
                    </a:p>
                  </a:txBody>
                  <a:tcPr>
                    <a:solidFill>
                      <a:srgbClr val="FFFFFF"/>
                    </a:solidFill>
                  </a:tcPr>
                </a:tc>
              </a:tr>
              <a:tr h="475488">
                <a:tc>
                  <a:txBody>
                    <a:bodyPr/>
                    <a:lstStyle/>
                    <a:p>
                      <a:pPr algn="l"/>
                      <a:r>
                        <a:rPr sz="1200">
                          <a:solidFill>
                            <a:srgbClr val="374151"/>
                          </a:solidFill>
                        </a:rPr>
                        <a:t>6</a:t>
                      </a:r>
                    </a:p>
                  </a:txBody>
                  <a:tcPr>
                    <a:solidFill>
                      <a:srgbClr val="ECFDF5"/>
                    </a:solidFill>
                  </a:tcPr>
                </a:tc>
                <a:tc>
                  <a:txBody>
                    <a:bodyPr/>
                    <a:lstStyle/>
                    <a:p>
                      <a:pPr algn="l"/>
                      <a:r>
                        <a:rPr sz="1200">
                          <a:solidFill>
                            <a:srgbClr val="374151"/>
                          </a:solidFill>
                        </a:rPr>
                        <a:t>Onboarding wizard — plain-language to YAML solution in 60 s</a:t>
                      </a:r>
                    </a:p>
                  </a:txBody>
                  <a:tcPr>
                    <a:solidFill>
                      <a:srgbClr val="ECFDF5"/>
                    </a:solidFill>
                  </a:tcPr>
                </a:tc>
                <a:tc>
                  <a:txBody>
                    <a:bodyPr/>
                    <a:lstStyle/>
                    <a:p>
                      <a:pPr algn="l"/>
                      <a:r>
                        <a:rPr sz="1200">
                          <a:solidFill>
                            <a:srgbClr val="374151"/>
                          </a:solidFill>
                        </a:rPr>
                        <a:t>Complete</a:t>
                      </a:r>
                    </a:p>
                  </a:txBody>
                  <a:tcPr>
                    <a:solidFill>
                      <a:srgbClr val="ECFDF5"/>
                    </a:solidFill>
                  </a:tcPr>
                </a:tc>
              </a:tr>
              <a:tr h="475488">
                <a:tc>
                  <a:txBody>
                    <a:bodyPr/>
                    <a:lstStyle/>
                    <a:p>
                      <a:pPr algn="l"/>
                      <a:r>
                        <a:rPr sz="1200">
                          <a:solidFill>
                            <a:srgbClr val="374151"/>
                          </a:solidFill>
                        </a:rPr>
                        <a:t>7</a:t>
                      </a:r>
                    </a:p>
                  </a:txBody>
                  <a:tcPr>
                    <a:solidFill>
                      <a:srgbClr val="FFFFFF"/>
                    </a:solidFill>
                  </a:tcPr>
                </a:tc>
                <a:tc>
                  <a:txBody>
                    <a:bodyPr/>
                    <a:lstStyle/>
                    <a:p>
                      <a:pPr algn="l"/>
                      <a:r>
                        <a:rPr sz="1200">
                          <a:solidFill>
                            <a:srgbClr val="374151"/>
                          </a:solidFill>
                        </a:rPr>
                        <a:t>Knowledge base CRUD — list, add, delete, bulk, search</a:t>
                      </a:r>
                    </a:p>
                  </a:txBody>
                  <a:tcPr>
                    <a:solidFill>
                      <a:srgbClr val="FFFFFF"/>
                    </a:solidFill>
                  </a:tcPr>
                </a:tc>
                <a:tc>
                  <a:txBody>
                    <a:bodyPr/>
                    <a:lstStyle/>
                    <a:p>
                      <a:pPr algn="l"/>
                      <a:r>
                        <a:rPr sz="1200">
                          <a:solidFill>
                            <a:srgbClr val="374151"/>
                          </a:solidFill>
                        </a:rPr>
                        <a:t>Complete</a:t>
                      </a:r>
                    </a:p>
                  </a:txBody>
                  <a:tcPr>
                    <a:solidFill>
                      <a:srgbClr val="FFFFFF"/>
                    </a:solidFill>
                  </a:tcPr>
                </a:tc>
              </a:tr>
              <a:tr h="475488">
                <a:tc>
                  <a:txBody>
                    <a:bodyPr/>
                    <a:lstStyle/>
                    <a:p>
                      <a:pPr algn="l"/>
                      <a:r>
                        <a:rPr sz="1200">
                          <a:solidFill>
                            <a:srgbClr val="374151"/>
                          </a:solidFill>
                        </a:rPr>
                        <a:t>8</a:t>
                      </a:r>
                    </a:p>
                  </a:txBody>
                  <a:tcPr>
                    <a:solidFill>
                      <a:srgbClr val="ECFDF5"/>
                    </a:solidFill>
                  </a:tcPr>
                </a:tc>
                <a:tc>
                  <a:txBody>
                    <a:bodyPr/>
                    <a:lstStyle/>
                    <a:p>
                      <a:pPr algn="l"/>
                      <a:r>
                        <a:rPr sz="1200">
                          <a:solidFill>
                            <a:srgbClr val="374151"/>
                          </a:solidFill>
                        </a:rPr>
                        <a:t>Slack two-way approval — Block Kit buttons, HMAC verified</a:t>
                      </a:r>
                    </a:p>
                  </a:txBody>
                  <a:tcPr>
                    <a:solidFill>
                      <a:srgbClr val="ECFDF5"/>
                    </a:solidFill>
                  </a:tcPr>
                </a:tc>
                <a:tc>
                  <a:txBody>
                    <a:bodyPr/>
                    <a:lstStyle/>
                    <a:p>
                      <a:pPr algn="l"/>
                      <a:r>
                        <a:rPr sz="1200">
                          <a:solidFill>
                            <a:srgbClr val="374151"/>
                          </a:solidFill>
                        </a:rPr>
                        <a:t>Complete</a:t>
                      </a:r>
                    </a:p>
                  </a:txBody>
                  <a:tcPr>
                    <a:solidFill>
                      <a:srgbClr val="ECFDF5"/>
                    </a:solidFill>
                  </a:tcPr>
                </a:tc>
              </a:tr>
              <a:tr h="475488">
                <a:tc>
                  <a:txBody>
                    <a:bodyPr/>
                    <a:lstStyle/>
                    <a:p>
                      <a:pPr algn="l"/>
                      <a:r>
                        <a:rPr sz="1200">
                          <a:solidFill>
                            <a:srgbClr val="374151"/>
                          </a:solidFill>
                        </a:rPr>
                        <a:t>9</a:t>
                      </a:r>
                    </a:p>
                  </a:txBody>
                  <a:tcPr>
                    <a:solidFill>
                      <a:srgbClr val="FFFFFF"/>
                    </a:solidFill>
                  </a:tcPr>
                </a:tc>
                <a:tc>
                  <a:txBody>
                    <a:bodyPr/>
                    <a:lstStyle/>
                    <a:p>
                      <a:pPr algn="l"/>
                      <a:r>
                        <a:rPr sz="1200">
                          <a:solidFill>
                            <a:srgbClr val="374151"/>
                          </a:solidFill>
                        </a:rPr>
                        <a:t>Eval &amp; benchmarking — YAML test cases, 0-100 scoring, history</a:t>
                      </a:r>
                    </a:p>
                  </a:txBody>
                  <a:tcPr>
                    <a:solidFill>
                      <a:srgbClr val="FFFFFF"/>
                    </a:solidFill>
                  </a:tcPr>
                </a:tc>
                <a:tc>
                  <a:txBody>
                    <a:bodyPr/>
                    <a:lstStyle/>
                    <a:p>
                      <a:pPr algn="l"/>
                      <a:r>
                        <a:rPr sz="1200">
                          <a:solidFill>
                            <a:srgbClr val="374151"/>
                          </a:solidFill>
                        </a:rPr>
                        <a:t>Complete</a:t>
                      </a:r>
                    </a:p>
                  </a:txBody>
                  <a:tcPr>
                    <a:solidFill>
                      <a:srgbClr val="FFFFFF"/>
                    </a:solidFill>
                  </a:tcPr>
                </a:tc>
              </a:tr>
              <a:tr h="475488">
                <a:tc>
                  <a:txBody>
                    <a:bodyPr/>
                    <a:lstStyle/>
                    <a:p>
                      <a:pPr algn="l"/>
                      <a:r>
                        <a:rPr sz="1200">
                          <a:solidFill>
                            <a:srgbClr val="374151"/>
                          </a:solidFill>
                        </a:rPr>
                        <a:t>10</a:t>
                      </a:r>
                    </a:p>
                  </a:txBody>
                  <a:tcPr>
                    <a:solidFill>
                      <a:srgbClr val="ECFDF5"/>
                    </a:solidFill>
                  </a:tcPr>
                </a:tc>
                <a:tc>
                  <a:txBody>
                    <a:bodyPr/>
                    <a:lstStyle/>
                    <a:p>
                      <a:pPr algn="l"/>
                      <a:r>
                        <a:rPr sz="1200">
                          <a:solidFill>
                            <a:srgbClr val="374151"/>
                          </a:solidFill>
                        </a:rPr>
                        <a:t>Multi-tenant isolation — X-SAGE-Tenant header namespacing</a:t>
                      </a:r>
                    </a:p>
                  </a:txBody>
                  <a:tcPr>
                    <a:solidFill>
                      <a:srgbClr val="ECFDF5"/>
                    </a:solidFill>
                  </a:tcPr>
                </a:tc>
                <a:tc>
                  <a:txBody>
                    <a:bodyPr/>
                    <a:lstStyle/>
                    <a:p>
                      <a:pPr algn="l"/>
                      <a:r>
                        <a:rPr sz="1200">
                          <a:solidFill>
                            <a:srgbClr val="374151"/>
                          </a:solidFill>
                        </a:rPr>
                        <a:t>Complete</a:t>
                      </a:r>
                    </a:p>
                  </a:txBody>
                  <a:tcPr>
                    <a:solidFill>
                      <a:srgbClr val="ECFDF5"/>
                    </a:solidFill>
                  </a:tcPr>
                </a:tc>
              </a:tr>
              <a:tr h="475488">
                <a:tc>
                  <a:txBody>
                    <a:bodyPr/>
                    <a:lstStyle/>
                    <a:p>
                      <a:pPr algn="l"/>
                      <a:r>
                        <a:rPr sz="1200">
                          <a:solidFill>
                            <a:srgbClr val="374151"/>
                          </a:solidFill>
                        </a:rPr>
                        <a:t>11</a:t>
                      </a:r>
                    </a:p>
                  </a:txBody>
                  <a:tcPr>
                    <a:solidFill>
                      <a:srgbClr val="FFFFFF"/>
                    </a:solidFill>
                  </a:tcPr>
                </a:tc>
                <a:tc>
                  <a:txBody>
                    <a:bodyPr/>
                    <a:lstStyle/>
                    <a:p>
                      <a:pPr algn="l"/>
                      <a:r>
                        <a:rPr sz="1200">
                          <a:solidFill>
                            <a:srgbClr val="374151"/>
                          </a:solidFill>
                        </a:rPr>
                        <a:t>Temporal durable workflows + LangGraph fallback</a:t>
                      </a:r>
                    </a:p>
                  </a:txBody>
                  <a:tcPr>
                    <a:solidFill>
                      <a:srgbClr val="FFFFFF"/>
                    </a:solidFill>
                  </a:tcPr>
                </a:tc>
                <a:tc>
                  <a:txBody>
                    <a:bodyPr/>
                    <a:lstStyle/>
                    <a:p>
                      <a:pPr algn="l"/>
                      <a:r>
                        <a:rPr sz="1200">
                          <a:solidFill>
                            <a:srgbClr val="374151"/>
                          </a:solidFill>
                        </a:rPr>
                        <a:t>Complete</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B7280"/>
                </a:solidFill>
              </a:rPr>
              <a:t>SAGE[ai] — Open Source (Apache 2.0) | github.com/Sumanharapanahalli/sage | March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657600"/>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31520"/>
            <a:ext cx="10515600" cy="822960"/>
          </a:xfrm>
          <a:prstGeom prst="rect">
            <a:avLst/>
          </a:prstGeom>
          <a:noFill/>
        </p:spPr>
        <p:txBody>
          <a:bodyPr wrap="square">
            <a:spAutoFit/>
          </a:bodyPr>
          <a:lstStyle/>
          <a:p>
            <a:pPr algn="ctr"/>
            <a:r>
              <a:rPr sz="4400" b="1" i="0">
                <a:solidFill>
                  <a:srgbClr val="FFFFFF"/>
                </a:solidFill>
              </a:rPr>
              <a:t>SAGE Framework</a:t>
            </a:r>
          </a:p>
        </p:txBody>
      </p:sp>
      <p:sp>
        <p:nvSpPr>
          <p:cNvPr id="6" name="TextBox 5"/>
          <p:cNvSpPr txBox="1"/>
          <p:nvPr/>
        </p:nvSpPr>
        <p:spPr>
          <a:xfrm>
            <a:off x="731520" y="1600200"/>
            <a:ext cx="10515600" cy="914400"/>
          </a:xfrm>
          <a:prstGeom prst="rect">
            <a:avLst/>
          </a:prstGeom>
          <a:noFill/>
        </p:spPr>
        <p:txBody>
          <a:bodyPr wrap="square">
            <a:spAutoFit/>
          </a:bodyPr>
          <a:lstStyle/>
          <a:p>
            <a:pPr algn="ctr"/>
            <a:r>
              <a:rPr sz="2000" b="0" i="0">
                <a:solidFill>
                  <a:srgbClr val="00B4D8"/>
                </a:solidFill>
              </a:rPr>
              <a:t>Open Source (Apache 2.0). Lean development at machine speed.
YAML-first. Agent-native. Human-in-the-loop always.</a:t>
            </a:r>
          </a:p>
        </p:txBody>
      </p:sp>
      <p:sp>
        <p:nvSpPr>
          <p:cNvPr id="7" name="TextBox 6"/>
          <p:cNvSpPr txBox="1"/>
          <p:nvPr/>
        </p:nvSpPr>
        <p:spPr>
          <a:xfrm>
            <a:off x="1828800" y="3931920"/>
            <a:ext cx="8503920" cy="411480"/>
          </a:xfrm>
          <a:prstGeom prst="rect">
            <a:avLst/>
          </a:prstGeom>
          <a:noFill/>
        </p:spPr>
        <p:txBody>
          <a:bodyPr wrap="square">
            <a:spAutoFit/>
          </a:bodyPr>
          <a:lstStyle/>
          <a:p>
            <a:pPr algn="l"/>
            <a:r>
              <a:rPr sz="1400" b="0" i="0">
                <a:solidFill>
                  <a:srgbClr val="FFFFFF"/>
                </a:solidFill>
              </a:rPr>
              <a:t>github.com/Sumanharapanahalli/sage — Star, Fork, Contribute</a:t>
            </a:r>
          </a:p>
        </p:txBody>
      </p:sp>
      <p:sp>
        <p:nvSpPr>
          <p:cNvPr id="8" name="TextBox 7"/>
          <p:cNvSpPr txBox="1"/>
          <p:nvPr/>
        </p:nvSpPr>
        <p:spPr>
          <a:xfrm>
            <a:off x="1828800" y="4407408"/>
            <a:ext cx="8503920" cy="411480"/>
          </a:xfrm>
          <a:prstGeom prst="rect">
            <a:avLst/>
          </a:prstGeom>
          <a:noFill/>
        </p:spPr>
        <p:txBody>
          <a:bodyPr wrap="square">
            <a:spAutoFit/>
          </a:bodyPr>
          <a:lstStyle/>
          <a:p>
            <a:pPr algn="l"/>
            <a:r>
              <a:rPr sz="1400" b="0" i="0">
                <a:solidFill>
                  <a:srgbClr val="FFFFFF"/>
                </a:solidFill>
              </a:rPr>
              <a:t>136 API endpoints · 27 UI pages · 17+ solution templates · 79 E2E tests</a:t>
            </a:r>
          </a:p>
        </p:txBody>
      </p:sp>
      <p:sp>
        <p:nvSpPr>
          <p:cNvPr id="9" name="TextBox 8"/>
          <p:cNvSpPr txBox="1"/>
          <p:nvPr/>
        </p:nvSpPr>
        <p:spPr>
          <a:xfrm>
            <a:off x="1828800" y="4882896"/>
            <a:ext cx="8503920" cy="411480"/>
          </a:xfrm>
          <a:prstGeom prst="rect">
            <a:avLst/>
          </a:prstGeom>
          <a:noFill/>
        </p:spPr>
        <p:txBody>
          <a:bodyPr wrap="square">
            <a:spAutoFit/>
          </a:bodyPr>
          <a:lstStyle/>
          <a:p>
            <a:pPr algn="l"/>
            <a:r>
              <a:rPr sz="1400" b="0" i="0">
                <a:solidFill>
                  <a:srgbClr val="FFFFFF"/>
                </a:solidFill>
              </a:rPr>
              <a:t>Framework is open — solutions are private (SAGE_SOLUTIONS_DIR)</a:t>
            </a:r>
          </a:p>
        </p:txBody>
      </p:sp>
      <p:sp>
        <p:nvSpPr>
          <p:cNvPr id="10" name="TextBox 9"/>
          <p:cNvSpPr txBox="1"/>
          <p:nvPr/>
        </p:nvSpPr>
        <p:spPr>
          <a:xfrm>
            <a:off x="1828800" y="5358384"/>
            <a:ext cx="8503920" cy="411480"/>
          </a:xfrm>
          <a:prstGeom prst="rect">
            <a:avLst/>
          </a:prstGeom>
          <a:noFill/>
        </p:spPr>
        <p:txBody>
          <a:bodyPr wrap="square">
            <a:spAutoFit/>
          </a:bodyPr>
          <a:lstStyle/>
          <a:p>
            <a:pPr algn="l"/>
            <a:r>
              <a:rPr sz="1400" b="0" i="0">
                <a:solidFill>
                  <a:srgbClr val="FFFFFF"/>
                </a:solidFill>
              </a:rPr>
              <a:t>make run PROJECT=medtech — running in 60 seconds</a:t>
            </a:r>
          </a:p>
        </p:txBody>
      </p:sp>
      <p:sp>
        <p:nvSpPr>
          <p:cNvPr id="11" name="TextBox 10"/>
          <p:cNvSpPr txBox="1"/>
          <p:nvPr/>
        </p:nvSpPr>
        <p:spPr>
          <a:xfrm>
            <a:off x="1371600" y="5989320"/>
            <a:ext cx="9144000" cy="411480"/>
          </a:xfrm>
          <a:prstGeom prst="rect">
            <a:avLst/>
          </a:prstGeom>
          <a:noFill/>
        </p:spPr>
        <p:txBody>
          <a:bodyPr wrap="square">
            <a:spAutoFit/>
          </a:bodyPr>
          <a:lstStyle/>
          <a:p>
            <a:pPr algn="ctr"/>
            <a:r>
              <a:rPr sz="1000" b="0" i="1">
                <a:solidFill>
                  <a:srgbClr val="647487"/>
                </a:solidFill>
              </a:rPr>
              <a:t>All performance figures and cost estimates are assumption-based — validate before decisions.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