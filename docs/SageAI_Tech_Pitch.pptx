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10B981"/>
                </a:solidFill>
              </a:rPr>
              <a:t>SAGE[ai]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1F2A37"/>
                </a:solidFill>
              </a:rPr>
              <a:t>Smart Agentic-Guided Empowerment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46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B5563"/>
                </a:solidFill>
              </a:rPr>
              <a:t>The Lean AI Agent Framework for Regulated Industries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928116" y="4114800"/>
            <a:ext cx="1554480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ECF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5276" y="425196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0B981"/>
                </a:solidFill>
              </a:rPr>
              <a:t>136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9556" y="48006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B5563"/>
                </a:solidFill>
              </a:rPr>
              <a:t>API Endpoints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83764" y="4114800"/>
            <a:ext cx="1554480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ECF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20924" y="425196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0B981"/>
                </a:solidFill>
              </a:rPr>
              <a:t>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75204" y="48006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B5563"/>
                </a:solidFill>
              </a:rPr>
              <a:t>UI Pages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9412" y="4114800"/>
            <a:ext cx="1554480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ECF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6572" y="425196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0B981"/>
                </a:solidFill>
              </a:rPr>
              <a:t>840+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0852" y="48006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B5563"/>
                </a:solidFill>
              </a:rPr>
              <a:t>Tests Passing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5060" y="4114800"/>
            <a:ext cx="1554480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ECF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2220" y="425196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0B981"/>
                </a:solidFill>
              </a:rPr>
              <a:t>20+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6500" y="48006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B5563"/>
                </a:solidFill>
              </a:rPr>
              <a:t>Agent Roles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50708" y="4114800"/>
            <a:ext cx="1554480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ECF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87868" y="425196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0B981"/>
                </a:solidFill>
              </a:rPr>
              <a:t>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2148" y="48006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B5563"/>
                </a:solidFill>
              </a:rPr>
              <a:t>Industry Domains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06356" y="4114800"/>
            <a:ext cx="1554480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ECF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43516" y="425196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0B981"/>
                </a:solidFill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7796" y="48006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B5563"/>
                </a:solidFill>
              </a:rPr>
              <a:t>LLM Providers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86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4B5563"/>
                </a:solidFill>
              </a:rPr>
              <a:t>Open Source (MIT)  ·  Self-Hosted  ·  Zero API Keys Required  ·  Air-Gappable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897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10B981"/>
                </a:solidFill>
              </a:rPr>
              <a:t>github.com/Sumanharapanahalli/sage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53312"/>
            <a:ext cx="12188952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2A37"/>
                </a:solidFill>
              </a:rPr>
              <a:t>The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</a:rPr>
              <a:t>1 human + AI agent team = billion-dollar operation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047857"/>
                </a:solidFill>
              </a:rPr>
              <a:t>"Every company function becomes an agent role.
The founder reviews only decisions that require human judgment.
Everything else runs autonomously with a complete audit trail."</a:t>
            </a:r>
          </a:p>
        </p:txBody>
      </p:sp>
      <p:sp>
        <p:nvSpPr>
          <p:cNvPr id="7" name="Rectangle 6"/>
          <p:cNvSpPr/>
          <p:nvPr/>
        </p:nvSpPr>
        <p:spPr>
          <a:xfrm>
            <a:off x="1065276" y="3566160"/>
            <a:ext cx="3108960" cy="2011680"/>
          </a:xfrm>
          <a:prstGeom prst="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48156" y="374903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47857"/>
                </a:solidFill>
              </a:rPr>
              <a:t>Lean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48156" y="425196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B5563"/>
                </a:solidFill>
              </a:rPr>
              <a:t>Eliminate waste, shorten feedback
loops, amplify human judgment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39996" y="3566160"/>
            <a:ext cx="3108960" cy="2011680"/>
          </a:xfrm>
          <a:prstGeom prst="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22876" y="374903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47857"/>
                </a:solidFill>
              </a:rPr>
              <a:t>Agentic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2876" y="425196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B5563"/>
                </a:solidFill>
              </a:rPr>
              <a:t>Autonomous agents that propose,
learn, and compound intelligence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14716" y="3566160"/>
            <a:ext cx="3108960" cy="2011680"/>
          </a:xfrm>
          <a:prstGeom prst="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97596" y="374903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47857"/>
                </a:solidFill>
              </a:rPr>
              <a:t>Human-in-the-Loop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7596" y="425196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B5563"/>
                </a:solidFill>
              </a:rPr>
              <a:t>Every AI write action requires
human approval — always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6537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SAGE[ai] — Open Source (MIT) · github.com/Sumanharapanahalli/sage · March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53312"/>
            <a:ext cx="12188952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2A37"/>
                </a:solidFill>
              </a:rPr>
              <a:t>The Five Laws of 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</a:rPr>
              <a:t>The engineering principles that every feature is built 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</a:rPr>
              <a:t>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</a:rPr>
              <a:t>1. Agents propose. Humans decide. Always.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93392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</a:rPr>
              <a:t>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993392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</a:rPr>
              <a:t>    The HITL approval gate is not bureaucracy — it IS the product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69464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</a:rPr>
              <a:t>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69464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</a:rPr>
              <a:t>2. Eliminate waste at every layer.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008376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008376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</a:rPr>
              <a:t>    If it can be automated correctly, it must be. If not, it stays human.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584448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84448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</a:rPr>
              <a:t>3. Compounding intelligence over cold-start.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233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</a:rPr>
              <a:t>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023360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</a:rPr>
              <a:t>    Every correction feeds the vector store — agents improve without retraining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599432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599432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</a:rPr>
              <a:t>4. Vertical slices, not horizontal layers.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038344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</a:rPr>
              <a:t>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038344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</a:rPr>
              <a:t>    Every task produces a working, reviewable end-to-end slice of value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14416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614416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</a:rPr>
              <a:t>5. Atomic verification is non-negotiable.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053328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053328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</a:rPr>
              <a:t>    Every agent action has a defined verification step. Build in the check.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6537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SAGE[ai] — Open Source (MIT) · github.com/Sumanharapanahalli/sage · March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53312"/>
            <a:ext cx="12188952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2A37"/>
                </a:solidFill>
              </a:rPr>
              <a:t>Architecture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</a:rPr>
              <a:t>Data flows one way: UI → API → Agents → LLM → Audit Log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45920"/>
            <a:ext cx="2011680" cy="457200"/>
          </a:xfrm>
          <a:prstGeom prst="rect">
            <a:avLst/>
          </a:prstGeom>
          <a:solidFill>
            <a:srgbClr val="D1FAE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6916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47857"/>
                </a:solidFill>
              </a:rPr>
              <a:t>solutions/&lt;name&gt;/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194560"/>
            <a:ext cx="20116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224028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B5563"/>
                </a:solidFill>
              </a:rPr>
              <a:t>project.yaml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606040"/>
            <a:ext cx="20116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26517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B5563"/>
                </a:solidFill>
              </a:rPr>
              <a:t>prompts.yaml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017520"/>
            <a:ext cx="20116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30632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B5563"/>
                </a:solidFill>
              </a:rPr>
              <a:t>tasks.yaml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80" y="1645920"/>
            <a:ext cx="2926080" cy="457200"/>
          </a:xfrm>
          <a:prstGeom prst="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71800" y="16916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47857"/>
                </a:solidFill>
              </a:rPr>
              <a:t>React Dashboard (30 pages)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21488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0B981"/>
                </a:solidFill>
              </a:rPr>
              <a:t>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0" y="2560320"/>
            <a:ext cx="2926080" cy="457200"/>
          </a:xfrm>
          <a:prstGeom prst="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800" y="26060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47857"/>
                </a:solidFill>
              </a:rPr>
              <a:t>FastAPI — 136 endpoints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30632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0B981"/>
                </a:solidFill>
              </a:rPr>
              <a:t>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26080" y="3474720"/>
            <a:ext cx="2926080" cy="457200"/>
          </a:xfrm>
          <a:prstGeom prst="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71800" y="35204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47857"/>
                </a:solidFill>
              </a:rPr>
              <a:t>Agent Engine (20 roles)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51960" y="3977639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0B981"/>
                </a:solidFill>
              </a:rPr>
              <a:t>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26080" y="4389120"/>
            <a:ext cx="2926080" cy="457200"/>
          </a:xfrm>
          <a:prstGeom prst="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71800" y="44348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47857"/>
                </a:solidFill>
              </a:rPr>
              <a:t>LLM Gateway (7 providers)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1645920"/>
            <a:ext cx="2377440" cy="457200"/>
          </a:xfrm>
          <a:prstGeom prst="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47857"/>
                </a:solidFill>
              </a:rPr>
              <a:t>Integrations (13)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19456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</a:rPr>
              <a:t>· LangGraph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42316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</a:rPr>
              <a:t>· AutoGen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265176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</a:rPr>
              <a:t>· MCP Tools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88036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</a:rPr>
              <a:t>· Slack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10896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</a:rPr>
              <a:t>· Temporal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333756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</a:rPr>
              <a:t>· n8n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356616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</a:rPr>
              <a:t>· OpenSWE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379476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</a:rPr>
              <a:t>· LangChain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26880" y="1645920"/>
            <a:ext cx="2377440" cy="457200"/>
          </a:xfrm>
          <a:prstGeom prst="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7260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47857"/>
                </a:solidFill>
              </a:rPr>
              <a:t>Memory &amp; Audit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18320" y="219456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</a:rPr>
              <a:t>· ChromaDB Vector Store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42316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</a:rPr>
              <a:t>· SQLite Audit Log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65176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</a:rPr>
              <a:t>· Compounding Feedback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288036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</a:rPr>
              <a:t>· Per-Solution .sage/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029200"/>
            <a:ext cx="11430000" cy="1188720"/>
          </a:xfrm>
          <a:prstGeom prst="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5074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47857"/>
                </a:solidFill>
              </a:rPr>
              <a:t>The SAGE Lean Loop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544068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47857"/>
                </a:solidFill>
              </a:rPr>
              <a:t>① SURFACE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51760" y="544068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47857"/>
                </a:solidFill>
              </a:rPr>
              <a:t>② CONTEXTUALIZE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544068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47857"/>
                </a:solidFill>
              </a:rPr>
              <a:t>③ PROPOSE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544068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47857"/>
                </a:solidFill>
              </a:rPr>
              <a:t>④ DECIDE (HITL)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61120" y="544068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47857"/>
                </a:solidFill>
              </a:rPr>
              <a:t>⑤ COMPOUND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58064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</a:rPr>
              <a:t>→  Phase 5 feeds back into Phase 2. Every human decision compounds intelligence for the next task.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4320" y="6537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SAGE[ai] — Open Source (MIT) · github.com/Sumanharapanahalli/sage · March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53312"/>
            <a:ext cx="12188952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2A37"/>
                </a:solidFill>
              </a:rPr>
              <a:t>SAGE by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</a:rPr>
              <a:t>Everything built. Everything tested. Everything live.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2356" y="1554480"/>
            <a:ext cx="2560320" cy="1371600"/>
          </a:xfrm>
          <a:prstGeom prst="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" y="162763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0B981"/>
                </a:solidFill>
              </a:rPr>
              <a:t>136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" y="20116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2A37"/>
                </a:solidFill>
              </a:rPr>
              <a:t>API Endpoints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" y="2304288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Full REST API — config, agents,
knowledge, build, eval, audit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96996" y="1554480"/>
            <a:ext cx="2560320" cy="1371600"/>
          </a:xfrm>
          <a:prstGeom prst="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88436" y="162763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0B981"/>
                </a:solidFill>
              </a:rPr>
              <a:t>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8436" y="20116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2A37"/>
                </a:solidFill>
              </a:rPr>
              <a:t>UI Pages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8436" y="2304288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React 18 + TypeScript dashboard
with dark mode + theming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554480"/>
            <a:ext cx="2560320" cy="1371600"/>
          </a:xfrm>
          <a:prstGeom prst="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3076" y="162763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0B981"/>
                </a:solidFill>
              </a:rPr>
              <a:t>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3076" y="20116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2A37"/>
                </a:solidFill>
              </a:rPr>
              <a:t>Agent Roles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3076" y="2304288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5 functional teams — hire
any role via YAML or LLM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66276" y="1554480"/>
            <a:ext cx="2560320" cy="1371600"/>
          </a:xfrm>
          <a:prstGeom prst="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57716" y="162763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0B981"/>
                </a:solidFill>
              </a:rPr>
              <a:t>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7716" y="20116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2A37"/>
                </a:solidFill>
              </a:rPr>
              <a:t>Industry Domains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7716" y="2304288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Auto-detected from description
with compliance injection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2356" y="3108960"/>
            <a:ext cx="2560320" cy="1371600"/>
          </a:xfrm>
          <a:prstGeom prst="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" y="318211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0B981"/>
                </a:solidFill>
              </a:rPr>
              <a:t>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" y="35661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2A37"/>
                </a:solidFill>
              </a:rPr>
              <a:t>Build Task Types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" y="3858768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SW, HW, firmware, QA, legal,
business, design, ops, ML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96996" y="3108960"/>
            <a:ext cx="2560320" cy="1371600"/>
          </a:xfrm>
          <a:prstGeom prst="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88436" y="318211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0B981"/>
                </a:solidFill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88436" y="35661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2A37"/>
                </a:solidFill>
              </a:rPr>
              <a:t>LLM Providers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88436" y="3858768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Gemini, Claude, Ollama, local
GGUF, generic CLI + pool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31636" y="3108960"/>
            <a:ext cx="2560320" cy="1371600"/>
          </a:xfrm>
          <a:prstGeom prst="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211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0B981"/>
                </a:solidFill>
              </a:rPr>
              <a:t>840+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3076" y="35661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2A37"/>
                </a:solidFill>
              </a:rPr>
              <a:t>Tests Passing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3076" y="3858768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Unit + integration + system
+ browser E2E (Playwright)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66276" y="3108960"/>
            <a:ext cx="2560320" cy="1371600"/>
          </a:xfrm>
          <a:prstGeom prst="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57716" y="318211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0B981"/>
                </a:solidFill>
              </a:rPr>
              <a:t>16+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57716" y="35661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2A37"/>
                </a:solidFill>
              </a:rPr>
              <a:t>Solution Templates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7716" y="3858768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Medical, automotive, avionics,
fintech, IoT, SaaS, games...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2356" y="4663440"/>
            <a:ext cx="2560320" cy="1371600"/>
          </a:xfrm>
          <a:prstGeom prst="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3796" y="473659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0B981"/>
                </a:solidFill>
              </a:rPr>
              <a:t>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3796" y="51206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2A37"/>
                </a:solidFill>
              </a:rPr>
              <a:t>Integration Modules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3796" y="5413248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LangGraph, AutoGen, MCP,
Slack, Temporal, OpenSWE...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96996" y="4663440"/>
            <a:ext cx="2560320" cy="1371600"/>
          </a:xfrm>
          <a:prstGeom prst="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88436" y="473659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0B981"/>
                </a:solidFill>
              </a:rPr>
              <a:t>20+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88436" y="51206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2A37"/>
                </a:solidFill>
              </a:rPr>
              <a:t>Compliance Standards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88436" y="5413248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IEC 62304, ISO 13485, ISO 26262,
DO-178C, PCI DSS, HIPAA...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31636" y="4663440"/>
            <a:ext cx="2560320" cy="1371600"/>
          </a:xfrm>
          <a:prstGeom prst="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23076" y="473659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0B981"/>
                </a:solidFill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3076" y="51206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2A37"/>
                </a:solidFill>
              </a:rPr>
              <a:t>Agentic Patterns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23076" y="5413248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Sequential, parallel, critic,
hierarchical, swarm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066276" y="4663440"/>
            <a:ext cx="2560320" cy="1371600"/>
          </a:xfrm>
          <a:prstGeom prst="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57716" y="473659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0B981"/>
                </a:solidFill>
              </a:rPr>
              <a:t>12+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57716" y="51206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2A37"/>
                </a:solidFill>
              </a:rPr>
              <a:t>Integration Phases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57716" y="5413248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Langfuse → LangChain → MCP →
n8n → Slack → Build Orch.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4320" y="6537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SAGE[ai] — Open Source (MIT) · github.com/Sumanharapanahalli/sage · March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53312"/>
            <a:ext cx="12188952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2A37"/>
                </a:solidFill>
              </a:rPr>
              <a:t>Human-in-the-Loop Approval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</a:rPr>
              <a:t>Every AI write action is risk-ranked and requires human approval before execution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47857"/>
                </a:solidFill>
              </a:rPr>
              <a:t>5 Risk Tiers — proposals auto-expire based on risk level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11247120" cy="502920"/>
          </a:xfrm>
          <a:prstGeom prst="rect">
            <a:avLst/>
          </a:prstGeom>
          <a:solidFill>
            <a:srgbClr val="ECFDF5"/>
          </a:solidFill>
          <a:ln w="6350">
            <a:solidFill>
              <a:srgbClr val="ECF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7627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47857"/>
                </a:solidFill>
              </a:rPr>
              <a:t>INFORMATIONAL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17627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A37"/>
                </a:solidFill>
              </a:rPr>
              <a:t>Read-only query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217627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</a:rPr>
              <a:t>Expiry: 1 hour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51760"/>
            <a:ext cx="11247120" cy="502920"/>
          </a:xfrm>
          <a:prstGeom prst="rect">
            <a:avLst/>
          </a:prstGeom>
          <a:solidFill>
            <a:srgbClr val="ECFDF5"/>
          </a:solidFill>
          <a:ln w="6350">
            <a:solidFill>
              <a:srgbClr val="ECF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72491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47857"/>
                </a:solidFill>
              </a:rPr>
              <a:t>EPHEMERAL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72491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A37"/>
                </a:solidFill>
              </a:rPr>
              <a:t>LLM provider switch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272491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</a:rPr>
              <a:t>Expiry: 8 hours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00400"/>
            <a:ext cx="11247120" cy="502920"/>
          </a:xfrm>
          <a:prstGeom prst="rect">
            <a:avLst/>
          </a:prstGeom>
          <a:solidFill>
            <a:srgbClr val="FEF3C7"/>
          </a:solidFill>
          <a:ln w="6350">
            <a:solidFill>
              <a:srgbClr val="ECF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7355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STATEFUL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27355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A37"/>
                </a:solidFill>
              </a:rPr>
              <a:t>Knowledge base edit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27355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</a:rPr>
              <a:t>Expiry: 7 days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49040"/>
            <a:ext cx="11247120" cy="502920"/>
          </a:xfrm>
          <a:prstGeom prst="rect">
            <a:avLst/>
          </a:prstGeom>
          <a:solidFill>
            <a:srgbClr val="FEF3C7"/>
          </a:solidFill>
          <a:ln w="6350">
            <a:solidFill>
              <a:srgbClr val="ECF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2219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EXTERNAL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38221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A37"/>
                </a:solidFill>
              </a:rPr>
              <a:t>GitLab MR creation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38221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</a:rPr>
              <a:t>Expiry: 14 days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97680"/>
            <a:ext cx="11247120" cy="502920"/>
          </a:xfrm>
          <a:prstGeom prst="rect">
            <a:avLst/>
          </a:prstGeom>
          <a:solidFill>
            <a:srgbClr val="FEE2E2"/>
          </a:solidFill>
          <a:ln w="6350">
            <a:solidFill>
              <a:srgbClr val="ECF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37083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</a:rPr>
              <a:t>DESTRUCTIVE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37083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A37"/>
                </a:solidFill>
              </a:rPr>
              <a:t>Drop data / delete 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437083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</a:rPr>
              <a:t>Expiry: Never expires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120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A37"/>
                </a:solidFill>
              </a:rPr>
              <a:t>Approval Flow:   Agent proposes  →  Proposal created (risk-ranked)  →  /approvals inbox  →  Human reviews  →  Approve / Reject with feedback  →  Audit log + vector memory updated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</a:rPr>
              <a:t>Slack integration:  Block Kit approval cards → /webhook/slack callback → two-way approval without leaving Slack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6537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SAGE[ai] — Open Source (MIT) · github.com/Sumanharapanahalli/sage · March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53312"/>
            <a:ext cx="12188952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2A37"/>
                </a:solidFill>
              </a:rPr>
              <a:t>Build Orchestrator — Idea to Working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</a:rPr>
              <a:t>Describe a product → get a production-ready codebase with agents, tests, and CI/CD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" y="1645920"/>
            <a:ext cx="1143000" cy="822960"/>
          </a:xfrm>
          <a:prstGeom prst="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691640"/>
            <a:ext cx="108813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7857"/>
                </a:solidFill>
              </a:rPr>
              <a:t>Plain-language
description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28216" y="1874520"/>
            <a:ext cx="9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1819656" y="1645920"/>
            <a:ext cx="1143000" cy="822960"/>
          </a:xfrm>
          <a:prstGeom prst="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47088" y="1691640"/>
            <a:ext cx="108813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7857"/>
                </a:solidFill>
              </a:rPr>
              <a:t>Domain Detection
(14 domains)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2656" y="1874520"/>
            <a:ext cx="9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54096" y="1645920"/>
            <a:ext cx="1143000" cy="822960"/>
          </a:xfrm>
          <a:prstGeom prst="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81528" y="1691640"/>
            <a:ext cx="108813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7857"/>
                </a:solidFill>
              </a:rPr>
              <a:t>Task Decomposition
(32 task types)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7096" y="1874520"/>
            <a:ext cx="9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88536" y="1645920"/>
            <a:ext cx="1143000" cy="822960"/>
          </a:xfrm>
          <a:prstGeom prst="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15968" y="1691640"/>
            <a:ext cx="108813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7857"/>
                </a:solidFill>
              </a:rPr>
              <a:t>Agent Assignment
(Q-learning router)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31536" y="1874520"/>
            <a:ext cx="9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22976" y="1645920"/>
            <a:ext cx="1143000" cy="822960"/>
          </a:xfrm>
          <a:prstGeom prst="rect">
            <a:avLst/>
          </a:prstGeom>
          <a:solidFill>
            <a:srgbClr val="D1FAE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0408" y="1691640"/>
            <a:ext cx="108813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7857"/>
                </a:solidFill>
              </a:rPr>
              <a:t>Critic Review
(actor-critic loop)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5976" y="1874520"/>
            <a:ext cx="9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57416" y="1645920"/>
            <a:ext cx="1143000" cy="822960"/>
          </a:xfrm>
          <a:prstGeom prst="rect">
            <a:avLst/>
          </a:prstGeom>
          <a:solidFill>
            <a:srgbClr val="FEF3C7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84848" y="1691640"/>
            <a:ext cx="108813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7857"/>
                </a:solidFill>
              </a:rPr>
              <a:t>HITL Gate
(founder approves)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0416" y="1874520"/>
            <a:ext cx="9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91856" y="1645920"/>
            <a:ext cx="1143000" cy="822960"/>
          </a:xfrm>
          <a:prstGeom prst="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19288" y="1691640"/>
            <a:ext cx="108813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7857"/>
                </a:solidFill>
              </a:rPr>
              <a:t>Parallel Build
(wave execution)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4856" y="1874520"/>
            <a:ext cx="9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26296" y="1645920"/>
            <a:ext cx="1143000" cy="822960"/>
          </a:xfrm>
          <a:prstGeom prst="rect">
            <a:avLst/>
          </a:prstGeom>
          <a:solidFill>
            <a:srgbClr val="D1FAE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53728" y="1691640"/>
            <a:ext cx="108813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7857"/>
                </a:solidFill>
              </a:rPr>
              <a:t>Anti-Drift
Checkpoints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69296" y="1874520"/>
            <a:ext cx="9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460736" y="1645920"/>
            <a:ext cx="1143000" cy="822960"/>
          </a:xfrm>
          <a:prstGeom prst="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88168" y="1691640"/>
            <a:ext cx="108813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47857"/>
                </a:solidFill>
              </a:rPr>
              <a:t>Working
Codebase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27432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47857"/>
                </a:solidFill>
              </a:rPr>
              <a:t>5 Workforce Teams — 20 Agent Roles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3108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Engineering:  developer, qa_engineer, system_tester, devops, localization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Analysis:     analyst, business_analyst, financial_analyst, data_scientist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362102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Design:       ux_designer, product_manager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3877056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Compliance:   regulatory_specialist, legal_advisor, safety_engineer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413308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Operations:   operations_manager, technical_writer, marketing_strategist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27432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47857"/>
                </a:solidFill>
              </a:rPr>
              <a:t>14 Industry Domains Auto-Detected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310896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· Medical Device — IEC 62304, ISO 13485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335584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· Automotive — ISO 26262, AUTOSAR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0" y="3602736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· Avionics — DO-178C, ARP4754A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3849624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· Robotics — ISO 10218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409651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· FinTech — PCI DSS, SOX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0" y="434340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· IoT — IEC 62443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0" y="459028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· ML/AI — model governance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0" y="4837176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· SaaS / Consumer / Enterprise / E-commerce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0" y="5084064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· Healthcare SW / EdTech / Hardware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303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47857"/>
                </a:solidFill>
              </a:rPr>
              <a:t>3 HITL Levels:  minimal (final only)  ·  standard (plan + final)  ·  strict (plan + per-component + final)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6692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</a:rPr>
              <a:t>3-tier degradation:  OpenSWE runner → LLM direct → template scaffold.  Always produces a buildable output.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5943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</a:rPr>
              <a:t>Adaptive Router:  Q-learning agent routing — learns which agent performs best per task type. 3+ observations before overriding defaults.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4320" y="6537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SAGE[ai] — Open Source (MIT) · github.com/Sumanharapanahalli/sage · March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53312"/>
            <a:ext cx="12188952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2A37"/>
                </a:solidFill>
              </a:rPr>
              <a:t>Multi-LLM Provider Support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</a:rPr>
              <a:t>7 providers. Zero mandatory API keys. Parallel generation with 4 strategies.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1124712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114800"/>
                <a:gridCol w="2286000"/>
                <a:gridCol w="301752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Provider</a:t>
                      </a:r>
                    </a:p>
                  </a:txBody>
                  <a:tcPr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Setup</a:t>
                      </a:r>
                    </a:p>
                  </a:txBody>
                  <a:tcPr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Auth</a:t>
                      </a:r>
                    </a:p>
                  </a:txBody>
                  <a:tcPr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Models</a:t>
                      </a:r>
                    </a:p>
                  </a:txBody>
                  <a:tcPr>
                    <a:solidFill>
                      <a:srgbClr val="10B9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F2A37"/>
                          </a:solidFill>
                        </a:rPr>
                        <a:t>Gemini CLI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F2A37"/>
                          </a:solidFill>
                        </a:rPr>
                        <a:t>npm install -g @google/gemini-cli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F2A37"/>
                          </a:solidFill>
                        </a:rPr>
                        <a:t>Free Google login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F2A37"/>
                          </a:solidFill>
                        </a:rPr>
                        <a:t>gemini-2.5-flash/pro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F2A37"/>
                          </a:solidFill>
                        </a:rPr>
                        <a:t>Claude Code CLI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F2A37"/>
                          </a:solidFill>
                        </a:rPr>
                        <a:t>npm install -g @anthropic-ai/claude-code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F2A37"/>
                          </a:solidFill>
                        </a:rPr>
                        <a:t>Free login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F2A37"/>
                          </a:solidFill>
                        </a:rPr>
                        <a:t>claude-sonnet-4-6/opus-4-5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F2A37"/>
                          </a:solidFill>
                        </a:rPr>
                        <a:t>Ollama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F2A37"/>
                          </a:solidFill>
                        </a:rPr>
                        <a:t>ollama.com → ollama serve → ollama 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F2A37"/>
                          </a:solidFill>
                        </a:rPr>
                        <a:t>Fully offline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F2A37"/>
                          </a:solidFill>
                        </a:rPr>
                        <a:t>llama3.2, mistral, qwen2.5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F2A37"/>
                          </a:solidFill>
                        </a:rPr>
                        <a:t>Local GGUF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F2A37"/>
                          </a:solidFill>
                        </a:rPr>
                        <a:t>pip install llama-cpp-python + model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F2A37"/>
                          </a:solidFill>
                        </a:rPr>
                        <a:t>Air-gapped, GPU-direct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F2A37"/>
                          </a:solidFill>
                        </a:rPr>
                        <a:t>Any .gguf model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F2A37"/>
                          </a:solidFill>
                        </a:rPr>
                        <a:t>Claude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F2A37"/>
                          </a:solidFill>
                        </a:rPr>
                        <a:t>Set ANTHROPIC_API_KEY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F2A37"/>
                          </a:solidFill>
                        </a:rPr>
                        <a:t>Only paid option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F2A37"/>
                          </a:solidFill>
                        </a:rPr>
                        <a:t>claude-3.5-sonnet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F2A37"/>
                          </a:solidFill>
                        </a:rPr>
                        <a:t>Generic CLI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F2A37"/>
                          </a:solidFill>
                        </a:rPr>
                        <a:t>Set generic_cli_path in config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F2A37"/>
                          </a:solidFill>
                        </a:rPr>
                        <a:t>Any CLI tool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F2A37"/>
                          </a:solidFill>
                        </a:rPr>
                        <a:t>Custom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297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47857"/>
                </a:solidFill>
              </a:rPr>
              <a:t>ProviderPool — Parallel Generation Strategies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09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47857"/>
                </a:solidFill>
              </a:rPr>
              <a:t>● Voting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4709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A37"/>
                </a:solidFill>
              </a:rPr>
              <a:t>Send to multiple LLMs, take majority consensus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292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47857"/>
                </a:solidFill>
              </a:rPr>
              <a:t>● Fastest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5029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A37"/>
                </a:solidFill>
              </a:rPr>
              <a:t>Send to all, return first response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492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47857"/>
                </a:solidFill>
              </a:rPr>
              <a:t>● Fallback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5349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A37"/>
                </a:solidFill>
              </a:rPr>
              <a:t>Try providers in order, fail over automatically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692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47857"/>
                </a:solidFill>
              </a:rPr>
              <a:t>● Quality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56692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A37"/>
                </a:solidFill>
              </a:rPr>
              <a:t>Send to all, return longest/richest response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26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</a:rPr>
              <a:t>Teacher-Student Distillation:  Heavy model (GPT-4/Claude) → confidence scoring → auto-capture training data → student handles 80% of tasks over time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6537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SAGE[ai] — Open Source (MIT) · github.com/Sumanharapanahalli/sage · March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53312"/>
            <a:ext cx="12188952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2A37"/>
                </a:solidFill>
              </a:rPr>
              <a:t>Framework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</a:rPr>
              <a:t>SAGE vs LangGraph, CrewAI, AutoGen, Semantic Kernel, Dify, n8n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10241280" cy="5760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097280"/>
                <a:gridCol w="1463040"/>
                <a:gridCol w="1188720"/>
                <a:gridCol w="1371600"/>
                <a:gridCol w="1097280"/>
                <a:gridCol w="109728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SAGE</a:t>
                      </a:r>
                    </a:p>
                  </a:txBody>
                  <a:tcPr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LangGraph</a:t>
                      </a:r>
                    </a:p>
                  </a:txBody>
                  <a:tcPr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CrewAI</a:t>
                      </a:r>
                    </a:p>
                  </a:txBody>
                  <a:tcPr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AutoGen</a:t>
                      </a:r>
                    </a:p>
                  </a:txBody>
                  <a:tcPr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Dify</a:t>
                      </a:r>
                    </a:p>
                  </a:txBody>
                  <a:tcPr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n8n</a:t>
                      </a:r>
                    </a:p>
                  </a:txBody>
                  <a:tcPr>
                    <a:solidFill>
                      <a:srgbClr val="10B98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Mandatory HITL approval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⚠️ opt-in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⚠️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⚠️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Immutable audit log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⚠️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Compliance standards (ISO/FDA)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Compounding memory (RAG)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⚠️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⚠️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YAML-first agent config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Offline / air-gapped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⚠️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⚠️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⚠️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React dashboard included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Multi-tenant isolation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⚠️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⚠️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Build orchestrator (0→N)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Multi-LLM provider pool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⚠️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⚠️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⚠️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⚠️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MCP tool standard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⚠️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SWE agent (open-swe)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⚠️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⚠️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Large community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⚠️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7406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✅ = First-class support  ·  ⚠️ = Partial / DIY  ·  ❌ = Not supported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537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SAGE[ai] — Open Source (MIT) · github.com/Sumanharapanahalli/sage · March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53312"/>
            <a:ext cx="12188952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2A37"/>
                </a:solidFill>
              </a:rPr>
              <a:t>Built for Regulated Industries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</a:rPr>
              <a:t>The only open-source agent framework with compliance infrastructure built-in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2356" y="1645920"/>
            <a:ext cx="34747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9516" y="1737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47857"/>
                </a:solidFill>
              </a:rPr>
              <a:t>Immutable Audit Trail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" y="21945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· SQLite per-solution (.sage/audit_log.db)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" y="243230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· trace_id: SHA256 unique per decision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" y="267004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· timestamp, actor, action_type, I/O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" y="290779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· Append-only — no update/delete 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" y="314553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· FDA 21 CFR Part 11 compatible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5236" y="33832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· ISO 13485 clause 4.2.5 ready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" y="362102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· Full decision reconstruction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57116" y="1645920"/>
            <a:ext cx="34747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4276" y="1737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47857"/>
                </a:solidFill>
              </a:rPr>
              <a:t>Human Approval Gate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9996" y="21945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· Mandatory at framework level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9996" y="243230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· Cannot be bypassed — not for demos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9996" y="267004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· 5 risk tiers with auto-expiry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9996" y="290779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· Slack two-way approval (Block Kit)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9996" y="314553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· Rejection + feedback stored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9996" y="33832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· trace_id links approval to proposal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9996" y="362102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· Compliance mode: interrupt_before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51876" y="1645920"/>
            <a:ext cx="34747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89036" y="1737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47857"/>
                </a:solidFill>
              </a:rPr>
              <a:t>Compounding Intelligence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4756" y="21945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· Every rejection → vector store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4756" y="243230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· Future queries retrieve corrections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4756" y="267004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· Improves without model retraining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4756" y="290779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· Satisfies ISO 13485 clause 8.5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4756" y="314553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· Memento principle (arXiv 2508.16153)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4756" y="33832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· Audit log = training signal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4756" y="362102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</a:rPr>
              <a:t>· Measurable quality improvement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5623560"/>
            <a:ext cx="11430000" cy="640080"/>
          </a:xfrm>
          <a:prstGeom prst="rect">
            <a:avLst/>
          </a:prstGeom>
          <a:solidFill>
            <a:srgbClr val="ECFDF5"/>
          </a:solidFill>
          <a:ln w="63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715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47857"/>
                </a:solidFill>
              </a:rPr>
              <a:t>Standards Supported:  IEC 62304 · ISO 13485 · ISO 14971 · FDA 21 CFR 820 · ISO 26262 · DO-178C · DO-254 · PCI DSS · HIPAA · SOC 2 · ISO 27001 · FERPA · COPPA · IEC 62443 · WCAG 2.1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4320" y="6537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SAGE[ai] — Open Source (MIT) · github.com/Sumanharapanahalli/sage · March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53312"/>
            <a:ext cx="12188952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2A37"/>
                </a:solidFill>
              </a:rPr>
              <a:t>Key Capabilities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</a:rPr>
              <a:t>Everything built, tested, and production-ready</a:t>
            </a:r>
          </a:p>
        </p:txBody>
      </p:sp>
      <p:sp>
        <p:nvSpPr>
          <p:cNvPr id="6" name="Rectangle 5"/>
          <p:cNvSpPr/>
          <p:nvPr/>
        </p:nvSpPr>
        <p:spPr>
          <a:xfrm>
            <a:off x="333756" y="1554480"/>
            <a:ext cx="2743200" cy="1097280"/>
          </a:xfrm>
          <a:prstGeom prst="rect">
            <a:avLst/>
          </a:prstGeom>
          <a:solidFill>
            <a:srgbClr val="ECFDF5"/>
          </a:solidFill>
          <a:ln w="63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484" y="1627632"/>
            <a:ext cx="2523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47857"/>
                </a:solidFill>
              </a:rPr>
              <a:t>Conversational Onboarding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" y="1965960"/>
            <a:ext cx="252374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Point at a repo or describe your domain
→ 3 YAML files generated by LLM</a:t>
            </a:r>
          </a:p>
        </p:txBody>
      </p:sp>
      <p:sp>
        <p:nvSpPr>
          <p:cNvPr id="9" name="Rectangle 8"/>
          <p:cNvSpPr/>
          <p:nvPr/>
        </p:nvSpPr>
        <p:spPr>
          <a:xfrm>
            <a:off x="3259836" y="1554480"/>
            <a:ext cx="2743200" cy="1097280"/>
          </a:xfrm>
          <a:prstGeom prst="rect">
            <a:avLst/>
          </a:prstGeom>
          <a:solidFill>
            <a:srgbClr val="ECFDF5"/>
          </a:solidFill>
          <a:ln w="63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69564" y="1627632"/>
            <a:ext cx="2523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47857"/>
                </a:solidFill>
              </a:rPr>
              <a:t>SWE Agent (open-swe)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9564" y="1965960"/>
            <a:ext cx="252374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Submit task → autonomous coding →
tests → PR → founder reviews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5916" y="1554480"/>
            <a:ext cx="2743200" cy="1097280"/>
          </a:xfrm>
          <a:prstGeom prst="rect">
            <a:avLst/>
          </a:prstGeom>
          <a:solidFill>
            <a:srgbClr val="ECFDF5"/>
          </a:solidFill>
          <a:ln w="63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5644" y="1627632"/>
            <a:ext cx="2523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47857"/>
                </a:solidFill>
              </a:rPr>
              <a:t>Visual Workflows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5644" y="1965960"/>
            <a:ext cx="252374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LangGraph → auto-generated Mermaid
diagrams on /workflows page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11996" y="1554480"/>
            <a:ext cx="2743200" cy="1097280"/>
          </a:xfrm>
          <a:prstGeom prst="rect">
            <a:avLst/>
          </a:prstGeom>
          <a:solidFill>
            <a:srgbClr val="ECFDF5"/>
          </a:solidFill>
          <a:ln w="63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21724" y="1627632"/>
            <a:ext cx="2523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47857"/>
                </a:solidFill>
              </a:rPr>
              <a:t>Parallel Task Execution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1724" y="1965960"/>
            <a:ext cx="252374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Wave scheduling — concurrent agents,
wait only where dependencies exist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3756" y="2788920"/>
            <a:ext cx="2743200" cy="1097280"/>
          </a:xfrm>
          <a:prstGeom prst="rect">
            <a:avLst/>
          </a:prstGeom>
          <a:solidFill>
            <a:srgbClr val="ECFDF5"/>
          </a:solidFill>
          <a:ln w="63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" y="2862072"/>
            <a:ext cx="2523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47857"/>
                </a:solidFill>
              </a:rPr>
              <a:t>Action-Aware Chat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" y="3200400"/>
            <a:ext cx="252374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Chat classifies intent → shows
confirmation card → executes on confirm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59836" y="2788920"/>
            <a:ext cx="2743200" cy="1097280"/>
          </a:xfrm>
          <a:prstGeom prst="rect">
            <a:avLst/>
          </a:prstGeom>
          <a:solidFill>
            <a:srgbClr val="ECFDF5"/>
          </a:solidFill>
          <a:ln w="63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69564" y="2862072"/>
            <a:ext cx="2523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47857"/>
                </a:solidFill>
              </a:rPr>
              <a:t>Eval / Benchmarking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9564" y="3200400"/>
            <a:ext cx="252374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YAML test suites per solution,
keyword scoring, SQLite history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5916" y="2788920"/>
            <a:ext cx="2743200" cy="1097280"/>
          </a:xfrm>
          <a:prstGeom prst="rect">
            <a:avLst/>
          </a:prstGeom>
          <a:solidFill>
            <a:srgbClr val="ECFDF5"/>
          </a:solidFill>
          <a:ln w="63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95644" y="2862072"/>
            <a:ext cx="2523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47857"/>
                </a:solidFill>
              </a:rPr>
              <a:t>Knowledge Base CRUD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95644" y="3200400"/>
            <a:ext cx="252374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Vector store per solution,
bulk import, semantic search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11996" y="2788920"/>
            <a:ext cx="2743200" cy="1097280"/>
          </a:xfrm>
          <a:prstGeom prst="rect">
            <a:avLst/>
          </a:prstGeom>
          <a:solidFill>
            <a:srgbClr val="ECFDF5"/>
          </a:solidFill>
          <a:ln w="63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21724" y="2862072"/>
            <a:ext cx="2523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47857"/>
                </a:solidFill>
              </a:rPr>
              <a:t>Org Chart + Traceability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1724" y="3200400"/>
            <a:ext cx="252374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Agent hierarchy, live status,
daily task counts, audit drill-down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3756" y="4023360"/>
            <a:ext cx="2743200" cy="1097280"/>
          </a:xfrm>
          <a:prstGeom prst="rect">
            <a:avLst/>
          </a:prstGeom>
          <a:solidFill>
            <a:srgbClr val="ECFDF5"/>
          </a:solidFill>
          <a:ln w="63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484" y="4096512"/>
            <a:ext cx="2523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47857"/>
                </a:solidFill>
              </a:rPr>
              <a:t>HIL Testing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484" y="4434840"/>
            <a:ext cx="252374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Hardware-in-the-loop — flash firmware,
run tests, generate regulatory evidence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59836" y="4023360"/>
            <a:ext cx="2743200" cy="1097280"/>
          </a:xfrm>
          <a:prstGeom prst="rect">
            <a:avLst/>
          </a:prstGeom>
          <a:solidFill>
            <a:srgbClr val="ECFDF5"/>
          </a:solidFill>
          <a:ln w="63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69564" y="4096512"/>
            <a:ext cx="2523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47857"/>
                </a:solidFill>
              </a:rPr>
              <a:t>Agent Budgets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69564" y="4434840"/>
            <a:ext cx="252374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Monthly call ceilings per agent
role — declared in project.yaml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85916" y="4023360"/>
            <a:ext cx="2743200" cy="1097280"/>
          </a:xfrm>
          <a:prstGeom prst="rect">
            <a:avLst/>
          </a:prstGeom>
          <a:solidFill>
            <a:srgbClr val="ECFDF5"/>
          </a:solidFill>
          <a:ln w="63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95644" y="4096512"/>
            <a:ext cx="2523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47857"/>
                </a:solidFill>
              </a:rPr>
              <a:t>Git Worktrees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5644" y="4434840"/>
            <a:ext cx="252374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Isolated worktree per code_diff
proposal — concurrent, no conflicts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11996" y="4023360"/>
            <a:ext cx="2743200" cy="1097280"/>
          </a:xfrm>
          <a:prstGeom prst="rect">
            <a:avLst/>
          </a:prstGeom>
          <a:solidFill>
            <a:srgbClr val="ECFDF5"/>
          </a:solidFill>
          <a:ln w="63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21724" y="4096512"/>
            <a:ext cx="2523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47857"/>
                </a:solidFill>
              </a:rPr>
              <a:t>Theme System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21724" y="4434840"/>
            <a:ext cx="252374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</a:rPr>
              <a:t>Per-solution branding via CSS vars
— project.yaml → ThemeProvider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4320" y="6537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SAGE[ai] — Open Source (MIT) · github.com/Sumanharapanahalli/sage · March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53312"/>
            <a:ext cx="12188952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2A37"/>
                </a:solidFill>
              </a:rPr>
              <a:t>When to Choose 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</a:rPr>
              <a:t>Decision guide for teams evaluating agent frameworks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11247120" cy="457200"/>
          </a:xfrm>
          <a:prstGeom prst="rect">
            <a:avLst/>
          </a:prstGeom>
          <a:solidFill>
            <a:srgbClr val="ECFDF5"/>
          </a:solidFill>
          <a:ln w="6350">
            <a:solidFill>
              <a:srgbClr val="ECF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0992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A37"/>
                </a:solidFill>
              </a:rPr>
              <a:t>Is the project in a regulated industry?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70992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47857"/>
                </a:solidFill>
              </a:rPr>
              <a:t>→ SAGE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48840"/>
            <a:ext cx="11247120" cy="457200"/>
          </a:xfrm>
          <a:prstGeom prst="rect">
            <a:avLst/>
          </a:prstGeom>
          <a:solidFill>
            <a:srgbClr val="ECFDF5"/>
          </a:solidFill>
          <a:ln w="6350">
            <a:solidFill>
              <a:srgbClr val="ECF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1284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A37"/>
                </a:solidFill>
              </a:rPr>
              <a:t>Is auditability required for any AI decision?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21284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47857"/>
                </a:solidFill>
              </a:rPr>
              <a:t>→ SAGE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651760"/>
            <a:ext cx="11247120" cy="457200"/>
          </a:xfrm>
          <a:prstGeom prst="rect">
            <a:avLst/>
          </a:prstGeom>
          <a:solidFill>
            <a:srgbClr val="ECFDF5"/>
          </a:solidFill>
          <a:ln w="6350">
            <a:solidFill>
              <a:srgbClr val="ECF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71576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A37"/>
                </a:solidFill>
              </a:rPr>
              <a:t>Does the team have &lt; 10 engineers?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1576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47857"/>
                </a:solidFill>
              </a:rPr>
              <a:t>→ SAGE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solidFill>
            <a:srgbClr val="ECFDF5"/>
          </a:solidFill>
          <a:ln w="6350">
            <a:solidFill>
              <a:srgbClr val="ECF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1868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A37"/>
                </a:solidFill>
              </a:rPr>
              <a:t>Is self-hosted / air-gapped required?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321868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47857"/>
                </a:solidFill>
              </a:rPr>
              <a:t>→ SAGE (Ollama)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112471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CF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72160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A37"/>
                </a:solidFill>
              </a:rPr>
              <a:t>Is pure orchestration research the goal?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372160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B5563"/>
                </a:solidFill>
              </a:rPr>
              <a:t>→ LangGraph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160520"/>
            <a:ext cx="112471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CF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22452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A37"/>
                </a:solidFill>
              </a:rPr>
              <a:t>Is speed of prototyping the top priority, no compliance?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422452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B5563"/>
                </a:solidFill>
              </a:rPr>
              <a:t>→ CrewAI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63440"/>
            <a:ext cx="112471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CF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72744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A37"/>
                </a:solidFill>
              </a:rPr>
              <a:t>Is Docker-sandboxed code execution the core feature?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472744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B5563"/>
                </a:solidFill>
              </a:rPr>
              <a:t>→ AutoGen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166360"/>
            <a:ext cx="112471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CF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23036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A37"/>
                </a:solidFill>
              </a:rPr>
              <a:t>Is the team Azure / Microsoft committed?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523036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B5563"/>
                </a:solidFill>
              </a:rPr>
              <a:t>→ Semantic Kernel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CF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73328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A37"/>
                </a:solidFill>
              </a:rPr>
              <a:t>Are non-technical users building workflows?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573328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B5563"/>
                </a:solidFill>
              </a:rPr>
              <a:t>→ Dify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</a:rPr>
              <a:t>By Industry:  Medical → SAGE  |  Manufacturing → SAGE  |  Legal → SAGE  |  Fintech → SAGE/LangGraph  |  DevOps → LangGraph  |  Marketing → CrewAI/Dify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" y="6537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SAGE[ai] — Open Source (MIT) · github.com/Sumanharapanahalli/sage · March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53312"/>
            <a:ext cx="12188952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2A37"/>
                </a:solidFill>
              </a:rPr>
              <a:t>Integration Architecture — 12+ Phases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</a:rPr>
              <a:t>Progressive integration strategy — each phase adds capability without breaking existing ones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9144000" cy="6172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200400"/>
                <a:gridCol w="4114800"/>
                <a:gridCol w="109728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Phase</a:t>
                      </a:r>
                    </a:p>
                  </a:txBody>
                  <a:tcPr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Key Files</a:t>
                      </a:r>
                    </a:p>
                  </a:txBody>
                  <a:tcPr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10B98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Langfuse observability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llm_gateway.py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✅ Live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LlamaIndex + LangChain + mem0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vector_store.py, langchain_tools.py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✅ Live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MCP tool registry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mcp_registry.py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✅ Live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n8n webhook receiver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api.py /webhook/n8n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✅ Live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LangGraph orchestration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langgraph_runner.py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✅ Live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AutoGen code agent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autogen_runner.py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✅ Live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SSE streaming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api.py /analyze/stream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✅ Live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Onboarding wizard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onboarding.py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✅ Live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Knowledge base CRUD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vector_store.py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✅ Live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Slack two-way approval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slack_approver.py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✅ Live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Eval / benchmarking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eval_runner.py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✅ Live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Multi-tenant isolation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tenant.py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✅ Live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Temporal durable workflows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temporal_runner.py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✅ Live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Build Orchestrator (0→1→N)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build_orchestrator.py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37"/>
                          </a:solidFill>
                        </a:rPr>
                        <a:t>✅ Live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37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SAGE[ai] — Open Source (MIT) · github.com/Sumanharapanahalli/sage · March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53312"/>
            <a:ext cx="12188952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2A37"/>
                </a:solidFill>
              </a:rPr>
              <a:t>30-Page React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</a:rPr>
              <a:t>5-area accordion nav · solution switching · per-solution theming · onboarding tour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11247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CF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</a:rPr>
              <a:t>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373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2A37"/>
                </a:solidFill>
              </a:rPr>
              <a:t>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75564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</a:rPr>
              <a:t>Dashboard · Approvals · Queue · Live Console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40280"/>
            <a:ext cx="11247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CF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3317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</a:rPr>
              <a:t>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331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2A37"/>
                </a:solidFill>
              </a:rPr>
              <a:t>Intelligence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000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</a:rPr>
              <a:t>Analyst · Developer · Monitor · Agents · Improvements · Workflows · Goals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34640"/>
            <a:ext cx="11247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CF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9260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</a:rPr>
              <a:t>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926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2A37"/>
                </a:solidFill>
              </a:rPr>
              <a:t>Knowledge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294436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</a:rPr>
              <a:t>Knowledge · Activity · Audit · Costs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11247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CF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5204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7E80"/>
                </a:solidFill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5204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2A37"/>
                </a:solidFill>
              </a:rPr>
              <a:t>Organization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353872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</a:rPr>
              <a:t>Org Graph · Onboarding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023360"/>
            <a:ext cx="11247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CF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1148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B5563"/>
                </a:solidFill>
              </a:rPr>
              <a:t>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114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2A37"/>
                </a:solidFill>
              </a:rPr>
              <a:t>Admin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13308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</a:rPr>
              <a:t>LLM · YAML Editor · Access Control · Integrations · Settings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89204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A37"/>
                </a:solidFill>
              </a:rPr>
              <a:t>● Solution Rail:  44px icon column — jump between solutions instantly (2-letter avatars)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193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A37"/>
                </a:solidFill>
              </a:rPr>
              <a:t>● Stats Strip:  APPROVALS (red) · QUEUED (amber) · AGENTS (green) — live counts, 10s polling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495544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A37"/>
                </a:solidFill>
              </a:rPr>
              <a:t>● Theme System:  Each solution has its own accent color — auto-applied from project.yaml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797296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A37"/>
                </a:solidFill>
              </a:rPr>
              <a:t>● Command Palette:  Cmd+K → jump to any page, search agents, switch solutions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09904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A37"/>
                </a:solidFill>
              </a:rPr>
              <a:t>● Onboarding Tour:  6-stop spotlight tour for new solutions — auto-triggers on first load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0080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A37"/>
                </a:solidFill>
              </a:rPr>
              <a:t>● Dark Mode:  Toggle via user preferences — full dark theme with proper contrast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6537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SAGE[ai] — Open Source (MIT) · github.com/Sumanharapanahalli/sage · March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53312"/>
            <a:ext cx="12188952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2A37"/>
                </a:solidFill>
              </a:rPr>
              <a:t>Quick Start — 3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</a:rPr>
              <a:t>From git clone to running dashboard in under 5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45920"/>
            <a:ext cx="10058400" cy="3200400"/>
          </a:xfrm>
          <a:prstGeom prst="rect">
            <a:avLst/>
          </a:prstGeom>
          <a:solidFill>
            <a:srgbClr val="F1F5F9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78308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47857"/>
                </a:solidFill>
              </a:rPr>
              <a:t>$ git clone https://github.com/Sumanharapanahalli/sage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002536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47857"/>
                </a:solidFill>
              </a:rPr>
              <a:t>$ cd sage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221992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47857"/>
                </a:solidFill>
              </a:rPr>
              <a:t>$ make venv              # one-time setup, creates .venv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44144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6609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# Pick your free LLM (no API key needed):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8803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47857"/>
                </a:solidFill>
              </a:rPr>
              <a:t>$ ollama serve &amp;&amp; ollama pull llama3.2     # fully local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099816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# 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19272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47857"/>
                </a:solidFill>
              </a:rPr>
              <a:t>$ npm install -g @google/gemini-cli &amp;&amp; gemini  # free Google login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5387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# 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75818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47857"/>
                </a:solidFill>
              </a:rPr>
              <a:t>$ npm install -g @anthropic-ai/claude-code &amp;&amp; claude  # free login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97764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197096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47857"/>
                </a:solidFill>
              </a:rPr>
              <a:t>$ ./launch.sh starter    # starts backend (8000) + frontend (5173)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416552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63600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# Open http://localhost:5173 — that's it!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120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47857"/>
                </a:solidFill>
              </a:rPr>
              <a:t>No API keys. No cloud accounts. Runs on your laptop. MIT licensed.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5577840"/>
            <a:ext cx="4846320" cy="640080"/>
          </a:xfrm>
          <a:prstGeom prst="rect">
            <a:avLst/>
          </a:prstGeom>
          <a:solidFill>
            <a:srgbClr val="ECFDF5"/>
          </a:solidFill>
          <a:ln w="63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62356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47857"/>
                </a:solidFill>
              </a:rPr>
              <a:t>New solution from template: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585216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</a:rPr>
              <a:t>cp -r solutions/starter solutions/my_domain &amp;&amp; make run PROJECT=my_domain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5577840"/>
            <a:ext cx="5212080" cy="640080"/>
          </a:xfrm>
          <a:prstGeom prst="rect">
            <a:avLst/>
          </a:prstGeom>
          <a:solidFill>
            <a:srgbClr val="ECFDF5"/>
          </a:solidFill>
          <a:ln w="63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5623560"/>
            <a:ext cx="4937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47857"/>
                </a:solidFill>
              </a:rPr>
              <a:t>LLM-powered onboarding wizard: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5852160"/>
            <a:ext cx="4937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</a:rPr>
              <a:t>POST /onboarding/generate → describe your domain → 3 YAML files auto-generated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6537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SAGE[ai] — Open Source (MIT) · github.com/Sumanharapanahalli/sage · March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53312"/>
            <a:ext cx="12188952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2A37"/>
                </a:solidFill>
              </a:rPr>
              <a:t>Open Source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</a:rPr>
              <a:t>Framework is open. Solutions are private. Community contributions welcome.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2356" y="1645920"/>
            <a:ext cx="3474720" cy="2926080"/>
          </a:xfrm>
          <a:prstGeom prst="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9516" y="1783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0B981"/>
                </a:solidFill>
              </a:rPr>
              <a:t>SAGE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6" y="2286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A37"/>
                </a:solidFill>
              </a:rPr>
              <a:t>· Open source (MIT)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956" y="257860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A37"/>
                </a:solidFill>
              </a:rPr>
              <a:t>· 136 API endpoints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" y="287121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A37"/>
                </a:solidFill>
              </a:rPr>
              <a:t>· 30 UI pages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" y="316382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A37"/>
                </a:solidFill>
              </a:rPr>
              <a:t>· 16+ solution templates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" y="345643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A37"/>
                </a:solidFill>
              </a:rPr>
              <a:t>· github.com/Sumanharapanahalli/sage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57116" y="1645920"/>
            <a:ext cx="3474720" cy="2926080"/>
          </a:xfrm>
          <a:prstGeom prst="rect">
            <a:avLst/>
          </a:prstGeom>
          <a:solidFill>
            <a:srgbClr val="ECFDF5"/>
          </a:solidFill>
          <a:ln w="19050"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4276" y="1783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4B5563"/>
                </a:solidFill>
              </a:rPr>
              <a:t>Your Solutions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5716" y="2286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A37"/>
                </a:solidFill>
              </a:rPr>
              <a:t>· Private — your own repo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5716" y="257860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A37"/>
                </a:solidFill>
              </a:rPr>
              <a:t>· Mount via SAGE_SOLUTIONS_DIR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5716" y="287121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A37"/>
                </a:solidFill>
              </a:rPr>
              <a:t>· .sage/ runtime data — gitignored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5716" y="316382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A37"/>
                </a:solidFill>
              </a:rPr>
              <a:t>· Your IP stays private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5716" y="345643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A37"/>
                </a:solidFill>
              </a:rPr>
              <a:t>· Compliance data per-solution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51876" y="1645920"/>
            <a:ext cx="3474720" cy="2926080"/>
          </a:xfrm>
          <a:prstGeom prst="rect">
            <a:avLst/>
          </a:prstGeom>
          <a:solidFill>
            <a:srgbClr val="ECFDF5"/>
          </a:solidFill>
          <a:ln w="1905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89036" y="1783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47857"/>
                </a:solidFill>
              </a:rPr>
              <a:t>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0476" y="2286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A37"/>
                </a:solidFill>
              </a:rPr>
              <a:t>· Star, fork, submit PRs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0476" y="257860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A37"/>
                </a:solidFill>
              </a:rPr>
              <a:t>· Build MCP tool servers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0476" y="287121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A37"/>
                </a:solidFill>
              </a:rPr>
              <a:t>· Create solution templates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0476" y="316382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A37"/>
                </a:solidFill>
              </a:rPr>
              <a:t>· File issues for bugs / features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0476" y="345643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A37"/>
                </a:solidFill>
              </a:rPr>
              <a:t>· See CONTRIBUTING.md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846320"/>
            <a:ext cx="11247120" cy="914400"/>
          </a:xfrm>
          <a:prstGeom prst="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9377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47857"/>
                </a:solidFill>
              </a:rPr>
              <a:t>Why Open Source Matters for Regulated Industries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303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A37"/>
                </a:solidFill>
              </a:rPr>
              <a:t>Auditor transparency — regulators can inspect the entire AI agent toolchain.  No vendor lock-in — fork it, own it.  Community security review — continuous scrutiny reduces vulnerabilities in compliance-critical paths.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6537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SAGE[ai] — Open Source (MIT) · github.com/Sumanharapanahalli/sage · March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10B981"/>
                </a:solidFill>
              </a:rPr>
              <a:t>SAGE[ai]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F2A37"/>
                </a:solidFill>
              </a:rPr>
              <a:t>Lean Development × Agentic AI × Human Oversight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4B5563"/>
                </a:solidFill>
              </a:rPr>
              <a:t>136 endpoints  ·  30 pages  ·  840+ tests  ·  20 agent roles  ·  14 domains  ·  7 LLM providers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31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4B5563"/>
                </a:solidFill>
              </a:rPr>
              <a:t>Open Source (MIT)  ·  Self-Hosted  ·  Air-Gappable  ·  Zero API Keys Required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0B981"/>
                </a:solidFill>
              </a:rPr>
              <a:t>github.com/Sumanharapanahalli/sage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047857"/>
                </a:solidFill>
              </a:rPr>
              <a:t>Star it. Fork it. Build on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